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5207" y="555069"/>
            <a:ext cx="4741069" cy="592574"/>
          </a:xfrm>
          <a:prstGeom prst="rect">
            <a:avLst/>
          </a:prstGeom>
          <a:noFill/>
          <a:ln/>
        </p:spPr>
        <p:txBody>
          <a:bodyPr wrap="none" lIns="0" tIns="0" rIns="0" bIns="0" rtlCol="0" anchor="t"/>
          <a:lstStyle/>
          <a:p>
            <a:pPr indent="0" marL="0">
              <a:lnSpc>
                <a:spcPts val="4650"/>
              </a:lnSpc>
              <a:buNone/>
            </a:pPr>
            <a:r>
              <a:rPr lang="en-US" sz="3700" spc="-75" kern="0" dirty="0">
                <a:solidFill>
                  <a:srgbClr val="D73AD7"/>
                </a:solidFill>
                <a:latin typeface="Source Serif Pro Semi Bold" pitchFamily="34" charset="0"/>
                <a:ea typeface="Source Serif Pro Semi Bold" pitchFamily="34" charset="-122"/>
                <a:cs typeface="Source Serif Pro Semi Bold" pitchFamily="34" charset="-120"/>
              </a:rPr>
              <a:t>THINKING</a:t>
            </a:r>
            <a:endParaRPr lang="en-US" sz="3700" dirty="0"/>
          </a:p>
        </p:txBody>
      </p:sp>
      <p:sp>
        <p:nvSpPr>
          <p:cNvPr id="4" name="Text 1"/>
          <p:cNvSpPr/>
          <p:nvPr/>
        </p:nvSpPr>
        <p:spPr>
          <a:xfrm>
            <a:off x="705207" y="1449824"/>
            <a:ext cx="7733586" cy="1208723"/>
          </a:xfrm>
          <a:prstGeom prst="rect">
            <a:avLst/>
          </a:prstGeom>
          <a:noFill/>
          <a:ln/>
        </p:spPr>
        <p:txBody>
          <a:bodyPr wrap="square" lIns="0" tIns="0" rIns="0" bIns="0" rtlCol="0" anchor="t"/>
          <a:lstStyle/>
          <a:p>
            <a:pPr algn="l" marL="342900" indent="-342900">
              <a:lnSpc>
                <a:spcPts val="2500"/>
              </a:lnSpc>
              <a:buSzPct val="100000"/>
              <a:buChar char="•"/>
            </a:pPr>
            <a:r>
              <a:rPr lang="en-US" sz="1550" b="1" spc="-32" kern="0" dirty="0">
                <a:solidFill>
                  <a:srgbClr val="272525"/>
                </a:solidFill>
                <a:latin typeface="Source Sans Pro" pitchFamily="34" charset="0"/>
                <a:ea typeface="Source Sans Pro" pitchFamily="34" charset="-122"/>
                <a:cs typeface="Source Sans Pro" pitchFamily="34" charset="-120"/>
              </a:rPr>
              <a:t>Thinking </a:t>
            </a:r>
            <a:pPr algn="l" indent="0" marL="0">
              <a:lnSpc>
                <a:spcPts val="2500"/>
              </a:lnSpc>
              <a:buNone/>
            </a:pPr>
            <a:r>
              <a:rPr lang="en-US" sz="1550" spc="-32" kern="0" dirty="0">
                <a:solidFill>
                  <a:srgbClr val="272525"/>
                </a:solidFill>
                <a:latin typeface="Source Sans Pro" pitchFamily="34" charset="0"/>
                <a:ea typeface="Source Sans Pro" pitchFamily="34" charset="-122"/>
                <a:cs typeface="Source Sans Pro" pitchFamily="34" charset="-120"/>
              </a:rPr>
              <a:t>is a mental activity directed at solving a problem, making inferences, judging certain facts, and deciding and choosing between options.</a:t>
            </a:r>
            <a:endParaRPr lang="en-US" sz="1550" dirty="0"/>
          </a:p>
        </p:txBody>
      </p:sp>
      <p:sp>
        <p:nvSpPr>
          <p:cNvPr id="5" name="Text 2"/>
          <p:cNvSpPr/>
          <p:nvPr/>
        </p:nvSpPr>
        <p:spPr>
          <a:xfrm>
            <a:off x="705207" y="2729032"/>
            <a:ext cx="7733586" cy="1208723"/>
          </a:xfrm>
          <a:prstGeom prst="rect">
            <a:avLst/>
          </a:prstGeom>
          <a:noFill/>
          <a:ln/>
        </p:spPr>
        <p:txBody>
          <a:bodyPr wrap="square" lIns="0" tIns="0" rIns="0" bIns="0" rtlCol="0" anchor="t"/>
          <a:lstStyle/>
          <a:p>
            <a:pPr algn="l" marL="342900" indent="-342900">
              <a:lnSpc>
                <a:spcPts val="2500"/>
              </a:lnSpc>
              <a:buSzPct val="100000"/>
              <a:buChar char="•"/>
            </a:pPr>
            <a:r>
              <a:rPr lang="en-US" sz="1550" spc="-32" kern="0" dirty="0">
                <a:solidFill>
                  <a:srgbClr val="272525"/>
                </a:solidFill>
                <a:latin typeface="Source Sans Pro" pitchFamily="34" charset="0"/>
                <a:ea typeface="Source Sans Pro" pitchFamily="34" charset="-122"/>
                <a:cs typeface="Source Sans Pro" pitchFamily="34" charset="-120"/>
              </a:rPr>
              <a:t>It is an essential process for humans and allows us to solve problems, learn new information, understand concepts, and process our experiences. </a:t>
            </a:r>
            <a:endParaRPr lang="en-US" sz="1550" dirty="0"/>
          </a:p>
        </p:txBody>
      </p:sp>
      <p:sp>
        <p:nvSpPr>
          <p:cNvPr id="6" name="Text 3"/>
          <p:cNvSpPr/>
          <p:nvPr/>
        </p:nvSpPr>
        <p:spPr>
          <a:xfrm>
            <a:off x="705207" y="4008239"/>
            <a:ext cx="7733586" cy="1208723"/>
          </a:xfrm>
          <a:prstGeom prst="rect">
            <a:avLst/>
          </a:prstGeom>
          <a:noFill/>
          <a:ln/>
        </p:spPr>
        <p:txBody>
          <a:bodyPr wrap="square" lIns="0" tIns="0" rIns="0" bIns="0" rtlCol="0" anchor="t"/>
          <a:lstStyle/>
          <a:p>
            <a:pPr algn="l" marL="342900" indent="-342900">
              <a:lnSpc>
                <a:spcPts val="2500"/>
              </a:lnSpc>
              <a:buSzPct val="100000"/>
              <a:buChar char="•"/>
            </a:pPr>
            <a:r>
              <a:rPr lang="en-US" sz="1550" spc="-32" kern="0" dirty="0">
                <a:solidFill>
                  <a:srgbClr val="272525"/>
                </a:solidFill>
                <a:latin typeface="Source Sans Pro" pitchFamily="34" charset="0"/>
                <a:ea typeface="Source Sans Pro" pitchFamily="34" charset="-122"/>
                <a:cs typeface="Source Sans Pro" pitchFamily="34" charset="-120"/>
              </a:rPr>
              <a:t>Thinking involves the entire process of learning, remembering, and organizing mentally to understand the information better and recall it later.</a:t>
            </a:r>
            <a:endParaRPr lang="en-US" sz="1550" dirty="0"/>
          </a:p>
        </p:txBody>
      </p:sp>
      <p:sp>
        <p:nvSpPr>
          <p:cNvPr id="7" name="Text 4"/>
          <p:cNvSpPr/>
          <p:nvPr/>
        </p:nvSpPr>
        <p:spPr>
          <a:xfrm>
            <a:off x="705207" y="5287447"/>
            <a:ext cx="7733586" cy="1208723"/>
          </a:xfrm>
          <a:prstGeom prst="rect">
            <a:avLst/>
          </a:prstGeom>
          <a:noFill/>
          <a:ln/>
        </p:spPr>
        <p:txBody>
          <a:bodyPr wrap="square" lIns="0" tIns="0" rIns="0" bIns="0" rtlCol="0" anchor="t"/>
          <a:lstStyle/>
          <a:p>
            <a:pPr algn="l" marL="342900" indent="-342900">
              <a:lnSpc>
                <a:spcPts val="2500"/>
              </a:lnSpc>
              <a:buSzPct val="100000"/>
              <a:buChar char="•"/>
            </a:pPr>
            <a:r>
              <a:rPr lang="en-US" sz="1550" spc="-32" kern="0" dirty="0">
                <a:solidFill>
                  <a:srgbClr val="272525"/>
                </a:solidFill>
                <a:latin typeface="Source Sans Pro" pitchFamily="34" charset="0"/>
                <a:ea typeface="Source Sans Pro" pitchFamily="34" charset="-122"/>
                <a:cs typeface="Source Sans Pro" pitchFamily="34" charset="-120"/>
              </a:rPr>
              <a:t>According to </a:t>
            </a:r>
            <a:pPr algn="l" indent="0" marL="0">
              <a:lnSpc>
                <a:spcPts val="2500"/>
              </a:lnSpc>
              <a:buNone/>
            </a:pPr>
            <a:r>
              <a:rPr lang="en-US" sz="1550" b="1" spc="-32" kern="0" dirty="0">
                <a:solidFill>
                  <a:srgbClr val="272525"/>
                </a:solidFill>
                <a:latin typeface="Source Sans Pro" pitchFamily="34" charset="0"/>
                <a:ea typeface="Source Sans Pro" pitchFamily="34" charset="-122"/>
                <a:cs typeface="Source Sans Pro" pitchFamily="34" charset="-120"/>
              </a:rPr>
              <a:t>APA</a:t>
            </a:r>
            <a:pPr algn="l" indent="0" marL="0">
              <a:lnSpc>
                <a:spcPts val="2500"/>
              </a:lnSpc>
              <a:buNone/>
            </a:pPr>
            <a:r>
              <a:rPr lang="en-US" sz="1550" spc="-32" kern="0" dirty="0">
                <a:solidFill>
                  <a:srgbClr val="272525"/>
                </a:solidFill>
                <a:latin typeface="Source Sans Pro" pitchFamily="34" charset="0"/>
                <a:ea typeface="Source Sans Pro" pitchFamily="34" charset="-122"/>
                <a:cs typeface="Source Sans Pro" pitchFamily="34" charset="-120"/>
              </a:rPr>
              <a:t>, "Thinking is the cognitive behavior in which ideas, images, mental representations, or other hypotheti cal elements of thought are experienced or manipulated."</a:t>
            </a:r>
            <a:endParaRPr lang="en-US" sz="1550" dirty="0"/>
          </a:p>
        </p:txBody>
      </p:sp>
      <p:sp>
        <p:nvSpPr>
          <p:cNvPr id="8" name="Text 5"/>
          <p:cNvSpPr/>
          <p:nvPr/>
        </p:nvSpPr>
        <p:spPr>
          <a:xfrm>
            <a:off x="705207" y="6722745"/>
            <a:ext cx="7733586" cy="402908"/>
          </a:xfrm>
          <a:prstGeom prst="rect">
            <a:avLst/>
          </a:prstGeom>
          <a:noFill/>
          <a:ln/>
        </p:spPr>
        <p:txBody>
          <a:bodyPr wrap="none" lIns="0" tIns="0" rIns="0" bIns="0" rtlCol="0" anchor="t"/>
          <a:lstStyle/>
          <a:p>
            <a:pPr indent="0" marL="0">
              <a:lnSpc>
                <a:spcPts val="3150"/>
              </a:lnSpc>
              <a:buNone/>
            </a:pPr>
            <a:endParaRPr lang="en-US" sz="1950" dirty="0"/>
          </a:p>
        </p:txBody>
      </p:sp>
      <p:sp>
        <p:nvSpPr>
          <p:cNvPr id="9" name="Text 6"/>
          <p:cNvSpPr/>
          <p:nvPr/>
        </p:nvSpPr>
        <p:spPr>
          <a:xfrm>
            <a:off x="705207" y="7352228"/>
            <a:ext cx="7733586" cy="322302"/>
          </a:xfrm>
          <a:prstGeom prst="rect">
            <a:avLst/>
          </a:prstGeom>
          <a:noFill/>
          <a:ln/>
        </p:spPr>
        <p:txBody>
          <a:bodyPr wrap="none" lIns="0" tIns="0" rIns="0" bIns="0" rtlCol="0" anchor="t"/>
          <a:lstStyle/>
          <a:p>
            <a:pPr indent="0" marL="0">
              <a:lnSpc>
                <a:spcPts val="25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962858"/>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LEVELS OF THINKING</a:t>
            </a:r>
            <a:endParaRPr lang="en-US" sz="4400" dirty="0"/>
          </a:p>
        </p:txBody>
      </p:sp>
      <p:sp>
        <p:nvSpPr>
          <p:cNvPr id="3" name="Text 1"/>
          <p:cNvSpPr/>
          <p:nvPr/>
        </p:nvSpPr>
        <p:spPr>
          <a:xfrm>
            <a:off x="837724" y="2145625"/>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Explanation of levels of thinking is given by Dr Benjamin Bloom (1956).</a:t>
            </a:r>
            <a:endParaRPr lang="en-US" sz="1850" dirty="0"/>
          </a:p>
        </p:txBody>
      </p:sp>
      <p:sp>
        <p:nvSpPr>
          <p:cNvPr id="4" name="Text 2"/>
          <p:cNvSpPr/>
          <p:nvPr/>
        </p:nvSpPr>
        <p:spPr>
          <a:xfrm>
            <a:off x="837724" y="2707958"/>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There are six levels of cognitive learning according to the revised version of Bloom's Taxonomy.</a:t>
            </a:r>
            <a:endParaRPr lang="en-US" sz="1850" dirty="0"/>
          </a:p>
        </p:txBody>
      </p:sp>
      <p:sp>
        <p:nvSpPr>
          <p:cNvPr id="5" name="Text 3"/>
          <p:cNvSpPr/>
          <p:nvPr/>
        </p:nvSpPr>
        <p:spPr>
          <a:xfrm>
            <a:off x="837724" y="3270290"/>
            <a:ext cx="12954952" cy="1435894"/>
          </a:xfrm>
          <a:prstGeom prst="rect">
            <a:avLst/>
          </a:prstGeom>
          <a:noFill/>
          <a:ln/>
        </p:spPr>
        <p:txBody>
          <a:bodyPr wrap="square" lIns="0" tIns="0" rIns="0" bIns="0" rtlCol="0" anchor="t"/>
          <a:lstStyle/>
          <a:p>
            <a:pPr algn="l" marL="342900" indent="-342900">
              <a:lnSpc>
                <a:spcPts val="3000"/>
              </a:lnSpc>
              <a:buSzPct val="100000"/>
              <a:buFont typeface="+mj-lt"/>
              <a:buAutoNum type="arabicPeriod" startAt="1"/>
            </a:pPr>
            <a:r>
              <a:rPr lang="en-US" sz="1850" b="1" spc="-38" kern="0" dirty="0">
                <a:solidFill>
                  <a:srgbClr val="272525"/>
                </a:solidFill>
                <a:latin typeface="Source Sans Pro" pitchFamily="34" charset="0"/>
                <a:ea typeface="Source Sans Pro" pitchFamily="34" charset="-122"/>
                <a:cs typeface="Source Sans Pro" pitchFamily="34" charset="-120"/>
              </a:rPr>
              <a:t>Knowledge</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level 1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Remembering</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)-First level of thinking consists of acquiring basic information from previously learnt materials. We recollect concepts, facts, terms and theories which will help to begin our thinking process.</a:t>
            </a:r>
            <a:endParaRPr lang="en-US" sz="1850" dirty="0"/>
          </a:p>
        </p:txBody>
      </p:sp>
      <p:sp>
        <p:nvSpPr>
          <p:cNvPr id="6" name="Text 4"/>
          <p:cNvSpPr/>
          <p:nvPr/>
        </p:nvSpPr>
        <p:spPr>
          <a:xfrm>
            <a:off x="837724" y="4789884"/>
            <a:ext cx="12954952" cy="1435894"/>
          </a:xfrm>
          <a:prstGeom prst="rect">
            <a:avLst/>
          </a:prstGeom>
          <a:noFill/>
          <a:ln/>
        </p:spPr>
        <p:txBody>
          <a:bodyPr wrap="square" lIns="0" tIns="0" rIns="0" bIns="0" rtlCol="0" anchor="t"/>
          <a:lstStyle/>
          <a:p>
            <a:pPr algn="l" marL="342900" indent="-342900">
              <a:lnSpc>
                <a:spcPts val="3000"/>
              </a:lnSpc>
              <a:buSzPct val="100000"/>
              <a:buFont typeface="+mj-lt"/>
              <a:buAutoNum type="arabicPeriod" startAt="2"/>
            </a:pPr>
            <a:r>
              <a:rPr lang="en-US" sz="1850" b="1" spc="-38" kern="0" dirty="0">
                <a:solidFill>
                  <a:srgbClr val="272525"/>
                </a:solidFill>
                <a:latin typeface="Source Sans Pro" pitchFamily="34" charset="0"/>
                <a:ea typeface="Source Sans Pro" pitchFamily="34" charset="-122"/>
                <a:cs typeface="Source Sans Pro" pitchFamily="34" charset="-120"/>
              </a:rPr>
              <a:t>Comprehension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level 2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Understanding</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)-From what we have gathered from level 1, conclusions are drawn from understanding the concepts, terms, and facts. We make interpretations and descriptions of the previous knowledge.</a:t>
            </a:r>
            <a:endParaRPr lang="en-US" sz="1850" dirty="0"/>
          </a:p>
        </p:txBody>
      </p:sp>
      <p:sp>
        <p:nvSpPr>
          <p:cNvPr id="7" name="Text 5"/>
          <p:cNvSpPr/>
          <p:nvPr/>
        </p:nvSpPr>
        <p:spPr>
          <a:xfrm>
            <a:off x="837724" y="6309479"/>
            <a:ext cx="12954952" cy="957263"/>
          </a:xfrm>
          <a:prstGeom prst="rect">
            <a:avLst/>
          </a:prstGeom>
          <a:noFill/>
          <a:ln/>
        </p:spPr>
        <p:txBody>
          <a:bodyPr wrap="square" lIns="0" tIns="0" rIns="0" bIns="0" rtlCol="0" anchor="t"/>
          <a:lstStyle/>
          <a:p>
            <a:pPr algn="l" marL="342900" indent="-342900">
              <a:lnSpc>
                <a:spcPts val="3000"/>
              </a:lnSpc>
              <a:buSzPct val="100000"/>
              <a:buFont typeface="+mj-lt"/>
              <a:buAutoNum type="arabicPeriod" startAt="3"/>
            </a:pPr>
            <a:r>
              <a:rPr lang="en-US" sz="1850" b="1" spc="-38" kern="0" dirty="0">
                <a:solidFill>
                  <a:srgbClr val="272525"/>
                </a:solidFill>
                <a:latin typeface="Source Sans Pro" pitchFamily="34" charset="0"/>
                <a:ea typeface="Source Sans Pro" pitchFamily="34" charset="-122"/>
                <a:cs typeface="Source Sans Pro" pitchFamily="34" charset="-120"/>
              </a:rPr>
              <a:t>Application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level 3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(Applying</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)-The interpretations of the acquired knowledge bring to us certain facts, techniques and rules to be applied in the new problem situation.</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6758" y="645438"/>
            <a:ext cx="4885849" cy="610791"/>
          </a:xfrm>
          <a:prstGeom prst="rect">
            <a:avLst/>
          </a:prstGeom>
          <a:noFill/>
          <a:ln/>
        </p:spPr>
        <p:txBody>
          <a:bodyPr wrap="none" lIns="0" tIns="0" rIns="0" bIns="0" rtlCol="0" anchor="t"/>
          <a:lstStyle/>
          <a:p>
            <a:pPr indent="0" marL="0">
              <a:lnSpc>
                <a:spcPts val="4800"/>
              </a:lnSpc>
              <a:buNone/>
            </a:pPr>
            <a:endParaRPr lang="en-US" sz="3800" dirty="0"/>
          </a:p>
        </p:txBody>
      </p:sp>
      <p:sp>
        <p:nvSpPr>
          <p:cNvPr id="4" name="Text 1"/>
          <p:cNvSpPr/>
          <p:nvPr/>
        </p:nvSpPr>
        <p:spPr>
          <a:xfrm>
            <a:off x="726758" y="1567696"/>
            <a:ext cx="7690485" cy="1661160"/>
          </a:xfrm>
          <a:prstGeom prst="rect">
            <a:avLst/>
          </a:prstGeom>
          <a:noFill/>
          <a:ln/>
        </p:spPr>
        <p:txBody>
          <a:bodyPr wrap="square" lIns="0" tIns="0" rIns="0" bIns="0" rtlCol="0" anchor="t"/>
          <a:lstStyle/>
          <a:p>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4. </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Analysis </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level 3 (</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Analysing</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)-The information gathered as a whole will be broken into parts by identifying the motives or causes. Processes like categorization, comparison, examination, simplification etc. are used which will help in generalization. </a:t>
            </a:r>
            <a:endParaRPr lang="en-US" sz="2000" dirty="0"/>
          </a:p>
        </p:txBody>
      </p:sp>
      <p:sp>
        <p:nvSpPr>
          <p:cNvPr id="5" name="Text 2"/>
          <p:cNvSpPr/>
          <p:nvPr/>
        </p:nvSpPr>
        <p:spPr>
          <a:xfrm>
            <a:off x="726758" y="3462457"/>
            <a:ext cx="7690485" cy="2076450"/>
          </a:xfrm>
          <a:prstGeom prst="rect">
            <a:avLst/>
          </a:prstGeom>
          <a:noFill/>
          <a:ln/>
        </p:spPr>
        <p:txBody>
          <a:bodyPr wrap="square" lIns="0" tIns="0" rIns="0" bIns="0" rtlCol="0" anchor="t"/>
          <a:lstStyle/>
          <a:p>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5.</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Synthesis </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level 5 </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(Creating</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)-After using various processes in level 4 various parts will be put together to form a new type of knowledge which will help to find alternate solutions to the problem. This level of synthesis involves building, choosing, modifying and improving the previous pieces of information to form a new one.</a:t>
            </a:r>
            <a:endParaRPr lang="en-US" sz="2000" dirty="0"/>
          </a:p>
        </p:txBody>
      </p:sp>
      <p:sp>
        <p:nvSpPr>
          <p:cNvPr id="6" name="Text 3"/>
          <p:cNvSpPr/>
          <p:nvPr/>
        </p:nvSpPr>
        <p:spPr>
          <a:xfrm>
            <a:off x="726758" y="5772507"/>
            <a:ext cx="7690485" cy="1245870"/>
          </a:xfrm>
          <a:prstGeom prst="rect">
            <a:avLst/>
          </a:prstGeom>
          <a:noFill/>
          <a:ln/>
        </p:spPr>
        <p:txBody>
          <a:bodyPr wrap="square" lIns="0" tIns="0" rIns="0" bIns="0" rtlCol="0" anchor="t"/>
          <a:lstStyle/>
          <a:p>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6. </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Evaluation</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 level 6 (</a:t>
            </a:r>
            <a:pPr indent="0" marL="0">
              <a:lnSpc>
                <a:spcPts val="3250"/>
              </a:lnSpc>
              <a:buNone/>
            </a:pPr>
            <a:r>
              <a:rPr lang="en-US" sz="2000" b="1" spc="-33" kern="0" dirty="0">
                <a:solidFill>
                  <a:srgbClr val="272525"/>
                </a:solidFill>
                <a:latin typeface="Source Sans Pro" pitchFamily="34" charset="0"/>
                <a:ea typeface="Source Sans Pro" pitchFamily="34" charset="-122"/>
                <a:cs typeface="Source Sans Pro" pitchFamily="34" charset="-120"/>
              </a:rPr>
              <a:t>Evaluating</a:t>
            </a:r>
            <a:pPr indent="0" marL="0">
              <a:lnSpc>
                <a:spcPts val="3250"/>
              </a:lnSpc>
              <a:buNone/>
            </a:pPr>
            <a:r>
              <a:rPr lang="en-US" sz="2000" spc="-33" kern="0" dirty="0">
                <a:solidFill>
                  <a:srgbClr val="272525"/>
                </a:solidFill>
                <a:latin typeface="Source Sans Pro" pitchFamily="34" charset="0"/>
                <a:ea typeface="Source Sans Pro" pitchFamily="34" charset="-122"/>
                <a:cs typeface="Source Sans Pro" pitchFamily="34" charset="-120"/>
              </a:rPr>
              <a:t>)- involves judgements and comparisons. Evaluation of the outcomes of the entire process of thinking is done at this level.</a:t>
            </a:r>
            <a:endParaRPr lang="en-US" sz="2000" dirty="0"/>
          </a:p>
        </p:txBody>
      </p:sp>
      <p:sp>
        <p:nvSpPr>
          <p:cNvPr id="7" name="Text 4"/>
          <p:cNvSpPr/>
          <p:nvPr/>
        </p:nvSpPr>
        <p:spPr>
          <a:xfrm>
            <a:off x="726758" y="7251978"/>
            <a:ext cx="7690485" cy="332184"/>
          </a:xfrm>
          <a:prstGeom prst="rect">
            <a:avLst/>
          </a:prstGeom>
          <a:noFill/>
          <a:ln/>
        </p:spPr>
        <p:txBody>
          <a:bodyPr wrap="none" lIns="0" tIns="0" rIns="0" bIns="0" rtlCol="0" anchor="t"/>
          <a:lstStyle/>
          <a:p>
            <a:pPr indent="0" marL="0">
              <a:lnSpc>
                <a:spcPts val="2600"/>
              </a:lnSpc>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7926" y="682347"/>
            <a:ext cx="5254109" cy="656749"/>
          </a:xfrm>
          <a:prstGeom prst="rect">
            <a:avLst/>
          </a:prstGeom>
          <a:noFill/>
          <a:ln/>
        </p:spPr>
        <p:txBody>
          <a:bodyPr wrap="none" lIns="0" tIns="0" rIns="0" bIns="0" rtlCol="0" anchor="t"/>
          <a:lstStyle/>
          <a:p>
            <a:pPr indent="0" marL="0">
              <a:lnSpc>
                <a:spcPts val="5150"/>
              </a:lnSpc>
              <a:buNone/>
            </a:pPr>
            <a:r>
              <a:rPr lang="en-US" sz="4100" spc="-83" kern="0" dirty="0">
                <a:solidFill>
                  <a:srgbClr val="D73AD7"/>
                </a:solidFill>
                <a:latin typeface="Source Serif Pro Semi Bold" pitchFamily="34" charset="0"/>
                <a:ea typeface="Source Serif Pro Semi Bold" pitchFamily="34" charset="-122"/>
                <a:cs typeface="Source Serif Pro Semi Bold" pitchFamily="34" charset="-120"/>
              </a:rPr>
              <a:t>TYPES OF THINKING</a:t>
            </a:r>
            <a:endParaRPr lang="en-US" sz="4100" dirty="0"/>
          </a:p>
        </p:txBody>
      </p:sp>
      <p:sp>
        <p:nvSpPr>
          <p:cNvPr id="4" name="Shape 1"/>
          <p:cNvSpPr/>
          <p:nvPr/>
        </p:nvSpPr>
        <p:spPr>
          <a:xfrm>
            <a:off x="6267926" y="1674019"/>
            <a:ext cx="3678912" cy="5873234"/>
          </a:xfrm>
          <a:prstGeom prst="roundRect">
            <a:avLst>
              <a:gd name="adj" fmla="val 2549"/>
            </a:avLst>
          </a:prstGeom>
          <a:solidFill>
            <a:srgbClr val="F4D4F7"/>
          </a:solidFill>
          <a:ln w="7620">
            <a:solidFill>
              <a:srgbClr val="DABADD"/>
            </a:solidFill>
            <a:prstDash val="solid"/>
          </a:ln>
        </p:spPr>
      </p:sp>
      <p:sp>
        <p:nvSpPr>
          <p:cNvPr id="5" name="Text 2"/>
          <p:cNvSpPr/>
          <p:nvPr/>
        </p:nvSpPr>
        <p:spPr>
          <a:xfrm>
            <a:off x="6498788" y="1904881"/>
            <a:ext cx="3217188" cy="656511"/>
          </a:xfrm>
          <a:prstGeom prst="rect">
            <a:avLst/>
          </a:prstGeom>
          <a:noFill/>
          <a:ln/>
        </p:spPr>
        <p:txBody>
          <a:bodyPr wrap="square" lIns="0" tIns="0" rIns="0" bIns="0" rtlCol="0" anchor="t"/>
          <a:lstStyle/>
          <a:p>
            <a:pPr indent="0" marL="0">
              <a:lnSpc>
                <a:spcPts val="2550"/>
              </a:lnSpc>
              <a:buNone/>
            </a:pPr>
            <a:r>
              <a:rPr lang="en-US" sz="2050" spc="-41" kern="0" dirty="0">
                <a:solidFill>
                  <a:srgbClr val="272525"/>
                </a:solidFill>
                <a:latin typeface="Source Serif Pro Semi Bold" pitchFamily="34" charset="0"/>
                <a:ea typeface="Source Serif Pro Semi Bold" pitchFamily="34" charset="-122"/>
                <a:cs typeface="Source Serif Pro Semi Bold" pitchFamily="34" charset="-120"/>
              </a:rPr>
              <a:t>Perceptual or concrete thinking</a:t>
            </a:r>
            <a:endParaRPr lang="en-US" sz="2050" dirty="0"/>
          </a:p>
        </p:txBody>
      </p:sp>
      <p:sp>
        <p:nvSpPr>
          <p:cNvPr id="6" name="Text 3"/>
          <p:cNvSpPr/>
          <p:nvPr/>
        </p:nvSpPr>
        <p:spPr>
          <a:xfrm>
            <a:off x="6498788" y="2695337"/>
            <a:ext cx="3217188" cy="892969"/>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it is the simplest form of thinking.</a:t>
            </a:r>
            <a:endParaRPr lang="en-US" sz="1750" dirty="0"/>
          </a:p>
        </p:txBody>
      </p:sp>
      <p:sp>
        <p:nvSpPr>
          <p:cNvPr id="7" name="Text 4"/>
          <p:cNvSpPr/>
          <p:nvPr/>
        </p:nvSpPr>
        <p:spPr>
          <a:xfrm>
            <a:off x="6498788" y="3666411"/>
            <a:ext cx="3217188" cy="2232422"/>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The basis of concrete thinking is the process of perception as it is the interpretation of the sensory objects.</a:t>
            </a:r>
            <a:endParaRPr lang="en-US" sz="1750" dirty="0"/>
          </a:p>
        </p:txBody>
      </p:sp>
      <p:sp>
        <p:nvSpPr>
          <p:cNvPr id="8" name="Text 5"/>
          <p:cNvSpPr/>
          <p:nvPr/>
        </p:nvSpPr>
        <p:spPr>
          <a:xfrm>
            <a:off x="6498788" y="5976938"/>
            <a:ext cx="3217188" cy="1339453"/>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Eg:-perceiving a dog jumping on you as threat or excitement.</a:t>
            </a:r>
            <a:endParaRPr lang="en-US" sz="1750" dirty="0"/>
          </a:p>
        </p:txBody>
      </p:sp>
      <p:sp>
        <p:nvSpPr>
          <p:cNvPr id="9" name="Shape 6"/>
          <p:cNvSpPr/>
          <p:nvPr/>
        </p:nvSpPr>
        <p:spPr>
          <a:xfrm>
            <a:off x="10170081" y="1674019"/>
            <a:ext cx="3678912" cy="5873234"/>
          </a:xfrm>
          <a:prstGeom prst="roundRect">
            <a:avLst>
              <a:gd name="adj" fmla="val 2549"/>
            </a:avLst>
          </a:prstGeom>
          <a:solidFill>
            <a:srgbClr val="F4D4F7"/>
          </a:solidFill>
          <a:ln w="7620">
            <a:solidFill>
              <a:srgbClr val="DABADD"/>
            </a:solidFill>
            <a:prstDash val="solid"/>
          </a:ln>
        </p:spPr>
      </p:sp>
      <p:sp>
        <p:nvSpPr>
          <p:cNvPr id="10" name="Text 7"/>
          <p:cNvSpPr/>
          <p:nvPr/>
        </p:nvSpPr>
        <p:spPr>
          <a:xfrm>
            <a:off x="10400943" y="1904881"/>
            <a:ext cx="3217188" cy="656511"/>
          </a:xfrm>
          <a:prstGeom prst="rect">
            <a:avLst/>
          </a:prstGeom>
          <a:noFill/>
          <a:ln/>
        </p:spPr>
        <p:txBody>
          <a:bodyPr wrap="square" lIns="0" tIns="0" rIns="0" bIns="0" rtlCol="0" anchor="t"/>
          <a:lstStyle/>
          <a:p>
            <a:pPr indent="0" marL="0">
              <a:lnSpc>
                <a:spcPts val="2550"/>
              </a:lnSpc>
              <a:buNone/>
            </a:pPr>
            <a:r>
              <a:rPr lang="en-US" sz="2050" spc="-41" kern="0" dirty="0">
                <a:solidFill>
                  <a:srgbClr val="272525"/>
                </a:solidFill>
                <a:latin typeface="Source Serif Pro Semi Bold" pitchFamily="34" charset="0"/>
                <a:ea typeface="Source Serif Pro Semi Bold" pitchFamily="34" charset="-122"/>
                <a:cs typeface="Source Serif Pro Semi Bold" pitchFamily="34" charset="-120"/>
              </a:rPr>
              <a:t>Conceptual or abstract thinking</a:t>
            </a:r>
            <a:endParaRPr lang="en-US" sz="2050" dirty="0"/>
          </a:p>
        </p:txBody>
      </p:sp>
      <p:sp>
        <p:nvSpPr>
          <p:cNvPr id="11" name="Text 8"/>
          <p:cNvSpPr/>
          <p:nvPr/>
        </p:nvSpPr>
        <p:spPr>
          <a:xfrm>
            <a:off x="10400943" y="2695337"/>
            <a:ext cx="3217188" cy="892969"/>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A superior type of thinking.</a:t>
            </a:r>
            <a:endParaRPr lang="en-US" sz="1750" dirty="0"/>
          </a:p>
        </p:txBody>
      </p:sp>
      <p:sp>
        <p:nvSpPr>
          <p:cNvPr id="12" name="Text 9"/>
          <p:cNvSpPr/>
          <p:nvPr/>
        </p:nvSpPr>
        <p:spPr>
          <a:xfrm>
            <a:off x="10400943" y="3666411"/>
            <a:ext cx="3217188" cy="1339453"/>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We make use of concepts, symbols to solve problems.</a:t>
            </a:r>
            <a:endParaRPr lang="en-US" sz="1750" dirty="0"/>
          </a:p>
        </p:txBody>
      </p:sp>
      <p:sp>
        <p:nvSpPr>
          <p:cNvPr id="13" name="Text 10"/>
          <p:cNvSpPr/>
          <p:nvPr/>
        </p:nvSpPr>
        <p:spPr>
          <a:xfrm>
            <a:off x="10400943" y="5083969"/>
            <a:ext cx="3217188" cy="1339453"/>
          </a:xfrm>
          <a:prstGeom prst="rect">
            <a:avLst/>
          </a:prstGeom>
          <a:noFill/>
          <a:ln/>
        </p:spPr>
        <p:txBody>
          <a:bodyPr wrap="square" lIns="0" tIns="0" rIns="0" bIns="0" rtlCol="0" anchor="t"/>
          <a:lstStyle/>
          <a:p>
            <a:pPr algn="l" marL="342900" indent="-342900">
              <a:lnSpc>
                <a:spcPts val="2800"/>
              </a:lnSpc>
              <a:buSzPct val="100000"/>
              <a:buChar char="•"/>
            </a:pPr>
            <a:r>
              <a:rPr lang="en-US" sz="1750" spc="-35" kern="0" dirty="0">
                <a:solidFill>
                  <a:srgbClr val="272525"/>
                </a:solidFill>
                <a:latin typeface="Source Sans Pro" pitchFamily="34" charset="0"/>
                <a:ea typeface="Source Sans Pro" pitchFamily="34" charset="-122"/>
                <a:cs typeface="Source Sans Pro" pitchFamily="34" charset="-120"/>
              </a:rPr>
              <a:t>Eg:-looking for patters in historical events or other data.</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4824" y="859393"/>
            <a:ext cx="4897041" cy="612100"/>
          </a:xfrm>
          <a:prstGeom prst="rect">
            <a:avLst/>
          </a:prstGeom>
          <a:noFill/>
          <a:ln/>
        </p:spPr>
        <p:txBody>
          <a:bodyPr wrap="none" lIns="0" tIns="0" rIns="0" bIns="0" rtlCol="0" anchor="t"/>
          <a:lstStyle/>
          <a:p>
            <a:pPr indent="0" marL="0">
              <a:lnSpc>
                <a:spcPts val="4800"/>
              </a:lnSpc>
              <a:buNone/>
            </a:pPr>
            <a:endParaRPr lang="en-US" sz="3850" dirty="0"/>
          </a:p>
        </p:txBody>
      </p:sp>
      <p:sp>
        <p:nvSpPr>
          <p:cNvPr id="4" name="Shape 1"/>
          <p:cNvSpPr/>
          <p:nvPr/>
        </p:nvSpPr>
        <p:spPr>
          <a:xfrm>
            <a:off x="6214824" y="1783675"/>
            <a:ext cx="3739515" cy="5586532"/>
          </a:xfrm>
          <a:prstGeom prst="roundRect">
            <a:avLst>
              <a:gd name="adj" fmla="val 2338"/>
            </a:avLst>
          </a:prstGeom>
          <a:solidFill>
            <a:srgbClr val="F4D4F7"/>
          </a:solidFill>
          <a:ln w="7620">
            <a:solidFill>
              <a:srgbClr val="DABADD"/>
            </a:solidFill>
            <a:prstDash val="solid"/>
          </a:ln>
        </p:spPr>
      </p:sp>
      <p:sp>
        <p:nvSpPr>
          <p:cNvPr id="5" name="Text 2"/>
          <p:cNvSpPr/>
          <p:nvPr/>
        </p:nvSpPr>
        <p:spPr>
          <a:xfrm>
            <a:off x="6430566" y="1999417"/>
            <a:ext cx="2448520" cy="306110"/>
          </a:xfrm>
          <a:prstGeom prst="rect">
            <a:avLst/>
          </a:prstGeom>
          <a:noFill/>
          <a:ln/>
        </p:spPr>
        <p:txBody>
          <a:bodyPr wrap="none" lIns="0" tIns="0" rIns="0" bIns="0" rtlCol="0" anchor="t"/>
          <a:lstStyle/>
          <a:p>
            <a:pPr indent="0" marL="0">
              <a:lnSpc>
                <a:spcPts val="2400"/>
              </a:lnSpc>
              <a:buNone/>
            </a:pPr>
            <a:r>
              <a:rPr lang="en-US" sz="1900" spc="-39" kern="0" dirty="0">
                <a:solidFill>
                  <a:srgbClr val="272525"/>
                </a:solidFill>
                <a:latin typeface="Source Serif Pro Semi Bold" pitchFamily="34" charset="0"/>
                <a:ea typeface="Source Serif Pro Semi Bold" pitchFamily="34" charset="-122"/>
                <a:cs typeface="Source Serif Pro Semi Bold" pitchFamily="34" charset="-120"/>
              </a:rPr>
              <a:t>Creative thinking</a:t>
            </a:r>
            <a:endParaRPr lang="en-US" sz="1900" dirty="0"/>
          </a:p>
        </p:txBody>
      </p:sp>
      <p:sp>
        <p:nvSpPr>
          <p:cNvPr id="6" name="Text 3"/>
          <p:cNvSpPr/>
          <p:nvPr/>
        </p:nvSpPr>
        <p:spPr>
          <a:xfrm>
            <a:off x="6430566" y="2430304"/>
            <a:ext cx="3308033" cy="832485"/>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It aim at creating something new.</a:t>
            </a:r>
            <a:endParaRPr lang="en-US" sz="1600" dirty="0"/>
          </a:p>
        </p:txBody>
      </p:sp>
      <p:sp>
        <p:nvSpPr>
          <p:cNvPr id="7" name="Text 4"/>
          <p:cNvSpPr/>
          <p:nvPr/>
        </p:nvSpPr>
        <p:spPr>
          <a:xfrm>
            <a:off x="6430566" y="3335536"/>
            <a:ext cx="3308033" cy="1248728"/>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It involves rearranging the existing stimuli to create something new.</a:t>
            </a:r>
            <a:endParaRPr lang="en-US" sz="1600" dirty="0"/>
          </a:p>
        </p:txBody>
      </p:sp>
      <p:sp>
        <p:nvSpPr>
          <p:cNvPr id="8" name="Text 5"/>
          <p:cNvSpPr/>
          <p:nvPr/>
        </p:nvSpPr>
        <p:spPr>
          <a:xfrm>
            <a:off x="6430566" y="4657011"/>
            <a:ext cx="3308033" cy="832485"/>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Eg:-:-Designing quizzes or blogs.</a:t>
            </a:r>
            <a:endParaRPr lang="en-US" sz="1600" dirty="0"/>
          </a:p>
        </p:txBody>
      </p:sp>
      <p:sp>
        <p:nvSpPr>
          <p:cNvPr id="9" name="Shape 6"/>
          <p:cNvSpPr/>
          <p:nvPr/>
        </p:nvSpPr>
        <p:spPr>
          <a:xfrm>
            <a:off x="10162461" y="1783675"/>
            <a:ext cx="3739515" cy="5586532"/>
          </a:xfrm>
          <a:prstGeom prst="roundRect">
            <a:avLst>
              <a:gd name="adj" fmla="val 2338"/>
            </a:avLst>
          </a:prstGeom>
          <a:solidFill>
            <a:srgbClr val="F4D4F7"/>
          </a:solidFill>
          <a:ln w="7620">
            <a:solidFill>
              <a:srgbClr val="DABADD"/>
            </a:solidFill>
            <a:prstDash val="solid"/>
          </a:ln>
        </p:spPr>
      </p:sp>
      <p:sp>
        <p:nvSpPr>
          <p:cNvPr id="10" name="Text 7"/>
          <p:cNvSpPr/>
          <p:nvPr/>
        </p:nvSpPr>
        <p:spPr>
          <a:xfrm>
            <a:off x="10378202" y="1999417"/>
            <a:ext cx="2448520" cy="306110"/>
          </a:xfrm>
          <a:prstGeom prst="rect">
            <a:avLst/>
          </a:prstGeom>
          <a:noFill/>
          <a:ln/>
        </p:spPr>
        <p:txBody>
          <a:bodyPr wrap="none" lIns="0" tIns="0" rIns="0" bIns="0" rtlCol="0" anchor="t"/>
          <a:lstStyle/>
          <a:p>
            <a:pPr indent="0" marL="0">
              <a:lnSpc>
                <a:spcPts val="2400"/>
              </a:lnSpc>
              <a:buNone/>
            </a:pPr>
            <a:r>
              <a:rPr lang="en-US" sz="1900" spc="-39" kern="0" dirty="0">
                <a:solidFill>
                  <a:srgbClr val="272525"/>
                </a:solidFill>
                <a:latin typeface="Source Serif Pro Semi Bold" pitchFamily="34" charset="0"/>
                <a:ea typeface="Source Serif Pro Semi Bold" pitchFamily="34" charset="-122"/>
                <a:cs typeface="Source Serif Pro Semi Bold" pitchFamily="34" charset="-120"/>
              </a:rPr>
              <a:t>Critical thinking</a:t>
            </a:r>
            <a:endParaRPr lang="en-US" sz="1900" dirty="0"/>
          </a:p>
        </p:txBody>
      </p:sp>
      <p:sp>
        <p:nvSpPr>
          <p:cNvPr id="11" name="Text 8"/>
          <p:cNvSpPr/>
          <p:nvPr/>
        </p:nvSpPr>
        <p:spPr>
          <a:xfrm>
            <a:off x="10378202" y="2430304"/>
            <a:ext cx="3308033" cy="1664970"/>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This type of thinking involves in making the reasoned judgments and examining assumptions. </a:t>
            </a:r>
            <a:endParaRPr lang="en-US" sz="1600" dirty="0"/>
          </a:p>
        </p:txBody>
      </p:sp>
      <p:sp>
        <p:nvSpPr>
          <p:cNvPr id="12" name="Text 9"/>
          <p:cNvSpPr/>
          <p:nvPr/>
        </p:nvSpPr>
        <p:spPr>
          <a:xfrm>
            <a:off x="10378202" y="4168021"/>
            <a:ext cx="3308033" cy="2081212"/>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It involves skilful conceptualizing, applying, analysing and evaluating information gathered from various sources. </a:t>
            </a:r>
            <a:endParaRPr lang="en-US" sz="1600" dirty="0"/>
          </a:p>
        </p:txBody>
      </p:sp>
      <p:sp>
        <p:nvSpPr>
          <p:cNvPr id="13" name="Text 10"/>
          <p:cNvSpPr/>
          <p:nvPr/>
        </p:nvSpPr>
        <p:spPr>
          <a:xfrm>
            <a:off x="10378202" y="6321981"/>
            <a:ext cx="3308033" cy="832485"/>
          </a:xfrm>
          <a:prstGeom prst="rect">
            <a:avLst/>
          </a:prstGeom>
          <a:noFill/>
          <a:ln/>
        </p:spPr>
        <p:txBody>
          <a:bodyPr wrap="square" lIns="0" tIns="0" rIns="0" bIns="0" rtlCol="0" anchor="t"/>
          <a:lstStyle/>
          <a:p>
            <a:pPr algn="l" marL="342900" indent="-342900">
              <a:lnSpc>
                <a:spcPts val="2600"/>
              </a:lnSpc>
              <a:buSzPct val="100000"/>
              <a:buChar char="•"/>
            </a:pPr>
            <a:r>
              <a:rPr lang="en-US" sz="1600" spc="-33" kern="0" dirty="0">
                <a:solidFill>
                  <a:srgbClr val="272525"/>
                </a:solidFill>
                <a:latin typeface="Source Sans Pro" pitchFamily="34" charset="0"/>
                <a:ea typeface="Source Sans Pro" pitchFamily="34" charset="-122"/>
                <a:cs typeface="Source Sans Pro" pitchFamily="34" charset="-120"/>
              </a:rPr>
              <a:t>Eg:-Hiring-deciding who to hire for a role.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2089428"/>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4" name="Shape 1"/>
          <p:cNvSpPr/>
          <p:nvPr/>
        </p:nvSpPr>
        <p:spPr>
          <a:xfrm>
            <a:off x="6324124" y="3152418"/>
            <a:ext cx="7468553" cy="2987635"/>
          </a:xfrm>
          <a:prstGeom prst="roundRect">
            <a:avLst>
              <a:gd name="adj" fmla="val 3365"/>
            </a:avLst>
          </a:prstGeom>
          <a:solidFill>
            <a:srgbClr val="F4D4F7"/>
          </a:solidFill>
          <a:ln w="7620">
            <a:solidFill>
              <a:srgbClr val="DABADD"/>
            </a:solidFill>
            <a:prstDash val="solid"/>
          </a:ln>
        </p:spPr>
      </p:sp>
      <p:sp>
        <p:nvSpPr>
          <p:cNvPr id="5" name="Text 2"/>
          <p:cNvSpPr/>
          <p:nvPr/>
        </p:nvSpPr>
        <p:spPr>
          <a:xfrm>
            <a:off x="6571059" y="3399353"/>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Reflective thinking</a:t>
            </a:r>
            <a:endParaRPr lang="en-US" sz="2200" dirty="0"/>
          </a:p>
        </p:txBody>
      </p:sp>
      <p:sp>
        <p:nvSpPr>
          <p:cNvPr id="6" name="Text 3"/>
          <p:cNvSpPr/>
          <p:nvPr/>
        </p:nvSpPr>
        <p:spPr>
          <a:xfrm>
            <a:off x="6571059" y="3894892"/>
            <a:ext cx="6974681"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It is an insight based thinking which uses previous experiences to solve a problem.</a:t>
            </a:r>
            <a:endParaRPr lang="en-US" sz="1850" dirty="0"/>
          </a:p>
        </p:txBody>
      </p:sp>
      <p:sp>
        <p:nvSpPr>
          <p:cNvPr id="7" name="Text 4"/>
          <p:cNvSpPr/>
          <p:nvPr/>
        </p:nvSpPr>
        <p:spPr>
          <a:xfrm>
            <a:off x="6571059" y="4935855"/>
            <a:ext cx="6974681"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It requires the organizations of related experiences and finding out new solutions for the problems.</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11530" y="638651"/>
            <a:ext cx="5455682" cy="681871"/>
          </a:xfrm>
          <a:prstGeom prst="rect">
            <a:avLst/>
          </a:prstGeom>
          <a:noFill/>
          <a:ln/>
        </p:spPr>
        <p:txBody>
          <a:bodyPr wrap="none" lIns="0" tIns="0" rIns="0" bIns="0" rtlCol="0" anchor="t"/>
          <a:lstStyle/>
          <a:p>
            <a:pPr indent="0" marL="0">
              <a:lnSpc>
                <a:spcPts val="5350"/>
              </a:lnSpc>
              <a:buNone/>
            </a:pPr>
            <a:r>
              <a:rPr lang="en-US" sz="4250" spc="-86" kern="0" dirty="0">
                <a:solidFill>
                  <a:srgbClr val="D73AD7"/>
                </a:solidFill>
                <a:latin typeface="Source Serif Pro Semi Bold" pitchFamily="34" charset="0"/>
                <a:ea typeface="Source Serif Pro Semi Bold" pitchFamily="34" charset="-122"/>
                <a:cs typeface="Source Serif Pro Semi Bold" pitchFamily="34" charset="-120"/>
              </a:rPr>
              <a:t>REASONING</a:t>
            </a:r>
            <a:endParaRPr lang="en-US" sz="4250" dirty="0"/>
          </a:p>
        </p:txBody>
      </p:sp>
      <p:sp>
        <p:nvSpPr>
          <p:cNvPr id="3" name="Text 1"/>
          <p:cNvSpPr/>
          <p:nvPr/>
        </p:nvSpPr>
        <p:spPr>
          <a:xfrm>
            <a:off x="811530" y="1749385"/>
            <a:ext cx="6220897" cy="927259"/>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It is one of the methods of finding solution to a problem.</a:t>
            </a:r>
            <a:endParaRPr lang="en-US" sz="1800" dirty="0"/>
          </a:p>
        </p:txBody>
      </p:sp>
      <p:sp>
        <p:nvSpPr>
          <p:cNvPr id="4" name="Text 2"/>
          <p:cNvSpPr/>
          <p:nvPr/>
        </p:nvSpPr>
        <p:spPr>
          <a:xfrm>
            <a:off x="811530" y="2757726"/>
            <a:ext cx="6220897" cy="927259"/>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According to</a:t>
            </a:r>
            <a:pPr algn="l" indent="0" marL="0">
              <a:lnSpc>
                <a:spcPts val="2900"/>
              </a:lnSpc>
              <a:buNone/>
            </a:pPr>
            <a:r>
              <a:rPr lang="en-US" sz="1800" b="1" spc="-37" kern="0" dirty="0">
                <a:solidFill>
                  <a:srgbClr val="272525"/>
                </a:solidFill>
                <a:latin typeface="Source Sans Pro" pitchFamily="34" charset="0"/>
                <a:ea typeface="Source Sans Pro" pitchFamily="34" charset="-122"/>
                <a:cs typeface="Source Sans Pro" pitchFamily="34" charset="-120"/>
              </a:rPr>
              <a:t> Garette</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'reasoning is step wise thinking with a purpose or goal in the mind.'</a:t>
            </a:r>
            <a:endParaRPr lang="en-US" sz="1800" dirty="0"/>
          </a:p>
        </p:txBody>
      </p:sp>
      <p:sp>
        <p:nvSpPr>
          <p:cNvPr id="5" name="Text 3"/>
          <p:cNvSpPr/>
          <p:nvPr/>
        </p:nvSpPr>
        <p:spPr>
          <a:xfrm>
            <a:off x="811530" y="3766066"/>
            <a:ext cx="6220897" cy="463629"/>
          </a:xfrm>
          <a:prstGeom prst="rect">
            <a:avLst/>
          </a:prstGeom>
          <a:noFill/>
          <a:ln/>
        </p:spPr>
        <p:txBody>
          <a:bodyPr wrap="non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Reasoning involves a definite purpose or goal.</a:t>
            </a:r>
            <a:endParaRPr lang="en-US" sz="1800" dirty="0"/>
          </a:p>
        </p:txBody>
      </p:sp>
      <p:sp>
        <p:nvSpPr>
          <p:cNvPr id="6" name="Text 4"/>
          <p:cNvSpPr/>
          <p:nvPr/>
        </p:nvSpPr>
        <p:spPr>
          <a:xfrm>
            <a:off x="811530" y="4310777"/>
            <a:ext cx="6220897" cy="139088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 One make use of one's previous knowledge and experience or the knowledge of the rules, principles and techniques.</a:t>
            </a:r>
            <a:endParaRPr lang="en-US" sz="1800" dirty="0"/>
          </a:p>
        </p:txBody>
      </p:sp>
      <p:sp>
        <p:nvSpPr>
          <p:cNvPr id="7" name="Text 5"/>
          <p:cNvSpPr/>
          <p:nvPr/>
        </p:nvSpPr>
        <p:spPr>
          <a:xfrm>
            <a:off x="811530" y="5782747"/>
            <a:ext cx="6220897" cy="927259"/>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In reasoning, we try to explore mentally, the reason or cause of an event or happening.</a:t>
            </a:r>
            <a:endParaRPr lang="en-US" sz="1800" dirty="0"/>
          </a:p>
        </p:txBody>
      </p:sp>
      <p:sp>
        <p:nvSpPr>
          <p:cNvPr id="8" name="Text 6"/>
          <p:cNvSpPr/>
          <p:nvPr/>
        </p:nvSpPr>
        <p:spPr>
          <a:xfrm>
            <a:off x="811530" y="6918603"/>
            <a:ext cx="6220897" cy="463629"/>
          </a:xfrm>
          <a:prstGeom prst="rect">
            <a:avLst/>
          </a:prstGeom>
          <a:noFill/>
          <a:ln/>
        </p:spPr>
        <p:txBody>
          <a:bodyPr wrap="none" lIns="0" tIns="0" rIns="0" bIns="0" rtlCol="0" anchor="t"/>
          <a:lstStyle/>
          <a:p>
            <a:pPr indent="0" marL="0">
              <a:lnSpc>
                <a:spcPts val="3650"/>
              </a:lnSpc>
              <a:buNone/>
            </a:pPr>
            <a:endParaRPr lang="en-US" sz="2250" dirty="0"/>
          </a:p>
        </p:txBody>
      </p:sp>
      <p:sp>
        <p:nvSpPr>
          <p:cNvPr id="9" name="Text 7"/>
          <p:cNvSpPr/>
          <p:nvPr/>
        </p:nvSpPr>
        <p:spPr>
          <a:xfrm>
            <a:off x="7605593" y="1876901"/>
            <a:ext cx="6220897" cy="927259"/>
          </a:xfrm>
          <a:prstGeom prst="rect">
            <a:avLst/>
          </a:prstGeom>
          <a:noFill/>
          <a:ln/>
        </p:spPr>
        <p:txBody>
          <a:bodyPr wrap="square" lIns="0" tIns="0" rIns="0" bIns="0" rtlCol="0" anchor="t"/>
          <a:lstStyle/>
          <a:p>
            <a:pPr indent="0" marL="0">
              <a:lnSpc>
                <a:spcPts val="3650"/>
              </a:lnSpc>
              <a:buNone/>
            </a:pPr>
            <a:r>
              <a:rPr lang="en-US" sz="2250" b="1" spc="-37" kern="0" dirty="0">
                <a:solidFill>
                  <a:srgbClr val="272525"/>
                </a:solidFill>
                <a:latin typeface="Source Sans Pro" pitchFamily="34" charset="0"/>
                <a:ea typeface="Source Sans Pro" pitchFamily="34" charset="-122"/>
                <a:cs typeface="Source Sans Pro" pitchFamily="34" charset="-120"/>
              </a:rPr>
              <a:t>Inductive reasoning</a:t>
            </a:r>
            <a:pPr indent="0" marL="0">
              <a:lnSpc>
                <a:spcPts val="3650"/>
              </a:lnSpc>
              <a:buNone/>
            </a:pPr>
            <a:r>
              <a:rPr lang="en-US" sz="2250" spc="-37" kern="0" dirty="0">
                <a:solidFill>
                  <a:srgbClr val="272525"/>
                </a:solidFill>
                <a:latin typeface="Source Sans Pro" pitchFamily="34" charset="0"/>
                <a:ea typeface="Source Sans Pro" pitchFamily="34" charset="-122"/>
                <a:cs typeface="Source Sans Pro" pitchFamily="34" charset="-120"/>
              </a:rPr>
              <a:t>- here we proceed from specific facts or observation to general principles.</a:t>
            </a:r>
            <a:endParaRPr lang="en-US" sz="2250" dirty="0"/>
          </a:p>
        </p:txBody>
      </p:sp>
      <p:sp>
        <p:nvSpPr>
          <p:cNvPr id="10" name="Text 8"/>
          <p:cNvSpPr/>
          <p:nvPr/>
        </p:nvSpPr>
        <p:spPr>
          <a:xfrm>
            <a:off x="7605593" y="3012758"/>
            <a:ext cx="6220897" cy="1390888"/>
          </a:xfrm>
          <a:prstGeom prst="rect">
            <a:avLst/>
          </a:prstGeom>
          <a:noFill/>
          <a:ln/>
        </p:spPr>
        <p:txBody>
          <a:bodyPr wrap="square" lIns="0" tIns="0" rIns="0" bIns="0" rtlCol="0" anchor="t"/>
          <a:lstStyle/>
          <a:p>
            <a:pPr indent="0" marL="0">
              <a:lnSpc>
                <a:spcPts val="3650"/>
              </a:lnSpc>
              <a:buNone/>
            </a:pPr>
            <a:r>
              <a:rPr lang="en-US" sz="2250" spc="-37" kern="0" dirty="0">
                <a:solidFill>
                  <a:srgbClr val="272525"/>
                </a:solidFill>
                <a:latin typeface="Source Sans Pro" pitchFamily="34" charset="0"/>
                <a:ea typeface="Source Sans Pro" pitchFamily="34" charset="-122"/>
                <a:cs typeface="Source Sans Pro" pitchFamily="34" charset="-120"/>
              </a:rPr>
              <a:t>Example:- iron expands when heated, air also expands when heated, there for all types of matter, solid, liquid and gas expand when heated.</a:t>
            </a:r>
            <a:endParaRPr lang="en-US" sz="2250" dirty="0"/>
          </a:p>
        </p:txBody>
      </p:sp>
      <p:sp>
        <p:nvSpPr>
          <p:cNvPr id="11" name="Text 9"/>
          <p:cNvSpPr/>
          <p:nvPr/>
        </p:nvSpPr>
        <p:spPr>
          <a:xfrm>
            <a:off x="7605593" y="4612243"/>
            <a:ext cx="6220897" cy="927259"/>
          </a:xfrm>
          <a:prstGeom prst="rect">
            <a:avLst/>
          </a:prstGeom>
          <a:noFill/>
          <a:ln/>
        </p:spPr>
        <p:txBody>
          <a:bodyPr wrap="square" lIns="0" tIns="0" rIns="0" bIns="0" rtlCol="0" anchor="t"/>
          <a:lstStyle/>
          <a:p>
            <a:pPr indent="0" marL="0">
              <a:lnSpc>
                <a:spcPts val="3650"/>
              </a:lnSpc>
              <a:buNone/>
            </a:pPr>
            <a:r>
              <a:rPr lang="en-US" sz="2250" b="1" spc="-37" kern="0" dirty="0">
                <a:solidFill>
                  <a:srgbClr val="272525"/>
                </a:solidFill>
                <a:latin typeface="Source Sans Pro" pitchFamily="34" charset="0"/>
                <a:ea typeface="Source Sans Pro" pitchFamily="34" charset="-122"/>
                <a:cs typeface="Source Sans Pro" pitchFamily="34" charset="-120"/>
              </a:rPr>
              <a:t>Deductive reasoning</a:t>
            </a:r>
            <a:pPr indent="0" marL="0">
              <a:lnSpc>
                <a:spcPts val="3650"/>
              </a:lnSpc>
              <a:buNone/>
            </a:pPr>
            <a:r>
              <a:rPr lang="en-US" sz="2250" spc="-37" kern="0" dirty="0">
                <a:solidFill>
                  <a:srgbClr val="272525"/>
                </a:solidFill>
                <a:latin typeface="Source Sans Pro" pitchFamily="34" charset="0"/>
                <a:ea typeface="Source Sans Pro" pitchFamily="34" charset="-122"/>
                <a:cs typeface="Source Sans Pro" pitchFamily="34" charset="-120"/>
              </a:rPr>
              <a:t>- it is we proceed from general principle to specific situation.</a:t>
            </a:r>
            <a:endParaRPr lang="en-US" sz="2250" dirty="0"/>
          </a:p>
        </p:txBody>
      </p:sp>
      <p:sp>
        <p:nvSpPr>
          <p:cNvPr id="12" name="Text 10"/>
          <p:cNvSpPr/>
          <p:nvPr/>
        </p:nvSpPr>
        <p:spPr>
          <a:xfrm>
            <a:off x="7605593" y="5748099"/>
            <a:ext cx="6220897" cy="927259"/>
          </a:xfrm>
          <a:prstGeom prst="rect">
            <a:avLst/>
          </a:prstGeom>
          <a:noFill/>
          <a:ln/>
        </p:spPr>
        <p:txBody>
          <a:bodyPr wrap="square" lIns="0" tIns="0" rIns="0" bIns="0" rtlCol="0" anchor="t"/>
          <a:lstStyle/>
          <a:p>
            <a:pPr indent="0" marL="0">
              <a:lnSpc>
                <a:spcPts val="3650"/>
              </a:lnSpc>
              <a:buNone/>
            </a:pPr>
            <a:r>
              <a:rPr lang="en-US" sz="2250" spc="-37" kern="0" dirty="0">
                <a:solidFill>
                  <a:srgbClr val="272525"/>
                </a:solidFill>
                <a:latin typeface="Source Sans Pro" pitchFamily="34" charset="0"/>
                <a:ea typeface="Source Sans Pro" pitchFamily="34" charset="-122"/>
                <a:cs typeface="Source Sans Pro" pitchFamily="34" charset="-120"/>
              </a:rPr>
              <a:t>Example:- matter expands when heated. Iron is a form of matter and expands when heated.</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872139"/>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PROBLEM SOLVING</a:t>
            </a:r>
            <a:endParaRPr lang="en-US" sz="4400" dirty="0"/>
          </a:p>
        </p:txBody>
      </p:sp>
      <p:sp>
        <p:nvSpPr>
          <p:cNvPr id="3" name="Text 1"/>
          <p:cNvSpPr/>
          <p:nvPr/>
        </p:nvSpPr>
        <p:spPr>
          <a:xfrm>
            <a:off x="837724" y="3150513"/>
            <a:ext cx="6185535" cy="1914525"/>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It is a process of overcoming difficulties that appear to interfere with the attainment of a goal. It is a procedure of making adjustments in spite of interference(Skinner.)</a:t>
            </a:r>
            <a:endParaRPr lang="en-US" sz="2350" dirty="0"/>
          </a:p>
        </p:txBody>
      </p:sp>
      <p:sp>
        <p:nvSpPr>
          <p:cNvPr id="4" name="Text 2"/>
          <p:cNvSpPr/>
          <p:nvPr/>
        </p:nvSpPr>
        <p:spPr>
          <a:xfrm>
            <a:off x="837724" y="5280422"/>
            <a:ext cx="6185535" cy="478631"/>
          </a:xfrm>
          <a:prstGeom prst="rect">
            <a:avLst/>
          </a:prstGeom>
          <a:noFill/>
          <a:ln/>
        </p:spPr>
        <p:txBody>
          <a:bodyPr wrap="none" lIns="0" tIns="0" rIns="0" bIns="0" rtlCol="0" anchor="t"/>
          <a:lstStyle/>
          <a:p>
            <a:pPr indent="0" marL="0">
              <a:lnSpc>
                <a:spcPts val="3750"/>
              </a:lnSpc>
              <a:buNone/>
            </a:pPr>
            <a:endParaRPr lang="en-US" sz="2350" dirty="0"/>
          </a:p>
        </p:txBody>
      </p:sp>
      <p:sp>
        <p:nvSpPr>
          <p:cNvPr id="5" name="Text 3"/>
          <p:cNvSpPr/>
          <p:nvPr/>
        </p:nvSpPr>
        <p:spPr>
          <a:xfrm>
            <a:off x="7614761" y="3150513"/>
            <a:ext cx="6185535" cy="2393156"/>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Wood Worth &amp; Morguins: Problem solving behaviour occurs in novel or difficult situations in which a solution is not obtainable by the habitual method of applying concepts and principles derived from the past experience in very situation.</a:t>
            </a:r>
            <a:endParaRPr lang="en-US" sz="2350" dirty="0"/>
          </a:p>
        </p:txBody>
      </p:sp>
      <p:sp>
        <p:nvSpPr>
          <p:cNvPr id="6" name="Text 4"/>
          <p:cNvSpPr/>
          <p:nvPr/>
        </p:nvSpPr>
        <p:spPr>
          <a:xfrm>
            <a:off x="7614761" y="5759053"/>
            <a:ext cx="6185535" cy="383024"/>
          </a:xfrm>
          <a:prstGeom prst="rect">
            <a:avLst/>
          </a:prstGeom>
          <a:noFill/>
          <a:ln/>
        </p:spPr>
        <p:txBody>
          <a:bodyPr wrap="none" lIns="0" tIns="0" rIns="0" bIns="0" rtlCol="0" anchor="t"/>
          <a:lstStyle/>
          <a:p>
            <a:pPr indent="0" marL="0">
              <a:lnSpc>
                <a:spcPts val="3000"/>
              </a:lnSpc>
              <a:buNone/>
            </a:pP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578888"/>
            <a:ext cx="6205538" cy="422315"/>
          </a:xfrm>
          <a:prstGeom prst="rect">
            <a:avLst/>
          </a:prstGeom>
          <a:noFill/>
          <a:ln/>
        </p:spPr>
        <p:txBody>
          <a:bodyPr wrap="none" lIns="0" tIns="0" rIns="0" bIns="0" rtlCol="0" anchor="t"/>
          <a:lstStyle/>
          <a:p>
            <a:pPr indent="0" marL="0">
              <a:lnSpc>
                <a:spcPts val="3300"/>
              </a:lnSpc>
              <a:buNone/>
            </a:pPr>
            <a:r>
              <a:rPr lang="en-US" sz="2650" spc="-53" kern="0" dirty="0">
                <a:solidFill>
                  <a:srgbClr val="D73AD7"/>
                </a:solidFill>
                <a:latin typeface="Source Serif Pro Semi Bold" pitchFamily="34" charset="0"/>
                <a:ea typeface="Source Serif Pro Semi Bold" pitchFamily="34" charset="-122"/>
                <a:cs typeface="Source Serif Pro Semi Bold" pitchFamily="34" charset="-120"/>
              </a:rPr>
              <a:t>Scientific methods of problem solving are:</a:t>
            </a:r>
            <a:endParaRPr lang="en-US" sz="2650" dirty="0"/>
          </a:p>
        </p:txBody>
      </p:sp>
      <p:sp>
        <p:nvSpPr>
          <p:cNvPr id="4" name="Shape 1"/>
          <p:cNvSpPr/>
          <p:nvPr/>
        </p:nvSpPr>
        <p:spPr>
          <a:xfrm>
            <a:off x="837724" y="2539603"/>
            <a:ext cx="538520" cy="538520"/>
          </a:xfrm>
          <a:prstGeom prst="roundRect">
            <a:avLst>
              <a:gd name="adj" fmla="val 18670"/>
            </a:avLst>
          </a:prstGeom>
          <a:solidFill>
            <a:srgbClr val="F4D4F7"/>
          </a:solidFill>
          <a:ln w="7620">
            <a:solidFill>
              <a:srgbClr val="DABADD"/>
            </a:solidFill>
            <a:prstDash val="solid"/>
          </a:ln>
        </p:spPr>
      </p:sp>
      <p:sp>
        <p:nvSpPr>
          <p:cNvPr id="5" name="Text 2"/>
          <p:cNvSpPr/>
          <p:nvPr/>
        </p:nvSpPr>
        <p:spPr>
          <a:xfrm>
            <a:off x="1022509" y="2639854"/>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650" dirty="0"/>
          </a:p>
        </p:txBody>
      </p:sp>
      <p:sp>
        <p:nvSpPr>
          <p:cNvPr id="6" name="Text 3"/>
          <p:cNvSpPr/>
          <p:nvPr/>
        </p:nvSpPr>
        <p:spPr>
          <a:xfrm>
            <a:off x="1615559" y="2539603"/>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problem awareness</a:t>
            </a:r>
            <a:endParaRPr lang="en-US" sz="2200" dirty="0"/>
          </a:p>
        </p:txBody>
      </p:sp>
      <p:sp>
        <p:nvSpPr>
          <p:cNvPr id="7" name="Text 4"/>
          <p:cNvSpPr/>
          <p:nvPr/>
        </p:nvSpPr>
        <p:spPr>
          <a:xfrm>
            <a:off x="1615559" y="3035141"/>
            <a:ext cx="2836783" cy="478631"/>
          </a:xfrm>
          <a:prstGeom prst="rect">
            <a:avLst/>
          </a:prstGeom>
          <a:noFill/>
          <a:ln/>
        </p:spPr>
        <p:txBody>
          <a:bodyPr wrap="none" lIns="0" tIns="0" rIns="0" bIns="0" rtlCol="0" anchor="t"/>
          <a:lstStyle/>
          <a:p>
            <a:pPr indent="0" marL="0">
              <a:lnSpc>
                <a:spcPts val="3750"/>
              </a:lnSpc>
              <a:buNone/>
            </a:pPr>
            <a:endParaRPr lang="en-US" sz="2350" dirty="0"/>
          </a:p>
        </p:txBody>
      </p:sp>
      <p:sp>
        <p:nvSpPr>
          <p:cNvPr id="8" name="Shape 5"/>
          <p:cNvSpPr/>
          <p:nvPr/>
        </p:nvSpPr>
        <p:spPr>
          <a:xfrm>
            <a:off x="4691658" y="2539603"/>
            <a:ext cx="538520" cy="538520"/>
          </a:xfrm>
          <a:prstGeom prst="roundRect">
            <a:avLst>
              <a:gd name="adj" fmla="val 18670"/>
            </a:avLst>
          </a:prstGeom>
          <a:solidFill>
            <a:srgbClr val="F4D4F7"/>
          </a:solidFill>
          <a:ln w="7620">
            <a:solidFill>
              <a:srgbClr val="DABADD"/>
            </a:solidFill>
            <a:prstDash val="solid"/>
          </a:ln>
        </p:spPr>
      </p:sp>
      <p:sp>
        <p:nvSpPr>
          <p:cNvPr id="9" name="Text 6"/>
          <p:cNvSpPr/>
          <p:nvPr/>
        </p:nvSpPr>
        <p:spPr>
          <a:xfrm>
            <a:off x="4876443" y="2639854"/>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650" dirty="0"/>
          </a:p>
        </p:txBody>
      </p:sp>
      <p:sp>
        <p:nvSpPr>
          <p:cNvPr id="10" name="Text 7"/>
          <p:cNvSpPr/>
          <p:nvPr/>
        </p:nvSpPr>
        <p:spPr>
          <a:xfrm>
            <a:off x="5469493" y="2539603"/>
            <a:ext cx="2836783" cy="703898"/>
          </a:xfrm>
          <a:prstGeom prst="rect">
            <a:avLst/>
          </a:prstGeom>
          <a:noFill/>
          <a:ln/>
        </p:spPr>
        <p:txBody>
          <a:bodyPr wrap="squar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2. problem understanding.</a:t>
            </a:r>
            <a:endParaRPr lang="en-US" sz="2200" dirty="0"/>
          </a:p>
        </p:txBody>
      </p:sp>
      <p:sp>
        <p:nvSpPr>
          <p:cNvPr id="11" name="Text 8"/>
          <p:cNvSpPr/>
          <p:nvPr/>
        </p:nvSpPr>
        <p:spPr>
          <a:xfrm>
            <a:off x="5469493" y="3387090"/>
            <a:ext cx="2836783" cy="383024"/>
          </a:xfrm>
          <a:prstGeom prst="rect">
            <a:avLst/>
          </a:prstGeom>
          <a:noFill/>
          <a:ln/>
        </p:spPr>
        <p:txBody>
          <a:bodyPr wrap="none" lIns="0" tIns="0" rIns="0" bIns="0" rtlCol="0" anchor="t"/>
          <a:lstStyle/>
          <a:p>
            <a:pPr indent="0" marL="0">
              <a:lnSpc>
                <a:spcPts val="3000"/>
              </a:lnSpc>
              <a:buNone/>
            </a:pPr>
            <a:endParaRPr lang="en-US" sz="1850" dirty="0"/>
          </a:p>
        </p:txBody>
      </p:sp>
      <p:sp>
        <p:nvSpPr>
          <p:cNvPr id="12" name="Shape 9"/>
          <p:cNvSpPr/>
          <p:nvPr/>
        </p:nvSpPr>
        <p:spPr>
          <a:xfrm>
            <a:off x="837724" y="4278630"/>
            <a:ext cx="538520" cy="538520"/>
          </a:xfrm>
          <a:prstGeom prst="roundRect">
            <a:avLst>
              <a:gd name="adj" fmla="val 18670"/>
            </a:avLst>
          </a:prstGeom>
          <a:solidFill>
            <a:srgbClr val="F4D4F7"/>
          </a:solidFill>
          <a:ln w="7620">
            <a:solidFill>
              <a:srgbClr val="DABADD"/>
            </a:solidFill>
            <a:prstDash val="solid"/>
          </a:ln>
        </p:spPr>
      </p:sp>
      <p:sp>
        <p:nvSpPr>
          <p:cNvPr id="13" name="Text 10"/>
          <p:cNvSpPr/>
          <p:nvPr/>
        </p:nvSpPr>
        <p:spPr>
          <a:xfrm>
            <a:off x="1022509" y="4378881"/>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650" dirty="0"/>
          </a:p>
        </p:txBody>
      </p:sp>
      <p:sp>
        <p:nvSpPr>
          <p:cNvPr id="14" name="Text 11"/>
          <p:cNvSpPr/>
          <p:nvPr/>
        </p:nvSpPr>
        <p:spPr>
          <a:xfrm>
            <a:off x="1615559" y="4278630"/>
            <a:ext cx="2836783" cy="703898"/>
          </a:xfrm>
          <a:prstGeom prst="rect">
            <a:avLst/>
          </a:prstGeom>
          <a:noFill/>
          <a:ln/>
        </p:spPr>
        <p:txBody>
          <a:bodyPr wrap="squar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3.collection of relevant information.</a:t>
            </a:r>
            <a:endParaRPr lang="en-US" sz="2200" dirty="0"/>
          </a:p>
        </p:txBody>
      </p:sp>
      <p:sp>
        <p:nvSpPr>
          <p:cNvPr id="15" name="Shape 12"/>
          <p:cNvSpPr/>
          <p:nvPr/>
        </p:nvSpPr>
        <p:spPr>
          <a:xfrm>
            <a:off x="4691658" y="4278630"/>
            <a:ext cx="538520" cy="538520"/>
          </a:xfrm>
          <a:prstGeom prst="roundRect">
            <a:avLst>
              <a:gd name="adj" fmla="val 18670"/>
            </a:avLst>
          </a:prstGeom>
          <a:solidFill>
            <a:srgbClr val="F4D4F7"/>
          </a:solidFill>
          <a:ln w="7620">
            <a:solidFill>
              <a:srgbClr val="DABADD"/>
            </a:solidFill>
            <a:prstDash val="solid"/>
          </a:ln>
        </p:spPr>
      </p:sp>
      <p:sp>
        <p:nvSpPr>
          <p:cNvPr id="16" name="Text 13"/>
          <p:cNvSpPr/>
          <p:nvPr/>
        </p:nvSpPr>
        <p:spPr>
          <a:xfrm>
            <a:off x="4876443" y="4378881"/>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4</a:t>
            </a:r>
            <a:endParaRPr lang="en-US" sz="2650" dirty="0"/>
          </a:p>
        </p:txBody>
      </p:sp>
      <p:sp>
        <p:nvSpPr>
          <p:cNvPr id="17" name="Text 14"/>
          <p:cNvSpPr/>
          <p:nvPr/>
        </p:nvSpPr>
        <p:spPr>
          <a:xfrm>
            <a:off x="5469493" y="4278630"/>
            <a:ext cx="2836783" cy="703898"/>
          </a:xfrm>
          <a:prstGeom prst="rect">
            <a:avLst/>
          </a:prstGeom>
          <a:noFill/>
          <a:ln/>
        </p:spPr>
        <p:txBody>
          <a:bodyPr wrap="squar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4.formulation of hypothesis.</a:t>
            </a:r>
            <a:endParaRPr lang="en-US" sz="2200" dirty="0"/>
          </a:p>
        </p:txBody>
      </p:sp>
      <p:sp>
        <p:nvSpPr>
          <p:cNvPr id="18" name="Shape 15"/>
          <p:cNvSpPr/>
          <p:nvPr/>
        </p:nvSpPr>
        <p:spPr>
          <a:xfrm>
            <a:off x="837724" y="5594866"/>
            <a:ext cx="538520" cy="538520"/>
          </a:xfrm>
          <a:prstGeom prst="roundRect">
            <a:avLst>
              <a:gd name="adj" fmla="val 18670"/>
            </a:avLst>
          </a:prstGeom>
          <a:solidFill>
            <a:srgbClr val="F4D4F7"/>
          </a:solidFill>
          <a:ln w="7620">
            <a:solidFill>
              <a:srgbClr val="DABADD"/>
            </a:solidFill>
            <a:prstDash val="solid"/>
          </a:ln>
        </p:spPr>
      </p:sp>
      <p:sp>
        <p:nvSpPr>
          <p:cNvPr id="19" name="Text 16"/>
          <p:cNvSpPr/>
          <p:nvPr/>
        </p:nvSpPr>
        <p:spPr>
          <a:xfrm>
            <a:off x="1022509" y="5695117"/>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5</a:t>
            </a:r>
            <a:endParaRPr lang="en-US" sz="2650" dirty="0"/>
          </a:p>
        </p:txBody>
      </p:sp>
      <p:sp>
        <p:nvSpPr>
          <p:cNvPr id="20" name="Text 17"/>
          <p:cNvSpPr/>
          <p:nvPr/>
        </p:nvSpPr>
        <p:spPr>
          <a:xfrm>
            <a:off x="1615559" y="5594866"/>
            <a:ext cx="2836783" cy="703898"/>
          </a:xfrm>
          <a:prstGeom prst="rect">
            <a:avLst/>
          </a:prstGeom>
          <a:noFill/>
          <a:ln/>
        </p:spPr>
        <p:txBody>
          <a:bodyPr wrap="squar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5.selection of a proper solution.</a:t>
            </a:r>
            <a:endParaRPr lang="en-US" sz="2200" dirty="0"/>
          </a:p>
        </p:txBody>
      </p:sp>
      <p:sp>
        <p:nvSpPr>
          <p:cNvPr id="21" name="Shape 18"/>
          <p:cNvSpPr/>
          <p:nvPr/>
        </p:nvSpPr>
        <p:spPr>
          <a:xfrm>
            <a:off x="4691658" y="5594866"/>
            <a:ext cx="538520" cy="538520"/>
          </a:xfrm>
          <a:prstGeom prst="roundRect">
            <a:avLst>
              <a:gd name="adj" fmla="val 18670"/>
            </a:avLst>
          </a:prstGeom>
          <a:solidFill>
            <a:srgbClr val="F4D4F7"/>
          </a:solidFill>
          <a:ln w="7620">
            <a:solidFill>
              <a:srgbClr val="DABADD"/>
            </a:solidFill>
            <a:prstDash val="solid"/>
          </a:ln>
        </p:spPr>
      </p:sp>
      <p:sp>
        <p:nvSpPr>
          <p:cNvPr id="22" name="Text 19"/>
          <p:cNvSpPr/>
          <p:nvPr/>
        </p:nvSpPr>
        <p:spPr>
          <a:xfrm>
            <a:off x="4876443" y="5695117"/>
            <a:ext cx="168950" cy="337899"/>
          </a:xfrm>
          <a:prstGeom prst="rect">
            <a:avLst/>
          </a:prstGeom>
          <a:noFill/>
          <a:ln/>
        </p:spPr>
        <p:txBody>
          <a:bodyPr wrap="none" lIns="0" tIns="0" rIns="0" bIns="0" rtlCol="0" anchor="t"/>
          <a:lstStyle/>
          <a:p>
            <a:pPr algn="ctr" indent="0" marL="0">
              <a:lnSpc>
                <a:spcPts val="2650"/>
              </a:lnSpc>
              <a:buNone/>
            </a:pPr>
            <a:r>
              <a:rPr lang="en-US" sz="2650" spc="-53" kern="0" dirty="0">
                <a:solidFill>
                  <a:srgbClr val="272525"/>
                </a:solidFill>
                <a:latin typeface="Source Serif Pro Semi Bold" pitchFamily="34" charset="0"/>
                <a:ea typeface="Source Serif Pro Semi Bold" pitchFamily="34" charset="-122"/>
                <a:cs typeface="Source Serif Pro Semi Bold" pitchFamily="34" charset="-120"/>
              </a:rPr>
              <a:t>6</a:t>
            </a:r>
            <a:endParaRPr lang="en-US" sz="2650" dirty="0"/>
          </a:p>
        </p:txBody>
      </p:sp>
      <p:sp>
        <p:nvSpPr>
          <p:cNvPr id="23" name="Text 20"/>
          <p:cNvSpPr/>
          <p:nvPr/>
        </p:nvSpPr>
        <p:spPr>
          <a:xfrm>
            <a:off x="5469493" y="5594866"/>
            <a:ext cx="2836783" cy="1055846"/>
          </a:xfrm>
          <a:prstGeom prst="rect">
            <a:avLst/>
          </a:prstGeom>
          <a:noFill/>
          <a:ln/>
        </p:spPr>
        <p:txBody>
          <a:bodyPr wrap="squar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6. verification of the concluded solution and application.</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2386489"/>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APTITUDE</a:t>
            </a:r>
            <a:endParaRPr lang="en-US" sz="4400" dirty="0"/>
          </a:p>
        </p:txBody>
      </p:sp>
      <p:sp>
        <p:nvSpPr>
          <p:cNvPr id="3" name="Text 1"/>
          <p:cNvSpPr/>
          <p:nvPr/>
        </p:nvSpPr>
        <p:spPr>
          <a:xfrm>
            <a:off x="837724" y="3664863"/>
            <a:ext cx="6185535" cy="383024"/>
          </a:xfrm>
          <a:prstGeom prst="rect">
            <a:avLst/>
          </a:prstGeom>
          <a:noFill/>
          <a:ln/>
        </p:spPr>
        <p:txBody>
          <a:bodyPr wrap="none" lIns="0" tIns="0" rIns="0" bIns="0" rtlCol="0" anchor="t"/>
          <a:lstStyle/>
          <a:p>
            <a:pPr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Aptitude</a:t>
            </a:r>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means quickness in learning and understanding.</a:t>
            </a:r>
            <a:endParaRPr lang="en-US" sz="1850" dirty="0"/>
          </a:p>
        </p:txBody>
      </p:sp>
      <p:sp>
        <p:nvSpPr>
          <p:cNvPr id="4" name="Text 2"/>
          <p:cNvSpPr/>
          <p:nvPr/>
        </p:nvSpPr>
        <p:spPr>
          <a:xfrm>
            <a:off x="837724" y="4263271"/>
            <a:ext cx="6185535" cy="383024"/>
          </a:xfrm>
          <a:prstGeom prst="rect">
            <a:avLst/>
          </a:prstGeom>
          <a:noFill/>
          <a:ln/>
        </p:spPr>
        <p:txBody>
          <a:bodyPr wrap="non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It may be a natural talent or an acquired ability.</a:t>
            </a:r>
            <a:endParaRPr lang="en-US" sz="1850" dirty="0"/>
          </a:p>
        </p:txBody>
      </p:sp>
      <p:sp>
        <p:nvSpPr>
          <p:cNvPr id="5" name="Text 3"/>
          <p:cNvSpPr/>
          <p:nvPr/>
        </p:nvSpPr>
        <p:spPr>
          <a:xfrm>
            <a:off x="837724" y="4861679"/>
            <a:ext cx="6185535" cy="766048"/>
          </a:xfrm>
          <a:prstGeom prst="rect">
            <a:avLst/>
          </a:prstGeom>
          <a:noFill/>
          <a:ln/>
        </p:spPr>
        <p:txBody>
          <a:bodyPr wrap="squar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It is the special special abilities like mechanical, musical, artistic etc.</a:t>
            </a:r>
            <a:endParaRPr lang="en-US" sz="1850" dirty="0"/>
          </a:p>
        </p:txBody>
      </p:sp>
      <p:sp>
        <p:nvSpPr>
          <p:cNvPr id="6" name="Text 4"/>
          <p:cNvSpPr/>
          <p:nvPr/>
        </p:nvSpPr>
        <p:spPr>
          <a:xfrm>
            <a:off x="7614761" y="3664863"/>
            <a:ext cx="6185535" cy="1532096"/>
          </a:xfrm>
          <a:prstGeom prst="rect">
            <a:avLst/>
          </a:prstGeom>
          <a:noFill/>
          <a:ln/>
        </p:spPr>
        <p:txBody>
          <a:bodyPr wrap="squar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According to Bingham, 'aptitude refers to those qualities characterising a person's way of behaviour which serve to indicate how well he can learn to meet and solve a certain specified kinds of problem.'</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987391"/>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APTITUDE</a:t>
            </a:r>
            <a:endParaRPr lang="en-US" sz="4400" dirty="0"/>
          </a:p>
        </p:txBody>
      </p:sp>
      <p:sp>
        <p:nvSpPr>
          <p:cNvPr id="4" name="Shape 1"/>
          <p:cNvSpPr/>
          <p:nvPr/>
        </p:nvSpPr>
        <p:spPr>
          <a:xfrm>
            <a:off x="837724" y="3050381"/>
            <a:ext cx="7468553" cy="3191708"/>
          </a:xfrm>
          <a:prstGeom prst="roundRect">
            <a:avLst>
              <a:gd name="adj" fmla="val 3150"/>
            </a:avLst>
          </a:prstGeom>
          <a:solidFill>
            <a:srgbClr val="F4D4F7"/>
          </a:solidFill>
          <a:ln w="7620">
            <a:solidFill>
              <a:srgbClr val="DABADD"/>
            </a:solidFill>
            <a:prstDash val="solid"/>
          </a:ln>
        </p:spPr>
      </p:sp>
      <p:sp>
        <p:nvSpPr>
          <p:cNvPr id="5" name="Text 2"/>
          <p:cNvSpPr/>
          <p:nvPr/>
        </p:nvSpPr>
        <p:spPr>
          <a:xfrm>
            <a:off x="1084659" y="3297317"/>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Concepts</a:t>
            </a:r>
            <a:endParaRPr lang="en-US" sz="2200" dirty="0"/>
          </a:p>
        </p:txBody>
      </p:sp>
      <p:sp>
        <p:nvSpPr>
          <p:cNvPr id="6" name="Text 3"/>
          <p:cNvSpPr/>
          <p:nvPr/>
        </p:nvSpPr>
        <p:spPr>
          <a:xfrm>
            <a:off x="1084659" y="3792855"/>
            <a:ext cx="6974681" cy="766048"/>
          </a:xfrm>
          <a:prstGeom prst="rect">
            <a:avLst/>
          </a:prstGeom>
          <a:noFill/>
          <a:ln/>
        </p:spPr>
        <p:txBody>
          <a:bodyPr wrap="squar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An aptitude is an innate component of a competency to do a certain kind of work at a certain level.</a:t>
            </a:r>
            <a:endParaRPr lang="en-US" sz="1850" dirty="0"/>
          </a:p>
        </p:txBody>
      </p:sp>
      <p:sp>
        <p:nvSpPr>
          <p:cNvPr id="7" name="Text 4"/>
          <p:cNvSpPr/>
          <p:nvPr/>
        </p:nvSpPr>
        <p:spPr>
          <a:xfrm>
            <a:off x="1084659" y="4702493"/>
            <a:ext cx="6974681" cy="766048"/>
          </a:xfrm>
          <a:prstGeom prst="rect">
            <a:avLst/>
          </a:prstGeom>
          <a:noFill/>
          <a:ln/>
        </p:spPr>
        <p:txBody>
          <a:bodyPr wrap="squar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Aptitude is derived from general Mental ability and it predicts one's possible success or failure in a vocation.</a:t>
            </a:r>
            <a:endParaRPr lang="en-US" sz="1850" dirty="0"/>
          </a:p>
        </p:txBody>
      </p:sp>
      <p:sp>
        <p:nvSpPr>
          <p:cNvPr id="8" name="Text 5"/>
          <p:cNvSpPr/>
          <p:nvPr/>
        </p:nvSpPr>
        <p:spPr>
          <a:xfrm>
            <a:off x="1084659" y="5612130"/>
            <a:ext cx="6974681" cy="383024"/>
          </a:xfrm>
          <a:prstGeom prst="rect">
            <a:avLst/>
          </a:prstGeom>
          <a:noFill/>
          <a:ln/>
        </p:spPr>
        <p:txBody>
          <a:bodyPr wrap="none" lIns="0" tIns="0" rIns="0" bIns="0" rtlCol="0" anchor="t"/>
          <a:lstStyle/>
          <a:p>
            <a:pPr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Aptitude helps an individual to learn faster and achieve success.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2025-01-15T19:45:21Z</dcterms:created>
  <dcterms:modified xsi:type="dcterms:W3CDTF">2025-01-15T19:45:21Z</dcterms:modified>
</cp:coreProperties>
</file>