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8229600"/>
  <p:notesSz cx="8229600" cy="14630400"/>
  <p:embeddedFontLst>
    <p:embeddedFont>
      <p:font typeface="Merriweather"/>
      <p:regular r:id="rId27"/>
    </p:embeddedFont>
    <p:embeddedFont>
      <p:font typeface="Merriweather"/>
      <p:regular r:id="rId28"/>
    </p:embeddedFont>
    <p:embeddedFont>
      <p:font typeface="Merriweather"/>
      <p:regular r:id="rId29"/>
    </p:embeddedFont>
    <p:embeddedFont>
      <p:font typeface="Merriweather"/>
      <p:regular r:id="rId30"/>
    </p:embeddedFont>
    <p:embeddedFont>
      <p:font typeface="Open Sans"/>
      <p:regular r:id="rId31"/>
    </p:embeddedFont>
    <p:embeddedFont>
      <p:font typeface="Open Sans"/>
      <p:regular r:id="rId32"/>
    </p:embeddedFont>
    <p:embeddedFont>
      <p:font typeface="Open Sans"/>
      <p:regular r:id="rId33"/>
    </p:embeddedFont>
    <p:embeddedFont>
      <p:font typeface="Open Sans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2" Type="http://schemas.openxmlformats.org/officeDocument/2006/relationships/image" Target="../media/image-1017-2.png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8-1.png"/><Relationship Id="rId2" Type="http://schemas.openxmlformats.org/officeDocument/2006/relationships/image" Target="../media/image-1018-2.png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9-1.png"/><Relationship Id="rId2" Type="http://schemas.openxmlformats.org/officeDocument/2006/relationships/image" Target="../media/image-1019-2.png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0-1.png"/><Relationship Id="rId2" Type="http://schemas.openxmlformats.org/officeDocument/2006/relationships/image" Target="../media/image-1020-2.png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21-1.png"/><Relationship Id="rId2" Type="http://schemas.openxmlformats.org/officeDocument/2006/relationships/image" Target="../media/image-102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8152" y="707827"/>
            <a:ext cx="4870371" cy="608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BRAIN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168152" y="1608773"/>
            <a:ext cx="3792855" cy="2469475"/>
          </a:xfrm>
          <a:prstGeom prst="roundRect">
            <a:avLst>
              <a:gd name="adj" fmla="val 3313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70558" y="1811179"/>
            <a:ext cx="2435185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70558" y="2232303"/>
            <a:ext cx="3388043" cy="155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Brain is the control tower of higher mental processes like perceiving, reasoning, problem solving and thinking.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55793" y="1608773"/>
            <a:ext cx="3792855" cy="2469475"/>
          </a:xfrm>
          <a:prstGeom prst="roundRect">
            <a:avLst>
              <a:gd name="adj" fmla="val 3313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58199" y="1811179"/>
            <a:ext cx="3388043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358199" y="2317552"/>
            <a:ext cx="3388043" cy="155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CNS is surrounded by cerebrospinal fluid for protection from external shock.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168152" y="4273034"/>
            <a:ext cx="3792855" cy="3248620"/>
          </a:xfrm>
          <a:prstGeom prst="roundRect">
            <a:avLst>
              <a:gd name="adj" fmla="val 251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0558" y="4475440"/>
            <a:ext cx="3388043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70558" y="4981813"/>
            <a:ext cx="3388043" cy="779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Larger portion of brain-cerebrum.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0155793" y="4273034"/>
            <a:ext cx="3792855" cy="3248620"/>
          </a:xfrm>
          <a:prstGeom prst="roundRect">
            <a:avLst>
              <a:gd name="adj" fmla="val 251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58199" y="4475440"/>
            <a:ext cx="3388043" cy="389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358199" y="4981813"/>
            <a:ext cx="3388043" cy="2337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Cerebrum-left hemisphere + right hemisphere. Each hemisphere divided into-frontal lobe, parietal lobe, temporal lobe and occipital lobe.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587" y="1039297"/>
            <a:ext cx="4983242" cy="622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FOREBRAIN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7587" y="2060734"/>
            <a:ext cx="13235226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region and largest part of brain.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97587" y="2882860"/>
            <a:ext cx="2491621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Thalamus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97587" y="3393638"/>
            <a:ext cx="408705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Also called brain's relay station.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7587" y="3861911"/>
            <a:ext cx="4087058" cy="159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 thalamus signals reach the cerebellum to maintain body balance and coordination. 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7587" y="5526048"/>
            <a:ext cx="4087058" cy="159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Damage to thalamus can affect a person's sleeping. Working patterns, attention and learning.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278517" y="2882860"/>
            <a:ext cx="2491621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Hypothalamus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278517" y="3393638"/>
            <a:ext cx="408705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Regulate blood pressure, heart rate, sexual desire, body temperature and appetite. 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278517" y="4659154"/>
            <a:ext cx="408705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Also involved in motivational and emotional behavior and considered as hub of emotions. 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278517" y="5924669"/>
            <a:ext cx="4087058" cy="119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Stimulation of hypothalamus can result in violent behavior, sexual arousal and fear.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859447" y="2882860"/>
            <a:ext cx="2491621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Limbic System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859447" y="3393638"/>
            <a:ext cx="4087058" cy="1993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include hippocampus(memory)amygdala(regulate emotions like anger and fear) and septum(pleasurable emotions).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570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205990"/>
            <a:ext cx="3664863" cy="2319814"/>
          </a:xfrm>
          <a:prstGeom prst="roundRect">
            <a:avLst>
              <a:gd name="adj" fmla="val 4107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4404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Basal Ganglia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2930843"/>
            <a:ext cx="3195995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helps in muscle contraction and relaxation.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171867" y="2205990"/>
            <a:ext cx="3664863" cy="2319814"/>
          </a:xfrm>
          <a:prstGeom prst="roundRect">
            <a:avLst>
              <a:gd name="adj" fmla="val 4107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4404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Corpus Callosum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2930843"/>
            <a:ext cx="3195995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of neurons connecting two hemispheres.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280190" y="4752618"/>
            <a:ext cx="7556421" cy="2319814"/>
          </a:xfrm>
          <a:prstGeom prst="roundRect">
            <a:avLst>
              <a:gd name="adj" fmla="val 4107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Cerebrum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5477470"/>
            <a:ext cx="7087553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largest portion of brain. Generally persons with intellectual disability has smaller size of cerebrum and lesser folds.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49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MIDBRAIN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9732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Act as relay center for incoming messages from ears and eyes.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3012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connects forebrain and hindbrain through sensory and motor impulses.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6293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Divided into- tectum and tegmentum 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566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8AFF8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1.</a:t>
            </a:r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F7135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TECTUM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502205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Located in dorsal portion of midbrain.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5486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consist of superior colliculi and inferior colliculi.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087666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helps to keep eye movements fixed on an object and to orient ears to sound even when the head moves or rotates.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17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9066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5E208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2.TEGMENTUM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25612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Lies beneath the tectum.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88926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includes rostral end of reticular formation, periaquadectal grey mater, red nucleus, substantia nigra, ventral tegmental area.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36106"/>
            <a:ext cx="713839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5CC97B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3.RETICULAR ACTIVATING SYSTEM(RAS)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580155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plays an important role in sleep, arousal, attention etc.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33436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Blockage of RAS leads to unconsciousness and severe damage causes coma.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595551"/>
            <a:ext cx="5414963" cy="676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HINDBRAIN </a:t>
            </a:r>
            <a:endParaRPr lang="en-US" sz="4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071" y="1705570"/>
            <a:ext cx="541496" cy="541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071" y="2463641"/>
            <a:ext cx="3248978" cy="406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Medulla Oblongata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758071" y="2999661"/>
            <a:ext cx="6394728" cy="8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Located under cerebellum and above spinal cord.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58071" y="3941683"/>
            <a:ext cx="6394728" cy="8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 regulates cardiovascular system, respiration and skeletal muscle tone. 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071" y="4883706"/>
            <a:ext cx="6394728" cy="8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Injury in lower portion leads to arrest of respiration and circulation . 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071" y="5825728"/>
            <a:ext cx="6394728" cy="8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death due to head injury in accidents occur because of this reason.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8071" y="6767751"/>
            <a:ext cx="6394728" cy="866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Excess intake of alcohol or heroin affect functioning of medulla.</a:t>
            </a:r>
            <a:endParaRPr lang="en-US" sz="1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601" y="1705570"/>
            <a:ext cx="541496" cy="5414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7601" y="2463641"/>
            <a:ext cx="3248978" cy="406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Pons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477601" y="2999661"/>
            <a:ext cx="6394728" cy="43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Largest bulge in the brain stem.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77601" y="3508534"/>
            <a:ext cx="6394728" cy="1299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 integrates the movement of body's left and right sides and nerves going to other areas of brain. 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77601" y="4883706"/>
            <a:ext cx="6394728" cy="43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Involved in sleep and arousal mechanism.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86176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7996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Cerebellum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14134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Located at the back of the head.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67415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helps in coordination of activities like walking, running, dancing etc.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20695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Damage to cerebellum cause problems in movements and postures.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73975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Jerky movements in older peoples are due to improper functioning of cerebellum.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88771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PSYCHOLOGY AND SENSATION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672709"/>
            <a:ext cx="107146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SENSORY PROCESS-NORMAL AND ABNORMAL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579846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Sensation is defined as the process of the sensory organs transforming physical energy into neurological impulses.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66160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Sensation is possible by proper functioning of receptors, afferent nerve fibers and endings in higher processing centers in the brain.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52474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Receptors convert environmental energy into the language of nervous system and the process is called transduction.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617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Certain attributes of sensation are:-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49483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F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.Quality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-different sensations of colour, sound, taste, smell etc. differ from one another in quality.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203496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5CC9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.Intensity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-sensation of same quality may differ in intensity as a light may be either dim or bright based on distance of stimuli.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65665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910D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.Duration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-the sound or sight lasts for two seconds feel differently from a sound or sight that last ten seconds.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52783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1F71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Extensity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-the sensation from a small illuminated area is different from sensation a broader area.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623649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D8AF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sign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-sensations differ from the areas stimulated.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798" y="718661"/>
            <a:ext cx="4810839" cy="59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VISUAL SENSATION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0798" y="1509236"/>
            <a:ext cx="6410563" cy="114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is estimated that we use visual sensation approximately 80 percent of our transaction with the world.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70798" y="2850594"/>
            <a:ext cx="2875240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HUMAN EYE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70798" y="3401497"/>
            <a:ext cx="6410563" cy="76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sensation starts when light enters the eyes and stimulates visual receptors.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0798" y="4235053"/>
            <a:ext cx="6410563" cy="76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Light enters the eye through a tough, glassy covering called </a:t>
            </a:r>
            <a:pPr algn="l" indent="0" marL="0">
              <a:lnSpc>
                <a:spcPts val="2400"/>
              </a:lnSpc>
              <a:buNone/>
            </a:pPr>
            <a:r>
              <a:rPr lang="en-US" sz="1500" b="1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cornea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0798" y="5068610"/>
            <a:ext cx="6410563" cy="76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Then it passes through a transparent jelly like substance known as </a:t>
            </a:r>
            <a:pPr algn="l" indent="0" marL="0">
              <a:lnSpc>
                <a:spcPts val="2400"/>
              </a:lnSpc>
              <a:buNone/>
            </a:pPr>
            <a:r>
              <a:rPr lang="en-US" sz="1500" b="1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aqueous humor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0798" y="5902166"/>
            <a:ext cx="6410563" cy="114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then passes through </a:t>
            </a:r>
            <a:pPr algn="l" indent="0" marL="0">
              <a:lnSpc>
                <a:spcPts val="2400"/>
              </a:lnSpc>
              <a:buNone/>
            </a:pPr>
            <a:r>
              <a:rPr lang="en-US" sz="1500" b="1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lens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there is a transparent substance that fill the space behind lens called </a:t>
            </a:r>
            <a:pPr algn="l" indent="0" marL="0">
              <a:lnSpc>
                <a:spcPts val="2400"/>
              </a:lnSpc>
              <a:buNone/>
            </a:pPr>
            <a:r>
              <a:rPr lang="en-US" sz="1500" b="1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vitreous humor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0798" y="7224355"/>
            <a:ext cx="6410563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659" y="1333500"/>
            <a:ext cx="4394597" cy="55635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6176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cornea and lens converge the light rays passing through the vitreous chamber and finally forming an image in the retina.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7248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Rods-sensitive only to brightness of light or scotopic vision.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0529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Cones-for photopic or daylight vision.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38099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Fovea-a small circular region , also known as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F71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yellow spot</a:t>
            </a:r>
            <a:pPr algn="l" indent="0" marL="0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is responsible for clearest images.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24413"/>
            <a:ext cx="130428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Colour vision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-according to trichromatic theory by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AA1A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24E7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Helmholtz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retina consist of three different cones-red, green or blue and any colour can be obtained by an appropriate mixture of these wavelengths.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44009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0941"/>
            <a:ext cx="9162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ABNORMAL VISUAL PROCESSES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334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with normal color vision-trichromats.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55615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Deficiency in color vision cause color blindness.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08895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 blindness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genetically inherited and most common in males.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621762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People who are totally color blind have dysfunctional cones- monochromats . (all color appear as grey)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08076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 who is insensitive to one of two color pairs, red-green or blue-yellow.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40881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Defects in visual acuity-blurring of vision, blindness.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67368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Defect in visual field-tunnel vision in glaucoma.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20649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Senile cataract.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915150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060" y="528757"/>
            <a:ext cx="4807625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060" y="1634371"/>
            <a:ext cx="6407587" cy="4805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3060" y="6656308"/>
            <a:ext cx="2884527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73060" y="7209115"/>
            <a:ext cx="6407587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373" y="1634371"/>
            <a:ext cx="6407587" cy="53395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7373" y="7190303"/>
            <a:ext cx="2884527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7557373" y="7743111"/>
            <a:ext cx="6407587" cy="307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89" y="1184553"/>
            <a:ext cx="5608677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AUDITORY SENSATION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1989" y="1976557"/>
            <a:ext cx="6409015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Auditory sensation begin when sound enters our ear and stimulate the organ of hearing.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71989" y="2917269"/>
            <a:ext cx="6409015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1.External ear-includes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pinna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(collect sound waves) and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auditory meatus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(canal protected by hair and wax).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71989" y="3857982"/>
            <a:ext cx="6409015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2.Middle ear-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tympanum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(thin membrane highly sensitive to sound vibrations), connected to pharynx with help of eustachian tube.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71989" y="5182672"/>
            <a:ext cx="64090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Then vibration pass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malleus, incus and stapes.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71989" y="5739408"/>
            <a:ext cx="6409015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3.Inner ear-contain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cochlea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(contain hair cells that act as receptors for hearing.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71989" y="6680121"/>
            <a:ext cx="640901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endParaRPr lang="en-US" sz="1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7016" y="1681996"/>
            <a:ext cx="6409015" cy="48654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74037"/>
            <a:ext cx="101710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ABNORMAL AUDITORY SENSATION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3644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Loss of hearing.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6924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910D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Tinnitus-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ringing/roaring in the ear.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02054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04C8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Presbycusis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-certain frequencies of sound affected(due to ageing).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1307187"/>
            <a:ext cx="6259354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SENSE OF TASTE/GUSTATION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2955" y="2929176"/>
            <a:ext cx="6259354" cy="134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sensory receptors for taste are located inside small bumps on the tongue known as papillae.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2955" y="4349710"/>
            <a:ext cx="6259354" cy="894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 receptor-located on the side of the tongue.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2955" y="5322808"/>
            <a:ext cx="6259354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bitter receptor-back of tongue.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2955" y="5848469"/>
            <a:ext cx="6259354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Sweet and salt receptor-front of the tongue.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82955" y="6497241"/>
            <a:ext cx="6259354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00"/>
              </a:lnSpc>
              <a:buNone/>
            </a:pP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5711" y="868085"/>
            <a:ext cx="6147673" cy="64934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98182"/>
            <a:ext cx="10208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ABNORMALITY IN SENSE OF TASTE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6058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5E208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Hypogeusia-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diminished sense of taste.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6924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910D0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.Ageusia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-complete loss of taste.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7790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1F71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Dysgeusia</a:t>
            </a:r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-alteration in the perception of taste.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5128"/>
            <a:ext cx="62447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SENSE OF SMELL/OLFACTION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9500"/>
            <a:ext cx="6244709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stimulus for smell sensation consists of molecules of various substances contained in the air.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09323"/>
            <a:ext cx="624470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enter the passage where they dissolve in moist nasal tissues.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095637"/>
            <a:ext cx="6244709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Smell receptors are neurons and their cell bodies are embedded in the epithelium.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206728"/>
            <a:ext cx="624470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68643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9521" y="2358509"/>
            <a:ext cx="6244709" cy="35125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9575"/>
            <a:ext cx="103030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ABNORMALITY IN SENSE OF SMELL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2198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Loss of sensation of smell-anosmia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5478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Misinterpretation of specific smell- parosmia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48457"/>
            <a:ext cx="108593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SENSE OF TOUCH/CUTANEOUS SENSE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793790" y="4897398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Skin is the largest sensory organ that produces different sensations.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3020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Tactile sense produce sensation of touch, warmth, cold and pain.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963007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receptors of touch are not evenly distributed in our skin, that is why some areas like face, finger tips etc. are most sensitive that other such as legs.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0380"/>
            <a:ext cx="103740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ABNORMALITY IN SENSE OF TOUCH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278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F713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Paresthesia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-felt as pins and needles, tingling and numbness.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35592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E208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Anesthesia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-loss of sensations in a part of the surface of the body.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2024-11-23T14:02:52Z</dcterms:created>
  <dcterms:modified xsi:type="dcterms:W3CDTF">2024-11-23T14:02:52Z</dcterms:modified>
</cp:coreProperties>
</file>