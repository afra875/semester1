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Unbounded"/>
      <p:regular r:id="rId32"/>
    </p:embeddedFont>
    <p:embeddedFont>
      <p:font typeface="Unbounded"/>
      <p:regular r:id="rId33"/>
    </p:embeddedFont>
    <p:embeddedFont>
      <p:font typeface="Open Sans"/>
      <p:regular r:id="rId34"/>
    </p:embeddedFont>
    <p:embeddedFont>
      <p:font typeface="Open Sans"/>
      <p:regular r:id="rId35"/>
    </p:embeddedFont>
    <p:embeddedFont>
      <p:font typeface="Open Sans"/>
      <p:regular r:id="rId36"/>
    </p:embeddedFont>
    <p:embeddedFont>
      <p:font typeface="Open Sans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3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2-1.png"/><Relationship Id="rId3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3-1.png"/><Relationship Id="rId3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4-1.png"/><Relationship Id="rId3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5-1.png"/><Relationship Id="rId3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373" y="933688"/>
            <a:ext cx="6995636" cy="61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Classical Conditioning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4373" y="2074307"/>
            <a:ext cx="347186" cy="347186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39917" y="2074307"/>
            <a:ext cx="3232904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Classical Conditioning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239917" y="2813090"/>
            <a:ext cx="3232904" cy="198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was proposed by </a:t>
            </a:r>
            <a:pPr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Ivan Pavlov</a:t>
            </a:r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,a Russian physiologist interested in the study of gastric secretions.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239917" y="4915614"/>
            <a:ext cx="3232904" cy="238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Associative Learning</a:t>
            </a:r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-whenever two stimuli, events or objects occur together that tend to became mutually related or associated.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4671179" y="2074307"/>
            <a:ext cx="347186" cy="347186"/>
          </a:xfrm>
          <a:prstGeom prst="roundRect">
            <a:avLst>
              <a:gd name="adj" fmla="val 2400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6723" y="2074307"/>
            <a:ext cx="292441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Pavlov's Discovery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216723" y="2503170"/>
            <a:ext cx="3232904" cy="1983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 discovered classical conditioning accidently while researching the process of digestion in dogs. 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216723" y="4605695"/>
            <a:ext cx="3232904" cy="2380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 found that the sight or smell of the food or even the foot step of the attendant who bring food regularly was enough to start the dogs salivation.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863"/>
            <a:ext cx="8970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Elements of Conditioning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32804"/>
            <a:ext cx="6408063" cy="1866305"/>
          </a:xfrm>
          <a:prstGeom prst="roundRect">
            <a:avLst>
              <a:gd name="adj" fmla="val 51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667238"/>
            <a:ext cx="5031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Unconditioned Stimulus (US)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157657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 is the stimulus that elicits the reflexive response (food).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667" y="2432804"/>
            <a:ext cx="6408063" cy="1866305"/>
          </a:xfrm>
          <a:prstGeom prst="roundRect">
            <a:avLst>
              <a:gd name="adj" fmla="val 51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01" y="2667238"/>
            <a:ext cx="5210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Unconditioned Response (UR)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3101" y="3157657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response to the unconditioned stimulus(salivation).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4525923"/>
            <a:ext cx="6408063" cy="2319814"/>
          </a:xfrm>
          <a:prstGeom prst="roundRect">
            <a:avLst>
              <a:gd name="adj" fmla="val 410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760357"/>
            <a:ext cx="4615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Conditioned Stimulus (CS)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250775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neutral stimulus that when paired with an unconditioned stimulus acquires the property to elicit a similar response(Bell).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667" y="4525923"/>
            <a:ext cx="6408063" cy="2319814"/>
          </a:xfrm>
          <a:prstGeom prst="roundRect">
            <a:avLst>
              <a:gd name="adj" fmla="val 410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3101" y="4760357"/>
            <a:ext cx="47938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Conditioned Response (CR)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3101" y="5250775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the response to the conditioned stimulus(Salivation).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42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36664"/>
            <a:ext cx="657606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95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Extinction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80667"/>
            <a:ext cx="3978116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Decrease in frequency of a previously conditioned response.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2928" y="1899523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Spontaneous Recovery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2834997"/>
            <a:ext cx="3978116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emergence of an extinguished condition to response after a period of rest.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2067" y="1899523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Stimulus Generalization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2834997"/>
            <a:ext cx="3978116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response to a stimulus that is similar to but different from a conditioned stimulus.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947023"/>
            <a:ext cx="7055168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Operant Conditioning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29" y="1908691"/>
            <a:ext cx="519827" cy="5198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7829" y="2636401"/>
            <a:ext cx="368819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Operant conditioning techniques was developed by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BF Skinner.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27829" y="3956447"/>
            <a:ext cx="3688199" cy="83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Skinner conducted an experiment on rat. 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27829" y="4860727"/>
            <a:ext cx="3688199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 used a box called skinner box where he delivered food pellets inside the box. Later he stopped feeding the rat. 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53" y="1908691"/>
            <a:ext cx="519827" cy="5198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27853" y="2636401"/>
            <a:ext cx="3688318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hungry rat began to find out the ways to get the food pellet and accidently pressed the liver which released the food pellets. 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27853" y="5203746"/>
            <a:ext cx="3688318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4 or 5 trials of accidental pressing of the lever, the rat learnt to press the lever more rapidly.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673" y="492681"/>
            <a:ext cx="4469725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82372" y="1408867"/>
            <a:ext cx="22860" cy="6327934"/>
          </a:xfrm>
          <a:prstGeom prst="roundRect">
            <a:avLst>
              <a:gd name="adj" fmla="val 328491"/>
            </a:avLst>
          </a:prstGeom>
          <a:solidFill>
            <a:srgbClr val="BCDBD4"/>
          </a:solidFill>
          <a:ln/>
        </p:spPr>
      </p:sp>
      <p:sp>
        <p:nvSpPr>
          <p:cNvPr id="4" name="Shape 2"/>
          <p:cNvSpPr/>
          <p:nvPr/>
        </p:nvSpPr>
        <p:spPr>
          <a:xfrm>
            <a:off x="1072039" y="1799630"/>
            <a:ext cx="625673" cy="22860"/>
          </a:xfrm>
          <a:prstGeom prst="roundRect">
            <a:avLst>
              <a:gd name="adj" fmla="val 328491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692706" y="1609963"/>
            <a:ext cx="402193" cy="40219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4032" y="1676876"/>
            <a:ext cx="13954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77139" y="1587579"/>
            <a:ext cx="1212758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 reinforcement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-Adds something pleasant to encourage a behaviour.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877139" y="2052399"/>
            <a:ext cx="12127587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Eg:-Teacher praise student for completing homework, then student will be more likely to repeat this behaviour in future.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072039" y="3515677"/>
            <a:ext cx="625673" cy="22860"/>
          </a:xfrm>
          <a:prstGeom prst="roundRect">
            <a:avLst>
              <a:gd name="adj" fmla="val 328491"/>
            </a:avLst>
          </a:prstGeom>
          <a:solidFill>
            <a:srgbClr val="BCDBD4"/>
          </a:solidFill>
          <a:ln/>
        </p:spPr>
      </p:sp>
      <p:sp>
        <p:nvSpPr>
          <p:cNvPr id="10" name="Shape 8"/>
          <p:cNvSpPr/>
          <p:nvPr/>
        </p:nvSpPr>
        <p:spPr>
          <a:xfrm>
            <a:off x="692706" y="3326011"/>
            <a:ext cx="402193" cy="40219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764" y="3392924"/>
            <a:ext cx="223957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77139" y="3303627"/>
            <a:ext cx="1212758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reinforcement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-Removes something unpleasant to encourage a behaviour.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877139" y="3768447"/>
            <a:ext cx="12127587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Eg:-If a person drive a car in overspeed, then he has to pay fine.so that person will drive more carefully next time to avoid paying fine and this strengthens the behaviour of keeping speed limit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2039" y="5231725"/>
            <a:ext cx="625673" cy="22860"/>
          </a:xfrm>
          <a:prstGeom prst="roundRect">
            <a:avLst>
              <a:gd name="adj" fmla="val 328491"/>
            </a:avLst>
          </a:prstGeom>
          <a:solidFill>
            <a:srgbClr val="BCDB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92706" y="5042059"/>
            <a:ext cx="402193" cy="40219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288" y="5108972"/>
            <a:ext cx="225028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77139" y="5019675"/>
            <a:ext cx="1212758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 punishment-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something is added that makes the behaviour discouraged or weak.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877139" y="5484495"/>
            <a:ext cx="1212758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Eg:-Adding chores and responsibilities when he fails to follow the rules.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072039" y="6590228"/>
            <a:ext cx="625673" cy="22860"/>
          </a:xfrm>
          <a:prstGeom prst="roundRect">
            <a:avLst>
              <a:gd name="adj" fmla="val 328491"/>
            </a:avLst>
          </a:prstGeom>
          <a:solidFill>
            <a:srgbClr val="BCDB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92706" y="6400562"/>
            <a:ext cx="402193" cy="402193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8312" y="6467475"/>
            <a:ext cx="230862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877139" y="6378178"/>
            <a:ext cx="1212758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punishment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-something is taken away to make the behaviour discouraged or weak.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877139" y="6842998"/>
            <a:ext cx="12127587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Losing reward tokens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 third-grade boy yells at another student during class, so his teacher takes away his "good behaviour" tokens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589836"/>
            <a:ext cx="6369368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Insightful Learning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89" y="1689140"/>
            <a:ext cx="7124700" cy="4351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689" y="6361867"/>
            <a:ext cx="3183969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Insightful Learning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689" y="7018734"/>
            <a:ext cx="13129022" cy="85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by </a:t>
            </a:r>
            <a:pPr indent="0" marL="0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Kohler</a:t>
            </a:r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,according to him insight for learning occurs rapidly as a result of an understanding of all the components of a problem.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7223"/>
            <a:ext cx="57208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Latent 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0963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Introduced to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E.C Tolman.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42435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Latent learning a new behaviour is learned but not expressed until reinforcement is provided.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87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map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mental representation of the locations.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098" y="1755219"/>
            <a:ext cx="7223760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0098" y="7355205"/>
            <a:ext cx="1307020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1327"/>
            <a:ext cx="9985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Factors influencing learning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759" y="2253734"/>
            <a:ext cx="1291233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0617" y="2518053"/>
            <a:ext cx="14739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26806" y="2480548"/>
            <a:ext cx="31788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Nature of Learner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56666" y="3074789"/>
            <a:ext cx="9023271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203" y="3118366"/>
            <a:ext cx="2582466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6087" y="3295531"/>
            <a:ext cx="2366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572482" y="3345180"/>
            <a:ext cx="4826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Nature of learning material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402342" y="3939421"/>
            <a:ext cx="8377595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27" y="3982998"/>
            <a:ext cx="3873698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5373" y="4160163"/>
            <a:ext cx="23776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218039" y="4209812"/>
            <a:ext cx="4514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Emotions and motivation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047899" y="4804053"/>
            <a:ext cx="7732038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970" y="4847630"/>
            <a:ext cx="5164931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2277" y="5024795"/>
            <a:ext cx="24407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863715" y="5074444"/>
            <a:ext cx="4849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Physical and mental Health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6693575" y="5668685"/>
            <a:ext cx="7086362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712262"/>
            <a:ext cx="6456164" cy="8079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40016" y="5889427"/>
            <a:ext cx="22871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7509272" y="5939076"/>
            <a:ext cx="19681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Experience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93790" y="67753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237"/>
            <a:ext cx="62095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Learning Process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644"/>
            <a:ext cx="6408063" cy="4414599"/>
          </a:xfrm>
          <a:prstGeom prst="roundRect">
            <a:avLst>
              <a:gd name="adj" fmla="val 215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723078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takes place if an individual behaves and responds in a way which is taken from other as a result of experiences.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219694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elements of learning process are:-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09292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1.Goals: Desired outcome set by individual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5398889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2.Stimulus: The response is produced by the type of stimuli.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28667" y="2488644"/>
            <a:ext cx="6408063" cy="4414599"/>
          </a:xfrm>
          <a:prstGeom prst="roundRect">
            <a:avLst>
              <a:gd name="adj" fmla="val 215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3101" y="2723078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3.Perception: The person learns things by visual, auditory or kinesthetic learning.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3101" y="3766185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4.Response: May be negative, positive or neutral response. 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3101" y="4809292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5.Integration: Association of new behaviours with previously learned behaviours is related to transfer of learning.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63101" y="630590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2518"/>
            <a:ext cx="58772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Habit Formation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54925"/>
            <a:ext cx="6408063" cy="4882039"/>
          </a:xfrm>
          <a:prstGeom prst="roundRect">
            <a:avLst>
              <a:gd name="adj" fmla="val 195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489359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habit is a tendency of an individual to behave in the same way as he has behaved earlier.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85974"/>
            <a:ext cx="29379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Nature of habits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476393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 is a simple form of learning.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5009198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an automatic response to a specific situation with least effort.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995511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 occurs as a result of learning and repetition.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667" y="2254925"/>
            <a:ext cx="6408063" cy="4882039"/>
          </a:xfrm>
          <a:prstGeom prst="roundRect">
            <a:avLst>
              <a:gd name="adj" fmla="val 195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3101" y="2489359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Habits need no conscious attention to be repeated.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3101" y="3475673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Habits are more applicable for motor activities.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3101" y="4461986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Habits can be either good or bad.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3101" y="4994791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Habits provide economy to our lives.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3101" y="5527596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Habits can be changed with intense motivation and conscious efforts.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29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55344"/>
            <a:ext cx="6408063" cy="3881318"/>
          </a:xfrm>
          <a:prstGeom prst="roundRect">
            <a:avLst>
              <a:gd name="adj" fmla="val 245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989778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process of building habit can be divided into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cue, craving, response and reward.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8224" y="4429601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 triggers a craving, which motivates a response ,which provides a reward, which satisfy the craving.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2755344"/>
            <a:ext cx="6408063" cy="3881318"/>
          </a:xfrm>
          <a:prstGeom prst="roundRect">
            <a:avLst>
              <a:gd name="adj" fmla="val 245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01" y="2989778"/>
            <a:ext cx="5939195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pattern allows you to create automatic habits.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63101" y="3976092"/>
            <a:ext cx="59391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Example:- brushing the teeth: knowledge about it is the cue, to get a clean and refreshing mouth is the craving.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63101" y="5415915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Brushing the teeth is the response.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3101" y="5948720"/>
            <a:ext cx="593919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reward is a clean mouth.  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70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Memory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2641"/>
            <a:ext cx="6244709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 is the special ability of our mind to conserve or store what has been previously learned or experienced to recollect or reproduce it after sometime.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75973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According to Woodworth and Marquis, ‘Memory consist in remembering what has previously been learned.’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15796"/>
            <a:ext cx="6244709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According to Ryburn, ‘The power that we have to store our experiences and to bring them into the field of consciousness sometime after experiences have occurred.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992386"/>
            <a:ext cx="6244709" cy="62447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0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5594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three components of memorising processes are:-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06685"/>
            <a:ext cx="6244709" cy="27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Encoding-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encoding is the process of converting sensory stimuli into a necessary form.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Storage-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of holding information in memory. it can occur either in short term memory or long term memory.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931813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Retrieval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 process of recovering previously encoded information from the memory storage.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1676281"/>
            <a:ext cx="6244709" cy="48770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8105"/>
            <a:ext cx="75396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NATURE OF MEMORY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051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 is the special ability of mind to conserve what has been previously experienced or acquired through learning. memorizing is a complex process.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7682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process of memory begins with learning and ends with its retrieval and reproduction.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09630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 involve learning or experience something, it’s registration, followed by retention and its recall.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9594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 with good memory can retain maximum amount of material.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287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Half learned material cannot be retained or reproduced properly in the mind.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6155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Another sign of he capacity to bring forth the image or language for use in the present situation is a mark of good memory.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74786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and quick recognition is a sign of good memory.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266" y="860465"/>
            <a:ext cx="6497598" cy="108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FACTORS INFLUENCING MEMORY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6266" y="2116098"/>
            <a:ext cx="280868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extrinsic factors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6266" y="2613898"/>
            <a:ext cx="6497598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Stress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-Increased levels of stress hormones affect the functioning of synaptic connection. Lose synapses make it difficult to retrieve memory. 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6266" y="3713917"/>
            <a:ext cx="6497598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Sleep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-Good sleep helps to improve synaptic plasticity. Fatigue and minor damages due to day work are repaired during sleep.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6266" y="4813935"/>
            <a:ext cx="6497598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of alcohol and drugs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-Abuse of alcohol, tobacco and other addictive drugs impair memory. Smoking leads to accumulation of abnormal proteins in your brain and interferes with memory.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6266" y="6260425"/>
            <a:ext cx="649759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Distraction-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greater the distraction present in the situation poorer would be the performance of the individual.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6266" y="7109222"/>
            <a:ext cx="649759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156" y="1633657"/>
            <a:ext cx="4962168" cy="4962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466" y="1144072"/>
            <a:ext cx="3056930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Intrinsic Factors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82466" y="1704618"/>
            <a:ext cx="639484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 Age can influence the capability of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2466" y="2162770"/>
            <a:ext cx="6394847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-very young children cannot retain and remember complex material.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2466" y="3010853"/>
            <a:ext cx="6394847" cy="3119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Will to learn -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 read, heard or seen without genuine interest is difficult to be remembered.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4)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Interest-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interest is essential for learning and memorization.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5)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Intelligence-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intelligent person will have better memory than a less intelligent person.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7)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Medical conditions-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 causes for memory loss are contributed by medications.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2466" y="6305669"/>
            <a:ext cx="6394847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2466" y="6792992"/>
            <a:ext cx="6394847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707" y="2018943"/>
            <a:ext cx="5497235" cy="41915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675" y="669131"/>
            <a:ext cx="8310205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Methods to improve memory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675" y="1698784"/>
            <a:ext cx="40900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Whole and part method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640675" y="2224921"/>
            <a:ext cx="6451283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Whole method</a:t>
            </a:r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-Memorize the entire selection by repeating it continuously until you've mastered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675" y="3121819"/>
            <a:ext cx="6451283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Eg:-a poem, one is to read the poem again and again from the beginning till the end as a whole.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675" y="4018717"/>
            <a:ext cx="6451283" cy="109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method</a:t>
            </a:r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-Break the selection into parts, memorize each part individually, and then connect the parts in the correct order.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675" y="5281732"/>
            <a:ext cx="6451283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Eg:-poem is divided into parts and each parts are memorized separately.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6062" y="1721644"/>
            <a:ext cx="5206722" cy="29286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46062" y="4856202"/>
            <a:ext cx="405955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Repetition and practice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546062" y="5382339"/>
            <a:ext cx="6451283" cy="109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things repeated and practiced are frequently remembered for a longer time in comparison to those for which little or no time is spend for repetition and practice.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46062" y="6645354"/>
            <a:ext cx="645128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46062" y="7102912"/>
            <a:ext cx="645128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828" y="680204"/>
            <a:ext cx="5127665" cy="640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828" y="1833801"/>
            <a:ext cx="3076575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Mnemonics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7828" y="2423398"/>
            <a:ext cx="634722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Methods for memorizing information by using patterns to make it more memorable.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7828" y="3428048"/>
            <a:ext cx="634722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1.Acronyms-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new word by combining the first letter or syllable of each word in a phrase.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7828" y="4432697"/>
            <a:ext cx="6347222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 VIBGYOR for remembering rainbow colous.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7828" y="5027295"/>
            <a:ext cx="634722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Chunking-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 information into smaller, more manageable groups.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7828" y="6031944"/>
            <a:ext cx="634722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Eg:-Break a 10-digit phone number into three sets of numbers.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828" y="7036594"/>
            <a:ext cx="6347222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970" y="1859518"/>
            <a:ext cx="4295775" cy="286523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72970" y="4955500"/>
            <a:ext cx="634722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3.Acrostics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-used in the form ofa poem where the first  letter of each word combine to form a message.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72970" y="5960150"/>
            <a:ext cx="6347222" cy="1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Eg:-to remember the planets in our solar system, you could use the acrostic "my very educated mother just served us noodles"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58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08823"/>
            <a:ext cx="6244709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4.Keyword method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 used to memorize a vocabulary that is difficult, then split the word and give meaning to the word after which you associate the new word to remember the old one.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80441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Eg:-Word: Cataract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38023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Keyword: Cat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795605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Picture: A cat perched on top of rocks in a river and swiping at the water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9066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059900"/>
            <a:ext cx="6244709" cy="26680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99521" y="4983123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5.Method of loci- 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something which you want to remember with a place that you know very well.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65477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1232654"/>
            <a:ext cx="5864304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Types of memory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0689" y="2224683"/>
            <a:ext cx="7642622" cy="128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Sensory memory- </a:t>
            </a:r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sensory memory is the entry area of memory which is considered as waiting room of memory.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0689" y="3752850"/>
            <a:ext cx="7642622" cy="1715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incoming information first enters the sensory memory. it has large capacity but only for a brief period of time.</a:t>
            </a:r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term memory- </a:t>
            </a:r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the intermediate memory process between sensory memory and long term memory.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0689" y="5709999"/>
            <a:ext cx="7642622" cy="1286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Holds small amount of information for a brief period of time usually for 25 to 30 seconds. It is also called </a:t>
            </a:r>
            <a:pPr indent="0" marL="0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memory. </a:t>
            </a:r>
            <a:pPr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Hold only 7+or-2 items.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56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04617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 term memory- </a:t>
            </a:r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a permanent store house of all information and has a vast capacity.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amount of information stored in LTM enables us to keep our personality and maintain our lifestyle.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1498163"/>
            <a:ext cx="5634157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Forgetting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8670" y="2427684"/>
            <a:ext cx="6251615" cy="90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Forgetting means a failure to recall a fact or Idea.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8670" y="3407807"/>
            <a:ext cx="6251615" cy="90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the weakening of the bonds that were formed in learning.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8670" y="4387929"/>
            <a:ext cx="6251615" cy="1802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According to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Munn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‘forgetting is the loss, permanent or temporary ,of the ability to recall or reorganise something learned earlier.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8670" y="6393299"/>
            <a:ext cx="6251615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7735" y="874871"/>
            <a:ext cx="4930140" cy="64797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35700"/>
            <a:ext cx="8169354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TYPES OF FORGETTING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80128"/>
            <a:ext cx="13067348" cy="31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forgetting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Forgetting occurs with the lapse of time in a quiet normal way without any intention of forgetting on the part of the individual.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Morbid forgetting 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-Person deliberately tries to forget something (repression.)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forgetting- 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suffers a total loss in one’s recalling some previous learning.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 forgetting -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individual forgets only one or the other specific part of his earlier learning.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81526" y="5356741"/>
            <a:ext cx="13067348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forgetting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-occurs when one loses his memory on account of the factors of age, malfunctioning of brain and nervous system, accidents etc.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81526" y="6500932"/>
            <a:ext cx="13067348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</a:t>
            </a:r>
            <a:pPr indent="0" marL="0">
              <a:lnSpc>
                <a:spcPts val="35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Psychological forgetting</a:t>
            </a:r>
            <a:pPr indent="0" marL="0">
              <a:lnSpc>
                <a:spcPts val="3500"/>
              </a:lnSpc>
              <a:buNone/>
            </a:pPr>
            <a:r>
              <a:rPr lang="en-US" sz="2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 occurs when factors like stress, anxiety, conflicts and other psychological factors result in forgetting.</a:t>
            </a:r>
            <a:endParaRPr lang="en-US" sz="2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2025-01-13T17:17:00Z</dcterms:created>
  <dcterms:modified xsi:type="dcterms:W3CDTF">2025-01-13T17:17:00Z</dcterms:modified>
</cp:coreProperties>
</file>