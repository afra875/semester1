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pn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5-1.png"/><Relationship Id="rId2" Type="http://schemas.openxmlformats.org/officeDocument/2006/relationships/image" Target="../media/image-1015-2.png"/><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6-1.png"/><Relationship Id="rId2" Type="http://schemas.openxmlformats.org/officeDocument/2006/relationships/image" Target="../media/image-1016-2.png"/><Relationship Id="rId4"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7-1.png"/><Relationship Id="rId2" Type="http://schemas.openxmlformats.org/officeDocument/2006/relationships/image" Target="../media/image-1017-2.png"/><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8-1.png"/><Relationship Id="rId2" Type="http://schemas.openxmlformats.org/officeDocument/2006/relationships/image" Target="../media/image-1018-2.png"/><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9-1.png"/><Relationship Id="rId2" Type="http://schemas.openxmlformats.org/officeDocument/2006/relationships/image" Target="../media/image-1019-2.png"/><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0-1.png"/><Relationship Id="rId2" Type="http://schemas.openxmlformats.org/officeDocument/2006/relationships/image" Target="../media/image-1020-2.png"/><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1-1.png"/><Relationship Id="rId2" Type="http://schemas.openxmlformats.org/officeDocument/2006/relationships/image" Target="../media/image-1021-2.png"/><Relationship Id="rId4"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2-1.png"/><Relationship Id="rId2" Type="http://schemas.openxmlformats.org/officeDocument/2006/relationships/image" Target="../media/image-1022-2.png"/><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3-1.png"/><Relationship Id="rId2" Type="http://schemas.openxmlformats.org/officeDocument/2006/relationships/image" Target="../media/image-1023-2.png"/><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4-1.png"/><Relationship Id="rId2" Type="http://schemas.openxmlformats.org/officeDocument/2006/relationships/image" Target="../media/image-1024-2.png"/><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5-1.png"/><Relationship Id="rId2" Type="http://schemas.openxmlformats.org/officeDocument/2006/relationships/image" Target="../media/image-1025-2.png"/><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6-1.png"/><Relationship Id="rId2" Type="http://schemas.openxmlformats.org/officeDocument/2006/relationships/image" Target="../media/image-1026-2.png"/><Relationship Id="rId4"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7-1.png"/><Relationship Id="rId2" Type="http://schemas.openxmlformats.org/officeDocument/2006/relationships/image" Target="../media/image-1027-2.png"/><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8-1.png"/><Relationship Id="rId2" Type="http://schemas.openxmlformats.org/officeDocument/2006/relationships/image" Target="../media/image-1028-2.png"/><Relationship Id="rId4"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9-1.png"/><Relationship Id="rId2" Type="http://schemas.openxmlformats.org/officeDocument/2006/relationships/image" Target="../media/image-1029-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3629025"/>
            <a:ext cx="7468553" cy="971550"/>
          </a:xfrm>
          <a:prstGeom prst="rect">
            <a:avLst/>
          </a:prstGeom>
          <a:noFill/>
          <a:ln/>
        </p:spPr>
        <p:txBody>
          <a:bodyPr wrap="none" lIns="0" tIns="0" rIns="0" bIns="0" rtlCol="0" anchor="t"/>
          <a:lstStyle/>
          <a:p>
            <a:pPr indent="0" marL="0">
              <a:lnSpc>
                <a:spcPts val="7650"/>
              </a:lnSpc>
              <a:buNone/>
            </a:pPr>
            <a:r>
              <a:rPr lang="en-US" sz="6100" spc="-122" kern="0" dirty="0">
                <a:solidFill>
                  <a:srgbClr val="D73AD7"/>
                </a:solidFill>
                <a:latin typeface="Source Serif Pro Semi Bold" pitchFamily="34" charset="0"/>
                <a:ea typeface="Source Serif Pro Semi Bold" pitchFamily="34" charset="-122"/>
                <a:cs typeface="Source Serif Pro Semi Bold" pitchFamily="34" charset="-120"/>
              </a:rPr>
              <a:t>COGNITIVE PROCESS</a:t>
            </a:r>
            <a:endParaRPr lang="en-US" sz="6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6176" y="656987"/>
            <a:ext cx="5622012" cy="70270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ATTENTION</a:t>
            </a:r>
            <a:endParaRPr lang="en-US" sz="4400" dirty="0"/>
          </a:p>
        </p:txBody>
      </p:sp>
      <p:sp>
        <p:nvSpPr>
          <p:cNvPr id="3" name="Text 1"/>
          <p:cNvSpPr/>
          <p:nvPr/>
        </p:nvSpPr>
        <p:spPr>
          <a:xfrm>
            <a:off x="836176" y="1956911"/>
            <a:ext cx="2810947" cy="351353"/>
          </a:xfrm>
          <a:prstGeom prst="rect">
            <a:avLst/>
          </a:prstGeom>
          <a:noFill/>
          <a:ln/>
        </p:spPr>
        <p:txBody>
          <a:bodyPr wrap="none" lIns="0" tIns="0" rIns="0" bIns="0" rtlCol="0" anchor="t"/>
          <a:lstStyle/>
          <a:p>
            <a:pPr indent="0" marL="0">
              <a:lnSpc>
                <a:spcPts val="2750"/>
              </a:lnSpc>
              <a:buNone/>
            </a:pPr>
            <a:endParaRPr lang="en-US" sz="2200" dirty="0"/>
          </a:p>
        </p:txBody>
      </p:sp>
      <p:sp>
        <p:nvSpPr>
          <p:cNvPr id="4" name="Text 2"/>
          <p:cNvSpPr/>
          <p:nvPr/>
        </p:nvSpPr>
        <p:spPr>
          <a:xfrm>
            <a:off x="836176" y="2547104"/>
            <a:ext cx="6187559" cy="955834"/>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Through the sense organs ,humans are aware of the number of stimuli around them.</a:t>
            </a:r>
            <a:endParaRPr lang="en-US" sz="1850" dirty="0"/>
          </a:p>
        </p:txBody>
      </p:sp>
      <p:sp>
        <p:nvSpPr>
          <p:cNvPr id="5" name="Text 3"/>
          <p:cNvSpPr/>
          <p:nvPr/>
        </p:nvSpPr>
        <p:spPr>
          <a:xfrm>
            <a:off x="836176" y="3586520"/>
            <a:ext cx="6187559" cy="1433751"/>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F44444"/>
                </a:solidFill>
                <a:latin typeface="Source Sans Pro" pitchFamily="34" charset="0"/>
                <a:ea typeface="Source Sans Pro" pitchFamily="34" charset="-122"/>
                <a:cs typeface="Source Sans Pro" pitchFamily="34" charset="-120"/>
              </a:rPr>
              <a:t>Attention</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 is the focus of consciousness on a particular object or idea at a particular time to the exclusion of other objects or ideas.</a:t>
            </a:r>
            <a:endParaRPr lang="en-US" sz="1850" dirty="0"/>
          </a:p>
        </p:txBody>
      </p:sp>
      <p:sp>
        <p:nvSpPr>
          <p:cNvPr id="6" name="Text 4"/>
          <p:cNvSpPr/>
          <p:nvPr/>
        </p:nvSpPr>
        <p:spPr>
          <a:xfrm>
            <a:off x="836176" y="5103852"/>
            <a:ext cx="6187559" cy="2389584"/>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According to Sharma RN, 'attention is defined as a process which compels the individual to select some particular stimulus according to his interest and attitude out of the multiplicity of stimuli present in the environment.'</a:t>
            </a:r>
            <a:endParaRPr lang="en-US" sz="1850" dirty="0"/>
          </a:p>
        </p:txBody>
      </p:sp>
      <p:sp>
        <p:nvSpPr>
          <p:cNvPr id="7" name="Text 5"/>
          <p:cNvSpPr/>
          <p:nvPr/>
        </p:nvSpPr>
        <p:spPr>
          <a:xfrm>
            <a:off x="7614285" y="1956911"/>
            <a:ext cx="2810947" cy="351353"/>
          </a:xfrm>
          <a:prstGeom prst="rect">
            <a:avLst/>
          </a:prstGeom>
          <a:noFill/>
          <a:ln/>
        </p:spPr>
        <p:txBody>
          <a:bodyPr wrap="none" lIns="0" tIns="0" rIns="0" bIns="0" rtlCol="0" anchor="t"/>
          <a:lstStyle/>
          <a:p>
            <a:pPr indent="0" marL="0">
              <a:lnSpc>
                <a:spcPts val="2750"/>
              </a:lnSpc>
              <a:buNone/>
            </a:pPr>
            <a:endParaRPr lang="en-US" sz="2200" dirty="0"/>
          </a:p>
        </p:txBody>
      </p:sp>
      <p:sp>
        <p:nvSpPr>
          <p:cNvPr id="8" name="Text 6"/>
          <p:cNvSpPr/>
          <p:nvPr/>
        </p:nvSpPr>
        <p:spPr>
          <a:xfrm>
            <a:off x="7614285" y="2547104"/>
            <a:ext cx="6187559" cy="1433751"/>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According to Dumville , 'attention is the concentration of consciousness upon one object rather than upon another.'</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1107519"/>
            <a:ext cx="7468553" cy="1408033"/>
          </a:xfrm>
          <a:prstGeom prst="rect">
            <a:avLst/>
          </a:prstGeom>
          <a:noFill/>
          <a:ln/>
        </p:spPr>
        <p:txBody>
          <a:bodyPr wrap="squar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DETERMINANTS OF ATTENTION</a:t>
            </a:r>
            <a:endParaRPr lang="en-US" sz="4400" dirty="0"/>
          </a:p>
        </p:txBody>
      </p:sp>
      <p:sp>
        <p:nvSpPr>
          <p:cNvPr id="4" name="Text 1"/>
          <p:cNvSpPr/>
          <p:nvPr/>
        </p:nvSpPr>
        <p:spPr>
          <a:xfrm>
            <a:off x="837724" y="2874526"/>
            <a:ext cx="4505920" cy="563285"/>
          </a:xfrm>
          <a:prstGeom prst="rect">
            <a:avLst/>
          </a:prstGeom>
          <a:noFill/>
          <a:ln/>
        </p:spPr>
        <p:txBody>
          <a:bodyPr wrap="none" lIns="0" tIns="0" rIns="0" bIns="0" rtlCol="0" anchor="t"/>
          <a:lstStyle/>
          <a:p>
            <a:pPr indent="0" marL="0">
              <a:lnSpc>
                <a:spcPts val="4400"/>
              </a:lnSpc>
              <a:buNone/>
            </a:pPr>
            <a:r>
              <a:rPr lang="en-US" sz="3500" spc="-71" kern="0" dirty="0">
                <a:solidFill>
                  <a:srgbClr val="D73AD7"/>
                </a:solidFill>
                <a:latin typeface="Source Serif Pro Semi Bold" pitchFamily="34" charset="0"/>
                <a:ea typeface="Source Serif Pro Semi Bold" pitchFamily="34" charset="-122"/>
                <a:cs typeface="Source Serif Pro Semi Bold" pitchFamily="34" charset="-120"/>
              </a:rPr>
              <a:t>EXTERNAL FACTORS</a:t>
            </a:r>
            <a:endParaRPr lang="en-US" sz="3500" dirty="0"/>
          </a:p>
        </p:txBody>
      </p:sp>
      <p:sp>
        <p:nvSpPr>
          <p:cNvPr id="5" name="Shape 2"/>
          <p:cNvSpPr/>
          <p:nvPr/>
        </p:nvSpPr>
        <p:spPr>
          <a:xfrm>
            <a:off x="837724" y="4065984"/>
            <a:ext cx="418862" cy="418862"/>
          </a:xfrm>
          <a:prstGeom prst="roundRect">
            <a:avLst>
              <a:gd name="adj" fmla="val 24003"/>
            </a:avLst>
          </a:prstGeom>
          <a:solidFill>
            <a:srgbClr val="F4D4F7"/>
          </a:solidFill>
          <a:ln w="7620">
            <a:solidFill>
              <a:srgbClr val="DABADD"/>
            </a:solidFill>
            <a:prstDash val="solid"/>
          </a:ln>
        </p:spPr>
      </p:sp>
      <p:sp>
        <p:nvSpPr>
          <p:cNvPr id="6" name="Text 3"/>
          <p:cNvSpPr/>
          <p:nvPr/>
        </p:nvSpPr>
        <p:spPr>
          <a:xfrm>
            <a:off x="1495901" y="4065984"/>
            <a:ext cx="2816185" cy="351949"/>
          </a:xfrm>
          <a:prstGeom prst="rect">
            <a:avLst/>
          </a:prstGeom>
          <a:noFill/>
          <a:ln/>
        </p:spPr>
        <p:txBody>
          <a:bodyPr wrap="non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Nature of stimuli</a:t>
            </a:r>
            <a:endParaRPr lang="en-US" sz="2200" dirty="0"/>
          </a:p>
        </p:txBody>
      </p:sp>
      <p:sp>
        <p:nvSpPr>
          <p:cNvPr id="7" name="Text 4"/>
          <p:cNvSpPr/>
          <p:nvPr/>
        </p:nvSpPr>
        <p:spPr>
          <a:xfrm>
            <a:off x="1495901" y="4561523"/>
            <a:ext cx="6810375"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 picture attracts attention more quickly than words.</a:t>
            </a:r>
            <a:endParaRPr lang="en-US" sz="1850" dirty="0"/>
          </a:p>
        </p:txBody>
      </p:sp>
      <p:sp>
        <p:nvSpPr>
          <p:cNvPr id="8" name="Text 5"/>
          <p:cNvSpPr/>
          <p:nvPr/>
        </p:nvSpPr>
        <p:spPr>
          <a:xfrm>
            <a:off x="1495901" y="5123855"/>
            <a:ext cx="681037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Among the pictures human figures get more attention than other objects.</a:t>
            </a:r>
            <a:endParaRPr lang="en-US" sz="1850" dirty="0"/>
          </a:p>
        </p:txBody>
      </p:sp>
      <p:sp>
        <p:nvSpPr>
          <p:cNvPr id="9" name="Text 6"/>
          <p:cNvSpPr/>
          <p:nvPr/>
        </p:nvSpPr>
        <p:spPr>
          <a:xfrm>
            <a:off x="1495901" y="6164818"/>
            <a:ext cx="681037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Similarly coloured pictures are more powerful than colourless.</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1530" y="1102757"/>
            <a:ext cx="5455682" cy="681871"/>
          </a:xfrm>
          <a:prstGeom prst="rect">
            <a:avLst/>
          </a:prstGeom>
          <a:noFill/>
          <a:ln/>
        </p:spPr>
        <p:txBody>
          <a:bodyPr wrap="none" lIns="0" tIns="0" rIns="0" bIns="0" rtlCol="0" anchor="t"/>
          <a:lstStyle/>
          <a:p>
            <a:pPr indent="0" marL="0">
              <a:lnSpc>
                <a:spcPts val="5350"/>
              </a:lnSpc>
              <a:buNone/>
            </a:pPr>
            <a:endParaRPr lang="en-US" sz="4250" dirty="0"/>
          </a:p>
        </p:txBody>
      </p:sp>
      <p:sp>
        <p:nvSpPr>
          <p:cNvPr id="3" name="Shape 1"/>
          <p:cNvSpPr/>
          <p:nvPr/>
        </p:nvSpPr>
        <p:spPr>
          <a:xfrm>
            <a:off x="811530" y="2393156"/>
            <a:ext cx="405765" cy="405765"/>
          </a:xfrm>
          <a:prstGeom prst="roundRect">
            <a:avLst>
              <a:gd name="adj" fmla="val 24000"/>
            </a:avLst>
          </a:prstGeom>
          <a:solidFill>
            <a:srgbClr val="F4D4F7"/>
          </a:solidFill>
          <a:ln w="7620">
            <a:solidFill>
              <a:srgbClr val="DABADD"/>
            </a:solidFill>
            <a:prstDash val="solid"/>
          </a:ln>
        </p:spPr>
      </p:sp>
      <p:sp>
        <p:nvSpPr>
          <p:cNvPr id="4" name="Text 2"/>
          <p:cNvSpPr/>
          <p:nvPr/>
        </p:nvSpPr>
        <p:spPr>
          <a:xfrm>
            <a:off x="1449110" y="2393156"/>
            <a:ext cx="2727841" cy="340876"/>
          </a:xfrm>
          <a:prstGeom prst="rect">
            <a:avLst/>
          </a:prstGeom>
          <a:noFill/>
          <a:ln/>
        </p:spPr>
        <p:txBody>
          <a:bodyPr wrap="none" lIns="0" tIns="0" rIns="0" bIns="0" rtlCol="0" anchor="t"/>
          <a:lstStyle/>
          <a:p>
            <a:pPr indent="0" marL="0">
              <a:lnSpc>
                <a:spcPts val="2650"/>
              </a:lnSpc>
              <a:buNone/>
            </a:pPr>
            <a:r>
              <a:rPr lang="en-US" sz="2100" spc="-43" kern="0" dirty="0">
                <a:solidFill>
                  <a:srgbClr val="272525"/>
                </a:solidFill>
                <a:latin typeface="Source Serif Pro Semi Bold" pitchFamily="34" charset="0"/>
                <a:ea typeface="Source Serif Pro Semi Bold" pitchFamily="34" charset="-122"/>
                <a:cs typeface="Source Serif Pro Semi Bold" pitchFamily="34" charset="-120"/>
              </a:rPr>
              <a:t>Intensity of stimulus</a:t>
            </a:r>
            <a:endParaRPr lang="en-US" sz="2100" dirty="0"/>
          </a:p>
        </p:txBody>
      </p:sp>
      <p:sp>
        <p:nvSpPr>
          <p:cNvPr id="5" name="Text 3"/>
          <p:cNvSpPr/>
          <p:nvPr/>
        </p:nvSpPr>
        <p:spPr>
          <a:xfrm>
            <a:off x="1449110" y="2873097"/>
            <a:ext cx="3543657" cy="1854518"/>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The intense nature of a stimulus attracts a person's attention easily than a weaker torn.</a:t>
            </a:r>
            <a:endParaRPr lang="en-US" sz="1800" dirty="0"/>
          </a:p>
        </p:txBody>
      </p:sp>
      <p:sp>
        <p:nvSpPr>
          <p:cNvPr id="6" name="Text 4"/>
          <p:cNvSpPr/>
          <p:nvPr/>
        </p:nvSpPr>
        <p:spPr>
          <a:xfrm>
            <a:off x="1449110" y="4808696"/>
            <a:ext cx="3543657" cy="1390888"/>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Bright colour loud noise etc. influence human process of attention.</a:t>
            </a:r>
            <a:endParaRPr lang="en-US" sz="1800" dirty="0"/>
          </a:p>
        </p:txBody>
      </p:sp>
      <p:sp>
        <p:nvSpPr>
          <p:cNvPr id="7" name="Shape 5"/>
          <p:cNvSpPr/>
          <p:nvPr/>
        </p:nvSpPr>
        <p:spPr>
          <a:xfrm>
            <a:off x="5224582" y="2393156"/>
            <a:ext cx="405765" cy="405765"/>
          </a:xfrm>
          <a:prstGeom prst="roundRect">
            <a:avLst>
              <a:gd name="adj" fmla="val 24000"/>
            </a:avLst>
          </a:prstGeom>
          <a:solidFill>
            <a:srgbClr val="F4D4F7"/>
          </a:solidFill>
          <a:ln w="7620">
            <a:solidFill>
              <a:srgbClr val="DABADD"/>
            </a:solidFill>
            <a:prstDash val="solid"/>
          </a:ln>
        </p:spPr>
      </p:sp>
      <p:sp>
        <p:nvSpPr>
          <p:cNvPr id="8" name="Text 6"/>
          <p:cNvSpPr/>
          <p:nvPr/>
        </p:nvSpPr>
        <p:spPr>
          <a:xfrm>
            <a:off x="5862161" y="2393156"/>
            <a:ext cx="2727841" cy="340876"/>
          </a:xfrm>
          <a:prstGeom prst="rect">
            <a:avLst/>
          </a:prstGeom>
          <a:noFill/>
          <a:ln/>
        </p:spPr>
        <p:txBody>
          <a:bodyPr wrap="none" lIns="0" tIns="0" rIns="0" bIns="0" rtlCol="0" anchor="t"/>
          <a:lstStyle/>
          <a:p>
            <a:pPr indent="0" marL="0">
              <a:lnSpc>
                <a:spcPts val="2650"/>
              </a:lnSpc>
              <a:buNone/>
            </a:pPr>
            <a:r>
              <a:rPr lang="en-US" sz="2100" spc="-43" kern="0" dirty="0">
                <a:solidFill>
                  <a:srgbClr val="272525"/>
                </a:solidFill>
                <a:latin typeface="Source Serif Pro Semi Bold" pitchFamily="34" charset="0"/>
                <a:ea typeface="Source Serif Pro Semi Bold" pitchFamily="34" charset="-122"/>
                <a:cs typeface="Source Serif Pro Semi Bold" pitchFamily="34" charset="-120"/>
              </a:rPr>
              <a:t>Contrast</a:t>
            </a:r>
            <a:endParaRPr lang="en-US" sz="2100" dirty="0"/>
          </a:p>
        </p:txBody>
      </p:sp>
      <p:sp>
        <p:nvSpPr>
          <p:cNvPr id="9" name="Text 7"/>
          <p:cNvSpPr/>
          <p:nvPr/>
        </p:nvSpPr>
        <p:spPr>
          <a:xfrm>
            <a:off x="5862161" y="2873097"/>
            <a:ext cx="3543657" cy="2318147"/>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Attention is always aroused by familiar objects in an unfamiliar setting or unfamiliar item in familiar surroundings.</a:t>
            </a:r>
            <a:endParaRPr lang="en-US" sz="1800" dirty="0"/>
          </a:p>
        </p:txBody>
      </p:sp>
      <p:sp>
        <p:nvSpPr>
          <p:cNvPr id="10" name="Text 8"/>
          <p:cNvSpPr/>
          <p:nvPr/>
        </p:nvSpPr>
        <p:spPr>
          <a:xfrm>
            <a:off x="5862161" y="5272326"/>
            <a:ext cx="3543657" cy="1854518"/>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Example: uniformed policeman in a swimming pool, or a school kid wearing colour dress.</a:t>
            </a:r>
            <a:endParaRPr lang="en-US" sz="1800" dirty="0"/>
          </a:p>
        </p:txBody>
      </p:sp>
      <p:sp>
        <p:nvSpPr>
          <p:cNvPr id="11" name="Shape 9"/>
          <p:cNvSpPr/>
          <p:nvPr/>
        </p:nvSpPr>
        <p:spPr>
          <a:xfrm>
            <a:off x="9637633" y="2393156"/>
            <a:ext cx="405765" cy="405765"/>
          </a:xfrm>
          <a:prstGeom prst="roundRect">
            <a:avLst>
              <a:gd name="adj" fmla="val 24000"/>
            </a:avLst>
          </a:prstGeom>
          <a:solidFill>
            <a:srgbClr val="F4D4F7"/>
          </a:solidFill>
          <a:ln w="7620">
            <a:solidFill>
              <a:srgbClr val="DABADD"/>
            </a:solidFill>
            <a:prstDash val="solid"/>
          </a:ln>
        </p:spPr>
      </p:sp>
      <p:sp>
        <p:nvSpPr>
          <p:cNvPr id="12" name="Text 10"/>
          <p:cNvSpPr/>
          <p:nvPr/>
        </p:nvSpPr>
        <p:spPr>
          <a:xfrm>
            <a:off x="10275213" y="2393156"/>
            <a:ext cx="2727841" cy="340876"/>
          </a:xfrm>
          <a:prstGeom prst="rect">
            <a:avLst/>
          </a:prstGeom>
          <a:noFill/>
          <a:ln/>
        </p:spPr>
        <p:txBody>
          <a:bodyPr wrap="none" lIns="0" tIns="0" rIns="0" bIns="0" rtlCol="0" anchor="t"/>
          <a:lstStyle/>
          <a:p>
            <a:pPr indent="0" marL="0">
              <a:lnSpc>
                <a:spcPts val="2650"/>
              </a:lnSpc>
              <a:buNone/>
            </a:pPr>
            <a:r>
              <a:rPr lang="en-US" sz="2100" spc="-43" kern="0" dirty="0">
                <a:solidFill>
                  <a:srgbClr val="272525"/>
                </a:solidFill>
                <a:latin typeface="Source Serif Pro Semi Bold" pitchFamily="34" charset="0"/>
                <a:ea typeface="Source Serif Pro Semi Bold" pitchFamily="34" charset="-122"/>
                <a:cs typeface="Source Serif Pro Semi Bold" pitchFamily="34" charset="-120"/>
              </a:rPr>
              <a:t>Change</a:t>
            </a:r>
            <a:endParaRPr lang="en-US" sz="2100" dirty="0"/>
          </a:p>
        </p:txBody>
      </p:sp>
      <p:sp>
        <p:nvSpPr>
          <p:cNvPr id="13" name="Text 11"/>
          <p:cNvSpPr/>
          <p:nvPr/>
        </p:nvSpPr>
        <p:spPr>
          <a:xfrm>
            <a:off x="10275213" y="2873097"/>
            <a:ext cx="3543657" cy="1390888"/>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If there is sudden change from the usual pattern, then we attend it at.</a:t>
            </a:r>
            <a:endParaRPr lang="en-US" sz="1800" dirty="0"/>
          </a:p>
        </p:txBody>
      </p:sp>
      <p:sp>
        <p:nvSpPr>
          <p:cNvPr id="14" name="Text 12"/>
          <p:cNvSpPr/>
          <p:nvPr/>
        </p:nvSpPr>
        <p:spPr>
          <a:xfrm>
            <a:off x="10275213" y="4345067"/>
            <a:ext cx="3543657" cy="1390888"/>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Example :sudden halting of moving fans or lights comes to our notice.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03553" y="631388"/>
            <a:ext cx="5402342" cy="675203"/>
          </a:xfrm>
          <a:prstGeom prst="rect">
            <a:avLst/>
          </a:prstGeom>
          <a:noFill/>
          <a:ln/>
        </p:spPr>
        <p:txBody>
          <a:bodyPr wrap="none" lIns="0" tIns="0" rIns="0" bIns="0" rtlCol="0" anchor="t"/>
          <a:lstStyle/>
          <a:p>
            <a:pPr indent="0" marL="0">
              <a:lnSpc>
                <a:spcPts val="5300"/>
              </a:lnSpc>
              <a:buNone/>
            </a:pPr>
            <a:endParaRPr lang="en-US" sz="4250" dirty="0"/>
          </a:p>
        </p:txBody>
      </p:sp>
      <p:sp>
        <p:nvSpPr>
          <p:cNvPr id="3" name="Shape 1"/>
          <p:cNvSpPr/>
          <p:nvPr/>
        </p:nvSpPr>
        <p:spPr>
          <a:xfrm>
            <a:off x="803553" y="1909167"/>
            <a:ext cx="401717" cy="401717"/>
          </a:xfrm>
          <a:prstGeom prst="roundRect">
            <a:avLst>
              <a:gd name="adj" fmla="val 24005"/>
            </a:avLst>
          </a:prstGeom>
          <a:solidFill>
            <a:srgbClr val="F4D4F7"/>
          </a:solidFill>
          <a:ln w="7620">
            <a:solidFill>
              <a:srgbClr val="DABADD"/>
            </a:solidFill>
            <a:prstDash val="solid"/>
          </a:ln>
        </p:spPr>
      </p:sp>
      <p:sp>
        <p:nvSpPr>
          <p:cNvPr id="4" name="Text 2"/>
          <p:cNvSpPr/>
          <p:nvPr/>
        </p:nvSpPr>
        <p:spPr>
          <a:xfrm>
            <a:off x="1434822" y="1909167"/>
            <a:ext cx="2701171" cy="337661"/>
          </a:xfrm>
          <a:prstGeom prst="rect">
            <a:avLst/>
          </a:prstGeom>
          <a:noFill/>
          <a:ln/>
        </p:spPr>
        <p:txBody>
          <a:bodyPr wrap="none" lIns="0" tIns="0" rIns="0" bIns="0" rtlCol="0" anchor="t"/>
          <a:lstStyle/>
          <a:p>
            <a:pPr indent="0" marL="0">
              <a:lnSpc>
                <a:spcPts val="2650"/>
              </a:lnSpc>
              <a:buNone/>
            </a:pPr>
            <a:r>
              <a:rPr lang="en-US" sz="2100" spc="-43" kern="0" dirty="0">
                <a:solidFill>
                  <a:srgbClr val="272525"/>
                </a:solidFill>
                <a:latin typeface="Source Serif Pro Semi Bold" pitchFamily="34" charset="0"/>
                <a:ea typeface="Source Serif Pro Semi Bold" pitchFamily="34" charset="-122"/>
                <a:cs typeface="Source Serif Pro Semi Bold" pitchFamily="34" charset="-120"/>
              </a:rPr>
              <a:t>Novelty</a:t>
            </a:r>
            <a:endParaRPr lang="en-US" sz="2100" dirty="0"/>
          </a:p>
        </p:txBody>
      </p:sp>
      <p:sp>
        <p:nvSpPr>
          <p:cNvPr id="5" name="Text 3"/>
          <p:cNvSpPr/>
          <p:nvPr/>
        </p:nvSpPr>
        <p:spPr>
          <a:xfrm>
            <a:off x="1434822" y="2384584"/>
            <a:ext cx="3556754" cy="918448"/>
          </a:xfrm>
          <a:prstGeom prst="rect">
            <a:avLst/>
          </a:prstGeom>
          <a:noFill/>
          <a:ln/>
        </p:spPr>
        <p:txBody>
          <a:bodyPr wrap="square" lIns="0" tIns="0" rIns="0" bIns="0" rtlCol="0" anchor="t"/>
          <a:lstStyle/>
          <a:p>
            <a:pPr algn="l" marL="342900" indent="-342900">
              <a:lnSpc>
                <a:spcPts val="2850"/>
              </a:lnSpc>
              <a:buSzPct val="100000"/>
              <a:buChar char="•"/>
            </a:pPr>
            <a:r>
              <a:rPr lang="en-US" sz="1800" spc="-36" kern="0" dirty="0">
                <a:solidFill>
                  <a:srgbClr val="272525"/>
                </a:solidFill>
                <a:latin typeface="Source Sans Pro" pitchFamily="34" charset="0"/>
                <a:ea typeface="Source Sans Pro" pitchFamily="34" charset="-122"/>
                <a:cs typeface="Source Sans Pro" pitchFamily="34" charset="-120"/>
              </a:rPr>
              <a:t>Newness is another factor that attracts attention.</a:t>
            </a:r>
            <a:endParaRPr lang="en-US" sz="1800" dirty="0"/>
          </a:p>
        </p:txBody>
      </p:sp>
      <p:sp>
        <p:nvSpPr>
          <p:cNvPr id="6" name="Text 4"/>
          <p:cNvSpPr/>
          <p:nvPr/>
        </p:nvSpPr>
        <p:spPr>
          <a:xfrm>
            <a:off x="1434822" y="3383280"/>
            <a:ext cx="3556754" cy="1377672"/>
          </a:xfrm>
          <a:prstGeom prst="rect">
            <a:avLst/>
          </a:prstGeom>
          <a:noFill/>
          <a:ln/>
        </p:spPr>
        <p:txBody>
          <a:bodyPr wrap="square" lIns="0" tIns="0" rIns="0" bIns="0" rtlCol="0" anchor="t"/>
          <a:lstStyle/>
          <a:p>
            <a:pPr algn="l" marL="342900" indent="-342900">
              <a:lnSpc>
                <a:spcPts val="2850"/>
              </a:lnSpc>
              <a:buSzPct val="100000"/>
              <a:buChar char="•"/>
            </a:pPr>
            <a:r>
              <a:rPr lang="en-US" sz="1800" spc="-36" kern="0" dirty="0">
                <a:solidFill>
                  <a:srgbClr val="272525"/>
                </a:solidFill>
                <a:latin typeface="Source Sans Pro" pitchFamily="34" charset="0"/>
                <a:ea typeface="Source Sans Pro" pitchFamily="34" charset="-122"/>
                <a:cs typeface="Source Sans Pro" pitchFamily="34" charset="-120"/>
              </a:rPr>
              <a:t>New dress code, new paint on a building etc. attracts person.</a:t>
            </a:r>
            <a:endParaRPr lang="en-US" sz="1800" dirty="0"/>
          </a:p>
        </p:txBody>
      </p:sp>
      <p:sp>
        <p:nvSpPr>
          <p:cNvPr id="7" name="Text 5"/>
          <p:cNvSpPr/>
          <p:nvPr/>
        </p:nvSpPr>
        <p:spPr>
          <a:xfrm>
            <a:off x="1434822" y="4841200"/>
            <a:ext cx="3556754" cy="1836896"/>
          </a:xfrm>
          <a:prstGeom prst="rect">
            <a:avLst/>
          </a:prstGeom>
          <a:noFill/>
          <a:ln/>
        </p:spPr>
        <p:txBody>
          <a:bodyPr wrap="square" lIns="0" tIns="0" rIns="0" bIns="0" rtlCol="0" anchor="t"/>
          <a:lstStyle/>
          <a:p>
            <a:pPr algn="l" marL="342900" indent="-342900">
              <a:lnSpc>
                <a:spcPts val="2850"/>
              </a:lnSpc>
              <a:buSzPct val="100000"/>
              <a:buChar char="•"/>
            </a:pPr>
            <a:r>
              <a:rPr lang="en-US" sz="1800" spc="-36" kern="0" dirty="0">
                <a:solidFill>
                  <a:srgbClr val="272525"/>
                </a:solidFill>
                <a:latin typeface="Source Sans Pro" pitchFamily="34" charset="0"/>
                <a:ea typeface="Source Sans Pro" pitchFamily="34" charset="-122"/>
                <a:cs typeface="Source Sans Pro" pitchFamily="34" charset="-120"/>
              </a:rPr>
              <a:t>Film makers, manufacturers of all products make use of this factor.</a:t>
            </a:r>
            <a:endParaRPr lang="en-US" sz="1800" dirty="0"/>
          </a:p>
        </p:txBody>
      </p:sp>
      <p:sp>
        <p:nvSpPr>
          <p:cNvPr id="8" name="Shape 6"/>
          <p:cNvSpPr/>
          <p:nvPr/>
        </p:nvSpPr>
        <p:spPr>
          <a:xfrm>
            <a:off x="5221129" y="1909167"/>
            <a:ext cx="401717" cy="401717"/>
          </a:xfrm>
          <a:prstGeom prst="roundRect">
            <a:avLst>
              <a:gd name="adj" fmla="val 24005"/>
            </a:avLst>
          </a:prstGeom>
          <a:solidFill>
            <a:srgbClr val="F4D4F7"/>
          </a:solidFill>
          <a:ln w="7620">
            <a:solidFill>
              <a:srgbClr val="DABADD"/>
            </a:solidFill>
            <a:prstDash val="solid"/>
          </a:ln>
        </p:spPr>
      </p:sp>
      <p:sp>
        <p:nvSpPr>
          <p:cNvPr id="9" name="Text 7"/>
          <p:cNvSpPr/>
          <p:nvPr/>
        </p:nvSpPr>
        <p:spPr>
          <a:xfrm>
            <a:off x="5852398" y="1909167"/>
            <a:ext cx="2701171" cy="337661"/>
          </a:xfrm>
          <a:prstGeom prst="rect">
            <a:avLst/>
          </a:prstGeom>
          <a:noFill/>
          <a:ln/>
        </p:spPr>
        <p:txBody>
          <a:bodyPr wrap="none" lIns="0" tIns="0" rIns="0" bIns="0" rtlCol="0" anchor="t"/>
          <a:lstStyle/>
          <a:p>
            <a:pPr indent="0" marL="0">
              <a:lnSpc>
                <a:spcPts val="2650"/>
              </a:lnSpc>
              <a:buNone/>
            </a:pPr>
            <a:r>
              <a:rPr lang="en-US" sz="2100" spc="-43" kern="0" dirty="0">
                <a:solidFill>
                  <a:srgbClr val="272525"/>
                </a:solidFill>
                <a:latin typeface="Source Serif Pro Semi Bold" pitchFamily="34" charset="0"/>
                <a:ea typeface="Source Serif Pro Semi Bold" pitchFamily="34" charset="-122"/>
                <a:cs typeface="Source Serif Pro Semi Bold" pitchFamily="34" charset="-120"/>
              </a:rPr>
              <a:t>Location of stimulus</a:t>
            </a:r>
            <a:endParaRPr lang="en-US" sz="2100" dirty="0"/>
          </a:p>
        </p:txBody>
      </p:sp>
      <p:sp>
        <p:nvSpPr>
          <p:cNvPr id="10" name="Text 8"/>
          <p:cNvSpPr/>
          <p:nvPr/>
        </p:nvSpPr>
        <p:spPr>
          <a:xfrm>
            <a:off x="5852398" y="2384584"/>
            <a:ext cx="3556754" cy="918448"/>
          </a:xfrm>
          <a:prstGeom prst="rect">
            <a:avLst/>
          </a:prstGeom>
          <a:noFill/>
          <a:ln/>
        </p:spPr>
        <p:txBody>
          <a:bodyPr wrap="square" lIns="0" tIns="0" rIns="0" bIns="0" rtlCol="0" anchor="t"/>
          <a:lstStyle/>
          <a:p>
            <a:pPr algn="l" marL="342900" indent="-342900">
              <a:lnSpc>
                <a:spcPts val="2850"/>
              </a:lnSpc>
              <a:buSzPct val="100000"/>
              <a:buChar char="•"/>
            </a:pPr>
            <a:r>
              <a:rPr lang="en-US" sz="1800" spc="-36" kern="0" dirty="0">
                <a:solidFill>
                  <a:srgbClr val="272525"/>
                </a:solidFill>
                <a:latin typeface="Source Sans Pro" pitchFamily="34" charset="0"/>
                <a:ea typeface="Source Sans Pro" pitchFamily="34" charset="-122"/>
                <a:cs typeface="Source Sans Pro" pitchFamily="34" charset="-120"/>
              </a:rPr>
              <a:t>Location of stimulus also affects attention.</a:t>
            </a:r>
            <a:endParaRPr lang="en-US" sz="1800" dirty="0"/>
          </a:p>
        </p:txBody>
      </p:sp>
      <p:sp>
        <p:nvSpPr>
          <p:cNvPr id="11" name="Text 9"/>
          <p:cNvSpPr/>
          <p:nvPr/>
        </p:nvSpPr>
        <p:spPr>
          <a:xfrm>
            <a:off x="5852398" y="3383280"/>
            <a:ext cx="3556754" cy="1836896"/>
          </a:xfrm>
          <a:prstGeom prst="rect">
            <a:avLst/>
          </a:prstGeom>
          <a:noFill/>
          <a:ln/>
        </p:spPr>
        <p:txBody>
          <a:bodyPr wrap="square" lIns="0" tIns="0" rIns="0" bIns="0" rtlCol="0" anchor="t"/>
          <a:lstStyle/>
          <a:p>
            <a:pPr algn="l" marL="342900" indent="-342900">
              <a:lnSpc>
                <a:spcPts val="2850"/>
              </a:lnSpc>
              <a:buSzPct val="100000"/>
              <a:buChar char="•"/>
            </a:pPr>
            <a:r>
              <a:rPr lang="en-US" sz="1800" spc="-36" kern="0" dirty="0">
                <a:solidFill>
                  <a:srgbClr val="272525"/>
                </a:solidFill>
                <a:latin typeface="Source Sans Pro" pitchFamily="34" charset="0"/>
                <a:ea typeface="Source Sans Pro" pitchFamily="34" charset="-122"/>
                <a:cs typeface="Source Sans Pro" pitchFamily="34" charset="-120"/>
              </a:rPr>
              <a:t>In case of visual stimuli the most effective location is to be just in front of the eyes.</a:t>
            </a:r>
            <a:endParaRPr lang="en-US" sz="1800" dirty="0"/>
          </a:p>
        </p:txBody>
      </p:sp>
      <p:sp>
        <p:nvSpPr>
          <p:cNvPr id="12" name="Text 10"/>
          <p:cNvSpPr/>
          <p:nvPr/>
        </p:nvSpPr>
        <p:spPr>
          <a:xfrm>
            <a:off x="5852398" y="5300424"/>
            <a:ext cx="3556754" cy="2296120"/>
          </a:xfrm>
          <a:prstGeom prst="rect">
            <a:avLst/>
          </a:prstGeom>
          <a:noFill/>
          <a:ln/>
        </p:spPr>
        <p:txBody>
          <a:bodyPr wrap="square" lIns="0" tIns="0" rIns="0" bIns="0" rtlCol="0" anchor="t"/>
          <a:lstStyle/>
          <a:p>
            <a:pPr algn="l" marL="342900" indent="-342900">
              <a:lnSpc>
                <a:spcPts val="2850"/>
              </a:lnSpc>
              <a:buSzPct val="100000"/>
              <a:buChar char="•"/>
            </a:pPr>
            <a:r>
              <a:rPr lang="en-US" sz="1800" spc="-36" kern="0" dirty="0">
                <a:solidFill>
                  <a:srgbClr val="272525"/>
                </a:solidFill>
                <a:latin typeface="Source Sans Pro" pitchFamily="34" charset="0"/>
                <a:ea typeface="Source Sans Pro" pitchFamily="34" charset="-122"/>
                <a:cs typeface="Source Sans Pro" pitchFamily="34" charset="-120"/>
              </a:rPr>
              <a:t>Example: advertisements given on the front page or on the upper half of any page attracts more attention.</a:t>
            </a:r>
            <a:endParaRPr lang="en-US" sz="1800" dirty="0"/>
          </a:p>
        </p:txBody>
      </p:sp>
      <p:sp>
        <p:nvSpPr>
          <p:cNvPr id="13" name="Shape 11"/>
          <p:cNvSpPr/>
          <p:nvPr/>
        </p:nvSpPr>
        <p:spPr>
          <a:xfrm>
            <a:off x="9638705" y="1909167"/>
            <a:ext cx="401717" cy="401717"/>
          </a:xfrm>
          <a:prstGeom prst="roundRect">
            <a:avLst>
              <a:gd name="adj" fmla="val 24005"/>
            </a:avLst>
          </a:prstGeom>
          <a:solidFill>
            <a:srgbClr val="F4D4F7"/>
          </a:solidFill>
          <a:ln w="7620">
            <a:solidFill>
              <a:srgbClr val="DABADD"/>
            </a:solidFill>
            <a:prstDash val="solid"/>
          </a:ln>
        </p:spPr>
      </p:sp>
      <p:sp>
        <p:nvSpPr>
          <p:cNvPr id="14" name="Text 12"/>
          <p:cNvSpPr/>
          <p:nvPr/>
        </p:nvSpPr>
        <p:spPr>
          <a:xfrm>
            <a:off x="10269974" y="1909167"/>
            <a:ext cx="2701171" cy="337661"/>
          </a:xfrm>
          <a:prstGeom prst="rect">
            <a:avLst/>
          </a:prstGeom>
          <a:noFill/>
          <a:ln/>
        </p:spPr>
        <p:txBody>
          <a:bodyPr wrap="none" lIns="0" tIns="0" rIns="0" bIns="0" rtlCol="0" anchor="t"/>
          <a:lstStyle/>
          <a:p>
            <a:pPr indent="0" marL="0">
              <a:lnSpc>
                <a:spcPts val="2650"/>
              </a:lnSpc>
              <a:buNone/>
            </a:pPr>
            <a:r>
              <a:rPr lang="en-US" sz="2100" spc="-43" kern="0" dirty="0">
                <a:solidFill>
                  <a:srgbClr val="272525"/>
                </a:solidFill>
                <a:latin typeface="Source Serif Pro Semi Bold" pitchFamily="34" charset="0"/>
                <a:ea typeface="Source Serif Pro Semi Bold" pitchFamily="34" charset="-122"/>
                <a:cs typeface="Source Serif Pro Semi Bold" pitchFamily="34" charset="-120"/>
              </a:rPr>
              <a:t>Repetition</a:t>
            </a:r>
            <a:endParaRPr lang="en-US" sz="2100" dirty="0"/>
          </a:p>
        </p:txBody>
      </p:sp>
      <p:sp>
        <p:nvSpPr>
          <p:cNvPr id="15" name="Text 13"/>
          <p:cNvSpPr/>
          <p:nvPr/>
        </p:nvSpPr>
        <p:spPr>
          <a:xfrm>
            <a:off x="10269974" y="2384584"/>
            <a:ext cx="3556754" cy="1377672"/>
          </a:xfrm>
          <a:prstGeom prst="rect">
            <a:avLst/>
          </a:prstGeom>
          <a:noFill/>
          <a:ln/>
        </p:spPr>
        <p:txBody>
          <a:bodyPr wrap="square" lIns="0" tIns="0" rIns="0" bIns="0" rtlCol="0" anchor="t"/>
          <a:lstStyle/>
          <a:p>
            <a:pPr algn="l" marL="342900" indent="-342900">
              <a:lnSpc>
                <a:spcPts val="2850"/>
              </a:lnSpc>
              <a:buSzPct val="100000"/>
              <a:buChar char="•"/>
            </a:pPr>
            <a:r>
              <a:rPr lang="en-US" sz="1800" spc="-36" kern="0" dirty="0">
                <a:solidFill>
                  <a:srgbClr val="272525"/>
                </a:solidFill>
                <a:latin typeface="Source Sans Pro" pitchFamily="34" charset="0"/>
                <a:ea typeface="Source Sans Pro" pitchFamily="34" charset="-122"/>
                <a:cs typeface="Source Sans Pro" pitchFamily="34" charset="-120"/>
              </a:rPr>
              <a:t>Repetition has great importance in drawing attention in a classroom.</a:t>
            </a:r>
            <a:endParaRPr lang="en-US" sz="1800" dirty="0"/>
          </a:p>
        </p:txBody>
      </p:sp>
      <p:sp>
        <p:nvSpPr>
          <p:cNvPr id="16" name="Text 14"/>
          <p:cNvSpPr/>
          <p:nvPr/>
        </p:nvSpPr>
        <p:spPr>
          <a:xfrm>
            <a:off x="10269974" y="3842504"/>
            <a:ext cx="3556754" cy="1377672"/>
          </a:xfrm>
          <a:prstGeom prst="rect">
            <a:avLst/>
          </a:prstGeom>
          <a:noFill/>
          <a:ln/>
        </p:spPr>
        <p:txBody>
          <a:bodyPr wrap="square" lIns="0" tIns="0" rIns="0" bIns="0" rtlCol="0" anchor="t"/>
          <a:lstStyle/>
          <a:p>
            <a:pPr algn="l" marL="342900" indent="-342900">
              <a:lnSpc>
                <a:spcPts val="2850"/>
              </a:lnSpc>
              <a:buSzPct val="100000"/>
              <a:buChar char="•"/>
            </a:pPr>
            <a:r>
              <a:rPr lang="en-US" sz="1800" spc="-36" kern="0" dirty="0">
                <a:solidFill>
                  <a:srgbClr val="272525"/>
                </a:solidFill>
                <a:latin typeface="Source Sans Pro" pitchFamily="34" charset="0"/>
                <a:ea typeface="Source Sans Pro" pitchFamily="34" charset="-122"/>
                <a:cs typeface="Source Sans Pro" pitchFamily="34" charset="-120"/>
              </a:rPr>
              <a:t>When teacher repeats a topic several times the students attend to it.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11530" y="637580"/>
            <a:ext cx="5455682" cy="681871"/>
          </a:xfrm>
          <a:prstGeom prst="rect">
            <a:avLst/>
          </a:prstGeom>
          <a:noFill/>
          <a:ln/>
        </p:spPr>
        <p:txBody>
          <a:bodyPr wrap="none" lIns="0" tIns="0" rIns="0" bIns="0" rtlCol="0" anchor="t"/>
          <a:lstStyle/>
          <a:p>
            <a:pPr indent="0" marL="0">
              <a:lnSpc>
                <a:spcPts val="5350"/>
              </a:lnSpc>
              <a:buNone/>
            </a:pPr>
            <a:endParaRPr lang="en-US" sz="4250" dirty="0"/>
          </a:p>
        </p:txBody>
      </p:sp>
      <p:sp>
        <p:nvSpPr>
          <p:cNvPr id="3" name="Shape 1"/>
          <p:cNvSpPr/>
          <p:nvPr/>
        </p:nvSpPr>
        <p:spPr>
          <a:xfrm>
            <a:off x="811530" y="1927979"/>
            <a:ext cx="405765" cy="405765"/>
          </a:xfrm>
          <a:prstGeom prst="roundRect">
            <a:avLst>
              <a:gd name="adj" fmla="val 24000"/>
            </a:avLst>
          </a:prstGeom>
          <a:solidFill>
            <a:srgbClr val="F4D4F7"/>
          </a:solidFill>
          <a:ln w="7620">
            <a:solidFill>
              <a:srgbClr val="DABADD"/>
            </a:solidFill>
            <a:prstDash val="solid"/>
          </a:ln>
        </p:spPr>
      </p:sp>
      <p:sp>
        <p:nvSpPr>
          <p:cNvPr id="4" name="Text 2"/>
          <p:cNvSpPr/>
          <p:nvPr/>
        </p:nvSpPr>
        <p:spPr>
          <a:xfrm>
            <a:off x="1449110" y="1927979"/>
            <a:ext cx="2727841" cy="340876"/>
          </a:xfrm>
          <a:prstGeom prst="rect">
            <a:avLst/>
          </a:prstGeom>
          <a:noFill/>
          <a:ln/>
        </p:spPr>
        <p:txBody>
          <a:bodyPr wrap="none" lIns="0" tIns="0" rIns="0" bIns="0" rtlCol="0" anchor="t"/>
          <a:lstStyle/>
          <a:p>
            <a:pPr indent="0" marL="0">
              <a:lnSpc>
                <a:spcPts val="2650"/>
              </a:lnSpc>
              <a:buNone/>
            </a:pPr>
            <a:r>
              <a:rPr lang="en-US" sz="2100" spc="-43" kern="0" dirty="0">
                <a:solidFill>
                  <a:srgbClr val="272525"/>
                </a:solidFill>
                <a:latin typeface="Source Serif Pro Semi Bold" pitchFamily="34" charset="0"/>
                <a:ea typeface="Source Serif Pro Semi Bold" pitchFamily="34" charset="-122"/>
                <a:cs typeface="Source Serif Pro Semi Bold" pitchFamily="34" charset="-120"/>
              </a:rPr>
              <a:t>Movement of stimulus</a:t>
            </a:r>
            <a:endParaRPr lang="en-US" sz="2100" dirty="0"/>
          </a:p>
        </p:txBody>
      </p:sp>
      <p:sp>
        <p:nvSpPr>
          <p:cNvPr id="5" name="Text 3"/>
          <p:cNvSpPr/>
          <p:nvPr/>
        </p:nvSpPr>
        <p:spPr>
          <a:xfrm>
            <a:off x="1449110" y="2407920"/>
            <a:ext cx="3543657" cy="1854518"/>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Moving objects tend to catch a person's attention more quickly than a static one.</a:t>
            </a:r>
            <a:endParaRPr lang="en-US" sz="1800" dirty="0"/>
          </a:p>
        </p:txBody>
      </p:sp>
      <p:sp>
        <p:nvSpPr>
          <p:cNvPr id="6" name="Text 4"/>
          <p:cNvSpPr/>
          <p:nvPr/>
        </p:nvSpPr>
        <p:spPr>
          <a:xfrm>
            <a:off x="1449110" y="4343519"/>
            <a:ext cx="3543657" cy="1390888"/>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We tend to look at walking people, flying birds, moving vehicles etc.</a:t>
            </a:r>
            <a:endParaRPr lang="en-US" sz="1800" dirty="0"/>
          </a:p>
        </p:txBody>
      </p:sp>
      <p:sp>
        <p:nvSpPr>
          <p:cNvPr id="7" name="Shape 5"/>
          <p:cNvSpPr/>
          <p:nvPr/>
        </p:nvSpPr>
        <p:spPr>
          <a:xfrm>
            <a:off x="5224582" y="1927979"/>
            <a:ext cx="405765" cy="405765"/>
          </a:xfrm>
          <a:prstGeom prst="roundRect">
            <a:avLst>
              <a:gd name="adj" fmla="val 24000"/>
            </a:avLst>
          </a:prstGeom>
          <a:solidFill>
            <a:srgbClr val="F4D4F7"/>
          </a:solidFill>
          <a:ln w="7620">
            <a:solidFill>
              <a:srgbClr val="DABADD"/>
            </a:solidFill>
            <a:prstDash val="solid"/>
          </a:ln>
        </p:spPr>
      </p:sp>
      <p:sp>
        <p:nvSpPr>
          <p:cNvPr id="8" name="Text 6"/>
          <p:cNvSpPr/>
          <p:nvPr/>
        </p:nvSpPr>
        <p:spPr>
          <a:xfrm>
            <a:off x="5862161" y="1927979"/>
            <a:ext cx="3125986" cy="340876"/>
          </a:xfrm>
          <a:prstGeom prst="rect">
            <a:avLst/>
          </a:prstGeom>
          <a:noFill/>
          <a:ln/>
        </p:spPr>
        <p:txBody>
          <a:bodyPr wrap="none" lIns="0" tIns="0" rIns="0" bIns="0" rtlCol="0" anchor="t"/>
          <a:lstStyle/>
          <a:p>
            <a:pPr indent="0" marL="0">
              <a:lnSpc>
                <a:spcPts val="2650"/>
              </a:lnSpc>
              <a:buNone/>
            </a:pPr>
            <a:r>
              <a:rPr lang="en-US" sz="2100" spc="-43" kern="0" dirty="0">
                <a:solidFill>
                  <a:srgbClr val="272525"/>
                </a:solidFill>
                <a:latin typeface="Source Serif Pro Semi Bold" pitchFamily="34" charset="0"/>
                <a:ea typeface="Source Serif Pro Semi Bold" pitchFamily="34" charset="-122"/>
                <a:cs typeface="Source Serif Pro Semi Bold" pitchFamily="34" charset="-120"/>
              </a:rPr>
              <a:t>Definite form of the object</a:t>
            </a:r>
            <a:endParaRPr lang="en-US" sz="2100" dirty="0"/>
          </a:p>
        </p:txBody>
      </p:sp>
      <p:sp>
        <p:nvSpPr>
          <p:cNvPr id="9" name="Text 7"/>
          <p:cNvSpPr/>
          <p:nvPr/>
        </p:nvSpPr>
        <p:spPr>
          <a:xfrm>
            <a:off x="5862161" y="2407920"/>
            <a:ext cx="3543657" cy="1854518"/>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A sharply defined object attracts our attention more than a broad indefinite object.</a:t>
            </a:r>
            <a:endParaRPr lang="en-US" sz="1800" dirty="0"/>
          </a:p>
        </p:txBody>
      </p:sp>
      <p:sp>
        <p:nvSpPr>
          <p:cNvPr id="10" name="Text 8"/>
          <p:cNvSpPr/>
          <p:nvPr/>
        </p:nvSpPr>
        <p:spPr>
          <a:xfrm>
            <a:off x="5862161" y="4343519"/>
            <a:ext cx="3543657" cy="2781776"/>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A figure attracts more attention than the background ,a very clearly defined object attracts our attention more than a vague object.</a:t>
            </a:r>
            <a:endParaRPr lang="en-US" sz="1800" dirty="0"/>
          </a:p>
        </p:txBody>
      </p:sp>
      <p:sp>
        <p:nvSpPr>
          <p:cNvPr id="11" name="Shape 9"/>
          <p:cNvSpPr/>
          <p:nvPr/>
        </p:nvSpPr>
        <p:spPr>
          <a:xfrm>
            <a:off x="9637633" y="1927979"/>
            <a:ext cx="405765" cy="405765"/>
          </a:xfrm>
          <a:prstGeom prst="roundRect">
            <a:avLst>
              <a:gd name="adj" fmla="val 24000"/>
            </a:avLst>
          </a:prstGeom>
          <a:solidFill>
            <a:srgbClr val="F4D4F7"/>
          </a:solidFill>
          <a:ln w="7620">
            <a:solidFill>
              <a:srgbClr val="DABADD"/>
            </a:solidFill>
            <a:prstDash val="solid"/>
          </a:ln>
        </p:spPr>
      </p:sp>
      <p:sp>
        <p:nvSpPr>
          <p:cNvPr id="12" name="Text 10"/>
          <p:cNvSpPr/>
          <p:nvPr/>
        </p:nvSpPr>
        <p:spPr>
          <a:xfrm>
            <a:off x="10275213" y="1927979"/>
            <a:ext cx="2727841" cy="340876"/>
          </a:xfrm>
          <a:prstGeom prst="rect">
            <a:avLst/>
          </a:prstGeom>
          <a:noFill/>
          <a:ln/>
        </p:spPr>
        <p:txBody>
          <a:bodyPr wrap="none" lIns="0" tIns="0" rIns="0" bIns="0" rtlCol="0" anchor="t"/>
          <a:lstStyle/>
          <a:p>
            <a:pPr indent="0" marL="0">
              <a:lnSpc>
                <a:spcPts val="2650"/>
              </a:lnSpc>
              <a:buNone/>
            </a:pPr>
            <a:r>
              <a:rPr lang="en-US" sz="2100" spc="-43" kern="0" dirty="0">
                <a:solidFill>
                  <a:srgbClr val="272525"/>
                </a:solidFill>
                <a:latin typeface="Source Serif Pro Semi Bold" pitchFamily="34" charset="0"/>
                <a:ea typeface="Source Serif Pro Semi Bold" pitchFamily="34" charset="-122"/>
                <a:cs typeface="Source Serif Pro Semi Bold" pitchFamily="34" charset="-120"/>
              </a:rPr>
              <a:t>Isolation of stimulus</a:t>
            </a:r>
            <a:endParaRPr lang="en-US" sz="2100" dirty="0"/>
          </a:p>
        </p:txBody>
      </p:sp>
      <p:sp>
        <p:nvSpPr>
          <p:cNvPr id="13" name="Text 11"/>
          <p:cNvSpPr/>
          <p:nvPr/>
        </p:nvSpPr>
        <p:spPr>
          <a:xfrm>
            <a:off x="10275213" y="2407920"/>
            <a:ext cx="3543657" cy="2318147"/>
          </a:xfrm>
          <a:prstGeom prst="rect">
            <a:avLst/>
          </a:prstGeom>
          <a:noFill/>
          <a:ln/>
        </p:spPr>
        <p:txBody>
          <a:bodyPr wrap="square" lIns="0" tIns="0" rIns="0" bIns="0" rtlCol="0" anchor="t"/>
          <a:lstStyle/>
          <a:p>
            <a:pPr algn="l" marL="342900" indent="-342900">
              <a:lnSpc>
                <a:spcPts val="2900"/>
              </a:lnSpc>
              <a:buSzPct val="100000"/>
              <a:buChar char="•"/>
            </a:pPr>
            <a:r>
              <a:rPr lang="en-US" sz="1800" spc="-37" kern="0" dirty="0">
                <a:solidFill>
                  <a:srgbClr val="272525"/>
                </a:solidFill>
                <a:latin typeface="Source Sans Pro" pitchFamily="34" charset="0"/>
                <a:ea typeface="Source Sans Pro" pitchFamily="34" charset="-122"/>
                <a:cs typeface="Source Sans Pro" pitchFamily="34" charset="-120"/>
              </a:rPr>
              <a:t>A student sitting alone in the corner of the class is seen first that it attracts more attention than others.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2201823"/>
            <a:ext cx="5632490" cy="70401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INTERNAL FACTORS</a:t>
            </a:r>
            <a:endParaRPr lang="en-US" sz="4400" dirty="0"/>
          </a:p>
        </p:txBody>
      </p:sp>
      <p:sp>
        <p:nvSpPr>
          <p:cNvPr id="4" name="Shape 1"/>
          <p:cNvSpPr/>
          <p:nvPr/>
        </p:nvSpPr>
        <p:spPr>
          <a:xfrm>
            <a:off x="6324124" y="3534013"/>
            <a:ext cx="418862" cy="418862"/>
          </a:xfrm>
          <a:prstGeom prst="roundRect">
            <a:avLst>
              <a:gd name="adj" fmla="val 24003"/>
            </a:avLst>
          </a:prstGeom>
          <a:solidFill>
            <a:srgbClr val="F4D4F7"/>
          </a:solidFill>
          <a:ln w="7620">
            <a:solidFill>
              <a:srgbClr val="DABADD"/>
            </a:solidFill>
            <a:prstDash val="solid"/>
          </a:ln>
        </p:spPr>
      </p:sp>
      <p:sp>
        <p:nvSpPr>
          <p:cNvPr id="5" name="Text 2"/>
          <p:cNvSpPr/>
          <p:nvPr/>
        </p:nvSpPr>
        <p:spPr>
          <a:xfrm>
            <a:off x="6982301" y="3534013"/>
            <a:ext cx="2816185" cy="351949"/>
          </a:xfrm>
          <a:prstGeom prst="rect">
            <a:avLst/>
          </a:prstGeom>
          <a:noFill/>
          <a:ln/>
        </p:spPr>
        <p:txBody>
          <a:bodyPr wrap="non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Interest</a:t>
            </a:r>
            <a:endParaRPr lang="en-US" sz="2200" dirty="0"/>
          </a:p>
        </p:txBody>
      </p:sp>
      <p:sp>
        <p:nvSpPr>
          <p:cNvPr id="6" name="Text 3"/>
          <p:cNvSpPr/>
          <p:nvPr/>
        </p:nvSpPr>
        <p:spPr>
          <a:xfrm>
            <a:off x="6982301" y="4029551"/>
            <a:ext cx="681037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People attend to objects in which they are interested.</a:t>
            </a:r>
            <a:endParaRPr lang="en-US" sz="1850" dirty="0"/>
          </a:p>
        </p:txBody>
      </p:sp>
      <p:sp>
        <p:nvSpPr>
          <p:cNvPr id="7" name="Text 4"/>
          <p:cNvSpPr/>
          <p:nvPr/>
        </p:nvSpPr>
        <p:spPr>
          <a:xfrm>
            <a:off x="6982301" y="5070515"/>
            <a:ext cx="681037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 good teacher can secure the attention of the students if the class is interesting.</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7352" y="1006078"/>
            <a:ext cx="4822508" cy="602694"/>
          </a:xfrm>
          <a:prstGeom prst="rect">
            <a:avLst/>
          </a:prstGeom>
          <a:noFill/>
          <a:ln/>
        </p:spPr>
        <p:txBody>
          <a:bodyPr wrap="none" lIns="0" tIns="0" rIns="0" bIns="0" rtlCol="0" anchor="t"/>
          <a:lstStyle/>
          <a:p>
            <a:pPr indent="0" marL="0">
              <a:lnSpc>
                <a:spcPts val="4700"/>
              </a:lnSpc>
              <a:buNone/>
            </a:pPr>
            <a:endParaRPr lang="en-US" sz="3750" dirty="0"/>
          </a:p>
        </p:txBody>
      </p:sp>
      <p:sp>
        <p:nvSpPr>
          <p:cNvPr id="3" name="Shape 1"/>
          <p:cNvSpPr/>
          <p:nvPr/>
        </p:nvSpPr>
        <p:spPr>
          <a:xfrm>
            <a:off x="717352" y="2146697"/>
            <a:ext cx="358616" cy="358616"/>
          </a:xfrm>
          <a:prstGeom prst="roundRect">
            <a:avLst>
              <a:gd name="adj" fmla="val 24004"/>
            </a:avLst>
          </a:prstGeom>
          <a:solidFill>
            <a:srgbClr val="F4D4F7"/>
          </a:solidFill>
          <a:ln w="7620">
            <a:solidFill>
              <a:srgbClr val="DABADD"/>
            </a:solidFill>
            <a:prstDash val="solid"/>
          </a:ln>
        </p:spPr>
      </p:sp>
      <p:sp>
        <p:nvSpPr>
          <p:cNvPr id="4" name="Text 2"/>
          <p:cNvSpPr/>
          <p:nvPr/>
        </p:nvSpPr>
        <p:spPr>
          <a:xfrm>
            <a:off x="1280874" y="2146697"/>
            <a:ext cx="2411254" cy="301347"/>
          </a:xfrm>
          <a:prstGeom prst="rect">
            <a:avLst/>
          </a:prstGeom>
          <a:noFill/>
          <a:ln/>
        </p:spPr>
        <p:txBody>
          <a:bodyPr wrap="none" lIns="0" tIns="0" rIns="0" bIns="0" rtlCol="0" anchor="t"/>
          <a:lstStyle/>
          <a:p>
            <a:pPr indent="0" marL="0">
              <a:lnSpc>
                <a:spcPts val="2350"/>
              </a:lnSpc>
              <a:buNone/>
            </a:pPr>
            <a:r>
              <a:rPr lang="en-US" sz="1850" spc="-38" kern="0" dirty="0">
                <a:solidFill>
                  <a:srgbClr val="272525"/>
                </a:solidFill>
                <a:latin typeface="Source Serif Pro Semi Bold" pitchFamily="34" charset="0"/>
                <a:ea typeface="Source Serif Pro Semi Bold" pitchFamily="34" charset="-122"/>
                <a:cs typeface="Source Serif Pro Semi Bold" pitchFamily="34" charset="-120"/>
              </a:rPr>
              <a:t>Motives</a:t>
            </a:r>
            <a:endParaRPr lang="en-US" sz="1850" dirty="0"/>
          </a:p>
        </p:txBody>
      </p:sp>
      <p:sp>
        <p:nvSpPr>
          <p:cNvPr id="5" name="Text 3"/>
          <p:cNvSpPr/>
          <p:nvPr/>
        </p:nvSpPr>
        <p:spPr>
          <a:xfrm>
            <a:off x="1280874" y="2570917"/>
            <a:ext cx="3698438" cy="1229797"/>
          </a:xfrm>
          <a:prstGeom prst="rect">
            <a:avLst/>
          </a:prstGeom>
          <a:noFill/>
          <a:ln/>
        </p:spPr>
        <p:txBody>
          <a:bodyPr wrap="square" lIns="0" tIns="0" rIns="0" bIns="0" rtlCol="0" anchor="t"/>
          <a:lstStyle/>
          <a:p>
            <a:pPr algn="l" marL="342900" indent="-342900">
              <a:lnSpc>
                <a:spcPts val="2550"/>
              </a:lnSpc>
              <a:buSzPct val="100000"/>
              <a:buChar char="•"/>
            </a:pPr>
            <a:r>
              <a:rPr lang="en-US" sz="1600" spc="-32" kern="0" dirty="0">
                <a:solidFill>
                  <a:srgbClr val="272525"/>
                </a:solidFill>
                <a:latin typeface="Source Sans Pro" pitchFamily="34" charset="0"/>
                <a:ea typeface="Source Sans Pro" pitchFamily="34" charset="-122"/>
                <a:cs typeface="Source Sans Pro" pitchFamily="34" charset="-120"/>
              </a:rPr>
              <a:t>The basic drives and urges of a individual are very important in securing attention.</a:t>
            </a:r>
            <a:endParaRPr lang="en-US" sz="1600" dirty="0"/>
          </a:p>
        </p:txBody>
      </p:sp>
      <p:sp>
        <p:nvSpPr>
          <p:cNvPr id="6" name="Text 4"/>
          <p:cNvSpPr/>
          <p:nvPr/>
        </p:nvSpPr>
        <p:spPr>
          <a:xfrm>
            <a:off x="1280874" y="3872389"/>
            <a:ext cx="3698438" cy="1639729"/>
          </a:xfrm>
          <a:prstGeom prst="rect">
            <a:avLst/>
          </a:prstGeom>
          <a:noFill/>
          <a:ln/>
        </p:spPr>
        <p:txBody>
          <a:bodyPr wrap="square" lIns="0" tIns="0" rIns="0" bIns="0" rtlCol="0" anchor="t"/>
          <a:lstStyle/>
          <a:p>
            <a:pPr algn="l" marL="342900" indent="-342900">
              <a:lnSpc>
                <a:spcPts val="2550"/>
              </a:lnSpc>
              <a:buSzPct val="100000"/>
              <a:buChar char="•"/>
            </a:pPr>
            <a:r>
              <a:rPr lang="en-US" sz="1600" spc="-32" kern="0" dirty="0">
                <a:solidFill>
                  <a:srgbClr val="272525"/>
                </a:solidFill>
                <a:latin typeface="Source Sans Pro" pitchFamily="34" charset="0"/>
                <a:ea typeface="Source Sans Pro" pitchFamily="34" charset="-122"/>
                <a:cs typeface="Source Sans Pro" pitchFamily="34" charset="-120"/>
              </a:rPr>
              <a:t>Thirst, hunger, sex, curiosity ,fear are some of the important motives that exercise definite influence upon attention.</a:t>
            </a:r>
            <a:endParaRPr lang="en-US" sz="1600" dirty="0"/>
          </a:p>
        </p:txBody>
      </p:sp>
      <p:sp>
        <p:nvSpPr>
          <p:cNvPr id="7" name="Text 5"/>
          <p:cNvSpPr/>
          <p:nvPr/>
        </p:nvSpPr>
        <p:spPr>
          <a:xfrm>
            <a:off x="1280874" y="5583793"/>
            <a:ext cx="3698438" cy="1639729"/>
          </a:xfrm>
          <a:prstGeom prst="rect">
            <a:avLst/>
          </a:prstGeom>
          <a:noFill/>
          <a:ln/>
        </p:spPr>
        <p:txBody>
          <a:bodyPr wrap="square" lIns="0" tIns="0" rIns="0" bIns="0" rtlCol="0" anchor="t"/>
          <a:lstStyle/>
          <a:p>
            <a:pPr algn="l" marL="342900" indent="-342900">
              <a:lnSpc>
                <a:spcPts val="2550"/>
              </a:lnSpc>
              <a:buSzPct val="100000"/>
              <a:buChar char="•"/>
            </a:pPr>
            <a:r>
              <a:rPr lang="en-US" sz="1600" spc="-32" kern="0" dirty="0">
                <a:solidFill>
                  <a:srgbClr val="272525"/>
                </a:solidFill>
                <a:latin typeface="Source Sans Pro" pitchFamily="34" charset="0"/>
                <a:ea typeface="Source Sans Pro" pitchFamily="34" charset="-122"/>
                <a:cs typeface="Source Sans Pro" pitchFamily="34" charset="-120"/>
              </a:rPr>
              <a:t>When hungry we attend to even distasteful food but while our belly is full we may not attend to even the tastiest.</a:t>
            </a:r>
            <a:endParaRPr lang="en-US" sz="1600" dirty="0"/>
          </a:p>
        </p:txBody>
      </p:sp>
      <p:sp>
        <p:nvSpPr>
          <p:cNvPr id="8" name="Shape 6"/>
          <p:cNvSpPr/>
          <p:nvPr/>
        </p:nvSpPr>
        <p:spPr>
          <a:xfrm>
            <a:off x="5184219" y="2146697"/>
            <a:ext cx="358616" cy="358616"/>
          </a:xfrm>
          <a:prstGeom prst="roundRect">
            <a:avLst>
              <a:gd name="adj" fmla="val 24004"/>
            </a:avLst>
          </a:prstGeom>
          <a:solidFill>
            <a:srgbClr val="F4D4F7"/>
          </a:solidFill>
          <a:ln w="7620">
            <a:solidFill>
              <a:srgbClr val="DABADD"/>
            </a:solidFill>
            <a:prstDash val="solid"/>
          </a:ln>
        </p:spPr>
      </p:sp>
      <p:sp>
        <p:nvSpPr>
          <p:cNvPr id="9" name="Text 7"/>
          <p:cNvSpPr/>
          <p:nvPr/>
        </p:nvSpPr>
        <p:spPr>
          <a:xfrm>
            <a:off x="5747742" y="2146697"/>
            <a:ext cx="2411254" cy="301347"/>
          </a:xfrm>
          <a:prstGeom prst="rect">
            <a:avLst/>
          </a:prstGeom>
          <a:noFill/>
          <a:ln/>
        </p:spPr>
        <p:txBody>
          <a:bodyPr wrap="none" lIns="0" tIns="0" rIns="0" bIns="0" rtlCol="0" anchor="t"/>
          <a:lstStyle/>
          <a:p>
            <a:pPr indent="0" marL="0">
              <a:lnSpc>
                <a:spcPts val="2350"/>
              </a:lnSpc>
              <a:buNone/>
            </a:pPr>
            <a:r>
              <a:rPr lang="en-US" sz="1850" spc="-38" kern="0" dirty="0">
                <a:solidFill>
                  <a:srgbClr val="272525"/>
                </a:solidFill>
                <a:latin typeface="Source Serif Pro Semi Bold" pitchFamily="34" charset="0"/>
                <a:ea typeface="Source Serif Pro Semi Bold" pitchFamily="34" charset="-122"/>
                <a:cs typeface="Source Serif Pro Semi Bold" pitchFamily="34" charset="-120"/>
              </a:rPr>
              <a:t>Past experience</a:t>
            </a:r>
            <a:endParaRPr lang="en-US" sz="1850" dirty="0"/>
          </a:p>
        </p:txBody>
      </p:sp>
      <p:sp>
        <p:nvSpPr>
          <p:cNvPr id="10" name="Text 8"/>
          <p:cNvSpPr/>
          <p:nvPr/>
        </p:nvSpPr>
        <p:spPr>
          <a:xfrm>
            <a:off x="5747742" y="2570917"/>
            <a:ext cx="3698438" cy="819864"/>
          </a:xfrm>
          <a:prstGeom prst="rect">
            <a:avLst/>
          </a:prstGeom>
          <a:noFill/>
          <a:ln/>
        </p:spPr>
        <p:txBody>
          <a:bodyPr wrap="square" lIns="0" tIns="0" rIns="0" bIns="0" rtlCol="0" anchor="t"/>
          <a:lstStyle/>
          <a:p>
            <a:pPr algn="l" marL="342900" indent="-342900">
              <a:lnSpc>
                <a:spcPts val="2550"/>
              </a:lnSpc>
              <a:buSzPct val="100000"/>
              <a:buChar char="•"/>
            </a:pPr>
            <a:r>
              <a:rPr lang="en-US" sz="1600" spc="-32" kern="0" dirty="0">
                <a:solidFill>
                  <a:srgbClr val="272525"/>
                </a:solidFill>
                <a:latin typeface="Source Sans Pro" pitchFamily="34" charset="0"/>
                <a:ea typeface="Source Sans Pro" pitchFamily="34" charset="-122"/>
                <a:cs typeface="Source Sans Pro" pitchFamily="34" charset="-120"/>
              </a:rPr>
              <a:t>Previous experience facilitate attention.</a:t>
            </a:r>
            <a:endParaRPr lang="en-US" sz="1600" dirty="0"/>
          </a:p>
        </p:txBody>
      </p:sp>
      <p:sp>
        <p:nvSpPr>
          <p:cNvPr id="11" name="Text 9"/>
          <p:cNvSpPr/>
          <p:nvPr/>
        </p:nvSpPr>
        <p:spPr>
          <a:xfrm>
            <a:off x="5747742" y="3462457"/>
            <a:ext cx="3698438" cy="2049661"/>
          </a:xfrm>
          <a:prstGeom prst="rect">
            <a:avLst/>
          </a:prstGeom>
          <a:noFill/>
          <a:ln/>
        </p:spPr>
        <p:txBody>
          <a:bodyPr wrap="square" lIns="0" tIns="0" rIns="0" bIns="0" rtlCol="0" anchor="t"/>
          <a:lstStyle/>
          <a:p>
            <a:pPr algn="l" marL="342900" indent="-342900">
              <a:lnSpc>
                <a:spcPts val="2550"/>
              </a:lnSpc>
              <a:buSzPct val="100000"/>
              <a:buChar char="•"/>
            </a:pPr>
            <a:r>
              <a:rPr lang="en-US" sz="1600" spc="-32" kern="0" dirty="0">
                <a:solidFill>
                  <a:srgbClr val="272525"/>
                </a:solidFill>
                <a:latin typeface="Source Sans Pro" pitchFamily="34" charset="0"/>
                <a:ea typeface="Source Sans Pro" pitchFamily="34" charset="-122"/>
                <a:cs typeface="Source Sans Pro" pitchFamily="34" charset="-120"/>
              </a:rPr>
              <a:t>If we know by our past experience that a particular person is sincere to us we pay attention to whatever he advices.</a:t>
            </a:r>
            <a:endParaRPr lang="en-US" sz="1600" dirty="0"/>
          </a:p>
        </p:txBody>
      </p:sp>
      <p:sp>
        <p:nvSpPr>
          <p:cNvPr id="12" name="Shape 10"/>
          <p:cNvSpPr/>
          <p:nvPr/>
        </p:nvSpPr>
        <p:spPr>
          <a:xfrm>
            <a:off x="9651087" y="2146697"/>
            <a:ext cx="358616" cy="358616"/>
          </a:xfrm>
          <a:prstGeom prst="roundRect">
            <a:avLst>
              <a:gd name="adj" fmla="val 24004"/>
            </a:avLst>
          </a:prstGeom>
          <a:solidFill>
            <a:srgbClr val="F4D4F7"/>
          </a:solidFill>
          <a:ln w="7620">
            <a:solidFill>
              <a:srgbClr val="DABADD"/>
            </a:solidFill>
            <a:prstDash val="solid"/>
          </a:ln>
        </p:spPr>
      </p:sp>
      <p:sp>
        <p:nvSpPr>
          <p:cNvPr id="13" name="Text 11"/>
          <p:cNvSpPr/>
          <p:nvPr/>
        </p:nvSpPr>
        <p:spPr>
          <a:xfrm>
            <a:off x="10214610" y="2146697"/>
            <a:ext cx="2411254" cy="301347"/>
          </a:xfrm>
          <a:prstGeom prst="rect">
            <a:avLst/>
          </a:prstGeom>
          <a:noFill/>
          <a:ln/>
        </p:spPr>
        <p:txBody>
          <a:bodyPr wrap="none" lIns="0" tIns="0" rIns="0" bIns="0" rtlCol="0" anchor="t"/>
          <a:lstStyle/>
          <a:p>
            <a:pPr indent="0" marL="0">
              <a:lnSpc>
                <a:spcPts val="2350"/>
              </a:lnSpc>
              <a:buNone/>
            </a:pPr>
            <a:r>
              <a:rPr lang="en-US" sz="1850" spc="-38" kern="0" dirty="0">
                <a:solidFill>
                  <a:srgbClr val="272525"/>
                </a:solidFill>
                <a:latin typeface="Source Serif Pro Semi Bold" pitchFamily="34" charset="0"/>
                <a:ea typeface="Source Serif Pro Semi Bold" pitchFamily="34" charset="-122"/>
                <a:cs typeface="Source Serif Pro Semi Bold" pitchFamily="34" charset="-120"/>
              </a:rPr>
              <a:t>Emotion</a:t>
            </a:r>
            <a:endParaRPr lang="en-US" sz="1850" dirty="0"/>
          </a:p>
        </p:txBody>
      </p:sp>
      <p:sp>
        <p:nvSpPr>
          <p:cNvPr id="14" name="Text 12"/>
          <p:cNvSpPr/>
          <p:nvPr/>
        </p:nvSpPr>
        <p:spPr>
          <a:xfrm>
            <a:off x="10214610" y="2570917"/>
            <a:ext cx="3698438" cy="819864"/>
          </a:xfrm>
          <a:prstGeom prst="rect">
            <a:avLst/>
          </a:prstGeom>
          <a:noFill/>
          <a:ln/>
        </p:spPr>
        <p:txBody>
          <a:bodyPr wrap="square" lIns="0" tIns="0" rIns="0" bIns="0" rtlCol="0" anchor="t"/>
          <a:lstStyle/>
          <a:p>
            <a:pPr algn="l" marL="342900" indent="-342900">
              <a:lnSpc>
                <a:spcPts val="2550"/>
              </a:lnSpc>
              <a:buSzPct val="100000"/>
              <a:buChar char="•"/>
            </a:pPr>
            <a:r>
              <a:rPr lang="en-US" sz="1600" spc="-32" kern="0" dirty="0">
                <a:solidFill>
                  <a:srgbClr val="272525"/>
                </a:solidFill>
                <a:latin typeface="Source Sans Pro" pitchFamily="34" charset="0"/>
                <a:ea typeface="Source Sans Pro" pitchFamily="34" charset="-122"/>
                <a:cs typeface="Source Sans Pro" pitchFamily="34" charset="-120"/>
              </a:rPr>
              <a:t>The emotional state in which a person determines attention.</a:t>
            </a:r>
            <a:endParaRPr lang="en-US" sz="1600" dirty="0"/>
          </a:p>
        </p:txBody>
      </p:sp>
      <p:sp>
        <p:nvSpPr>
          <p:cNvPr id="15" name="Text 13"/>
          <p:cNvSpPr/>
          <p:nvPr/>
        </p:nvSpPr>
        <p:spPr>
          <a:xfrm>
            <a:off x="10214610" y="3462457"/>
            <a:ext cx="3698438" cy="819864"/>
          </a:xfrm>
          <a:prstGeom prst="rect">
            <a:avLst/>
          </a:prstGeom>
          <a:noFill/>
          <a:ln/>
        </p:spPr>
        <p:txBody>
          <a:bodyPr wrap="square" lIns="0" tIns="0" rIns="0" bIns="0" rtlCol="0" anchor="t"/>
          <a:lstStyle/>
          <a:p>
            <a:pPr algn="l" marL="342900" indent="-342900">
              <a:lnSpc>
                <a:spcPts val="2550"/>
              </a:lnSpc>
              <a:buSzPct val="100000"/>
              <a:buChar char="•"/>
            </a:pPr>
            <a:r>
              <a:rPr lang="en-US" sz="1600" spc="-32" kern="0" dirty="0">
                <a:solidFill>
                  <a:srgbClr val="272525"/>
                </a:solidFill>
                <a:latin typeface="Source Sans Pro" pitchFamily="34" charset="0"/>
                <a:ea typeface="Source Sans Pro" pitchFamily="34" charset="-122"/>
                <a:cs typeface="Source Sans Pro" pitchFamily="34" charset="-120"/>
              </a:rPr>
              <a:t>Example: a person attends only to bad qualities of his enemy.</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658297"/>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3" name="Shape 1"/>
          <p:cNvSpPr/>
          <p:nvPr/>
        </p:nvSpPr>
        <p:spPr>
          <a:xfrm>
            <a:off x="837724" y="1990487"/>
            <a:ext cx="418862" cy="418862"/>
          </a:xfrm>
          <a:prstGeom prst="roundRect">
            <a:avLst>
              <a:gd name="adj" fmla="val 24003"/>
            </a:avLst>
          </a:prstGeom>
          <a:solidFill>
            <a:srgbClr val="F4D4F7"/>
          </a:solidFill>
          <a:ln w="7620">
            <a:solidFill>
              <a:srgbClr val="DABADD"/>
            </a:solidFill>
            <a:prstDash val="solid"/>
          </a:ln>
        </p:spPr>
      </p:sp>
      <p:sp>
        <p:nvSpPr>
          <p:cNvPr id="4" name="Text 2"/>
          <p:cNvSpPr/>
          <p:nvPr/>
        </p:nvSpPr>
        <p:spPr>
          <a:xfrm>
            <a:off x="1495901" y="1990487"/>
            <a:ext cx="2816185" cy="351949"/>
          </a:xfrm>
          <a:prstGeom prst="rect">
            <a:avLst/>
          </a:prstGeom>
          <a:noFill/>
          <a:ln/>
        </p:spPr>
        <p:txBody>
          <a:bodyPr wrap="non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Habit</a:t>
            </a:r>
            <a:endParaRPr lang="en-US" sz="2200" dirty="0"/>
          </a:p>
        </p:txBody>
      </p:sp>
      <p:sp>
        <p:nvSpPr>
          <p:cNvPr id="5" name="Text 3"/>
          <p:cNvSpPr/>
          <p:nvPr/>
        </p:nvSpPr>
        <p:spPr>
          <a:xfrm>
            <a:off x="1495901" y="2486025"/>
            <a:ext cx="3500557" cy="2871788"/>
          </a:xfrm>
          <a:prstGeom prst="rect">
            <a:avLst/>
          </a:prstGeom>
          <a:noFill/>
          <a:ln/>
        </p:spPr>
        <p:txBody>
          <a:bodyPr wrap="squar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The habit of attending to necessary and desirable things on the other hand also develops habit of not attending to unnecessary and undesirable things.</a:t>
            </a:r>
            <a:endParaRPr lang="en-US" sz="2350" dirty="0"/>
          </a:p>
        </p:txBody>
      </p:sp>
      <p:sp>
        <p:nvSpPr>
          <p:cNvPr id="6" name="Shape 4"/>
          <p:cNvSpPr/>
          <p:nvPr/>
        </p:nvSpPr>
        <p:spPr>
          <a:xfrm>
            <a:off x="5235773" y="1990487"/>
            <a:ext cx="418862" cy="418862"/>
          </a:xfrm>
          <a:prstGeom prst="roundRect">
            <a:avLst>
              <a:gd name="adj" fmla="val 24003"/>
            </a:avLst>
          </a:prstGeom>
          <a:solidFill>
            <a:srgbClr val="F4D4F7"/>
          </a:solidFill>
          <a:ln w="7620">
            <a:solidFill>
              <a:srgbClr val="DABADD"/>
            </a:solidFill>
            <a:prstDash val="solid"/>
          </a:ln>
        </p:spPr>
      </p:sp>
      <p:sp>
        <p:nvSpPr>
          <p:cNvPr id="7" name="Text 5"/>
          <p:cNvSpPr/>
          <p:nvPr/>
        </p:nvSpPr>
        <p:spPr>
          <a:xfrm>
            <a:off x="5893951" y="1990487"/>
            <a:ext cx="2816185" cy="351949"/>
          </a:xfrm>
          <a:prstGeom prst="rect">
            <a:avLst/>
          </a:prstGeom>
          <a:noFill/>
          <a:ln/>
        </p:spPr>
        <p:txBody>
          <a:bodyPr wrap="non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Aim</a:t>
            </a:r>
            <a:endParaRPr lang="en-US" sz="2200" dirty="0"/>
          </a:p>
        </p:txBody>
      </p:sp>
      <p:sp>
        <p:nvSpPr>
          <p:cNvPr id="8" name="Text 6"/>
          <p:cNvSpPr/>
          <p:nvPr/>
        </p:nvSpPr>
        <p:spPr>
          <a:xfrm>
            <a:off x="5893951" y="2486025"/>
            <a:ext cx="3500557" cy="1435894"/>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Every man has some immediate and ultimate aims.</a:t>
            </a:r>
            <a:endParaRPr lang="en-US" sz="1850" dirty="0"/>
          </a:p>
        </p:txBody>
      </p:sp>
      <p:sp>
        <p:nvSpPr>
          <p:cNvPr id="9" name="Text 7"/>
          <p:cNvSpPr/>
          <p:nvPr/>
        </p:nvSpPr>
        <p:spPr>
          <a:xfrm>
            <a:off x="5893951" y="4005620"/>
            <a:ext cx="3500557" cy="1914525"/>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Student whose aim is to pass the examination will at once attend to the textbooks or notes.</a:t>
            </a:r>
            <a:endParaRPr lang="en-US" sz="1850" dirty="0"/>
          </a:p>
        </p:txBody>
      </p:sp>
      <p:sp>
        <p:nvSpPr>
          <p:cNvPr id="10" name="Shape 8"/>
          <p:cNvSpPr/>
          <p:nvPr/>
        </p:nvSpPr>
        <p:spPr>
          <a:xfrm>
            <a:off x="9633823" y="1990487"/>
            <a:ext cx="418862" cy="418862"/>
          </a:xfrm>
          <a:prstGeom prst="roundRect">
            <a:avLst>
              <a:gd name="adj" fmla="val 24003"/>
            </a:avLst>
          </a:prstGeom>
          <a:solidFill>
            <a:srgbClr val="F4D4F7"/>
          </a:solidFill>
          <a:ln w="7620">
            <a:solidFill>
              <a:srgbClr val="DABADD"/>
            </a:solidFill>
            <a:prstDash val="solid"/>
          </a:ln>
        </p:spPr>
      </p:sp>
      <p:sp>
        <p:nvSpPr>
          <p:cNvPr id="11" name="Text 9"/>
          <p:cNvSpPr/>
          <p:nvPr/>
        </p:nvSpPr>
        <p:spPr>
          <a:xfrm>
            <a:off x="10292001" y="1990487"/>
            <a:ext cx="2816185" cy="351949"/>
          </a:xfrm>
          <a:prstGeom prst="rect">
            <a:avLst/>
          </a:prstGeom>
          <a:noFill/>
          <a:ln/>
        </p:spPr>
        <p:txBody>
          <a:bodyPr wrap="none" lIns="0" tIns="0" rIns="0" bIns="0" rtlCol="0" anchor="t"/>
          <a:lstStyle/>
          <a:p>
            <a:pPr indent="0" marL="0">
              <a:lnSpc>
                <a:spcPts val="2750"/>
              </a:lnSpc>
              <a:buNone/>
            </a:pPr>
            <a:r>
              <a:rPr lang="en-US" sz="2200" spc="-44" kern="0" dirty="0">
                <a:solidFill>
                  <a:srgbClr val="272525"/>
                </a:solidFill>
                <a:latin typeface="Source Serif Pro Semi Bold" pitchFamily="34" charset="0"/>
                <a:ea typeface="Source Serif Pro Semi Bold" pitchFamily="34" charset="-122"/>
                <a:cs typeface="Source Serif Pro Semi Bold" pitchFamily="34" charset="-120"/>
              </a:rPr>
              <a:t>Meaning</a:t>
            </a:r>
            <a:endParaRPr lang="en-US" sz="2200" dirty="0"/>
          </a:p>
        </p:txBody>
      </p:sp>
      <p:sp>
        <p:nvSpPr>
          <p:cNvPr id="12" name="Text 10"/>
          <p:cNvSpPr/>
          <p:nvPr/>
        </p:nvSpPr>
        <p:spPr>
          <a:xfrm>
            <a:off x="10292001" y="2486025"/>
            <a:ext cx="3500557" cy="1914525"/>
          </a:xfrm>
          <a:prstGeom prst="rect">
            <a:avLst/>
          </a:prstGeom>
          <a:noFill/>
          <a:ln/>
        </p:spPr>
        <p:txBody>
          <a:bodyPr wrap="squar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In comparison to meaningless stimuli, meaning full stimulus attracts more attention.</a:t>
            </a:r>
            <a:endParaRPr lang="en-US" sz="2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2857738"/>
            <a:ext cx="5632490" cy="70401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TYPES OF ATTENTION</a:t>
            </a:r>
            <a:endParaRPr lang="en-US" sz="4400" dirty="0"/>
          </a:p>
        </p:txBody>
      </p:sp>
      <p:sp>
        <p:nvSpPr>
          <p:cNvPr id="4" name="Shape 1"/>
          <p:cNvSpPr/>
          <p:nvPr/>
        </p:nvSpPr>
        <p:spPr>
          <a:xfrm>
            <a:off x="837724" y="3920728"/>
            <a:ext cx="7468553" cy="1451134"/>
          </a:xfrm>
          <a:prstGeom prst="roundRect">
            <a:avLst>
              <a:gd name="adj" fmla="val 6928"/>
            </a:avLst>
          </a:prstGeom>
          <a:solidFill>
            <a:srgbClr val="F4D4F7"/>
          </a:solidFill>
          <a:ln w="7620">
            <a:solidFill>
              <a:srgbClr val="DABADD"/>
            </a:solidFill>
            <a:prstDash val="solid"/>
          </a:ln>
        </p:spPr>
      </p:sp>
      <p:sp>
        <p:nvSpPr>
          <p:cNvPr id="5" name="Text 2"/>
          <p:cNvSpPr/>
          <p:nvPr/>
        </p:nvSpPr>
        <p:spPr>
          <a:xfrm>
            <a:off x="1084659" y="4167664"/>
            <a:ext cx="6974681" cy="957263"/>
          </a:xfrm>
          <a:prstGeom prst="rect">
            <a:avLst/>
          </a:prstGeom>
          <a:noFill/>
          <a:ln/>
        </p:spPr>
        <p:txBody>
          <a:bodyPr wrap="squar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According to Ross, Attention can be broadly divided into </a:t>
            </a:r>
            <a:pPr indent="0" marL="0">
              <a:lnSpc>
                <a:spcPts val="3750"/>
              </a:lnSpc>
              <a:buNone/>
            </a:pPr>
            <a:r>
              <a:rPr lang="en-US" sz="2350" b="1" spc="-38" kern="0" dirty="0">
                <a:solidFill>
                  <a:srgbClr val="272525"/>
                </a:solidFill>
                <a:latin typeface="Source Sans Pro" pitchFamily="34" charset="0"/>
                <a:ea typeface="Source Sans Pro" pitchFamily="34" charset="-122"/>
                <a:cs typeface="Source Sans Pro" pitchFamily="34" charset="-120"/>
              </a:rPr>
              <a:t>volitional and non- volitional type.</a:t>
            </a:r>
            <a:endParaRPr lang="en-US" sz="2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37724" y="1571268"/>
            <a:ext cx="7632621" cy="70401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NON-VOLITIONAL ATTENTION</a:t>
            </a:r>
            <a:endParaRPr lang="en-US" sz="4400" dirty="0"/>
          </a:p>
        </p:txBody>
      </p:sp>
      <p:sp>
        <p:nvSpPr>
          <p:cNvPr id="3" name="Text 1"/>
          <p:cNvSpPr/>
          <p:nvPr/>
        </p:nvSpPr>
        <p:spPr>
          <a:xfrm>
            <a:off x="837724" y="2754035"/>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Also called</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 involountary attention.</a:t>
            </a:r>
            <a:endParaRPr lang="en-US" sz="1850" dirty="0"/>
          </a:p>
        </p:txBody>
      </p:sp>
      <p:sp>
        <p:nvSpPr>
          <p:cNvPr id="4" name="Text 2"/>
          <p:cNvSpPr/>
          <p:nvPr/>
        </p:nvSpPr>
        <p:spPr>
          <a:xfrm>
            <a:off x="837724" y="3316367"/>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In this type of attention, person has no intention or desire to attend to a stimulus. </a:t>
            </a:r>
            <a:endParaRPr lang="en-US" sz="1850" dirty="0"/>
          </a:p>
        </p:txBody>
      </p:sp>
      <p:sp>
        <p:nvSpPr>
          <p:cNvPr id="5" name="Text 3"/>
          <p:cNvSpPr/>
          <p:nvPr/>
        </p:nvSpPr>
        <p:spPr>
          <a:xfrm>
            <a:off x="837724" y="3878699"/>
            <a:ext cx="12954952"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Attention towards a loud noise, a bright light and a member of the opposite sex are examples of involuntary attention.</a:t>
            </a:r>
            <a:endParaRPr lang="en-US" sz="1850" dirty="0"/>
          </a:p>
        </p:txBody>
      </p:sp>
      <p:sp>
        <p:nvSpPr>
          <p:cNvPr id="6" name="Text 4"/>
          <p:cNvSpPr/>
          <p:nvPr/>
        </p:nvSpPr>
        <p:spPr>
          <a:xfrm>
            <a:off x="837724" y="4919663"/>
            <a:ext cx="12954952"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Involuntary attention is divided into </a:t>
            </a:r>
            <a:pPr algn="l" indent="0" marL="0">
              <a:lnSpc>
                <a:spcPts val="3000"/>
              </a:lnSpc>
              <a:buNone/>
            </a:pPr>
            <a:r>
              <a:rPr lang="en-US" sz="1850" b="1" spc="-38" kern="0" dirty="0">
                <a:solidFill>
                  <a:srgbClr val="1F7135"/>
                </a:solidFill>
                <a:latin typeface="Source Sans Pro" pitchFamily="34" charset="0"/>
                <a:ea typeface="Source Sans Pro" pitchFamily="34" charset="-122"/>
                <a:cs typeface="Source Sans Pro" pitchFamily="34" charset="-120"/>
              </a:rPr>
              <a:t>enforced non-volitional attention and spontaneous non-volitional attention.</a:t>
            </a:r>
            <a:endParaRPr lang="en-US" sz="1850" dirty="0"/>
          </a:p>
        </p:txBody>
      </p:sp>
      <p:sp>
        <p:nvSpPr>
          <p:cNvPr id="7" name="Text 5"/>
          <p:cNvSpPr/>
          <p:nvPr/>
        </p:nvSpPr>
        <p:spPr>
          <a:xfrm>
            <a:off x="837724" y="6235898"/>
            <a:ext cx="3379470" cy="422315"/>
          </a:xfrm>
          <a:prstGeom prst="rect">
            <a:avLst/>
          </a:prstGeom>
          <a:noFill/>
          <a:ln/>
        </p:spPr>
        <p:txBody>
          <a:bodyPr wrap="none" lIns="0" tIns="0" rIns="0" bIns="0" rtlCol="0" anchor="t"/>
          <a:lstStyle/>
          <a:p>
            <a:pPr algn="l" indent="0" marL="0">
              <a:lnSpc>
                <a:spcPts val="3300"/>
              </a:lnSpc>
              <a:buNone/>
            </a:pPr>
            <a:endParaRPr lang="en-US" sz="2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37724" y="1628299"/>
            <a:ext cx="5042535" cy="422315"/>
          </a:xfrm>
          <a:prstGeom prst="rect">
            <a:avLst/>
          </a:prstGeom>
          <a:noFill/>
          <a:ln/>
        </p:spPr>
        <p:txBody>
          <a:bodyPr wrap="none" lIns="0" tIns="0" rIns="0" bIns="0" rtlCol="0" anchor="t"/>
          <a:lstStyle/>
          <a:p>
            <a:pPr indent="0" marL="0">
              <a:lnSpc>
                <a:spcPts val="3300"/>
              </a:lnSpc>
              <a:buNone/>
            </a:pPr>
            <a:r>
              <a:rPr lang="en-US" sz="2650" b="1" spc="-53" kern="0" dirty="0">
                <a:solidFill>
                  <a:srgbClr val="D73AD7"/>
                </a:solidFill>
                <a:latin typeface="Source Serif Pro Semi Bold" pitchFamily="34" charset="0"/>
                <a:ea typeface="Source Serif Pro Semi Bold" pitchFamily="34" charset="-122"/>
                <a:cs typeface="Source Serif Pro Semi Bold" pitchFamily="34" charset="-120"/>
              </a:rPr>
              <a:t>Enforced non- volitional attention</a:t>
            </a:r>
            <a:endParaRPr lang="en-US" sz="2650" dirty="0"/>
          </a:p>
        </p:txBody>
      </p:sp>
      <p:sp>
        <p:nvSpPr>
          <p:cNvPr id="3" name="Text 1"/>
          <p:cNvSpPr/>
          <p:nvPr/>
        </p:nvSpPr>
        <p:spPr>
          <a:xfrm>
            <a:off x="837724" y="2529364"/>
            <a:ext cx="12954952" cy="478631"/>
          </a:xfrm>
          <a:prstGeom prst="rect">
            <a:avLst/>
          </a:prstGeom>
          <a:noFill/>
          <a:ln/>
        </p:spPr>
        <p:txBody>
          <a:bodyPr wrap="none" lIns="0" tIns="0" rIns="0" bIns="0" rtlCol="0" anchor="t"/>
          <a:lstStyle/>
          <a:p>
            <a:pPr algn="l"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This enforced attention is aroused from</a:t>
            </a:r>
            <a:pPr algn="l" indent="0" marL="0">
              <a:lnSpc>
                <a:spcPts val="3750"/>
              </a:lnSpc>
              <a:buNone/>
            </a:pPr>
            <a:r>
              <a:rPr lang="en-US" sz="2350" b="1" spc="-38" kern="0" dirty="0">
                <a:solidFill>
                  <a:srgbClr val="272525"/>
                </a:solidFill>
                <a:latin typeface="Source Sans Pro" pitchFamily="34" charset="0"/>
                <a:ea typeface="Source Sans Pro" pitchFamily="34" charset="-122"/>
                <a:cs typeface="Source Sans Pro" pitchFamily="34" charset="-120"/>
              </a:rPr>
              <a:t> instincts</a:t>
            </a:r>
            <a:pPr algn="l"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 </a:t>
            </a:r>
            <a:endParaRPr lang="en-US" sz="2350" dirty="0"/>
          </a:p>
        </p:txBody>
      </p:sp>
      <p:sp>
        <p:nvSpPr>
          <p:cNvPr id="4" name="Text 2"/>
          <p:cNvSpPr/>
          <p:nvPr/>
        </p:nvSpPr>
        <p:spPr>
          <a:xfrm>
            <a:off x="837724" y="3277195"/>
            <a:ext cx="12954952" cy="478631"/>
          </a:xfrm>
          <a:prstGeom prst="rect">
            <a:avLst/>
          </a:prstGeom>
          <a:noFill/>
          <a:ln/>
        </p:spPr>
        <p:txBody>
          <a:bodyPr wrap="none" lIns="0" tIns="0" rIns="0" bIns="0" rtlCol="0" anchor="t"/>
          <a:lstStyle/>
          <a:p>
            <a:pPr algn="l"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Eg:-mothers attention towards her child and a young person’s curiosity to attend sexual advertisements.</a:t>
            </a:r>
            <a:endParaRPr lang="en-US" sz="2350" dirty="0"/>
          </a:p>
        </p:txBody>
      </p:sp>
      <p:sp>
        <p:nvSpPr>
          <p:cNvPr id="5" name="Text 3"/>
          <p:cNvSpPr/>
          <p:nvPr/>
        </p:nvSpPr>
        <p:spPr>
          <a:xfrm>
            <a:off x="837724" y="4114800"/>
            <a:ext cx="5559147" cy="422315"/>
          </a:xfrm>
          <a:prstGeom prst="rect">
            <a:avLst/>
          </a:prstGeom>
          <a:noFill/>
          <a:ln/>
        </p:spPr>
        <p:txBody>
          <a:bodyPr wrap="none" lIns="0" tIns="0" rIns="0" bIns="0" rtlCol="0" anchor="t"/>
          <a:lstStyle/>
          <a:p>
            <a:pPr algn="l" indent="0" marL="0">
              <a:lnSpc>
                <a:spcPts val="3300"/>
              </a:lnSpc>
              <a:buNone/>
            </a:pPr>
            <a:r>
              <a:rPr lang="en-US" sz="2650" b="1" spc="-53" kern="0" dirty="0">
                <a:solidFill>
                  <a:srgbClr val="D73AD7"/>
                </a:solidFill>
                <a:latin typeface="Source Serif Pro Semi Bold" pitchFamily="34" charset="0"/>
                <a:ea typeface="Source Serif Pro Semi Bold" pitchFamily="34" charset="-122"/>
                <a:cs typeface="Source Serif Pro Semi Bold" pitchFamily="34" charset="-120"/>
              </a:rPr>
              <a:t>Spontaneous non-volitional attention</a:t>
            </a:r>
            <a:endParaRPr lang="en-US" sz="2650" dirty="0"/>
          </a:p>
        </p:txBody>
      </p:sp>
      <p:sp>
        <p:nvSpPr>
          <p:cNvPr id="6" name="Text 4"/>
          <p:cNvSpPr/>
          <p:nvPr/>
        </p:nvSpPr>
        <p:spPr>
          <a:xfrm>
            <a:off x="837724" y="4896088"/>
            <a:ext cx="12954952" cy="478631"/>
          </a:xfrm>
          <a:prstGeom prst="rect">
            <a:avLst/>
          </a:prstGeom>
          <a:noFill/>
          <a:ln/>
        </p:spPr>
        <p:txBody>
          <a:bodyPr wrap="none" lIns="0" tIns="0" rIns="0" bIns="0" rtlCol="0" anchor="t"/>
          <a:lstStyle/>
          <a:p>
            <a:pPr indent="0" marL="0">
              <a:lnSpc>
                <a:spcPts val="3750"/>
              </a:lnSpc>
              <a:buNone/>
            </a:pPr>
            <a:r>
              <a:rPr lang="en-US" sz="2350" b="1" spc="-38" kern="0" dirty="0">
                <a:solidFill>
                  <a:srgbClr val="272525"/>
                </a:solidFill>
                <a:latin typeface="Source Sans Pro" pitchFamily="34" charset="0"/>
                <a:ea typeface="Source Sans Pro" pitchFamily="34" charset="-122"/>
                <a:cs typeface="Source Sans Pro" pitchFamily="34" charset="-120"/>
              </a:rPr>
              <a:t> </a:t>
            </a:r>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This spontaneous attention is aroused through </a:t>
            </a:r>
            <a:pPr indent="0" marL="0">
              <a:lnSpc>
                <a:spcPts val="3750"/>
              </a:lnSpc>
              <a:buNone/>
            </a:pPr>
            <a:r>
              <a:rPr lang="en-US" sz="2350" b="1" spc="-38" kern="0" dirty="0">
                <a:solidFill>
                  <a:srgbClr val="272525"/>
                </a:solidFill>
                <a:latin typeface="Source Sans Pro" pitchFamily="34" charset="0"/>
                <a:ea typeface="Source Sans Pro" pitchFamily="34" charset="-122"/>
                <a:cs typeface="Source Sans Pro" pitchFamily="34" charset="-120"/>
              </a:rPr>
              <a:t>sentiments.</a:t>
            </a:r>
            <a:endParaRPr lang="en-US" sz="2350" dirty="0"/>
          </a:p>
        </p:txBody>
      </p:sp>
      <p:sp>
        <p:nvSpPr>
          <p:cNvPr id="7" name="Text 5"/>
          <p:cNvSpPr/>
          <p:nvPr/>
        </p:nvSpPr>
        <p:spPr>
          <a:xfrm>
            <a:off x="837724" y="5643920"/>
            <a:ext cx="12954952" cy="957263"/>
          </a:xfrm>
          <a:prstGeom prst="rect">
            <a:avLst/>
          </a:prstGeom>
          <a:noFill/>
          <a:ln/>
        </p:spPr>
        <p:txBody>
          <a:bodyPr wrap="square" lIns="0" tIns="0" rIns="0" bIns="0" rtlCol="0" anchor="t"/>
          <a:lstStyle/>
          <a:p>
            <a:pPr algn="l"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Eg:- paying attention to a patriotic song or shifting attention towards a person who is suffering from an illness.</a:t>
            </a:r>
            <a:endParaRPr lang="en-US" sz="2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37724" y="1180624"/>
            <a:ext cx="6479262" cy="704017"/>
          </a:xfrm>
          <a:prstGeom prst="rect">
            <a:avLst/>
          </a:prstGeom>
          <a:noFill/>
          <a:ln/>
        </p:spPr>
        <p:txBody>
          <a:bodyPr wrap="none" lIns="0" tIns="0" rIns="0" bIns="0" rtlCol="0" anchor="t"/>
          <a:lstStyle/>
          <a:p>
            <a:pPr indent="0" marL="0">
              <a:lnSpc>
                <a:spcPts val="5500"/>
              </a:lnSpc>
              <a:buNone/>
            </a:pPr>
            <a:r>
              <a:rPr lang="en-US" sz="4400" b="1" spc="-89" kern="0" dirty="0">
                <a:solidFill>
                  <a:srgbClr val="D73AD7"/>
                </a:solidFill>
                <a:latin typeface="Source Serif Pro Semi Bold" pitchFamily="34" charset="0"/>
                <a:ea typeface="Source Serif Pro Semi Bold" pitchFamily="34" charset="-122"/>
                <a:cs typeface="Source Serif Pro Semi Bold" pitchFamily="34" charset="-120"/>
              </a:rPr>
              <a:t>VOLITIONAL ATTENTION </a:t>
            </a:r>
            <a:endParaRPr lang="en-US" sz="4400" dirty="0"/>
          </a:p>
        </p:txBody>
      </p:sp>
      <p:sp>
        <p:nvSpPr>
          <p:cNvPr id="3" name="Text 1"/>
          <p:cNvSpPr/>
          <p:nvPr/>
        </p:nvSpPr>
        <p:spPr>
          <a:xfrm>
            <a:off x="837724" y="2363391"/>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Also knows volountary attention.</a:t>
            </a:r>
            <a:endParaRPr lang="en-US" sz="1850" dirty="0"/>
          </a:p>
        </p:txBody>
      </p:sp>
      <p:sp>
        <p:nvSpPr>
          <p:cNvPr id="4" name="Text 2"/>
          <p:cNvSpPr/>
          <p:nvPr/>
        </p:nvSpPr>
        <p:spPr>
          <a:xfrm>
            <a:off x="837724" y="2925723"/>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Takes place with the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conscious effort of the subject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t>
            </a:r>
            <a:endParaRPr lang="en-US" sz="1850" dirty="0"/>
          </a:p>
        </p:txBody>
      </p:sp>
      <p:sp>
        <p:nvSpPr>
          <p:cNvPr id="5" name="Text 3"/>
          <p:cNvSpPr/>
          <p:nvPr/>
        </p:nvSpPr>
        <p:spPr>
          <a:xfrm>
            <a:off x="837724" y="3488055"/>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Volitional attention divided into</a:t>
            </a:r>
            <a:pPr algn="l" indent="0" marL="0">
              <a:lnSpc>
                <a:spcPts val="3000"/>
              </a:lnSpc>
              <a:buNone/>
            </a:pPr>
            <a:r>
              <a:rPr lang="en-US" sz="1850" b="1" spc="-38" kern="0" dirty="0">
                <a:solidFill>
                  <a:srgbClr val="1F7135"/>
                </a:solidFill>
                <a:latin typeface="Source Sans Pro" pitchFamily="34" charset="0"/>
                <a:ea typeface="Source Sans Pro" pitchFamily="34" charset="-122"/>
                <a:cs typeface="Source Sans Pro" pitchFamily="34" charset="-120"/>
              </a:rPr>
              <a:t> implicit volitional and explicit volitional.</a:t>
            </a:r>
            <a:endParaRPr lang="en-US" sz="1850" dirty="0"/>
          </a:p>
        </p:txBody>
      </p:sp>
      <p:sp>
        <p:nvSpPr>
          <p:cNvPr id="6" name="Text 4"/>
          <p:cNvSpPr/>
          <p:nvPr/>
        </p:nvSpPr>
        <p:spPr>
          <a:xfrm>
            <a:off x="837724" y="4325660"/>
            <a:ext cx="4119324" cy="844629"/>
          </a:xfrm>
          <a:prstGeom prst="rect">
            <a:avLst/>
          </a:prstGeom>
          <a:noFill/>
          <a:ln/>
        </p:spPr>
        <p:txBody>
          <a:bodyPr wrap="square" lIns="0" tIns="0" rIns="0" bIns="0" rtlCol="0" anchor="t"/>
          <a:lstStyle/>
          <a:p>
            <a:pPr indent="0" marL="0">
              <a:lnSpc>
                <a:spcPts val="3300"/>
              </a:lnSpc>
              <a:buNone/>
            </a:pPr>
            <a:r>
              <a:rPr lang="en-US" sz="2650" spc="-53" kern="0" dirty="0">
                <a:solidFill>
                  <a:srgbClr val="D73AD7"/>
                </a:solidFill>
                <a:latin typeface="Source Serif Pro Semi Bold" pitchFamily="34" charset="0"/>
                <a:ea typeface="Source Serif Pro Semi Bold" pitchFamily="34" charset="-122"/>
                <a:cs typeface="Source Serif Pro Semi Bold" pitchFamily="34" charset="-120"/>
              </a:rPr>
              <a:t>
</a:t>
            </a:r>
            <a:pPr indent="0" marL="0">
              <a:lnSpc>
                <a:spcPts val="3300"/>
              </a:lnSpc>
              <a:buNone/>
            </a:pPr>
            <a:r>
              <a:rPr lang="en-US" sz="2650" b="1" spc="-53" kern="0" dirty="0">
                <a:solidFill>
                  <a:srgbClr val="D73AD7"/>
                </a:solidFill>
                <a:latin typeface="Source Serif Pro Semi Bold" pitchFamily="34" charset="0"/>
                <a:ea typeface="Source Serif Pro Semi Bold" pitchFamily="34" charset="-122"/>
                <a:cs typeface="Source Serif Pro Semi Bold" pitchFamily="34" charset="-120"/>
              </a:rPr>
              <a:t>Implicit volitional attention</a:t>
            </a:r>
            <a:endParaRPr lang="en-US" sz="2650" dirty="0"/>
          </a:p>
        </p:txBody>
      </p:sp>
      <p:sp>
        <p:nvSpPr>
          <p:cNvPr id="7" name="Text 5"/>
          <p:cNvSpPr/>
          <p:nvPr/>
        </p:nvSpPr>
        <p:spPr>
          <a:xfrm>
            <a:off x="837724" y="5529263"/>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In this type single act of volition bring attention.</a:t>
            </a:r>
            <a:endParaRPr lang="en-US" sz="1850" dirty="0"/>
          </a:p>
        </p:txBody>
      </p:sp>
      <p:sp>
        <p:nvSpPr>
          <p:cNvPr id="8" name="Text 6"/>
          <p:cNvSpPr/>
          <p:nvPr/>
        </p:nvSpPr>
        <p:spPr>
          <a:xfrm>
            <a:off x="837724" y="6091595"/>
            <a:ext cx="12954952"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Eg:-a teacher wants a student to not repeat skipping homework. if the single warning makes the student do homework regularly that is an instance of implicit volitional attention.</a:t>
            </a: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37724" y="1861423"/>
            <a:ext cx="4067651" cy="422315"/>
          </a:xfrm>
          <a:prstGeom prst="rect">
            <a:avLst/>
          </a:prstGeom>
          <a:noFill/>
          <a:ln/>
        </p:spPr>
        <p:txBody>
          <a:bodyPr wrap="none" lIns="0" tIns="0" rIns="0" bIns="0" rtlCol="0" anchor="t"/>
          <a:lstStyle/>
          <a:p>
            <a:pPr indent="0" marL="0">
              <a:lnSpc>
                <a:spcPts val="3300"/>
              </a:lnSpc>
              <a:buNone/>
            </a:pPr>
            <a:r>
              <a:rPr lang="en-US" sz="2650" b="1" spc="-53" kern="0" dirty="0">
                <a:solidFill>
                  <a:srgbClr val="D73AD7"/>
                </a:solidFill>
                <a:latin typeface="Source Serif Pro Semi Bold" pitchFamily="34" charset="0"/>
                <a:ea typeface="Source Serif Pro Semi Bold" pitchFamily="34" charset="-122"/>
                <a:cs typeface="Source Serif Pro Semi Bold" pitchFamily="34" charset="-120"/>
              </a:rPr>
              <a:t>Explicit volitional attention</a:t>
            </a:r>
            <a:endParaRPr lang="en-US" sz="2650" dirty="0"/>
          </a:p>
        </p:txBody>
      </p:sp>
      <p:sp>
        <p:nvSpPr>
          <p:cNvPr id="3" name="Text 1"/>
          <p:cNvSpPr/>
          <p:nvPr/>
        </p:nvSpPr>
        <p:spPr>
          <a:xfrm>
            <a:off x="837724" y="2762488"/>
            <a:ext cx="12954952" cy="478631"/>
          </a:xfrm>
          <a:prstGeom prst="rect">
            <a:avLst/>
          </a:prstGeom>
          <a:noFill/>
          <a:ln/>
        </p:spPr>
        <p:txBody>
          <a:bodyPr wrap="none" lIns="0" tIns="0" rIns="0" bIns="0" rtlCol="0" anchor="t"/>
          <a:lstStyle/>
          <a:p>
            <a:pPr indent="0" marL="0">
              <a:lnSpc>
                <a:spcPts val="3750"/>
              </a:lnSpc>
              <a:buNone/>
            </a:pPr>
            <a:r>
              <a:rPr lang="en-US" sz="2350" b="1" spc="-38" kern="0" dirty="0">
                <a:solidFill>
                  <a:srgbClr val="272525"/>
                </a:solidFill>
                <a:latin typeface="Source Sans Pro" pitchFamily="34" charset="0"/>
                <a:ea typeface="Source Sans Pro" pitchFamily="34" charset="-122"/>
                <a:cs typeface="Source Sans Pro" pitchFamily="34" charset="-120"/>
              </a:rPr>
              <a:t> </a:t>
            </a:r>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This type of attention involves taking multiple steps and having will and focus to obtain attention.</a:t>
            </a:r>
            <a:endParaRPr lang="en-US" sz="2350" dirty="0"/>
          </a:p>
        </p:txBody>
      </p:sp>
      <p:sp>
        <p:nvSpPr>
          <p:cNvPr id="4" name="Text 2"/>
          <p:cNvSpPr/>
          <p:nvPr/>
        </p:nvSpPr>
        <p:spPr>
          <a:xfrm>
            <a:off x="837724" y="3510320"/>
            <a:ext cx="12954952" cy="957263"/>
          </a:xfrm>
          <a:prstGeom prst="rect">
            <a:avLst/>
          </a:prstGeom>
          <a:noFill/>
          <a:ln/>
        </p:spPr>
        <p:txBody>
          <a:bodyPr wrap="squar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Eg:-preparation for an examination or planning for a journey to a new place. this one has to act purposefully for keeping oneself attentive.</a:t>
            </a:r>
            <a:endParaRPr lang="en-US" sz="2350" dirty="0"/>
          </a:p>
        </p:txBody>
      </p:sp>
      <p:sp>
        <p:nvSpPr>
          <p:cNvPr id="5" name="Text 3"/>
          <p:cNvSpPr/>
          <p:nvPr/>
        </p:nvSpPr>
        <p:spPr>
          <a:xfrm>
            <a:off x="837724" y="4826556"/>
            <a:ext cx="6716316" cy="70401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DURATION OF ATTENTION</a:t>
            </a:r>
            <a:endParaRPr lang="en-US" sz="4400" dirty="0"/>
          </a:p>
        </p:txBody>
      </p:sp>
      <p:sp>
        <p:nvSpPr>
          <p:cNvPr id="6" name="Text 4"/>
          <p:cNvSpPr/>
          <p:nvPr/>
        </p:nvSpPr>
        <p:spPr>
          <a:xfrm>
            <a:off x="837724" y="5889546"/>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Duration of attention is the length of one's ability to pay attention towards a stimulus.</a:t>
            </a:r>
            <a:endParaRPr lang="en-US" sz="2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39259" y="792004"/>
            <a:ext cx="4969788" cy="621149"/>
          </a:xfrm>
          <a:prstGeom prst="rect">
            <a:avLst/>
          </a:prstGeom>
          <a:noFill/>
          <a:ln/>
        </p:spPr>
        <p:txBody>
          <a:bodyPr wrap="none" lIns="0" tIns="0" rIns="0" bIns="0" rtlCol="0" anchor="t"/>
          <a:lstStyle/>
          <a:p>
            <a:pPr indent="0" marL="0">
              <a:lnSpc>
                <a:spcPts val="4850"/>
              </a:lnSpc>
              <a:buNone/>
            </a:pPr>
            <a:r>
              <a:rPr lang="en-US" sz="3900" b="1" spc="-78" kern="0" dirty="0">
                <a:solidFill>
                  <a:srgbClr val="D73AD7"/>
                </a:solidFill>
                <a:latin typeface="Source Serif Pro Semi Bold" pitchFamily="34" charset="0"/>
                <a:ea typeface="Source Serif Pro Semi Bold" pitchFamily="34" charset="-122"/>
                <a:cs typeface="Source Serif Pro Semi Bold" pitchFamily="34" charset="-120"/>
              </a:rPr>
              <a:t>Sustained attention</a:t>
            </a:r>
            <a:endParaRPr lang="en-US" sz="3900" dirty="0"/>
          </a:p>
        </p:txBody>
      </p:sp>
      <p:sp>
        <p:nvSpPr>
          <p:cNvPr id="3" name="Text 1"/>
          <p:cNvSpPr/>
          <p:nvPr/>
        </p:nvSpPr>
        <p:spPr>
          <a:xfrm>
            <a:off x="739259" y="1624370"/>
            <a:ext cx="6318290" cy="844868"/>
          </a:xfrm>
          <a:prstGeom prst="rect">
            <a:avLst/>
          </a:prstGeom>
          <a:noFill/>
          <a:ln/>
        </p:spPr>
        <p:txBody>
          <a:bodyPr wrap="square" lIns="0" tIns="0" rIns="0" bIns="0" rtlCol="0" anchor="t"/>
          <a:lstStyle/>
          <a:p>
            <a:pPr indent="0" marL="0">
              <a:lnSpc>
                <a:spcPts val="3300"/>
              </a:lnSpc>
              <a:buNone/>
            </a:pPr>
            <a:r>
              <a:rPr lang="en-US" sz="2050" spc="-33" kern="0" dirty="0">
                <a:solidFill>
                  <a:srgbClr val="272525"/>
                </a:solidFill>
                <a:latin typeface="Source Sans Pro" pitchFamily="34" charset="0"/>
                <a:ea typeface="Source Sans Pro" pitchFamily="34" charset="-122"/>
                <a:cs typeface="Source Sans Pro" pitchFamily="34" charset="-120"/>
              </a:rPr>
              <a:t>Sustained attention is the concentration of one’s activity continuously upon some object. </a:t>
            </a:r>
            <a:endParaRPr lang="en-US" sz="2050" dirty="0"/>
          </a:p>
        </p:txBody>
      </p:sp>
      <p:sp>
        <p:nvSpPr>
          <p:cNvPr id="4" name="Text 2"/>
          <p:cNvSpPr/>
          <p:nvPr/>
        </p:nvSpPr>
        <p:spPr>
          <a:xfrm>
            <a:off x="739259" y="2659261"/>
            <a:ext cx="6318290" cy="1267301"/>
          </a:xfrm>
          <a:prstGeom prst="rect">
            <a:avLst/>
          </a:prstGeom>
          <a:noFill/>
          <a:ln/>
        </p:spPr>
        <p:txBody>
          <a:bodyPr wrap="square" lIns="0" tIns="0" rIns="0" bIns="0" rtlCol="0" anchor="t"/>
          <a:lstStyle/>
          <a:p>
            <a:pPr indent="0" marL="0">
              <a:lnSpc>
                <a:spcPts val="3300"/>
              </a:lnSpc>
              <a:buNone/>
            </a:pPr>
            <a:r>
              <a:rPr lang="en-US" sz="2050" spc="-33" kern="0" dirty="0">
                <a:solidFill>
                  <a:srgbClr val="272525"/>
                </a:solidFill>
                <a:latin typeface="Source Sans Pro" pitchFamily="34" charset="0"/>
                <a:ea typeface="Source Sans Pro" pitchFamily="34" charset="-122"/>
                <a:cs typeface="Source Sans Pro" pitchFamily="34" charset="-120"/>
              </a:rPr>
              <a:t>The individual attention always remains on track and activity proceeds systematically without any serious distractions.</a:t>
            </a:r>
            <a:endParaRPr lang="en-US" sz="2050" dirty="0"/>
          </a:p>
        </p:txBody>
      </p:sp>
      <p:sp>
        <p:nvSpPr>
          <p:cNvPr id="5" name="Text 3"/>
          <p:cNvSpPr/>
          <p:nvPr/>
        </p:nvSpPr>
        <p:spPr>
          <a:xfrm>
            <a:off x="739259" y="4137779"/>
            <a:ext cx="4969788" cy="621149"/>
          </a:xfrm>
          <a:prstGeom prst="rect">
            <a:avLst/>
          </a:prstGeom>
          <a:noFill/>
          <a:ln/>
        </p:spPr>
        <p:txBody>
          <a:bodyPr wrap="none" lIns="0" tIns="0" rIns="0" bIns="0" rtlCol="0" anchor="t"/>
          <a:lstStyle/>
          <a:p>
            <a:pPr indent="0" marL="0">
              <a:lnSpc>
                <a:spcPts val="4850"/>
              </a:lnSpc>
              <a:buNone/>
            </a:pPr>
            <a:r>
              <a:rPr lang="en-US" sz="3900" b="1" spc="-78" kern="0" dirty="0">
                <a:solidFill>
                  <a:srgbClr val="D73AD7"/>
                </a:solidFill>
                <a:latin typeface="Source Serif Pro Semi Bold" pitchFamily="34" charset="0"/>
                <a:ea typeface="Source Serif Pro Semi Bold" pitchFamily="34" charset="-122"/>
                <a:cs typeface="Source Serif Pro Semi Bold" pitchFamily="34" charset="-120"/>
              </a:rPr>
              <a:t>Shifting attention</a:t>
            </a:r>
            <a:endParaRPr lang="en-US" sz="3900" dirty="0"/>
          </a:p>
        </p:txBody>
      </p:sp>
      <p:sp>
        <p:nvSpPr>
          <p:cNvPr id="6" name="Text 4"/>
          <p:cNvSpPr/>
          <p:nvPr/>
        </p:nvSpPr>
        <p:spPr>
          <a:xfrm>
            <a:off x="739259" y="4970145"/>
            <a:ext cx="6318290" cy="1267301"/>
          </a:xfrm>
          <a:prstGeom prst="rect">
            <a:avLst/>
          </a:prstGeom>
          <a:noFill/>
          <a:ln/>
        </p:spPr>
        <p:txBody>
          <a:bodyPr wrap="square" lIns="0" tIns="0" rIns="0" bIns="0" rtlCol="0" anchor="t"/>
          <a:lstStyle/>
          <a:p>
            <a:pPr indent="0" marL="0">
              <a:lnSpc>
                <a:spcPts val="3300"/>
              </a:lnSpc>
              <a:buNone/>
            </a:pPr>
            <a:r>
              <a:rPr lang="en-US" sz="2050" spc="-33" kern="0" dirty="0">
                <a:solidFill>
                  <a:srgbClr val="272525"/>
                </a:solidFill>
                <a:latin typeface="Source Sans Pro" pitchFamily="34" charset="0"/>
                <a:ea typeface="Source Sans Pro" pitchFamily="34" charset="-122"/>
                <a:cs typeface="Source Sans Pro" pitchFamily="34" charset="-120"/>
              </a:rPr>
              <a:t>While paying attention towards an object it is not possible to hold attention continuously with the same intensity for a longer duration.</a:t>
            </a:r>
            <a:endParaRPr lang="en-US" sz="2050" dirty="0"/>
          </a:p>
        </p:txBody>
      </p:sp>
      <p:sp>
        <p:nvSpPr>
          <p:cNvPr id="7" name="Text 5"/>
          <p:cNvSpPr/>
          <p:nvPr/>
        </p:nvSpPr>
        <p:spPr>
          <a:xfrm>
            <a:off x="739259" y="6427470"/>
            <a:ext cx="6318290" cy="422434"/>
          </a:xfrm>
          <a:prstGeom prst="rect">
            <a:avLst/>
          </a:prstGeom>
          <a:noFill/>
          <a:ln/>
        </p:spPr>
        <p:txBody>
          <a:bodyPr wrap="none" lIns="0" tIns="0" rIns="0" bIns="0" rtlCol="0" anchor="t"/>
          <a:lstStyle/>
          <a:p>
            <a:pPr indent="0" marL="0">
              <a:lnSpc>
                <a:spcPts val="3300"/>
              </a:lnSpc>
              <a:buNone/>
            </a:pPr>
            <a:r>
              <a:rPr lang="en-US" sz="2050" spc="-33" kern="0" dirty="0">
                <a:solidFill>
                  <a:srgbClr val="272525"/>
                </a:solidFill>
                <a:latin typeface="Source Sans Pro" pitchFamily="34" charset="0"/>
                <a:ea typeface="Source Sans Pro" pitchFamily="34" charset="-122"/>
                <a:cs typeface="Source Sans Pro" pitchFamily="34" charset="-120"/>
              </a:rPr>
              <a:t>It is constantly shifting from one object to another.</a:t>
            </a:r>
            <a:endParaRPr lang="en-US" sz="2050" dirty="0"/>
          </a:p>
        </p:txBody>
      </p:sp>
      <p:sp>
        <p:nvSpPr>
          <p:cNvPr id="8" name="Text 6"/>
          <p:cNvSpPr/>
          <p:nvPr/>
        </p:nvSpPr>
        <p:spPr>
          <a:xfrm>
            <a:off x="739259" y="7039928"/>
            <a:ext cx="6318290" cy="422434"/>
          </a:xfrm>
          <a:prstGeom prst="rect">
            <a:avLst/>
          </a:prstGeom>
          <a:noFill/>
          <a:ln/>
        </p:spPr>
        <p:txBody>
          <a:bodyPr wrap="none" lIns="0" tIns="0" rIns="0" bIns="0" rtlCol="0" anchor="t"/>
          <a:lstStyle/>
          <a:p>
            <a:pPr indent="0" marL="0">
              <a:lnSpc>
                <a:spcPts val="3300"/>
              </a:lnSpc>
              <a:buNone/>
            </a:pPr>
            <a:endParaRPr lang="en-US" sz="2050" dirty="0"/>
          </a:p>
        </p:txBody>
      </p:sp>
      <p:pic>
        <p:nvPicPr>
          <p:cNvPr id="9" name="Image 0" descr="preencoded.png">    </p:cNvPr>
          <p:cNvPicPr>
            <a:picLocks noChangeAspect="1"/>
          </p:cNvPicPr>
          <p:nvPr/>
        </p:nvPicPr>
        <p:blipFill>
          <a:blip r:embed="rId1"/>
          <a:stretch>
            <a:fillRect/>
          </a:stretch>
        </p:blipFill>
        <p:spPr>
          <a:xfrm>
            <a:off x="7580471" y="2657237"/>
            <a:ext cx="5574863" cy="291869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91634" y="2358271"/>
            <a:ext cx="5269468" cy="3512939"/>
          </a:xfrm>
          <a:prstGeom prst="rect">
            <a:avLst/>
          </a:prstGeom>
        </p:spPr>
      </p:pic>
      <p:sp>
        <p:nvSpPr>
          <p:cNvPr id="3" name="Text 0"/>
          <p:cNvSpPr/>
          <p:nvPr/>
        </p:nvSpPr>
        <p:spPr>
          <a:xfrm>
            <a:off x="7563922" y="741164"/>
            <a:ext cx="4976693" cy="581263"/>
          </a:xfrm>
          <a:prstGeom prst="rect">
            <a:avLst/>
          </a:prstGeom>
          <a:noFill/>
          <a:ln/>
        </p:spPr>
        <p:txBody>
          <a:bodyPr wrap="none" lIns="0" tIns="0" rIns="0" bIns="0" rtlCol="0" anchor="t"/>
          <a:lstStyle/>
          <a:p>
            <a:pPr indent="0" marL="0">
              <a:lnSpc>
                <a:spcPts val="4550"/>
              </a:lnSpc>
              <a:buNone/>
            </a:pPr>
            <a:r>
              <a:rPr lang="en-US" sz="3650" spc="-73" kern="0" dirty="0">
                <a:solidFill>
                  <a:srgbClr val="D73AD7"/>
                </a:solidFill>
                <a:latin typeface="Source Serif Pro Semi Bold" pitchFamily="34" charset="0"/>
                <a:ea typeface="Source Serif Pro Semi Bold" pitchFamily="34" charset="-122"/>
                <a:cs typeface="Source Serif Pro Semi Bold" pitchFamily="34" charset="-120"/>
              </a:rPr>
              <a:t>DEGREE OF ATTENTION</a:t>
            </a:r>
            <a:endParaRPr lang="en-US" sz="3650" dirty="0"/>
          </a:p>
        </p:txBody>
      </p:sp>
      <p:sp>
        <p:nvSpPr>
          <p:cNvPr id="4" name="Text 1"/>
          <p:cNvSpPr/>
          <p:nvPr/>
        </p:nvSpPr>
        <p:spPr>
          <a:xfrm>
            <a:off x="7563922" y="1519952"/>
            <a:ext cx="6382464" cy="790575"/>
          </a:xfrm>
          <a:prstGeom prst="rect">
            <a:avLst/>
          </a:prstGeom>
          <a:noFill/>
          <a:ln/>
        </p:spPr>
        <p:txBody>
          <a:bodyPr wrap="square" lIns="0" tIns="0" rIns="0" bIns="0" rtlCol="0" anchor="t"/>
          <a:lstStyle/>
          <a:p>
            <a:pPr indent="0" marL="0">
              <a:lnSpc>
                <a:spcPts val="3100"/>
              </a:lnSpc>
              <a:buNone/>
            </a:pPr>
            <a:r>
              <a:rPr lang="en-US" sz="1900" spc="-31" kern="0" dirty="0">
                <a:solidFill>
                  <a:srgbClr val="272525"/>
                </a:solidFill>
                <a:latin typeface="Source Sans Pro" pitchFamily="34" charset="0"/>
                <a:ea typeface="Source Sans Pro" pitchFamily="34" charset="-122"/>
                <a:cs typeface="Source Sans Pro" pitchFamily="34" charset="-120"/>
              </a:rPr>
              <a:t>There are limitations to the number of objects that can be attended in one period of attention.</a:t>
            </a:r>
            <a:endParaRPr lang="en-US" sz="1900" dirty="0"/>
          </a:p>
        </p:txBody>
      </p:sp>
      <p:sp>
        <p:nvSpPr>
          <p:cNvPr id="5" name="Text 2"/>
          <p:cNvSpPr/>
          <p:nvPr/>
        </p:nvSpPr>
        <p:spPr>
          <a:xfrm>
            <a:off x="7563922" y="2488287"/>
            <a:ext cx="6382464" cy="3162300"/>
          </a:xfrm>
          <a:prstGeom prst="rect">
            <a:avLst/>
          </a:prstGeom>
          <a:noFill/>
          <a:ln/>
        </p:spPr>
        <p:txBody>
          <a:bodyPr wrap="square" lIns="0" tIns="0" rIns="0" bIns="0" rtlCol="0" anchor="t"/>
          <a:lstStyle/>
          <a:p>
            <a:pPr indent="0" marL="0">
              <a:lnSpc>
                <a:spcPts val="3100"/>
              </a:lnSpc>
              <a:buNone/>
            </a:pPr>
            <a:r>
              <a:rPr lang="en-US" sz="1900" spc="-31" kern="0" dirty="0">
                <a:solidFill>
                  <a:srgbClr val="272525"/>
                </a:solidFill>
                <a:latin typeface="Source Sans Pro" pitchFamily="34" charset="0"/>
                <a:ea typeface="Source Sans Pro" pitchFamily="34" charset="-122"/>
                <a:cs typeface="Source Sans Pro" pitchFamily="34" charset="-120"/>
              </a:rPr>
              <a:t>The maximum amount of material that can be attended in one period of attention is called span of attention or degree of attention.</a:t>
            </a:r>
            <a:pPr indent="0" marL="0">
              <a:lnSpc>
                <a:spcPts val="3100"/>
              </a:lnSpc>
              <a:buNone/>
            </a:pPr>
            <a:r>
              <a:rPr lang="en-US" sz="1900" spc="-31" kern="0" dirty="0">
                <a:solidFill>
                  <a:srgbClr val="272525"/>
                </a:solidFill>
                <a:latin typeface="Source Sans Pro" pitchFamily="34" charset="0"/>
                <a:ea typeface="Source Sans Pro" pitchFamily="34" charset="-122"/>
                <a:cs typeface="Source Sans Pro" pitchFamily="34" charset="-120"/>
              </a:rPr>
              <a:t>
</a:t>
            </a:r>
            <a:pPr indent="0" marL="0">
              <a:lnSpc>
                <a:spcPts val="3100"/>
              </a:lnSpc>
              <a:buNone/>
            </a:pPr>
            <a:r>
              <a:rPr lang="en-US" sz="1900" b="1" spc="-31" kern="0" dirty="0">
                <a:solidFill>
                  <a:srgbClr val="272525"/>
                </a:solidFill>
                <a:latin typeface="Source Sans Pro" pitchFamily="34" charset="0"/>
                <a:ea typeface="Source Sans Pro" pitchFamily="34" charset="-122"/>
                <a:cs typeface="Source Sans Pro" pitchFamily="34" charset="-120"/>
              </a:rPr>
              <a:t>Span of visual attention- </a:t>
            </a:r>
            <a:pPr indent="0" marL="0">
              <a:lnSpc>
                <a:spcPts val="3100"/>
              </a:lnSpc>
              <a:buNone/>
            </a:pPr>
            <a:r>
              <a:rPr lang="en-US" sz="1900" spc="-31" kern="0" dirty="0">
                <a:solidFill>
                  <a:srgbClr val="272525"/>
                </a:solidFill>
                <a:latin typeface="Source Sans Pro" pitchFamily="34" charset="0"/>
                <a:ea typeface="Source Sans Pro" pitchFamily="34" charset="-122"/>
                <a:cs typeface="Source Sans Pro" pitchFamily="34" charset="-120"/>
              </a:rPr>
              <a:t>experiments shows that the mind can attend to only four or five separate units if the items are not grouped into familiar units ,but if the items are combined into meaningful whole, many number of items can be perceived at once.</a:t>
            </a:r>
            <a:endParaRPr lang="en-US" sz="1900" dirty="0"/>
          </a:p>
        </p:txBody>
      </p:sp>
      <p:sp>
        <p:nvSpPr>
          <p:cNvPr id="6" name="Text 3"/>
          <p:cNvSpPr/>
          <p:nvPr/>
        </p:nvSpPr>
        <p:spPr>
          <a:xfrm>
            <a:off x="7563922" y="5828348"/>
            <a:ext cx="6382464" cy="1185863"/>
          </a:xfrm>
          <a:prstGeom prst="rect">
            <a:avLst/>
          </a:prstGeom>
          <a:noFill/>
          <a:ln/>
        </p:spPr>
        <p:txBody>
          <a:bodyPr wrap="square" lIns="0" tIns="0" rIns="0" bIns="0" rtlCol="0" anchor="t"/>
          <a:lstStyle/>
          <a:p>
            <a:pPr indent="0" marL="0">
              <a:lnSpc>
                <a:spcPts val="3100"/>
              </a:lnSpc>
              <a:buNone/>
            </a:pPr>
            <a:r>
              <a:rPr lang="en-US" sz="1900" b="1" spc="-31" kern="0" dirty="0">
                <a:solidFill>
                  <a:srgbClr val="272525"/>
                </a:solidFill>
                <a:latin typeface="Source Sans Pro" pitchFamily="34" charset="0"/>
                <a:ea typeface="Source Sans Pro" pitchFamily="34" charset="-122"/>
                <a:cs typeface="Source Sans Pro" pitchFamily="34" charset="-120"/>
              </a:rPr>
              <a:t>Span of auditory attention- </a:t>
            </a:r>
            <a:pPr indent="0" marL="0">
              <a:lnSpc>
                <a:spcPts val="3100"/>
              </a:lnSpc>
              <a:buNone/>
            </a:pPr>
            <a:r>
              <a:rPr lang="en-US" sz="1900" spc="-31" kern="0" dirty="0">
                <a:solidFill>
                  <a:srgbClr val="272525"/>
                </a:solidFill>
                <a:latin typeface="Source Sans Pro" pitchFamily="34" charset="0"/>
                <a:ea typeface="Source Sans Pro" pitchFamily="34" charset="-122"/>
                <a:cs typeface="Source Sans Pro" pitchFamily="34" charset="-120"/>
              </a:rPr>
              <a:t>the number of auditory impressions perceived at single instance is called span of auditory attention.</a:t>
            </a:r>
            <a:endParaRPr lang="en-US" sz="1900" dirty="0"/>
          </a:p>
        </p:txBody>
      </p:sp>
      <p:sp>
        <p:nvSpPr>
          <p:cNvPr id="7" name="Text 4"/>
          <p:cNvSpPr/>
          <p:nvPr/>
        </p:nvSpPr>
        <p:spPr>
          <a:xfrm>
            <a:off x="7563922" y="7191970"/>
            <a:ext cx="6382464" cy="316230"/>
          </a:xfrm>
          <a:prstGeom prst="rect">
            <a:avLst/>
          </a:prstGeom>
          <a:noFill/>
          <a:ln/>
        </p:spPr>
        <p:txBody>
          <a:bodyPr wrap="none" lIns="0" tIns="0" rIns="0" bIns="0" rtlCol="0" anchor="t"/>
          <a:lstStyle/>
          <a:p>
            <a:pPr indent="0" marL="0">
              <a:lnSpc>
                <a:spcPts val="2450"/>
              </a:lnSpc>
              <a:buNone/>
            </a:pP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37724" y="1605796"/>
            <a:ext cx="6185535" cy="5018008"/>
          </a:xfrm>
          <a:prstGeom prst="rect">
            <a:avLst/>
          </a:prstGeom>
        </p:spPr>
      </p:pic>
      <p:sp>
        <p:nvSpPr>
          <p:cNvPr id="3" name="Text 0"/>
          <p:cNvSpPr/>
          <p:nvPr/>
        </p:nvSpPr>
        <p:spPr>
          <a:xfrm>
            <a:off x="7614761" y="1596985"/>
            <a:ext cx="5632490" cy="70401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PERCEPTION</a:t>
            </a:r>
            <a:endParaRPr lang="en-US" sz="4400" dirty="0"/>
          </a:p>
        </p:txBody>
      </p:sp>
      <p:sp>
        <p:nvSpPr>
          <p:cNvPr id="4" name="Text 1"/>
          <p:cNvSpPr/>
          <p:nvPr/>
        </p:nvSpPr>
        <p:spPr>
          <a:xfrm>
            <a:off x="7614761" y="2540318"/>
            <a:ext cx="618553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Sensation is the initial response of an individual to a stimulus. </a:t>
            </a:r>
            <a:endParaRPr lang="en-US" sz="1850" dirty="0"/>
          </a:p>
        </p:txBody>
      </p:sp>
      <p:sp>
        <p:nvSpPr>
          <p:cNvPr id="5" name="Text 2"/>
          <p:cNvSpPr/>
          <p:nvPr/>
        </p:nvSpPr>
        <p:spPr>
          <a:xfrm>
            <a:off x="7614761" y="3581281"/>
            <a:ext cx="6185535" cy="1435894"/>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Perception is the interpretation of sensory stimuli which reaches the sense organs and the brain. </a:t>
            </a:r>
            <a:endParaRPr lang="en-US" sz="1850" dirty="0"/>
          </a:p>
        </p:txBody>
      </p:sp>
      <p:sp>
        <p:nvSpPr>
          <p:cNvPr id="6" name="Text 3"/>
          <p:cNvSpPr/>
          <p:nvPr/>
        </p:nvSpPr>
        <p:spPr>
          <a:xfrm>
            <a:off x="7614761" y="5100876"/>
            <a:ext cx="618553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Interpretation gives meaning to sensation and we become aware of objects.</a:t>
            </a:r>
            <a:endParaRPr lang="en-US" sz="1850" dirty="0"/>
          </a:p>
        </p:txBody>
      </p:sp>
      <p:sp>
        <p:nvSpPr>
          <p:cNvPr id="7" name="Text 4"/>
          <p:cNvSpPr/>
          <p:nvPr/>
        </p:nvSpPr>
        <p:spPr>
          <a:xfrm>
            <a:off x="7614761" y="6273522"/>
            <a:ext cx="6185535" cy="383024"/>
          </a:xfrm>
          <a:prstGeom prst="rect">
            <a:avLst/>
          </a:prstGeom>
          <a:noFill/>
          <a:ln/>
        </p:spPr>
        <p:txBody>
          <a:bodyPr wrap="none" lIns="0" tIns="0" rIns="0" bIns="0" rtlCol="0" anchor="t"/>
          <a:lstStyle/>
          <a:p>
            <a:pPr indent="0" marL="0">
              <a:lnSpc>
                <a:spcPts val="3000"/>
              </a:lnSpc>
              <a:buNone/>
            </a:pPr>
            <a:endParaRPr lang="en-US" sz="1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37724" y="1076563"/>
            <a:ext cx="7339727" cy="704017"/>
          </a:xfrm>
          <a:prstGeom prst="rect">
            <a:avLst/>
          </a:prstGeom>
          <a:noFill/>
          <a:ln/>
        </p:spPr>
        <p:txBody>
          <a:bodyPr wrap="none" lIns="0" tIns="0" rIns="0" bIns="0" rtlCol="0" anchor="t"/>
          <a:lstStyle/>
          <a:p>
            <a:pPr indent="0" marL="0">
              <a:lnSpc>
                <a:spcPts val="5500"/>
              </a:lnSpc>
              <a:buNone/>
            </a:pPr>
            <a:r>
              <a:rPr lang="en-US" sz="4400" b="1" spc="-89" kern="0" dirty="0">
                <a:solidFill>
                  <a:srgbClr val="D73AD7"/>
                </a:solidFill>
                <a:latin typeface="Source Serif Pro Semi Bold" pitchFamily="34" charset="0"/>
                <a:ea typeface="Source Serif Pro Semi Bold" pitchFamily="34" charset="-122"/>
                <a:cs typeface="Source Serif Pro Semi Bold" pitchFamily="34" charset="-120"/>
              </a:rPr>
              <a:t>PRINCIPLES OF PERCEPTION</a:t>
            </a:r>
            <a:endParaRPr lang="en-US" sz="4400" dirty="0"/>
          </a:p>
        </p:txBody>
      </p:sp>
      <p:sp>
        <p:nvSpPr>
          <p:cNvPr id="3" name="Text 1"/>
          <p:cNvSpPr/>
          <p:nvPr/>
        </p:nvSpPr>
        <p:spPr>
          <a:xfrm>
            <a:off x="837724" y="2259330"/>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The principles of perception also known as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perceptual organisations.</a:t>
            </a:r>
            <a:endParaRPr lang="en-US" sz="1850" dirty="0"/>
          </a:p>
        </p:txBody>
      </p:sp>
      <p:sp>
        <p:nvSpPr>
          <p:cNvPr id="4" name="Text 2"/>
          <p:cNvSpPr/>
          <p:nvPr/>
        </p:nvSpPr>
        <p:spPr>
          <a:xfrm>
            <a:off x="837724" y="2821662"/>
            <a:ext cx="12954952"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The phenomena of perceptual organisation were studied by a group of German psychologists known as the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Gestalts.</a:t>
            </a:r>
            <a:endParaRPr lang="en-US" sz="1850" dirty="0"/>
          </a:p>
        </p:txBody>
      </p:sp>
      <p:sp>
        <p:nvSpPr>
          <p:cNvPr id="5" name="Text 3"/>
          <p:cNvSpPr/>
          <p:nvPr/>
        </p:nvSpPr>
        <p:spPr>
          <a:xfrm>
            <a:off x="837724" y="3862626"/>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The major principles of perception are:</a:t>
            </a:r>
            <a:endParaRPr lang="en-US" sz="1850" dirty="0"/>
          </a:p>
        </p:txBody>
      </p:sp>
      <p:sp>
        <p:nvSpPr>
          <p:cNvPr id="6" name="Text 4"/>
          <p:cNvSpPr/>
          <p:nvPr/>
        </p:nvSpPr>
        <p:spPr>
          <a:xfrm>
            <a:off x="837724" y="4424958"/>
            <a:ext cx="12954952" cy="478631"/>
          </a:xfrm>
          <a:prstGeom prst="rect">
            <a:avLst/>
          </a:prstGeom>
          <a:noFill/>
          <a:ln/>
        </p:spPr>
        <p:txBody>
          <a:bodyPr wrap="none" lIns="0" tIns="0" rIns="0" bIns="0" rtlCol="0" anchor="t"/>
          <a:lstStyle/>
          <a:p>
            <a:pPr algn="l" marL="342900" indent="-342900">
              <a:lnSpc>
                <a:spcPts val="3000"/>
              </a:lnSpc>
              <a:buSzPct val="100000"/>
              <a:buFont typeface="+mj-lt"/>
              <a:buAutoNum type="arabicPeriod" startAt="1"/>
            </a:pPr>
            <a:r>
              <a:rPr lang="en-US" sz="1850" spc="-38" kern="0" dirty="0">
                <a:solidFill>
                  <a:srgbClr val="272525"/>
                </a:solidFill>
                <a:latin typeface="Source Sans Pro" pitchFamily="34" charset="0"/>
                <a:ea typeface="Source Sans Pro" pitchFamily="34" charset="-122"/>
                <a:cs typeface="Source Sans Pro" pitchFamily="34" charset="-120"/>
              </a:rPr>
              <a:t>Figure ground relationship</a:t>
            </a:r>
            <a:endParaRPr lang="en-US" sz="1850" dirty="0"/>
          </a:p>
        </p:txBody>
      </p:sp>
      <p:sp>
        <p:nvSpPr>
          <p:cNvPr id="7" name="Text 5"/>
          <p:cNvSpPr/>
          <p:nvPr/>
        </p:nvSpPr>
        <p:spPr>
          <a:xfrm>
            <a:off x="837724" y="4987290"/>
            <a:ext cx="12954952" cy="478631"/>
          </a:xfrm>
          <a:prstGeom prst="rect">
            <a:avLst/>
          </a:prstGeom>
          <a:noFill/>
          <a:ln/>
        </p:spPr>
        <p:txBody>
          <a:bodyPr wrap="none" lIns="0" tIns="0" rIns="0" bIns="0" rtlCol="0" anchor="t"/>
          <a:lstStyle/>
          <a:p>
            <a:pPr algn="l" marL="342900" indent="-342900">
              <a:lnSpc>
                <a:spcPts val="3000"/>
              </a:lnSpc>
              <a:buSzPct val="100000"/>
              <a:buFont typeface="+mj-lt"/>
              <a:buAutoNum type="arabicPeriod" startAt="2"/>
            </a:pPr>
            <a:r>
              <a:rPr lang="en-US" sz="1850" spc="-38" kern="0" dirty="0">
                <a:solidFill>
                  <a:srgbClr val="272525"/>
                </a:solidFill>
                <a:latin typeface="Source Sans Pro" pitchFamily="34" charset="0"/>
                <a:ea typeface="Source Sans Pro" pitchFamily="34" charset="-122"/>
                <a:cs typeface="Source Sans Pro" pitchFamily="34" charset="-120"/>
              </a:rPr>
              <a:t>Principles of grouping</a:t>
            </a:r>
            <a:endParaRPr lang="en-US" sz="1850" dirty="0"/>
          </a:p>
        </p:txBody>
      </p:sp>
      <p:sp>
        <p:nvSpPr>
          <p:cNvPr id="8" name="Text 6"/>
          <p:cNvSpPr/>
          <p:nvPr/>
        </p:nvSpPr>
        <p:spPr>
          <a:xfrm>
            <a:off x="837724" y="5549622"/>
            <a:ext cx="12954952" cy="478631"/>
          </a:xfrm>
          <a:prstGeom prst="rect">
            <a:avLst/>
          </a:prstGeom>
          <a:noFill/>
          <a:ln/>
        </p:spPr>
        <p:txBody>
          <a:bodyPr wrap="none" lIns="0" tIns="0" rIns="0" bIns="0" rtlCol="0" anchor="t"/>
          <a:lstStyle/>
          <a:p>
            <a:pPr algn="l" marL="342900" indent="-342900">
              <a:lnSpc>
                <a:spcPts val="3000"/>
              </a:lnSpc>
              <a:buSzPct val="100000"/>
              <a:buFont typeface="+mj-lt"/>
              <a:buAutoNum type="arabicPeriod" startAt="3"/>
            </a:pPr>
            <a:r>
              <a:rPr lang="en-US" sz="1850" spc="-38" kern="0" dirty="0">
                <a:solidFill>
                  <a:srgbClr val="272525"/>
                </a:solidFill>
                <a:latin typeface="Source Sans Pro" pitchFamily="34" charset="0"/>
                <a:ea typeface="Source Sans Pro" pitchFamily="34" charset="-122"/>
                <a:cs typeface="Source Sans Pro" pitchFamily="34" charset="-120"/>
              </a:rPr>
              <a:t>Principles of context</a:t>
            </a:r>
            <a:endParaRPr lang="en-US" sz="1850" dirty="0"/>
          </a:p>
        </p:txBody>
      </p:sp>
      <p:sp>
        <p:nvSpPr>
          <p:cNvPr id="9" name="Text 7"/>
          <p:cNvSpPr/>
          <p:nvPr/>
        </p:nvSpPr>
        <p:spPr>
          <a:xfrm>
            <a:off x="837724" y="6111954"/>
            <a:ext cx="12954952" cy="478631"/>
          </a:xfrm>
          <a:prstGeom prst="rect">
            <a:avLst/>
          </a:prstGeom>
          <a:noFill/>
          <a:ln/>
        </p:spPr>
        <p:txBody>
          <a:bodyPr wrap="none" lIns="0" tIns="0" rIns="0" bIns="0" rtlCol="0" anchor="t"/>
          <a:lstStyle/>
          <a:p>
            <a:pPr algn="l" marL="342900" indent="-342900">
              <a:lnSpc>
                <a:spcPts val="3000"/>
              </a:lnSpc>
              <a:buSzPct val="100000"/>
              <a:buFont typeface="+mj-lt"/>
              <a:buAutoNum type="arabicPeriod" startAt="4"/>
            </a:pPr>
            <a:r>
              <a:rPr lang="en-US" sz="1850" spc="-38" kern="0" dirty="0">
                <a:solidFill>
                  <a:srgbClr val="272525"/>
                </a:solidFill>
                <a:latin typeface="Source Sans Pro" pitchFamily="34" charset="0"/>
                <a:ea typeface="Source Sans Pro" pitchFamily="34" charset="-122"/>
                <a:cs typeface="Source Sans Pro" pitchFamily="34" charset="-120"/>
              </a:rPr>
              <a:t>Principles of contrast</a:t>
            </a:r>
            <a:endParaRPr lang="en-US" sz="1850" dirty="0"/>
          </a:p>
        </p:txBody>
      </p:sp>
      <p:sp>
        <p:nvSpPr>
          <p:cNvPr id="10" name="Text 8"/>
          <p:cNvSpPr/>
          <p:nvPr/>
        </p:nvSpPr>
        <p:spPr>
          <a:xfrm>
            <a:off x="837724" y="6674287"/>
            <a:ext cx="12954952" cy="478631"/>
          </a:xfrm>
          <a:prstGeom prst="rect">
            <a:avLst/>
          </a:prstGeom>
          <a:noFill/>
          <a:ln/>
        </p:spPr>
        <p:txBody>
          <a:bodyPr wrap="none" lIns="0" tIns="0" rIns="0" bIns="0" rtlCol="0" anchor="t"/>
          <a:lstStyle/>
          <a:p>
            <a:pPr algn="l" marL="342900" indent="-342900">
              <a:lnSpc>
                <a:spcPts val="3000"/>
              </a:lnSpc>
              <a:buSzPct val="100000"/>
              <a:buFont typeface="+mj-lt"/>
              <a:buAutoNum type="arabicPeriod" startAt="5"/>
            </a:pPr>
            <a:r>
              <a:rPr lang="en-US" sz="1850" spc="-38" kern="0" dirty="0">
                <a:solidFill>
                  <a:srgbClr val="272525"/>
                </a:solidFill>
                <a:latin typeface="Source Sans Pro" pitchFamily="34" charset="0"/>
                <a:ea typeface="Source Sans Pro" pitchFamily="34" charset="-122"/>
                <a:cs typeface="Source Sans Pro" pitchFamily="34" charset="-120"/>
              </a:rPr>
              <a:t>Principles of adaptability</a:t>
            </a:r>
            <a:endParaRPr lang="en-US" sz="1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37724" y="1932265"/>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The pioneers among them were Max Wertheimer, Kurt Koffka and Wolf Gang Kohler.</a:t>
            </a:r>
            <a:endParaRPr lang="en-US" sz="1850" dirty="0"/>
          </a:p>
        </p:txBody>
      </p:sp>
      <p:sp>
        <p:nvSpPr>
          <p:cNvPr id="3" name="Text 1"/>
          <p:cNvSpPr/>
          <p:nvPr/>
        </p:nvSpPr>
        <p:spPr>
          <a:xfrm>
            <a:off x="837724" y="2494598"/>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The word Gestalt means configuration, totality or whole.</a:t>
            </a:r>
            <a:endParaRPr lang="en-US" sz="1850" dirty="0"/>
          </a:p>
        </p:txBody>
      </p:sp>
      <p:sp>
        <p:nvSpPr>
          <p:cNvPr id="4" name="Text 2"/>
          <p:cNvSpPr/>
          <p:nvPr/>
        </p:nvSpPr>
        <p:spPr>
          <a:xfrm>
            <a:off x="837724" y="3056930"/>
            <a:ext cx="12954952"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According to Gestalt psychologists, </a:t>
            </a:r>
            <a:pPr algn="l" indent="0" marL="0">
              <a:lnSpc>
                <a:spcPts val="3000"/>
              </a:lnSpc>
              <a:buNone/>
            </a:pPr>
            <a:r>
              <a:rPr lang="en-US" sz="1850" b="1" spc="-38" kern="0" dirty="0">
                <a:solidFill>
                  <a:srgbClr val="272525"/>
                </a:solidFill>
                <a:latin typeface="Source Sans Pro" pitchFamily="34" charset="0"/>
                <a:ea typeface="Source Sans Pro" pitchFamily="34" charset="-122"/>
                <a:cs typeface="Source Sans Pro" pitchFamily="34" charset="-120"/>
              </a:rPr>
              <a:t>human beings have an inborn tendency to perceive anything as an organised whole that carries a definite form and not as unconnected parts.</a:t>
            </a:r>
            <a:endParaRPr lang="en-US" sz="1850" dirty="0"/>
          </a:p>
        </p:txBody>
      </p:sp>
      <p:sp>
        <p:nvSpPr>
          <p:cNvPr id="5" name="Text 3"/>
          <p:cNvSpPr/>
          <p:nvPr/>
        </p:nvSpPr>
        <p:spPr>
          <a:xfrm>
            <a:off x="837724" y="4373166"/>
            <a:ext cx="4220408" cy="422315"/>
          </a:xfrm>
          <a:prstGeom prst="rect">
            <a:avLst/>
          </a:prstGeom>
          <a:noFill/>
          <a:ln/>
        </p:spPr>
        <p:txBody>
          <a:bodyPr wrap="none" lIns="0" tIns="0" rIns="0" bIns="0" rtlCol="0" anchor="t"/>
          <a:lstStyle/>
          <a:p>
            <a:pPr indent="0" marL="0">
              <a:lnSpc>
                <a:spcPts val="3300"/>
              </a:lnSpc>
              <a:buNone/>
            </a:pPr>
            <a:r>
              <a:rPr lang="en-US" sz="2650" b="1" spc="-53" kern="0" dirty="0">
                <a:solidFill>
                  <a:srgbClr val="D73AD7"/>
                </a:solidFill>
                <a:latin typeface="Source Serif Pro Semi Bold" pitchFamily="34" charset="0"/>
                <a:ea typeface="Source Serif Pro Semi Bold" pitchFamily="34" charset="-122"/>
                <a:cs typeface="Source Serif Pro Semi Bold" pitchFamily="34" charset="-120"/>
              </a:rPr>
              <a:t>Figure and ground principle</a:t>
            </a:r>
            <a:endParaRPr lang="en-US" sz="2650" dirty="0"/>
          </a:p>
        </p:txBody>
      </p:sp>
      <p:sp>
        <p:nvSpPr>
          <p:cNvPr id="6" name="Text 4"/>
          <p:cNvSpPr/>
          <p:nvPr/>
        </p:nvSpPr>
        <p:spPr>
          <a:xfrm>
            <a:off x="837724" y="5154454"/>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According to this principle, a figure is always perceived  in relation to its background.</a:t>
            </a:r>
            <a:endParaRPr lang="en-US" sz="1850" dirty="0"/>
          </a:p>
        </p:txBody>
      </p:sp>
      <p:sp>
        <p:nvSpPr>
          <p:cNvPr id="7" name="Text 5"/>
          <p:cNvSpPr/>
          <p:nvPr/>
        </p:nvSpPr>
        <p:spPr>
          <a:xfrm>
            <a:off x="837724" y="5902285"/>
            <a:ext cx="12954952" cy="478631"/>
          </a:xfrm>
          <a:prstGeom prst="rect">
            <a:avLst/>
          </a:prstGeom>
          <a:noFill/>
          <a:ln/>
        </p:spPr>
        <p:txBody>
          <a:bodyPr wrap="none" lIns="0" tIns="0" rIns="0" bIns="0" rtlCol="0" anchor="t"/>
          <a:lstStyle/>
          <a:p>
            <a:pPr indent="0" marL="0">
              <a:lnSpc>
                <a:spcPts val="3750"/>
              </a:lnSpc>
              <a:buNone/>
            </a:pPr>
            <a:endParaRPr lang="en-US" sz="2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37724" y="752356"/>
            <a:ext cx="6185535" cy="1914525"/>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You can see two faces, facing each other. We could perceive the faces due to relative strength of figures when compared to the white background with lesser strength.</a:t>
            </a:r>
            <a:endParaRPr lang="en-US" sz="1850" dirty="0"/>
          </a:p>
        </p:txBody>
      </p:sp>
      <p:sp>
        <p:nvSpPr>
          <p:cNvPr id="3" name="Text 1"/>
          <p:cNvSpPr/>
          <p:nvPr/>
        </p:nvSpPr>
        <p:spPr>
          <a:xfrm>
            <a:off x="837724" y="2750582"/>
            <a:ext cx="6185535" cy="1435894"/>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 If the prominence of the characteristics of the background is higher we tend to see the background. </a:t>
            </a:r>
            <a:endParaRPr lang="en-US" sz="1850" dirty="0"/>
          </a:p>
        </p:txBody>
      </p:sp>
      <p:sp>
        <p:nvSpPr>
          <p:cNvPr id="4" name="Text 2"/>
          <p:cNvSpPr/>
          <p:nvPr/>
        </p:nvSpPr>
        <p:spPr>
          <a:xfrm>
            <a:off x="837724" y="4270177"/>
            <a:ext cx="618553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Figure ground relationship is also dependent on the characteristics of the perceiver.</a:t>
            </a:r>
            <a:endParaRPr lang="en-US" sz="1850" dirty="0"/>
          </a:p>
        </p:txBody>
      </p:sp>
      <p:sp>
        <p:nvSpPr>
          <p:cNvPr id="5" name="Text 3"/>
          <p:cNvSpPr/>
          <p:nvPr/>
        </p:nvSpPr>
        <p:spPr>
          <a:xfrm>
            <a:off x="837724" y="5311140"/>
            <a:ext cx="6185535" cy="1435894"/>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When the characteristics of both the figure and the ground are equally prominent, we may find two figures with alternating background.</a:t>
            </a:r>
            <a:endParaRPr lang="en-US" sz="1850" dirty="0"/>
          </a:p>
        </p:txBody>
      </p:sp>
      <p:sp>
        <p:nvSpPr>
          <p:cNvPr id="6" name="Text 4"/>
          <p:cNvSpPr/>
          <p:nvPr/>
        </p:nvSpPr>
        <p:spPr>
          <a:xfrm>
            <a:off x="837724" y="6962418"/>
            <a:ext cx="6185535" cy="383024"/>
          </a:xfrm>
          <a:prstGeom prst="rect">
            <a:avLst/>
          </a:prstGeom>
          <a:noFill/>
          <a:ln/>
        </p:spPr>
        <p:txBody>
          <a:bodyPr wrap="none" lIns="0" tIns="0" rIns="0" bIns="0" rtlCol="0" anchor="t"/>
          <a:lstStyle/>
          <a:p>
            <a:pPr indent="0" marL="0">
              <a:lnSpc>
                <a:spcPts val="3000"/>
              </a:lnSpc>
              <a:buNone/>
            </a:pPr>
            <a:endParaRPr lang="en-US" sz="1850" dirty="0"/>
          </a:p>
        </p:txBody>
      </p:sp>
      <p:pic>
        <p:nvPicPr>
          <p:cNvPr id="7" name="Image 0" descr="preencoded.png">    </p:cNvPr>
          <p:cNvPicPr>
            <a:picLocks noChangeAspect="1"/>
          </p:cNvPicPr>
          <p:nvPr/>
        </p:nvPicPr>
        <p:blipFill>
          <a:blip r:embed="rId1"/>
          <a:stretch>
            <a:fillRect/>
          </a:stretch>
        </p:blipFill>
        <p:spPr>
          <a:xfrm>
            <a:off x="7614761" y="2686169"/>
            <a:ext cx="6185535" cy="285702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37724" y="1427678"/>
            <a:ext cx="3379470" cy="422315"/>
          </a:xfrm>
          <a:prstGeom prst="rect">
            <a:avLst/>
          </a:prstGeom>
          <a:noFill/>
          <a:ln/>
        </p:spPr>
        <p:txBody>
          <a:bodyPr wrap="none" lIns="0" tIns="0" rIns="0" bIns="0" rtlCol="0" anchor="t"/>
          <a:lstStyle/>
          <a:p>
            <a:pPr indent="0" marL="0">
              <a:lnSpc>
                <a:spcPts val="3300"/>
              </a:lnSpc>
              <a:buNone/>
            </a:pPr>
            <a:r>
              <a:rPr lang="en-US" sz="2650" b="1" spc="-53" kern="0" dirty="0">
                <a:solidFill>
                  <a:srgbClr val="D73AD7"/>
                </a:solidFill>
                <a:latin typeface="Source Serif Pro Semi Bold" pitchFamily="34" charset="0"/>
                <a:ea typeface="Source Serif Pro Semi Bold" pitchFamily="34" charset="-122"/>
                <a:cs typeface="Source Serif Pro Semi Bold" pitchFamily="34" charset="-120"/>
              </a:rPr>
              <a:t>Principle of grouping</a:t>
            </a:r>
            <a:endParaRPr lang="en-US" sz="2650" dirty="0"/>
          </a:p>
        </p:txBody>
      </p:sp>
      <p:sp>
        <p:nvSpPr>
          <p:cNvPr id="3" name="Text 1"/>
          <p:cNvSpPr/>
          <p:nvPr/>
        </p:nvSpPr>
        <p:spPr>
          <a:xfrm>
            <a:off x="837724" y="2089309"/>
            <a:ext cx="6185535" cy="1435894"/>
          </a:xfrm>
          <a:prstGeom prst="rect">
            <a:avLst/>
          </a:prstGeom>
          <a:noFill/>
          <a:ln/>
        </p:spPr>
        <p:txBody>
          <a:bodyPr wrap="squar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According to Gestalt principle ,objects can be perceived meaningfully when they are grouped together.</a:t>
            </a:r>
            <a:endParaRPr lang="en-US" sz="2350" dirty="0"/>
          </a:p>
        </p:txBody>
      </p:sp>
      <p:sp>
        <p:nvSpPr>
          <p:cNvPr id="4" name="Text 2"/>
          <p:cNvSpPr/>
          <p:nvPr/>
        </p:nvSpPr>
        <p:spPr>
          <a:xfrm>
            <a:off x="837724" y="3764518"/>
            <a:ext cx="3002875" cy="703898"/>
          </a:xfrm>
          <a:prstGeom prst="rect">
            <a:avLst/>
          </a:prstGeom>
          <a:noFill/>
          <a:ln/>
        </p:spPr>
        <p:txBody>
          <a:bodyPr wrap="square" lIns="0" tIns="0" rIns="0" bIns="0" rtlCol="0" anchor="t"/>
          <a:lstStyle/>
          <a:p>
            <a:pPr indent="0" marL="0">
              <a:lnSpc>
                <a:spcPts val="2750"/>
              </a:lnSpc>
              <a:buNone/>
            </a:pPr>
            <a:r>
              <a:rPr lang="en-US" sz="2200" spc="-44" kern="0" dirty="0">
                <a:solidFill>
                  <a:srgbClr val="D73AD7"/>
                </a:solidFill>
                <a:latin typeface="Source Serif Pro Semi Bold" pitchFamily="34" charset="0"/>
                <a:ea typeface="Source Serif Pro Semi Bold" pitchFamily="34" charset="-122"/>
                <a:cs typeface="Source Serif Pro Semi Bold" pitchFamily="34" charset="-120"/>
              </a:rPr>
              <a:t>
</a:t>
            </a:r>
            <a:pPr indent="0" marL="0">
              <a:lnSpc>
                <a:spcPts val="2750"/>
              </a:lnSpc>
              <a:buNone/>
            </a:pPr>
            <a:r>
              <a:rPr lang="en-US" sz="2200" b="1" spc="-44" kern="0" dirty="0">
                <a:solidFill>
                  <a:srgbClr val="D73AD7"/>
                </a:solidFill>
                <a:latin typeface="Source Serif Pro Semi Bold" pitchFamily="34" charset="0"/>
                <a:ea typeface="Source Serif Pro Semi Bold" pitchFamily="34" charset="-122"/>
                <a:cs typeface="Source Serif Pro Semi Bold" pitchFamily="34" charset="-120"/>
              </a:rPr>
              <a:t>1)Principle of Proximity</a:t>
            </a:r>
            <a:endParaRPr lang="en-US" sz="2200" dirty="0"/>
          </a:p>
        </p:txBody>
      </p:sp>
      <p:sp>
        <p:nvSpPr>
          <p:cNvPr id="5" name="Text 3"/>
          <p:cNvSpPr/>
          <p:nvPr/>
        </p:nvSpPr>
        <p:spPr>
          <a:xfrm>
            <a:off x="837724" y="4707731"/>
            <a:ext cx="6185535" cy="478631"/>
          </a:xfrm>
          <a:prstGeom prst="rect">
            <a:avLst/>
          </a:prstGeom>
          <a:noFill/>
          <a:ln/>
        </p:spPr>
        <p:txBody>
          <a:bodyPr wrap="none" lIns="0" tIns="0" rIns="0" bIns="0" rtlCol="0" anchor="t"/>
          <a:lstStyle/>
          <a:p>
            <a:pPr algn="l" marL="342900" indent="-342900">
              <a:lnSpc>
                <a:spcPts val="3000"/>
              </a:lnSpc>
              <a:buSzPct val="100000"/>
              <a:buChar char="•"/>
            </a:pPr>
            <a:r>
              <a:rPr lang="en-US" sz="1850" b="1" spc="-38" kern="0" dirty="0">
                <a:solidFill>
                  <a:srgbClr val="272525"/>
                </a:solidFill>
                <a:latin typeface="Source Sans Pro" pitchFamily="34" charset="0"/>
                <a:ea typeface="Source Sans Pro" pitchFamily="34" charset="-122"/>
                <a:cs typeface="Source Sans Pro" pitchFamily="34" charset="-120"/>
              </a:rPr>
              <a:t> </a:t>
            </a:r>
            <a:pPr algn="l" indent="0" marL="0">
              <a:lnSpc>
                <a:spcPts val="3000"/>
              </a:lnSpc>
              <a:buNone/>
            </a:pPr>
            <a:r>
              <a:rPr lang="en-US" sz="1850" spc="-38" kern="0" dirty="0">
                <a:solidFill>
                  <a:srgbClr val="272525"/>
                </a:solidFill>
                <a:latin typeface="Source Sans Pro" pitchFamily="34" charset="0"/>
                <a:ea typeface="Source Sans Pro" pitchFamily="34" charset="-122"/>
                <a:cs typeface="Source Sans Pro" pitchFamily="34" charset="-120"/>
              </a:rPr>
              <a:t>Proximity means nearness. </a:t>
            </a:r>
            <a:endParaRPr lang="en-US" sz="1850" dirty="0"/>
          </a:p>
        </p:txBody>
      </p:sp>
      <p:sp>
        <p:nvSpPr>
          <p:cNvPr id="6" name="Text 4"/>
          <p:cNvSpPr/>
          <p:nvPr/>
        </p:nvSpPr>
        <p:spPr>
          <a:xfrm>
            <a:off x="837724" y="5270063"/>
            <a:ext cx="618553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The object which are nearer to each other can be perceived as a whole.</a:t>
            </a:r>
            <a:endParaRPr lang="en-US" sz="1850" dirty="0"/>
          </a:p>
        </p:txBody>
      </p:sp>
      <p:sp>
        <p:nvSpPr>
          <p:cNvPr id="7" name="Text 5"/>
          <p:cNvSpPr/>
          <p:nvPr/>
        </p:nvSpPr>
        <p:spPr>
          <a:xfrm>
            <a:off x="837724" y="6442710"/>
            <a:ext cx="6185535" cy="383024"/>
          </a:xfrm>
          <a:prstGeom prst="rect">
            <a:avLst/>
          </a:prstGeom>
          <a:noFill/>
          <a:ln/>
        </p:spPr>
        <p:txBody>
          <a:bodyPr wrap="none" lIns="0" tIns="0" rIns="0" bIns="0" rtlCol="0" anchor="t"/>
          <a:lstStyle/>
          <a:p>
            <a:pPr indent="0" marL="0">
              <a:lnSpc>
                <a:spcPts val="3000"/>
              </a:lnSpc>
              <a:buNone/>
            </a:pPr>
            <a:endParaRPr lang="en-US" sz="1850" dirty="0"/>
          </a:p>
        </p:txBody>
      </p:sp>
      <p:pic>
        <p:nvPicPr>
          <p:cNvPr id="8" name="Image 0" descr="preencoded.png">    </p:cNvPr>
          <p:cNvPicPr>
            <a:picLocks noChangeAspect="1"/>
          </p:cNvPicPr>
          <p:nvPr/>
        </p:nvPicPr>
        <p:blipFill>
          <a:blip r:embed="rId1"/>
          <a:stretch>
            <a:fillRect/>
          </a:stretch>
        </p:blipFill>
        <p:spPr>
          <a:xfrm>
            <a:off x="7614761" y="2052876"/>
            <a:ext cx="6185535" cy="412361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56523" y="594360"/>
            <a:ext cx="5086112" cy="635794"/>
          </a:xfrm>
          <a:prstGeom prst="rect">
            <a:avLst/>
          </a:prstGeom>
          <a:noFill/>
          <a:ln/>
        </p:spPr>
        <p:txBody>
          <a:bodyPr wrap="none" lIns="0" tIns="0" rIns="0" bIns="0" rtlCol="0" anchor="t"/>
          <a:lstStyle/>
          <a:p>
            <a:pPr indent="0" marL="0">
              <a:lnSpc>
                <a:spcPts val="5000"/>
              </a:lnSpc>
              <a:buNone/>
            </a:pPr>
            <a:endParaRPr lang="en-US" sz="4000" dirty="0"/>
          </a:p>
        </p:txBody>
      </p:sp>
      <p:pic>
        <p:nvPicPr>
          <p:cNvPr id="3" name="Image 0" descr="preencoded.png">    </p:cNvPr>
          <p:cNvPicPr>
            <a:picLocks noChangeAspect="1"/>
          </p:cNvPicPr>
          <p:nvPr/>
        </p:nvPicPr>
        <p:blipFill>
          <a:blip r:embed="rId1"/>
          <a:stretch>
            <a:fillRect/>
          </a:stretch>
        </p:blipFill>
        <p:spPr>
          <a:xfrm>
            <a:off x="756523" y="1797487"/>
            <a:ext cx="4622721" cy="3462099"/>
          </a:xfrm>
          <a:prstGeom prst="rect">
            <a:avLst/>
          </a:prstGeom>
        </p:spPr>
      </p:pic>
      <p:sp>
        <p:nvSpPr>
          <p:cNvPr id="4" name="Text 1"/>
          <p:cNvSpPr/>
          <p:nvPr/>
        </p:nvSpPr>
        <p:spPr>
          <a:xfrm>
            <a:off x="756523" y="5502712"/>
            <a:ext cx="2709743" cy="317897"/>
          </a:xfrm>
          <a:prstGeom prst="rect">
            <a:avLst/>
          </a:prstGeom>
          <a:noFill/>
          <a:ln/>
        </p:spPr>
        <p:txBody>
          <a:bodyPr wrap="none" lIns="0" tIns="0" rIns="0" bIns="0" rtlCol="0" anchor="t"/>
          <a:lstStyle/>
          <a:p>
            <a:pPr indent="0" marL="0">
              <a:lnSpc>
                <a:spcPts val="2500"/>
              </a:lnSpc>
              <a:buNone/>
            </a:pPr>
            <a:r>
              <a:rPr lang="en-US" sz="2000" b="1" spc="-40" kern="0" dirty="0">
                <a:solidFill>
                  <a:srgbClr val="D73AD7"/>
                </a:solidFill>
                <a:latin typeface="Source Serif Pro Semi Bold" pitchFamily="34" charset="0"/>
                <a:ea typeface="Source Serif Pro Semi Bold" pitchFamily="34" charset="-122"/>
                <a:cs typeface="Source Serif Pro Semi Bold" pitchFamily="34" charset="-120"/>
              </a:rPr>
              <a:t>2)Principle of Similarity</a:t>
            </a:r>
            <a:endParaRPr lang="en-US" sz="2000" dirty="0"/>
          </a:p>
        </p:txBody>
      </p:sp>
      <p:sp>
        <p:nvSpPr>
          <p:cNvPr id="5" name="Text 2"/>
          <p:cNvSpPr/>
          <p:nvPr/>
        </p:nvSpPr>
        <p:spPr>
          <a:xfrm>
            <a:off x="756523" y="6036707"/>
            <a:ext cx="6295073" cy="864394"/>
          </a:xfrm>
          <a:prstGeom prst="rect">
            <a:avLst/>
          </a:prstGeom>
          <a:noFill/>
          <a:ln/>
        </p:spPr>
        <p:txBody>
          <a:bodyPr wrap="square" lIns="0" tIns="0" rIns="0" bIns="0" rtlCol="0" anchor="t"/>
          <a:lstStyle/>
          <a:p>
            <a:pPr indent="0" marL="0">
              <a:lnSpc>
                <a:spcPts val="3400"/>
              </a:lnSpc>
              <a:buNone/>
            </a:pPr>
            <a:r>
              <a:rPr lang="en-US" sz="2100" spc="-34" kern="0" dirty="0">
                <a:solidFill>
                  <a:srgbClr val="272525"/>
                </a:solidFill>
                <a:latin typeface="Source Sans Pro" pitchFamily="34" charset="0"/>
                <a:ea typeface="Source Sans Pro" pitchFamily="34" charset="-122"/>
                <a:cs typeface="Source Sans Pro" pitchFamily="34" charset="-120"/>
              </a:rPr>
              <a:t>there is a tendency to perceive objects of a similar size , shape or colour as a unit or figure.</a:t>
            </a:r>
            <a:endParaRPr lang="en-US" sz="2100" dirty="0"/>
          </a:p>
        </p:txBody>
      </p:sp>
      <p:sp>
        <p:nvSpPr>
          <p:cNvPr id="6" name="Text 3"/>
          <p:cNvSpPr/>
          <p:nvPr/>
        </p:nvSpPr>
        <p:spPr>
          <a:xfrm>
            <a:off x="756523" y="7095530"/>
            <a:ext cx="6295073" cy="345877"/>
          </a:xfrm>
          <a:prstGeom prst="rect">
            <a:avLst/>
          </a:prstGeom>
          <a:noFill/>
          <a:ln/>
        </p:spPr>
        <p:txBody>
          <a:bodyPr wrap="none" lIns="0" tIns="0" rIns="0" bIns="0" rtlCol="0" anchor="t"/>
          <a:lstStyle/>
          <a:p>
            <a:pPr indent="0" marL="0">
              <a:lnSpc>
                <a:spcPts val="2700"/>
              </a:lnSpc>
              <a:buNone/>
            </a:pPr>
            <a:endParaRPr lang="en-US" sz="1700" dirty="0"/>
          </a:p>
        </p:txBody>
      </p:sp>
      <p:pic>
        <p:nvPicPr>
          <p:cNvPr id="7" name="Image 1" descr="preencoded.png">    </p:cNvPr>
          <p:cNvPicPr>
            <a:picLocks noChangeAspect="1"/>
          </p:cNvPicPr>
          <p:nvPr/>
        </p:nvPicPr>
        <p:blipFill>
          <a:blip r:embed="rId2"/>
          <a:stretch>
            <a:fillRect/>
          </a:stretch>
        </p:blipFill>
        <p:spPr>
          <a:xfrm>
            <a:off x="7586424" y="1797487"/>
            <a:ext cx="5684401" cy="3199448"/>
          </a:xfrm>
          <a:prstGeom prst="rect">
            <a:avLst/>
          </a:prstGeom>
        </p:spPr>
      </p:pic>
      <p:sp>
        <p:nvSpPr>
          <p:cNvPr id="8" name="Text 4"/>
          <p:cNvSpPr/>
          <p:nvPr/>
        </p:nvSpPr>
        <p:spPr>
          <a:xfrm>
            <a:off x="7586424" y="5240060"/>
            <a:ext cx="2744272" cy="317897"/>
          </a:xfrm>
          <a:prstGeom prst="rect">
            <a:avLst/>
          </a:prstGeom>
          <a:noFill/>
          <a:ln/>
        </p:spPr>
        <p:txBody>
          <a:bodyPr wrap="none" lIns="0" tIns="0" rIns="0" bIns="0" rtlCol="0" anchor="t"/>
          <a:lstStyle/>
          <a:p>
            <a:pPr indent="0" marL="0">
              <a:lnSpc>
                <a:spcPts val="2500"/>
              </a:lnSpc>
              <a:buNone/>
            </a:pPr>
            <a:r>
              <a:rPr lang="en-US" sz="2000" b="1" spc="-40" kern="0" dirty="0">
                <a:solidFill>
                  <a:srgbClr val="D73AD7"/>
                </a:solidFill>
                <a:latin typeface="Source Serif Pro Semi Bold" pitchFamily="34" charset="0"/>
                <a:ea typeface="Source Serif Pro Semi Bold" pitchFamily="34" charset="-122"/>
                <a:cs typeface="Source Serif Pro Semi Bold" pitchFamily="34" charset="-120"/>
              </a:rPr>
              <a:t>3)Principal of symmetry</a:t>
            </a:r>
            <a:endParaRPr lang="en-US" sz="2000" dirty="0"/>
          </a:p>
        </p:txBody>
      </p:sp>
      <p:sp>
        <p:nvSpPr>
          <p:cNvPr id="9" name="Text 5"/>
          <p:cNvSpPr/>
          <p:nvPr/>
        </p:nvSpPr>
        <p:spPr>
          <a:xfrm>
            <a:off x="7586424" y="5774055"/>
            <a:ext cx="6295073" cy="864394"/>
          </a:xfrm>
          <a:prstGeom prst="rect">
            <a:avLst/>
          </a:prstGeom>
          <a:noFill/>
          <a:ln/>
        </p:spPr>
        <p:txBody>
          <a:bodyPr wrap="square" lIns="0" tIns="0" rIns="0" bIns="0" rtlCol="0" anchor="t"/>
          <a:lstStyle/>
          <a:p>
            <a:pPr indent="0" marL="0">
              <a:lnSpc>
                <a:spcPts val="3400"/>
              </a:lnSpc>
              <a:buNone/>
            </a:pPr>
            <a:r>
              <a:rPr lang="en-US" sz="2100" b="1" spc="-34" kern="0" dirty="0">
                <a:solidFill>
                  <a:srgbClr val="272525"/>
                </a:solidFill>
                <a:latin typeface="Source Sans Pro" pitchFamily="34" charset="0"/>
                <a:ea typeface="Source Sans Pro" pitchFamily="34" charset="-122"/>
                <a:cs typeface="Source Sans Pro" pitchFamily="34" charset="-120"/>
              </a:rPr>
              <a:t> </a:t>
            </a:r>
            <a:pPr indent="0" marL="0">
              <a:lnSpc>
                <a:spcPts val="3400"/>
              </a:lnSpc>
              <a:buNone/>
            </a:pPr>
            <a:r>
              <a:rPr lang="en-US" sz="2100" spc="-34" kern="0" dirty="0">
                <a:solidFill>
                  <a:srgbClr val="272525"/>
                </a:solidFill>
                <a:latin typeface="Source Sans Pro" pitchFamily="34" charset="0"/>
                <a:ea typeface="Source Sans Pro" pitchFamily="34" charset="-122"/>
                <a:cs typeface="Source Sans Pro" pitchFamily="34" charset="-120"/>
              </a:rPr>
              <a:t>Objects having symmetrical shape are perceived as groups.</a:t>
            </a:r>
            <a:endParaRPr lang="en-US" sz="2100" dirty="0"/>
          </a:p>
        </p:txBody>
      </p:sp>
      <p:sp>
        <p:nvSpPr>
          <p:cNvPr id="10" name="Text 6"/>
          <p:cNvSpPr/>
          <p:nvPr/>
        </p:nvSpPr>
        <p:spPr>
          <a:xfrm>
            <a:off x="7586424" y="6832878"/>
            <a:ext cx="6295073" cy="345877"/>
          </a:xfrm>
          <a:prstGeom prst="rect">
            <a:avLst/>
          </a:prstGeom>
          <a:noFill/>
          <a:ln/>
        </p:spPr>
        <p:txBody>
          <a:bodyPr wrap="none" lIns="0" tIns="0" rIns="0" bIns="0" rtlCol="0" anchor="t"/>
          <a:lstStyle/>
          <a:p>
            <a:pPr indent="0" marL="0">
              <a:lnSpc>
                <a:spcPts val="2700"/>
              </a:lnSpc>
              <a:buNone/>
            </a:pP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819507" y="643890"/>
            <a:ext cx="5509974" cy="688777"/>
          </a:xfrm>
          <a:prstGeom prst="rect">
            <a:avLst/>
          </a:prstGeom>
          <a:noFill/>
          <a:ln/>
        </p:spPr>
        <p:txBody>
          <a:bodyPr wrap="none" lIns="0" tIns="0" rIns="0" bIns="0" rtlCol="0" anchor="t"/>
          <a:lstStyle/>
          <a:p>
            <a:pPr indent="0" marL="0">
              <a:lnSpc>
                <a:spcPts val="5400"/>
              </a:lnSpc>
              <a:buNone/>
            </a:pPr>
            <a:endParaRPr lang="en-US" sz="4300" dirty="0"/>
          </a:p>
        </p:txBody>
      </p:sp>
      <p:pic>
        <p:nvPicPr>
          <p:cNvPr id="3" name="Image 0" descr="preencoded.png">    </p:cNvPr>
          <p:cNvPicPr>
            <a:picLocks noChangeAspect="1"/>
          </p:cNvPicPr>
          <p:nvPr/>
        </p:nvPicPr>
        <p:blipFill>
          <a:blip r:embed="rId1"/>
          <a:stretch>
            <a:fillRect/>
          </a:stretch>
        </p:blipFill>
        <p:spPr>
          <a:xfrm>
            <a:off x="819507" y="1947267"/>
            <a:ext cx="5448776" cy="3064907"/>
          </a:xfrm>
          <a:prstGeom prst="rect">
            <a:avLst/>
          </a:prstGeom>
        </p:spPr>
      </p:pic>
      <p:sp>
        <p:nvSpPr>
          <p:cNvPr id="4" name="Text 1"/>
          <p:cNvSpPr/>
          <p:nvPr/>
        </p:nvSpPr>
        <p:spPr>
          <a:xfrm>
            <a:off x="819507" y="5275540"/>
            <a:ext cx="2754987" cy="344329"/>
          </a:xfrm>
          <a:prstGeom prst="rect">
            <a:avLst/>
          </a:prstGeom>
          <a:noFill/>
          <a:ln/>
        </p:spPr>
        <p:txBody>
          <a:bodyPr wrap="none" lIns="0" tIns="0" rIns="0" bIns="0" rtlCol="0" anchor="t"/>
          <a:lstStyle/>
          <a:p>
            <a:pPr indent="0" marL="0">
              <a:lnSpc>
                <a:spcPts val="2700"/>
              </a:lnSpc>
              <a:buNone/>
            </a:pPr>
            <a:r>
              <a:rPr lang="en-US" sz="2150" spc="-43" kern="0" dirty="0">
                <a:solidFill>
                  <a:srgbClr val="D73AD7"/>
                </a:solidFill>
                <a:latin typeface="Source Serif Pro Semi Bold" pitchFamily="34" charset="0"/>
                <a:ea typeface="Source Serif Pro Semi Bold" pitchFamily="34" charset="-122"/>
                <a:cs typeface="Source Serif Pro Semi Bold" pitchFamily="34" charset="-120"/>
              </a:rPr>
              <a:t>4)Principle of closure</a:t>
            </a:r>
            <a:endParaRPr lang="en-US" sz="2150" dirty="0"/>
          </a:p>
        </p:txBody>
      </p:sp>
      <p:sp>
        <p:nvSpPr>
          <p:cNvPr id="5" name="Text 2"/>
          <p:cNvSpPr/>
          <p:nvPr/>
        </p:nvSpPr>
        <p:spPr>
          <a:xfrm>
            <a:off x="819507" y="5853946"/>
            <a:ext cx="6210062" cy="936784"/>
          </a:xfrm>
          <a:prstGeom prst="rect">
            <a:avLst/>
          </a:prstGeom>
          <a:noFill/>
          <a:ln/>
        </p:spPr>
        <p:txBody>
          <a:bodyPr wrap="square" lIns="0" tIns="0" rIns="0" bIns="0" rtlCol="0" anchor="t"/>
          <a:lstStyle/>
          <a:p>
            <a:pPr indent="0" marL="0">
              <a:lnSpc>
                <a:spcPts val="3650"/>
              </a:lnSpc>
              <a:buNone/>
            </a:pPr>
            <a:r>
              <a:rPr lang="en-US" sz="2300" spc="-37" kern="0" dirty="0">
                <a:solidFill>
                  <a:srgbClr val="272525"/>
                </a:solidFill>
                <a:latin typeface="Source Sans Pro" pitchFamily="34" charset="0"/>
                <a:ea typeface="Source Sans Pro" pitchFamily="34" charset="-122"/>
                <a:cs typeface="Source Sans Pro" pitchFamily="34" charset="-120"/>
              </a:rPr>
              <a:t>Items are perceived as complete units even though they may be interrupted by gaps.</a:t>
            </a:r>
            <a:endParaRPr lang="en-US" sz="2300" dirty="0"/>
          </a:p>
        </p:txBody>
      </p:sp>
      <p:sp>
        <p:nvSpPr>
          <p:cNvPr id="6" name="Text 3"/>
          <p:cNvSpPr/>
          <p:nvPr/>
        </p:nvSpPr>
        <p:spPr>
          <a:xfrm>
            <a:off x="819507" y="7001470"/>
            <a:ext cx="6210062" cy="374690"/>
          </a:xfrm>
          <a:prstGeom prst="rect">
            <a:avLst/>
          </a:prstGeom>
          <a:noFill/>
          <a:ln/>
        </p:spPr>
        <p:txBody>
          <a:bodyPr wrap="none" lIns="0" tIns="0" rIns="0" bIns="0" rtlCol="0" anchor="t"/>
          <a:lstStyle/>
          <a:p>
            <a:pPr indent="0" marL="0">
              <a:lnSpc>
                <a:spcPts val="2950"/>
              </a:lnSpc>
              <a:buNone/>
            </a:pPr>
            <a:endParaRPr lang="en-US" sz="1800" dirty="0"/>
          </a:p>
        </p:txBody>
      </p:sp>
      <p:pic>
        <p:nvPicPr>
          <p:cNvPr id="7" name="Image 1" descr="preencoded.png">    </p:cNvPr>
          <p:cNvPicPr>
            <a:picLocks noChangeAspect="1"/>
          </p:cNvPicPr>
          <p:nvPr/>
        </p:nvPicPr>
        <p:blipFill>
          <a:blip r:embed="rId2"/>
          <a:stretch>
            <a:fillRect/>
          </a:stretch>
        </p:blipFill>
        <p:spPr>
          <a:xfrm>
            <a:off x="7608451" y="1947267"/>
            <a:ext cx="6075045" cy="3417213"/>
          </a:xfrm>
          <a:prstGeom prst="rect">
            <a:avLst/>
          </a:prstGeom>
        </p:spPr>
      </p:pic>
      <p:sp>
        <p:nvSpPr>
          <p:cNvPr id="8" name="Text 4"/>
          <p:cNvSpPr/>
          <p:nvPr/>
        </p:nvSpPr>
        <p:spPr>
          <a:xfrm>
            <a:off x="7608451" y="5627846"/>
            <a:ext cx="2916674" cy="344329"/>
          </a:xfrm>
          <a:prstGeom prst="rect">
            <a:avLst/>
          </a:prstGeom>
          <a:noFill/>
          <a:ln/>
        </p:spPr>
        <p:txBody>
          <a:bodyPr wrap="none" lIns="0" tIns="0" rIns="0" bIns="0" rtlCol="0" anchor="t"/>
          <a:lstStyle/>
          <a:p>
            <a:pPr indent="0" marL="0">
              <a:lnSpc>
                <a:spcPts val="2700"/>
              </a:lnSpc>
              <a:buNone/>
            </a:pPr>
            <a:r>
              <a:rPr lang="en-US" sz="2150" spc="-43" kern="0" dirty="0">
                <a:solidFill>
                  <a:srgbClr val="D73AD7"/>
                </a:solidFill>
                <a:latin typeface="Source Serif Pro Semi Bold" pitchFamily="34" charset="0"/>
                <a:ea typeface="Source Serif Pro Semi Bold" pitchFamily="34" charset="-122"/>
                <a:cs typeface="Source Serif Pro Semi Bold" pitchFamily="34" charset="-120"/>
              </a:rPr>
              <a:t>5)Principle of continuity</a:t>
            </a:r>
            <a:endParaRPr lang="en-US" sz="2150" dirty="0"/>
          </a:p>
        </p:txBody>
      </p:sp>
      <p:sp>
        <p:nvSpPr>
          <p:cNvPr id="9" name="Text 5"/>
          <p:cNvSpPr/>
          <p:nvPr/>
        </p:nvSpPr>
        <p:spPr>
          <a:xfrm>
            <a:off x="7608451" y="6206252"/>
            <a:ext cx="6210062" cy="936784"/>
          </a:xfrm>
          <a:prstGeom prst="rect">
            <a:avLst/>
          </a:prstGeom>
          <a:noFill/>
          <a:ln/>
        </p:spPr>
        <p:txBody>
          <a:bodyPr wrap="square" lIns="0" tIns="0" rIns="0" bIns="0" rtlCol="0" anchor="t"/>
          <a:lstStyle/>
          <a:p>
            <a:pPr indent="0" marL="0">
              <a:lnSpc>
                <a:spcPts val="3650"/>
              </a:lnSpc>
              <a:buNone/>
            </a:pPr>
            <a:r>
              <a:rPr lang="en-US" sz="2300" spc="-37" kern="0" dirty="0">
                <a:solidFill>
                  <a:srgbClr val="272525"/>
                </a:solidFill>
                <a:latin typeface="Source Sans Pro" pitchFamily="34" charset="0"/>
                <a:ea typeface="Source Sans Pro" pitchFamily="34" charset="-122"/>
                <a:cs typeface="Source Sans Pro" pitchFamily="34" charset="-120"/>
              </a:rPr>
              <a:t>Items with the fewest interruptions are perceived as units.</a:t>
            </a:r>
            <a:endParaRPr lang="en-US" sz="2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837724" y="1259205"/>
            <a:ext cx="3379470" cy="422315"/>
          </a:xfrm>
          <a:prstGeom prst="rect">
            <a:avLst/>
          </a:prstGeom>
          <a:noFill/>
          <a:ln/>
        </p:spPr>
        <p:txBody>
          <a:bodyPr wrap="none" lIns="0" tIns="0" rIns="0" bIns="0" rtlCol="0" anchor="t"/>
          <a:lstStyle/>
          <a:p>
            <a:pPr indent="0" marL="0">
              <a:lnSpc>
                <a:spcPts val="3300"/>
              </a:lnSpc>
              <a:buNone/>
            </a:pPr>
            <a:r>
              <a:rPr lang="en-US" sz="2650" spc="-53" kern="0" dirty="0">
                <a:solidFill>
                  <a:srgbClr val="D73AD7"/>
                </a:solidFill>
                <a:latin typeface="Source Serif Pro Semi Bold" pitchFamily="34" charset="0"/>
                <a:ea typeface="Source Serif Pro Semi Bold" pitchFamily="34" charset="-122"/>
                <a:cs typeface="Source Serif Pro Semi Bold" pitchFamily="34" charset="-120"/>
              </a:rPr>
              <a:t>Principle of context</a:t>
            </a:r>
            <a:endParaRPr lang="en-US" sz="2650" dirty="0"/>
          </a:p>
        </p:txBody>
      </p:sp>
      <p:sp>
        <p:nvSpPr>
          <p:cNvPr id="3" name="Text 1"/>
          <p:cNvSpPr/>
          <p:nvPr/>
        </p:nvSpPr>
        <p:spPr>
          <a:xfrm>
            <a:off x="837724" y="1920835"/>
            <a:ext cx="618553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Perceptual organization is also dependent on the context in which we perceive the stimulus.</a:t>
            </a:r>
            <a:endParaRPr lang="en-US" sz="1850" dirty="0"/>
          </a:p>
        </p:txBody>
      </p:sp>
      <p:sp>
        <p:nvSpPr>
          <p:cNvPr id="4" name="Text 2"/>
          <p:cNvSpPr/>
          <p:nvPr/>
        </p:nvSpPr>
        <p:spPr>
          <a:xfrm>
            <a:off x="837724" y="2961799"/>
            <a:ext cx="6185535" cy="1914525"/>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When perceived in a pleasant context the stimulus will be perceived favourably and when perceived in an unpleasant context, it will tends to be perceived unfavourably.</a:t>
            </a:r>
            <a:endParaRPr lang="en-US" sz="1850" dirty="0"/>
          </a:p>
        </p:txBody>
      </p:sp>
      <p:sp>
        <p:nvSpPr>
          <p:cNvPr id="5" name="Text 3"/>
          <p:cNvSpPr/>
          <p:nvPr/>
        </p:nvSpPr>
        <p:spPr>
          <a:xfrm>
            <a:off x="837724" y="4960025"/>
            <a:ext cx="6185535" cy="1435894"/>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 A patient's behaviour can be perceived both favourably and unfavourably depending on the context in which it occurs.</a:t>
            </a:r>
            <a:endParaRPr lang="en-US" sz="1850" dirty="0"/>
          </a:p>
        </p:txBody>
      </p:sp>
      <p:sp>
        <p:nvSpPr>
          <p:cNvPr id="6" name="Text 4"/>
          <p:cNvSpPr/>
          <p:nvPr/>
        </p:nvSpPr>
        <p:spPr>
          <a:xfrm>
            <a:off x="837724" y="6611303"/>
            <a:ext cx="6185535" cy="383024"/>
          </a:xfrm>
          <a:prstGeom prst="rect">
            <a:avLst/>
          </a:prstGeom>
          <a:noFill/>
          <a:ln/>
        </p:spPr>
        <p:txBody>
          <a:bodyPr wrap="none" lIns="0" tIns="0" rIns="0" bIns="0" rtlCol="0" anchor="t"/>
          <a:lstStyle/>
          <a:p>
            <a:pPr indent="0" marL="0">
              <a:lnSpc>
                <a:spcPts val="3000"/>
              </a:lnSpc>
              <a:buNone/>
            </a:pPr>
            <a:endParaRPr lang="en-US" sz="1850" dirty="0"/>
          </a:p>
        </p:txBody>
      </p:sp>
      <p:sp>
        <p:nvSpPr>
          <p:cNvPr id="7" name="Text 5"/>
          <p:cNvSpPr/>
          <p:nvPr/>
        </p:nvSpPr>
        <p:spPr>
          <a:xfrm>
            <a:off x="7614761" y="2623304"/>
            <a:ext cx="3533061" cy="422315"/>
          </a:xfrm>
          <a:prstGeom prst="rect">
            <a:avLst/>
          </a:prstGeom>
          <a:noFill/>
          <a:ln/>
        </p:spPr>
        <p:txBody>
          <a:bodyPr wrap="none" lIns="0" tIns="0" rIns="0" bIns="0" rtlCol="0" anchor="t"/>
          <a:lstStyle/>
          <a:p>
            <a:pPr indent="0" marL="0">
              <a:lnSpc>
                <a:spcPts val="3300"/>
              </a:lnSpc>
              <a:buNone/>
            </a:pPr>
            <a:r>
              <a:rPr lang="en-US" sz="2650" spc="-53" kern="0" dirty="0">
                <a:solidFill>
                  <a:srgbClr val="D73AD7"/>
                </a:solidFill>
                <a:latin typeface="Source Serif Pro Semi Bold" pitchFamily="34" charset="0"/>
                <a:ea typeface="Source Serif Pro Semi Bold" pitchFamily="34" charset="-122"/>
                <a:cs typeface="Source Serif Pro Semi Bold" pitchFamily="34" charset="-120"/>
              </a:rPr>
              <a:t>Principle of adaptability</a:t>
            </a:r>
            <a:endParaRPr lang="en-US" sz="2650" dirty="0"/>
          </a:p>
        </p:txBody>
      </p:sp>
      <p:sp>
        <p:nvSpPr>
          <p:cNvPr id="8" name="Text 6"/>
          <p:cNvSpPr/>
          <p:nvPr/>
        </p:nvSpPr>
        <p:spPr>
          <a:xfrm>
            <a:off x="7614761" y="3284934"/>
            <a:ext cx="618553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Adaptability is the tendency of a person to adapt to similar stimuli. </a:t>
            </a:r>
            <a:endParaRPr lang="en-US" sz="1850" dirty="0"/>
          </a:p>
        </p:txBody>
      </p:sp>
      <p:sp>
        <p:nvSpPr>
          <p:cNvPr id="9" name="Text 7"/>
          <p:cNvSpPr/>
          <p:nvPr/>
        </p:nvSpPr>
        <p:spPr>
          <a:xfrm>
            <a:off x="7614761" y="4325898"/>
            <a:ext cx="6185535" cy="1435894"/>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 person who works in a factory subjected to loud noise gets adapted to it and perceive soft noise as negligible. </a:t>
            </a:r>
            <a:endParaRPr lang="en-US" sz="1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837724" y="1406962"/>
            <a:ext cx="3379470" cy="422315"/>
          </a:xfrm>
          <a:prstGeom prst="rect">
            <a:avLst/>
          </a:prstGeom>
          <a:noFill/>
          <a:ln/>
        </p:spPr>
        <p:txBody>
          <a:bodyPr wrap="none" lIns="0" tIns="0" rIns="0" bIns="0" rtlCol="0" anchor="t"/>
          <a:lstStyle/>
          <a:p>
            <a:pPr indent="0" marL="0">
              <a:lnSpc>
                <a:spcPts val="3300"/>
              </a:lnSpc>
              <a:buNone/>
            </a:pPr>
            <a:endParaRPr lang="en-US" sz="2650" dirty="0"/>
          </a:p>
        </p:txBody>
      </p:sp>
      <p:sp>
        <p:nvSpPr>
          <p:cNvPr id="3" name="Text 1"/>
          <p:cNvSpPr/>
          <p:nvPr/>
        </p:nvSpPr>
        <p:spPr>
          <a:xfrm>
            <a:off x="837724" y="2068592"/>
            <a:ext cx="3379470" cy="422315"/>
          </a:xfrm>
          <a:prstGeom prst="rect">
            <a:avLst/>
          </a:prstGeom>
          <a:noFill/>
          <a:ln/>
        </p:spPr>
        <p:txBody>
          <a:bodyPr wrap="none" lIns="0" tIns="0" rIns="0" bIns="0" rtlCol="0" anchor="t"/>
          <a:lstStyle/>
          <a:p>
            <a:pPr algn="l" indent="0" marL="0">
              <a:lnSpc>
                <a:spcPts val="3300"/>
              </a:lnSpc>
              <a:buNone/>
            </a:pPr>
            <a:r>
              <a:rPr lang="en-US" sz="2650" spc="-53" kern="0" dirty="0">
                <a:solidFill>
                  <a:srgbClr val="D73AD7"/>
                </a:solidFill>
                <a:latin typeface="Source Serif Pro Semi Bold" pitchFamily="34" charset="0"/>
                <a:ea typeface="Source Serif Pro Semi Bold" pitchFamily="34" charset="-122"/>
                <a:cs typeface="Source Serif Pro Semi Bold" pitchFamily="34" charset="-120"/>
              </a:rPr>
              <a:t>Principle of contrast</a:t>
            </a:r>
            <a:endParaRPr lang="en-US" sz="2650" dirty="0"/>
          </a:p>
        </p:txBody>
      </p:sp>
      <p:sp>
        <p:nvSpPr>
          <p:cNvPr id="4" name="Text 2"/>
          <p:cNvSpPr/>
          <p:nvPr/>
        </p:nvSpPr>
        <p:spPr>
          <a:xfrm>
            <a:off x="837724" y="2730222"/>
            <a:ext cx="618553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When a stimulus is in contrast with a nearby stimulus we tend to perceive it more readily.</a:t>
            </a:r>
            <a:endParaRPr lang="en-US" sz="1850" dirty="0"/>
          </a:p>
        </p:txBody>
      </p:sp>
      <p:sp>
        <p:nvSpPr>
          <p:cNvPr id="5" name="Text 3"/>
          <p:cNvSpPr/>
          <p:nvPr/>
        </p:nvSpPr>
        <p:spPr>
          <a:xfrm>
            <a:off x="837724" y="3771186"/>
            <a:ext cx="6185535"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That is the reason why dresses with contrast combination appear to be more attractive.</a:t>
            </a:r>
            <a:endParaRPr lang="en-US" sz="1850" dirty="0"/>
          </a:p>
        </p:txBody>
      </p:sp>
      <p:sp>
        <p:nvSpPr>
          <p:cNvPr id="6" name="Text 4"/>
          <p:cNvSpPr/>
          <p:nvPr/>
        </p:nvSpPr>
        <p:spPr>
          <a:xfrm>
            <a:off x="837724" y="4812149"/>
            <a:ext cx="6185535" cy="1435894"/>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Similarly a patient's behaviour which is contrast to other patients attract our attention and is perceived better.</a:t>
            </a:r>
            <a:endParaRPr lang="en-US" sz="1850" dirty="0"/>
          </a:p>
        </p:txBody>
      </p:sp>
      <p:sp>
        <p:nvSpPr>
          <p:cNvPr id="7" name="Text 5"/>
          <p:cNvSpPr/>
          <p:nvPr/>
        </p:nvSpPr>
        <p:spPr>
          <a:xfrm>
            <a:off x="837724" y="6463427"/>
            <a:ext cx="6185535" cy="383024"/>
          </a:xfrm>
          <a:prstGeom prst="rect">
            <a:avLst/>
          </a:prstGeom>
          <a:noFill/>
          <a:ln/>
        </p:spPr>
        <p:txBody>
          <a:bodyPr wrap="none" lIns="0" tIns="0" rIns="0" bIns="0" rtlCol="0" anchor="t"/>
          <a:lstStyle/>
          <a:p>
            <a:pPr indent="0" marL="0">
              <a:lnSpc>
                <a:spcPts val="3000"/>
              </a:lnSpc>
              <a:buNone/>
            </a:pPr>
            <a:endParaRPr lang="en-US" sz="1850" dirty="0"/>
          </a:p>
        </p:txBody>
      </p:sp>
      <p:pic>
        <p:nvPicPr>
          <p:cNvPr id="8" name="Image 0" descr="preencoded.png">    </p:cNvPr>
          <p:cNvPicPr>
            <a:picLocks noChangeAspect="1"/>
          </p:cNvPicPr>
          <p:nvPr/>
        </p:nvPicPr>
        <p:blipFill>
          <a:blip r:embed="rId1"/>
          <a:stretch>
            <a:fillRect/>
          </a:stretch>
        </p:blipFill>
        <p:spPr>
          <a:xfrm>
            <a:off x="7614761" y="1795105"/>
            <a:ext cx="6185535" cy="463915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837724" y="1040606"/>
            <a:ext cx="8783122" cy="704017"/>
          </a:xfrm>
          <a:prstGeom prst="rect">
            <a:avLst/>
          </a:prstGeom>
          <a:noFill/>
          <a:ln/>
        </p:spPr>
        <p:txBody>
          <a:bodyPr wrap="none" lIns="0" tIns="0" rIns="0" bIns="0" rtlCol="0" anchor="t"/>
          <a:lstStyle/>
          <a:p>
            <a:pPr indent="0" marL="0">
              <a:lnSpc>
                <a:spcPts val="5500"/>
              </a:lnSpc>
              <a:buNone/>
            </a:pPr>
            <a:r>
              <a:rPr lang="en-US" sz="4400" spc="-89" kern="0" dirty="0">
                <a:solidFill>
                  <a:srgbClr val="D73AD7"/>
                </a:solidFill>
                <a:latin typeface="Source Serif Pro Semi Bold" pitchFamily="34" charset="0"/>
                <a:ea typeface="Source Serif Pro Semi Bold" pitchFamily="34" charset="-122"/>
                <a:cs typeface="Source Serif Pro Semi Bold" pitchFamily="34" charset="-120"/>
              </a:rPr>
              <a:t>FACTORS AFFECTING PERCEPTION</a:t>
            </a:r>
            <a:endParaRPr lang="en-US" sz="4400" dirty="0"/>
          </a:p>
        </p:txBody>
      </p:sp>
      <p:sp>
        <p:nvSpPr>
          <p:cNvPr id="3" name="Text 1"/>
          <p:cNvSpPr/>
          <p:nvPr/>
        </p:nvSpPr>
        <p:spPr>
          <a:xfrm>
            <a:off x="837724" y="2223373"/>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1)Internal factors affecting attention also affect perception. Factors are:</a:t>
            </a:r>
            <a:endParaRPr lang="en-US" sz="2350" dirty="0"/>
          </a:p>
        </p:txBody>
      </p:sp>
      <p:sp>
        <p:nvSpPr>
          <p:cNvPr id="4" name="Text 2"/>
          <p:cNvSpPr/>
          <p:nvPr/>
        </p:nvSpPr>
        <p:spPr>
          <a:xfrm>
            <a:off x="837724" y="2971205"/>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Nature of the stimulus</a:t>
            </a:r>
            <a:endParaRPr lang="en-US" sz="2350" dirty="0"/>
          </a:p>
        </p:txBody>
      </p:sp>
      <p:sp>
        <p:nvSpPr>
          <p:cNvPr id="5" name="Text 3"/>
          <p:cNvSpPr/>
          <p:nvPr/>
        </p:nvSpPr>
        <p:spPr>
          <a:xfrm>
            <a:off x="837724" y="3719036"/>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Intensity of the stimulus</a:t>
            </a:r>
            <a:endParaRPr lang="en-US" sz="2350" dirty="0"/>
          </a:p>
        </p:txBody>
      </p:sp>
      <p:sp>
        <p:nvSpPr>
          <p:cNvPr id="6" name="Text 4"/>
          <p:cNvSpPr/>
          <p:nvPr/>
        </p:nvSpPr>
        <p:spPr>
          <a:xfrm>
            <a:off x="837724" y="4466868"/>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Size of the stimulus</a:t>
            </a:r>
            <a:endParaRPr lang="en-US" sz="2350" dirty="0"/>
          </a:p>
        </p:txBody>
      </p:sp>
      <p:sp>
        <p:nvSpPr>
          <p:cNvPr id="7" name="Text 5"/>
          <p:cNvSpPr/>
          <p:nvPr/>
        </p:nvSpPr>
        <p:spPr>
          <a:xfrm>
            <a:off x="837724" y="5214699"/>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Contrast of the stimulus</a:t>
            </a:r>
            <a:endParaRPr lang="en-US" sz="2350" dirty="0"/>
          </a:p>
        </p:txBody>
      </p:sp>
      <p:sp>
        <p:nvSpPr>
          <p:cNvPr id="8" name="Text 6"/>
          <p:cNvSpPr/>
          <p:nvPr/>
        </p:nvSpPr>
        <p:spPr>
          <a:xfrm>
            <a:off x="837724" y="5962531"/>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Reception of the stimulus</a:t>
            </a:r>
            <a:endParaRPr lang="en-US" sz="2350" dirty="0"/>
          </a:p>
        </p:txBody>
      </p:sp>
      <p:sp>
        <p:nvSpPr>
          <p:cNvPr id="9" name="Text 7"/>
          <p:cNvSpPr/>
          <p:nvPr/>
        </p:nvSpPr>
        <p:spPr>
          <a:xfrm>
            <a:off x="837724" y="6710363"/>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Movement of the stimulus</a:t>
            </a:r>
            <a:endParaRPr lang="en-US" sz="2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837724" y="1040606"/>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3" name="Text 1"/>
          <p:cNvSpPr/>
          <p:nvPr/>
        </p:nvSpPr>
        <p:spPr>
          <a:xfrm>
            <a:off x="837724" y="2223373"/>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2)External factors affecting attention also affect perception. Factors are:</a:t>
            </a:r>
            <a:endParaRPr lang="en-US" sz="2350" dirty="0"/>
          </a:p>
        </p:txBody>
      </p:sp>
      <p:sp>
        <p:nvSpPr>
          <p:cNvPr id="4" name="Text 2"/>
          <p:cNvSpPr/>
          <p:nvPr/>
        </p:nvSpPr>
        <p:spPr>
          <a:xfrm>
            <a:off x="837724" y="2971205"/>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 Interest of the perceiver</a:t>
            </a:r>
            <a:endParaRPr lang="en-US" sz="2350" dirty="0"/>
          </a:p>
        </p:txBody>
      </p:sp>
      <p:sp>
        <p:nvSpPr>
          <p:cNvPr id="5" name="Text 3"/>
          <p:cNvSpPr/>
          <p:nvPr/>
        </p:nvSpPr>
        <p:spPr>
          <a:xfrm>
            <a:off x="837724" y="3719036"/>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 Motives and drives of the perceiver</a:t>
            </a:r>
            <a:endParaRPr lang="en-US" sz="2350" dirty="0"/>
          </a:p>
        </p:txBody>
      </p:sp>
      <p:sp>
        <p:nvSpPr>
          <p:cNvPr id="6" name="Text 4"/>
          <p:cNvSpPr/>
          <p:nvPr/>
        </p:nvSpPr>
        <p:spPr>
          <a:xfrm>
            <a:off x="837724" y="4466868"/>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 Previous experience of the perceiver</a:t>
            </a:r>
            <a:endParaRPr lang="en-US" sz="2350" dirty="0"/>
          </a:p>
        </p:txBody>
      </p:sp>
      <p:sp>
        <p:nvSpPr>
          <p:cNvPr id="7" name="Text 5"/>
          <p:cNvSpPr/>
          <p:nvPr/>
        </p:nvSpPr>
        <p:spPr>
          <a:xfrm>
            <a:off x="837724" y="5214699"/>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 Mental set of the perceiver</a:t>
            </a:r>
            <a:endParaRPr lang="en-US" sz="2350" dirty="0"/>
          </a:p>
        </p:txBody>
      </p:sp>
      <p:sp>
        <p:nvSpPr>
          <p:cNvPr id="8" name="Text 6"/>
          <p:cNvSpPr/>
          <p:nvPr/>
        </p:nvSpPr>
        <p:spPr>
          <a:xfrm>
            <a:off x="837724" y="5962531"/>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 Desire or need of the perceiver</a:t>
            </a:r>
            <a:endParaRPr lang="en-US" sz="2350" dirty="0"/>
          </a:p>
        </p:txBody>
      </p:sp>
      <p:sp>
        <p:nvSpPr>
          <p:cNvPr id="9" name="Text 7"/>
          <p:cNvSpPr/>
          <p:nvPr/>
        </p:nvSpPr>
        <p:spPr>
          <a:xfrm>
            <a:off x="837724" y="6710363"/>
            <a:ext cx="12954952" cy="478631"/>
          </a:xfrm>
          <a:prstGeom prst="rect">
            <a:avLst/>
          </a:prstGeom>
          <a:noFill/>
          <a:ln/>
        </p:spPr>
        <p:txBody>
          <a:bodyPr wrap="none" lIns="0" tIns="0" rIns="0" bIns="0" rtlCol="0" anchor="t"/>
          <a:lstStyle/>
          <a:p>
            <a:pPr indent="0" marL="0">
              <a:lnSpc>
                <a:spcPts val="3750"/>
              </a:lnSpc>
              <a:buNone/>
            </a:pPr>
            <a:endParaRPr lang="en-US" sz="2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837724" y="882015"/>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3" name="Text 1"/>
          <p:cNvSpPr/>
          <p:nvPr/>
        </p:nvSpPr>
        <p:spPr>
          <a:xfrm>
            <a:off x="837724" y="2064782"/>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3)The effective functioning of sense organs affect perception</a:t>
            </a:r>
            <a:endParaRPr lang="en-US" sz="2350" dirty="0"/>
          </a:p>
        </p:txBody>
      </p:sp>
      <p:sp>
        <p:nvSpPr>
          <p:cNvPr id="4" name="Text 2"/>
          <p:cNvSpPr/>
          <p:nvPr/>
        </p:nvSpPr>
        <p:spPr>
          <a:xfrm>
            <a:off x="837724" y="2812613"/>
            <a:ext cx="12954952"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Sense organs are receptors to receive stimuli and these stimuli are carried to the sensory areas of the brain in the form of nerve impulses. </a:t>
            </a:r>
            <a:endParaRPr lang="en-US" sz="1850" dirty="0"/>
          </a:p>
        </p:txBody>
      </p:sp>
      <p:sp>
        <p:nvSpPr>
          <p:cNvPr id="5" name="Text 3"/>
          <p:cNvSpPr/>
          <p:nvPr/>
        </p:nvSpPr>
        <p:spPr>
          <a:xfrm>
            <a:off x="837724" y="3853577"/>
            <a:ext cx="12954952"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Any alterations or defects in the normal functioning of sense organs will adversely affect the process of perception.</a:t>
            </a:r>
            <a:endParaRPr lang="en-US" sz="1850" dirty="0"/>
          </a:p>
        </p:txBody>
      </p:sp>
      <p:sp>
        <p:nvSpPr>
          <p:cNvPr id="6" name="Text 4"/>
          <p:cNvSpPr/>
          <p:nvPr/>
        </p:nvSpPr>
        <p:spPr>
          <a:xfrm>
            <a:off x="837724" y="5080040"/>
            <a:ext cx="12954952" cy="478631"/>
          </a:xfrm>
          <a:prstGeom prst="rect">
            <a:avLst/>
          </a:prstGeom>
          <a:noFill/>
          <a:ln/>
        </p:spPr>
        <p:txBody>
          <a:bodyPr wrap="none" lIns="0" tIns="0" rIns="0" bIns="0" rtlCol="0" anchor="t"/>
          <a:lstStyle/>
          <a:p>
            <a:pPr indent="0" marL="0">
              <a:lnSpc>
                <a:spcPts val="3750"/>
              </a:lnSpc>
              <a:buNone/>
            </a:pPr>
            <a:r>
              <a:rPr lang="en-US" sz="2350" spc="-38" kern="0" dirty="0">
                <a:solidFill>
                  <a:srgbClr val="272525"/>
                </a:solidFill>
                <a:latin typeface="Source Sans Pro" pitchFamily="34" charset="0"/>
                <a:ea typeface="Source Sans Pro" pitchFamily="34" charset="-122"/>
                <a:cs typeface="Source Sans Pro" pitchFamily="34" charset="-120"/>
              </a:rPr>
              <a:t>4)Brain</a:t>
            </a:r>
            <a:endParaRPr lang="en-US" sz="2350" dirty="0"/>
          </a:p>
        </p:txBody>
      </p:sp>
      <p:sp>
        <p:nvSpPr>
          <p:cNvPr id="7" name="Text 5"/>
          <p:cNvSpPr/>
          <p:nvPr/>
        </p:nvSpPr>
        <p:spPr>
          <a:xfrm>
            <a:off x="837724" y="5827871"/>
            <a:ext cx="12954952" cy="478631"/>
          </a:xfrm>
          <a:prstGeom prst="rect">
            <a:avLst/>
          </a:prstGeom>
          <a:noFill/>
          <a:ln/>
        </p:spPr>
        <p:txBody>
          <a:bodyPr wrap="non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Different areas of our brain are equipped to receive and process information. </a:t>
            </a:r>
            <a:endParaRPr lang="en-US" sz="1850" dirty="0"/>
          </a:p>
        </p:txBody>
      </p:sp>
      <p:sp>
        <p:nvSpPr>
          <p:cNvPr id="8" name="Text 6"/>
          <p:cNvSpPr/>
          <p:nvPr/>
        </p:nvSpPr>
        <p:spPr>
          <a:xfrm>
            <a:off x="837724" y="6390203"/>
            <a:ext cx="12954952" cy="957263"/>
          </a:xfrm>
          <a:prstGeom prst="rect">
            <a:avLst/>
          </a:prstGeom>
          <a:noFill/>
          <a:ln/>
        </p:spPr>
        <p:txBody>
          <a:bodyPr wrap="square" lIns="0" tIns="0" rIns="0" bIns="0" rtlCol="0" anchor="t"/>
          <a:lstStyle/>
          <a:p>
            <a:pPr algn="l" marL="342900" indent="-342900">
              <a:lnSpc>
                <a:spcPts val="3000"/>
              </a:lnSpc>
              <a:buSzPct val="100000"/>
              <a:buChar char="•"/>
            </a:pPr>
            <a:r>
              <a:rPr lang="en-US" sz="1850" spc="-38" kern="0" dirty="0">
                <a:solidFill>
                  <a:srgbClr val="272525"/>
                </a:solidFill>
                <a:latin typeface="Source Sans Pro" pitchFamily="34" charset="0"/>
                <a:ea typeface="Source Sans Pro" pitchFamily="34" charset="-122"/>
                <a:cs typeface="Source Sans Pro" pitchFamily="34" charset="-120"/>
              </a:rPr>
              <a:t>Sensory and association areas of the brain are to function smoothly for the proper processing of information and for proper perception.</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2025-01-03T19:41:04Z</dcterms:created>
  <dcterms:modified xsi:type="dcterms:W3CDTF">2025-01-03T19:41:04Z</dcterms:modified>
</cp:coreProperties>
</file>