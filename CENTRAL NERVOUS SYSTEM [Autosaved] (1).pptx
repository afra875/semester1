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9" r:id="rId3"/>
    <p:sldId id="329" r:id="rId4"/>
    <p:sldId id="320" r:id="rId5"/>
    <p:sldId id="322" r:id="rId6"/>
    <p:sldId id="314" r:id="rId7"/>
    <p:sldId id="315" r:id="rId8"/>
    <p:sldId id="316" r:id="rId9"/>
    <p:sldId id="317" r:id="rId10"/>
    <p:sldId id="328" r:id="rId11"/>
    <p:sldId id="305" r:id="rId12"/>
    <p:sldId id="264" r:id="rId13"/>
    <p:sldId id="318" r:id="rId14"/>
    <p:sldId id="323" r:id="rId15"/>
    <p:sldId id="266" r:id="rId16"/>
    <p:sldId id="267" r:id="rId17"/>
    <p:sldId id="321" r:id="rId18"/>
    <p:sldId id="324" r:id="rId19"/>
    <p:sldId id="333" r:id="rId20"/>
    <p:sldId id="268" r:id="rId21"/>
    <p:sldId id="269" r:id="rId22"/>
    <p:sldId id="271" r:id="rId23"/>
    <p:sldId id="272" r:id="rId24"/>
    <p:sldId id="307" r:id="rId25"/>
    <p:sldId id="310" r:id="rId26"/>
    <p:sldId id="308" r:id="rId27"/>
    <p:sldId id="327" r:id="rId28"/>
    <p:sldId id="273" r:id="rId29"/>
    <p:sldId id="280" r:id="rId30"/>
    <p:sldId id="335" r:id="rId31"/>
    <p:sldId id="336" r:id="rId32"/>
    <p:sldId id="274" r:id="rId33"/>
    <p:sldId id="326" r:id="rId34"/>
    <p:sldId id="281" r:id="rId35"/>
    <p:sldId id="325" r:id="rId36"/>
    <p:sldId id="275" r:id="rId37"/>
    <p:sldId id="276" r:id="rId38"/>
    <p:sldId id="278" r:id="rId39"/>
    <p:sldId id="301" r:id="rId40"/>
    <p:sldId id="302" r:id="rId41"/>
    <p:sldId id="313" r:id="rId42"/>
    <p:sldId id="331" r:id="rId43"/>
    <p:sldId id="330" r:id="rId44"/>
    <p:sldId id="311" r:id="rId45"/>
    <p:sldId id="286" r:id="rId46"/>
    <p:sldId id="287"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61" autoAdjust="0"/>
    <p:restoredTop sz="94660"/>
  </p:normalViewPr>
  <p:slideViewPr>
    <p:cSldViewPr snapToGrid="0">
      <p:cViewPr varScale="1">
        <p:scale>
          <a:sx n="88" d="100"/>
          <a:sy n="88" d="100"/>
        </p:scale>
        <p:origin x="23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29F1D8-DA62-4267-88CD-705079B4FB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568FDF2C-B2EE-484E-9924-A14621EFD3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B287D720-E5AB-41CA-B761-FD4B3E4EEA1B}"/>
              </a:ext>
            </a:extLst>
          </p:cNvPr>
          <p:cNvSpPr>
            <a:spLocks noGrp="1"/>
          </p:cNvSpPr>
          <p:nvPr>
            <p:ph type="dt" sz="half" idx="10"/>
          </p:nvPr>
        </p:nvSpPr>
        <p:spPr/>
        <p:txBody>
          <a:bodyPr/>
          <a:lstStyle/>
          <a:p>
            <a:fld id="{CC42BDA0-0CDB-45EB-90BA-E6F205A138F2}" type="datetimeFigureOut">
              <a:rPr lang="en-IN" smtClean="0"/>
              <a:t>09-11-2024</a:t>
            </a:fld>
            <a:endParaRPr lang="en-IN"/>
          </a:p>
        </p:txBody>
      </p:sp>
      <p:sp>
        <p:nvSpPr>
          <p:cNvPr id="5" name="Footer Placeholder 4">
            <a:extLst>
              <a:ext uri="{FF2B5EF4-FFF2-40B4-BE49-F238E27FC236}">
                <a16:creationId xmlns:a16="http://schemas.microsoft.com/office/drawing/2014/main" xmlns="" id="{7C239D6D-0F2D-4A4B-A0DE-C6B3F15A1D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46D5F06E-0E1A-4962-99A3-3440C6ADE295}"/>
              </a:ext>
            </a:extLst>
          </p:cNvPr>
          <p:cNvSpPr>
            <a:spLocks noGrp="1"/>
          </p:cNvSpPr>
          <p:nvPr>
            <p:ph type="sldNum" sz="quarter" idx="12"/>
          </p:nvPr>
        </p:nvSpPr>
        <p:spPr/>
        <p:txBody>
          <a:bodyPr/>
          <a:lstStyle/>
          <a:p>
            <a:fld id="{4508398D-CB2D-4E05-B0AD-2365E6337147}" type="slidenum">
              <a:rPr lang="en-IN" smtClean="0"/>
              <a:t>‹#›</a:t>
            </a:fld>
            <a:endParaRPr lang="en-IN"/>
          </a:p>
        </p:txBody>
      </p:sp>
    </p:spTree>
    <p:extLst>
      <p:ext uri="{BB962C8B-B14F-4D97-AF65-F5344CB8AC3E}">
        <p14:creationId xmlns:p14="http://schemas.microsoft.com/office/powerpoint/2010/main" val="1550235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26F4DA-7B4F-426A-B436-C743C7491D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63ADE8C-461A-472E-B4F3-229D65E4B7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9DC9B07-AA07-4DCF-9270-1932EE0DFD6A}"/>
              </a:ext>
            </a:extLst>
          </p:cNvPr>
          <p:cNvSpPr>
            <a:spLocks noGrp="1"/>
          </p:cNvSpPr>
          <p:nvPr>
            <p:ph type="dt" sz="half" idx="10"/>
          </p:nvPr>
        </p:nvSpPr>
        <p:spPr/>
        <p:txBody>
          <a:bodyPr/>
          <a:lstStyle/>
          <a:p>
            <a:fld id="{CC42BDA0-0CDB-45EB-90BA-E6F205A138F2}" type="datetimeFigureOut">
              <a:rPr lang="en-IN" smtClean="0"/>
              <a:t>09-11-2024</a:t>
            </a:fld>
            <a:endParaRPr lang="en-IN"/>
          </a:p>
        </p:txBody>
      </p:sp>
      <p:sp>
        <p:nvSpPr>
          <p:cNvPr id="5" name="Footer Placeholder 4">
            <a:extLst>
              <a:ext uri="{FF2B5EF4-FFF2-40B4-BE49-F238E27FC236}">
                <a16:creationId xmlns:a16="http://schemas.microsoft.com/office/drawing/2014/main" xmlns="" id="{BD52AFF5-A033-43EC-8740-74261F3072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95EB7E0-8827-4590-B770-473615DB1F45}"/>
              </a:ext>
            </a:extLst>
          </p:cNvPr>
          <p:cNvSpPr>
            <a:spLocks noGrp="1"/>
          </p:cNvSpPr>
          <p:nvPr>
            <p:ph type="sldNum" sz="quarter" idx="12"/>
          </p:nvPr>
        </p:nvSpPr>
        <p:spPr/>
        <p:txBody>
          <a:bodyPr/>
          <a:lstStyle/>
          <a:p>
            <a:fld id="{4508398D-CB2D-4E05-B0AD-2365E6337147}" type="slidenum">
              <a:rPr lang="en-IN" smtClean="0"/>
              <a:t>‹#›</a:t>
            </a:fld>
            <a:endParaRPr lang="en-IN"/>
          </a:p>
        </p:txBody>
      </p:sp>
    </p:spTree>
    <p:extLst>
      <p:ext uri="{BB962C8B-B14F-4D97-AF65-F5344CB8AC3E}">
        <p14:creationId xmlns:p14="http://schemas.microsoft.com/office/powerpoint/2010/main" val="493438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615E4B-965B-43F1-BD05-07F9984DD4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D5AF8648-A3FE-4083-88F7-927D92D154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D717AC9D-6A32-495B-A747-D0AD1445D317}"/>
              </a:ext>
            </a:extLst>
          </p:cNvPr>
          <p:cNvSpPr>
            <a:spLocks noGrp="1"/>
          </p:cNvSpPr>
          <p:nvPr>
            <p:ph type="dt" sz="half" idx="10"/>
          </p:nvPr>
        </p:nvSpPr>
        <p:spPr/>
        <p:txBody>
          <a:bodyPr/>
          <a:lstStyle/>
          <a:p>
            <a:fld id="{CC42BDA0-0CDB-45EB-90BA-E6F205A138F2}" type="datetimeFigureOut">
              <a:rPr lang="en-IN" smtClean="0"/>
              <a:t>09-11-2024</a:t>
            </a:fld>
            <a:endParaRPr lang="en-IN"/>
          </a:p>
        </p:txBody>
      </p:sp>
      <p:sp>
        <p:nvSpPr>
          <p:cNvPr id="5" name="Footer Placeholder 4">
            <a:extLst>
              <a:ext uri="{FF2B5EF4-FFF2-40B4-BE49-F238E27FC236}">
                <a16:creationId xmlns:a16="http://schemas.microsoft.com/office/drawing/2014/main" xmlns="" id="{F42DDE83-B477-4298-9D6E-7E4BD3E5CC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4B069103-055F-401A-BFA9-99D8058D292C}"/>
              </a:ext>
            </a:extLst>
          </p:cNvPr>
          <p:cNvSpPr>
            <a:spLocks noGrp="1"/>
          </p:cNvSpPr>
          <p:nvPr>
            <p:ph type="sldNum" sz="quarter" idx="12"/>
          </p:nvPr>
        </p:nvSpPr>
        <p:spPr/>
        <p:txBody>
          <a:bodyPr/>
          <a:lstStyle/>
          <a:p>
            <a:fld id="{4508398D-CB2D-4E05-B0AD-2365E6337147}" type="slidenum">
              <a:rPr lang="en-IN" smtClean="0"/>
              <a:t>‹#›</a:t>
            </a:fld>
            <a:endParaRPr lang="en-IN"/>
          </a:p>
        </p:txBody>
      </p:sp>
    </p:spTree>
    <p:extLst>
      <p:ext uri="{BB962C8B-B14F-4D97-AF65-F5344CB8AC3E}">
        <p14:creationId xmlns:p14="http://schemas.microsoft.com/office/powerpoint/2010/main" val="2999032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31F423-2A7F-4F65-8771-0BCC4CB242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9A397E0-AFF5-47B7-B0DB-CB708AD38A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278D5A71-7D76-4243-95AE-EF2C63EA61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F3CC575D-C260-4965-9BD5-E8EA059DDE11}"/>
              </a:ext>
            </a:extLst>
          </p:cNvPr>
          <p:cNvSpPr>
            <a:spLocks noGrp="1"/>
          </p:cNvSpPr>
          <p:nvPr>
            <p:ph type="dt" sz="half" idx="10"/>
          </p:nvPr>
        </p:nvSpPr>
        <p:spPr/>
        <p:txBody>
          <a:bodyPr/>
          <a:lstStyle/>
          <a:p>
            <a:fld id="{CC42BDA0-0CDB-45EB-90BA-E6F205A138F2}" type="datetimeFigureOut">
              <a:rPr lang="en-IN" smtClean="0"/>
              <a:t>09-11-2024</a:t>
            </a:fld>
            <a:endParaRPr lang="en-IN"/>
          </a:p>
        </p:txBody>
      </p:sp>
      <p:sp>
        <p:nvSpPr>
          <p:cNvPr id="6" name="Footer Placeholder 5">
            <a:extLst>
              <a:ext uri="{FF2B5EF4-FFF2-40B4-BE49-F238E27FC236}">
                <a16:creationId xmlns:a16="http://schemas.microsoft.com/office/drawing/2014/main" xmlns="" id="{E47095A8-6C04-4420-97F0-5F5017D31B4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822A99F2-AD65-4DE7-9EEC-185440A51FD5}"/>
              </a:ext>
            </a:extLst>
          </p:cNvPr>
          <p:cNvSpPr>
            <a:spLocks noGrp="1"/>
          </p:cNvSpPr>
          <p:nvPr>
            <p:ph type="sldNum" sz="quarter" idx="12"/>
          </p:nvPr>
        </p:nvSpPr>
        <p:spPr/>
        <p:txBody>
          <a:bodyPr/>
          <a:lstStyle/>
          <a:p>
            <a:fld id="{4508398D-CB2D-4E05-B0AD-2365E6337147}" type="slidenum">
              <a:rPr lang="en-IN" smtClean="0"/>
              <a:t>‹#›</a:t>
            </a:fld>
            <a:endParaRPr lang="en-IN"/>
          </a:p>
        </p:txBody>
      </p:sp>
    </p:spTree>
    <p:extLst>
      <p:ext uri="{BB962C8B-B14F-4D97-AF65-F5344CB8AC3E}">
        <p14:creationId xmlns:p14="http://schemas.microsoft.com/office/powerpoint/2010/main" val="2423679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075CB3-9630-470E-9369-51465085910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57F8140E-3FCB-4B57-AEC4-8096582C32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F5DC2477-CF0B-4527-95C1-45E042D14B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2372005E-8E22-46F7-8861-36B586F1A2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EF4E10D8-A3FB-4D2C-8D61-F2962C5D1A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963B78B9-C2C7-4960-83BB-771A24C8047A}"/>
              </a:ext>
            </a:extLst>
          </p:cNvPr>
          <p:cNvSpPr>
            <a:spLocks noGrp="1"/>
          </p:cNvSpPr>
          <p:nvPr>
            <p:ph type="dt" sz="half" idx="10"/>
          </p:nvPr>
        </p:nvSpPr>
        <p:spPr/>
        <p:txBody>
          <a:bodyPr/>
          <a:lstStyle/>
          <a:p>
            <a:fld id="{CC42BDA0-0CDB-45EB-90BA-E6F205A138F2}" type="datetimeFigureOut">
              <a:rPr lang="en-IN" smtClean="0"/>
              <a:t>09-11-2024</a:t>
            </a:fld>
            <a:endParaRPr lang="en-IN"/>
          </a:p>
        </p:txBody>
      </p:sp>
      <p:sp>
        <p:nvSpPr>
          <p:cNvPr id="8" name="Footer Placeholder 7">
            <a:extLst>
              <a:ext uri="{FF2B5EF4-FFF2-40B4-BE49-F238E27FC236}">
                <a16:creationId xmlns:a16="http://schemas.microsoft.com/office/drawing/2014/main" xmlns="" id="{A9DBE3EA-D61D-491C-9D30-2DFAAD131BF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2E884211-3641-477B-9D59-F4A3DEF28331}"/>
              </a:ext>
            </a:extLst>
          </p:cNvPr>
          <p:cNvSpPr>
            <a:spLocks noGrp="1"/>
          </p:cNvSpPr>
          <p:nvPr>
            <p:ph type="sldNum" sz="quarter" idx="12"/>
          </p:nvPr>
        </p:nvSpPr>
        <p:spPr/>
        <p:txBody>
          <a:bodyPr/>
          <a:lstStyle/>
          <a:p>
            <a:fld id="{4508398D-CB2D-4E05-B0AD-2365E6337147}" type="slidenum">
              <a:rPr lang="en-IN" smtClean="0"/>
              <a:t>‹#›</a:t>
            </a:fld>
            <a:endParaRPr lang="en-IN"/>
          </a:p>
        </p:txBody>
      </p:sp>
    </p:spTree>
    <p:extLst>
      <p:ext uri="{BB962C8B-B14F-4D97-AF65-F5344CB8AC3E}">
        <p14:creationId xmlns:p14="http://schemas.microsoft.com/office/powerpoint/2010/main" val="3810549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A82A63-9EC1-45EE-AA43-B8B6DB8B362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6C935AB0-1C46-40F5-9C3F-C3F8D35E60F9}"/>
              </a:ext>
            </a:extLst>
          </p:cNvPr>
          <p:cNvSpPr>
            <a:spLocks noGrp="1"/>
          </p:cNvSpPr>
          <p:nvPr>
            <p:ph type="dt" sz="half" idx="10"/>
          </p:nvPr>
        </p:nvSpPr>
        <p:spPr/>
        <p:txBody>
          <a:bodyPr/>
          <a:lstStyle/>
          <a:p>
            <a:fld id="{CC42BDA0-0CDB-45EB-90BA-E6F205A138F2}" type="datetimeFigureOut">
              <a:rPr lang="en-IN" smtClean="0"/>
              <a:t>09-11-2024</a:t>
            </a:fld>
            <a:endParaRPr lang="en-IN"/>
          </a:p>
        </p:txBody>
      </p:sp>
      <p:sp>
        <p:nvSpPr>
          <p:cNvPr id="4" name="Footer Placeholder 3">
            <a:extLst>
              <a:ext uri="{FF2B5EF4-FFF2-40B4-BE49-F238E27FC236}">
                <a16:creationId xmlns:a16="http://schemas.microsoft.com/office/drawing/2014/main" xmlns="" id="{386328D6-3043-41E5-AF26-4016133D714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95D8BA4E-5742-4AFA-94A8-AEEF889D9F1B}"/>
              </a:ext>
            </a:extLst>
          </p:cNvPr>
          <p:cNvSpPr>
            <a:spLocks noGrp="1"/>
          </p:cNvSpPr>
          <p:nvPr>
            <p:ph type="sldNum" sz="quarter" idx="12"/>
          </p:nvPr>
        </p:nvSpPr>
        <p:spPr/>
        <p:txBody>
          <a:bodyPr/>
          <a:lstStyle/>
          <a:p>
            <a:fld id="{4508398D-CB2D-4E05-B0AD-2365E6337147}" type="slidenum">
              <a:rPr lang="en-IN" smtClean="0"/>
              <a:t>‹#›</a:t>
            </a:fld>
            <a:endParaRPr lang="en-IN"/>
          </a:p>
        </p:txBody>
      </p:sp>
    </p:spTree>
    <p:extLst>
      <p:ext uri="{BB962C8B-B14F-4D97-AF65-F5344CB8AC3E}">
        <p14:creationId xmlns:p14="http://schemas.microsoft.com/office/powerpoint/2010/main" val="623628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E1DBA686-85E2-4EFF-B7DB-B27A604A71C3}"/>
              </a:ext>
            </a:extLst>
          </p:cNvPr>
          <p:cNvSpPr>
            <a:spLocks noGrp="1"/>
          </p:cNvSpPr>
          <p:nvPr>
            <p:ph type="dt" sz="half" idx="10"/>
          </p:nvPr>
        </p:nvSpPr>
        <p:spPr/>
        <p:txBody>
          <a:bodyPr/>
          <a:lstStyle/>
          <a:p>
            <a:fld id="{CC42BDA0-0CDB-45EB-90BA-E6F205A138F2}" type="datetimeFigureOut">
              <a:rPr lang="en-IN" smtClean="0"/>
              <a:t>09-11-2024</a:t>
            </a:fld>
            <a:endParaRPr lang="en-IN"/>
          </a:p>
        </p:txBody>
      </p:sp>
      <p:sp>
        <p:nvSpPr>
          <p:cNvPr id="3" name="Footer Placeholder 2">
            <a:extLst>
              <a:ext uri="{FF2B5EF4-FFF2-40B4-BE49-F238E27FC236}">
                <a16:creationId xmlns:a16="http://schemas.microsoft.com/office/drawing/2014/main" xmlns="" id="{5F4E9499-3FD9-412A-B154-A043B464D15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1B730EB0-91B1-4124-BEEA-55609720BBEF}"/>
              </a:ext>
            </a:extLst>
          </p:cNvPr>
          <p:cNvSpPr>
            <a:spLocks noGrp="1"/>
          </p:cNvSpPr>
          <p:nvPr>
            <p:ph type="sldNum" sz="quarter" idx="12"/>
          </p:nvPr>
        </p:nvSpPr>
        <p:spPr/>
        <p:txBody>
          <a:bodyPr/>
          <a:lstStyle/>
          <a:p>
            <a:fld id="{4508398D-CB2D-4E05-B0AD-2365E6337147}" type="slidenum">
              <a:rPr lang="en-IN" smtClean="0"/>
              <a:t>‹#›</a:t>
            </a:fld>
            <a:endParaRPr lang="en-IN"/>
          </a:p>
        </p:txBody>
      </p:sp>
    </p:spTree>
    <p:extLst>
      <p:ext uri="{BB962C8B-B14F-4D97-AF65-F5344CB8AC3E}">
        <p14:creationId xmlns:p14="http://schemas.microsoft.com/office/powerpoint/2010/main" val="3698825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A544B7-FD38-4CB1-825A-9CA9706EA3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04544442-56FF-440D-9355-8EBB8F26DA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05FFD47D-C11B-4CF4-A6DF-941FA18CD9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9F754602-577C-488E-9B90-8F7DDD54DD9C}"/>
              </a:ext>
            </a:extLst>
          </p:cNvPr>
          <p:cNvSpPr>
            <a:spLocks noGrp="1"/>
          </p:cNvSpPr>
          <p:nvPr>
            <p:ph type="dt" sz="half" idx="10"/>
          </p:nvPr>
        </p:nvSpPr>
        <p:spPr/>
        <p:txBody>
          <a:bodyPr/>
          <a:lstStyle/>
          <a:p>
            <a:fld id="{CC42BDA0-0CDB-45EB-90BA-E6F205A138F2}" type="datetimeFigureOut">
              <a:rPr lang="en-IN" smtClean="0"/>
              <a:t>09-11-2024</a:t>
            </a:fld>
            <a:endParaRPr lang="en-IN"/>
          </a:p>
        </p:txBody>
      </p:sp>
      <p:sp>
        <p:nvSpPr>
          <p:cNvPr id="6" name="Footer Placeholder 5">
            <a:extLst>
              <a:ext uri="{FF2B5EF4-FFF2-40B4-BE49-F238E27FC236}">
                <a16:creationId xmlns:a16="http://schemas.microsoft.com/office/drawing/2014/main" xmlns="" id="{5D1775B0-5A04-4CD3-86CA-E2661BD8EF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9DE23F1D-FDFE-4E72-9BA8-48AC075C88B5}"/>
              </a:ext>
            </a:extLst>
          </p:cNvPr>
          <p:cNvSpPr>
            <a:spLocks noGrp="1"/>
          </p:cNvSpPr>
          <p:nvPr>
            <p:ph type="sldNum" sz="quarter" idx="12"/>
          </p:nvPr>
        </p:nvSpPr>
        <p:spPr/>
        <p:txBody>
          <a:bodyPr/>
          <a:lstStyle/>
          <a:p>
            <a:fld id="{4508398D-CB2D-4E05-B0AD-2365E6337147}" type="slidenum">
              <a:rPr lang="en-IN" smtClean="0"/>
              <a:t>‹#›</a:t>
            </a:fld>
            <a:endParaRPr lang="en-IN"/>
          </a:p>
        </p:txBody>
      </p:sp>
    </p:spTree>
    <p:extLst>
      <p:ext uri="{BB962C8B-B14F-4D97-AF65-F5344CB8AC3E}">
        <p14:creationId xmlns:p14="http://schemas.microsoft.com/office/powerpoint/2010/main" val="2674421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794A3C-BE18-497C-9CC4-935F31DC3D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B8DE3CA7-B034-41D1-A03B-4F80673019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5AF4B594-7069-442D-88D4-8D13400443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A12AAC8-E8B7-4442-AF51-C74722020E77}"/>
              </a:ext>
            </a:extLst>
          </p:cNvPr>
          <p:cNvSpPr>
            <a:spLocks noGrp="1"/>
          </p:cNvSpPr>
          <p:nvPr>
            <p:ph type="dt" sz="half" idx="10"/>
          </p:nvPr>
        </p:nvSpPr>
        <p:spPr/>
        <p:txBody>
          <a:bodyPr/>
          <a:lstStyle/>
          <a:p>
            <a:fld id="{CC42BDA0-0CDB-45EB-90BA-E6F205A138F2}" type="datetimeFigureOut">
              <a:rPr lang="en-IN" smtClean="0"/>
              <a:t>09-11-2024</a:t>
            </a:fld>
            <a:endParaRPr lang="en-IN"/>
          </a:p>
        </p:txBody>
      </p:sp>
      <p:sp>
        <p:nvSpPr>
          <p:cNvPr id="6" name="Footer Placeholder 5">
            <a:extLst>
              <a:ext uri="{FF2B5EF4-FFF2-40B4-BE49-F238E27FC236}">
                <a16:creationId xmlns:a16="http://schemas.microsoft.com/office/drawing/2014/main" xmlns="" id="{9D1B935F-C57C-4F9C-BF0F-E251A779C0F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7BB496E6-91AF-4956-B524-52A1151C45BA}"/>
              </a:ext>
            </a:extLst>
          </p:cNvPr>
          <p:cNvSpPr>
            <a:spLocks noGrp="1"/>
          </p:cNvSpPr>
          <p:nvPr>
            <p:ph type="sldNum" sz="quarter" idx="12"/>
          </p:nvPr>
        </p:nvSpPr>
        <p:spPr/>
        <p:txBody>
          <a:bodyPr/>
          <a:lstStyle/>
          <a:p>
            <a:fld id="{4508398D-CB2D-4E05-B0AD-2365E6337147}" type="slidenum">
              <a:rPr lang="en-IN" smtClean="0"/>
              <a:t>‹#›</a:t>
            </a:fld>
            <a:endParaRPr lang="en-IN"/>
          </a:p>
        </p:txBody>
      </p:sp>
    </p:spTree>
    <p:extLst>
      <p:ext uri="{BB962C8B-B14F-4D97-AF65-F5344CB8AC3E}">
        <p14:creationId xmlns:p14="http://schemas.microsoft.com/office/powerpoint/2010/main" val="428542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DDFB63-1D3C-4B70-849E-19D6F1E4BF7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7387C1DB-4498-4ED6-B46A-33F88001F2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A6E5367-B1BF-45CB-8DE4-92104AFCBA80}"/>
              </a:ext>
            </a:extLst>
          </p:cNvPr>
          <p:cNvSpPr>
            <a:spLocks noGrp="1"/>
          </p:cNvSpPr>
          <p:nvPr>
            <p:ph type="dt" sz="half" idx="10"/>
          </p:nvPr>
        </p:nvSpPr>
        <p:spPr/>
        <p:txBody>
          <a:bodyPr/>
          <a:lstStyle/>
          <a:p>
            <a:fld id="{CC42BDA0-0CDB-45EB-90BA-E6F205A138F2}" type="datetimeFigureOut">
              <a:rPr lang="en-IN" smtClean="0"/>
              <a:t>09-11-2024</a:t>
            </a:fld>
            <a:endParaRPr lang="en-IN"/>
          </a:p>
        </p:txBody>
      </p:sp>
      <p:sp>
        <p:nvSpPr>
          <p:cNvPr id="5" name="Footer Placeholder 4">
            <a:extLst>
              <a:ext uri="{FF2B5EF4-FFF2-40B4-BE49-F238E27FC236}">
                <a16:creationId xmlns:a16="http://schemas.microsoft.com/office/drawing/2014/main" xmlns="" id="{707388F5-BF5F-40C5-95ED-0E7A23C97F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C9E4B11A-B311-4BCD-9138-FCE090F83BD1}"/>
              </a:ext>
            </a:extLst>
          </p:cNvPr>
          <p:cNvSpPr>
            <a:spLocks noGrp="1"/>
          </p:cNvSpPr>
          <p:nvPr>
            <p:ph type="sldNum" sz="quarter" idx="12"/>
          </p:nvPr>
        </p:nvSpPr>
        <p:spPr/>
        <p:txBody>
          <a:bodyPr/>
          <a:lstStyle/>
          <a:p>
            <a:fld id="{4508398D-CB2D-4E05-B0AD-2365E6337147}" type="slidenum">
              <a:rPr lang="en-IN" smtClean="0"/>
              <a:t>‹#›</a:t>
            </a:fld>
            <a:endParaRPr lang="en-IN"/>
          </a:p>
        </p:txBody>
      </p:sp>
    </p:spTree>
    <p:extLst>
      <p:ext uri="{BB962C8B-B14F-4D97-AF65-F5344CB8AC3E}">
        <p14:creationId xmlns:p14="http://schemas.microsoft.com/office/powerpoint/2010/main" val="3123792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6AC2105C-B65E-46FA-9F02-DE9390CC4C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9001DBCD-47BB-4EF9-AF45-966308D7A2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577F415B-DDAB-4B3E-AA1A-21F1BC8D0CF0}"/>
              </a:ext>
            </a:extLst>
          </p:cNvPr>
          <p:cNvSpPr>
            <a:spLocks noGrp="1"/>
          </p:cNvSpPr>
          <p:nvPr>
            <p:ph type="dt" sz="half" idx="10"/>
          </p:nvPr>
        </p:nvSpPr>
        <p:spPr/>
        <p:txBody>
          <a:bodyPr/>
          <a:lstStyle/>
          <a:p>
            <a:fld id="{CC42BDA0-0CDB-45EB-90BA-E6F205A138F2}" type="datetimeFigureOut">
              <a:rPr lang="en-IN" smtClean="0"/>
              <a:t>09-11-2024</a:t>
            </a:fld>
            <a:endParaRPr lang="en-IN"/>
          </a:p>
        </p:txBody>
      </p:sp>
      <p:sp>
        <p:nvSpPr>
          <p:cNvPr id="5" name="Footer Placeholder 4">
            <a:extLst>
              <a:ext uri="{FF2B5EF4-FFF2-40B4-BE49-F238E27FC236}">
                <a16:creationId xmlns:a16="http://schemas.microsoft.com/office/drawing/2014/main" xmlns="" id="{3A58921F-BAC7-4D73-8F70-25333BFF5F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AC0D4F6-E15F-46A9-8383-3A98CA73F936}"/>
              </a:ext>
            </a:extLst>
          </p:cNvPr>
          <p:cNvSpPr>
            <a:spLocks noGrp="1"/>
          </p:cNvSpPr>
          <p:nvPr>
            <p:ph type="sldNum" sz="quarter" idx="12"/>
          </p:nvPr>
        </p:nvSpPr>
        <p:spPr/>
        <p:txBody>
          <a:bodyPr/>
          <a:lstStyle/>
          <a:p>
            <a:fld id="{4508398D-CB2D-4E05-B0AD-2365E6337147}" type="slidenum">
              <a:rPr lang="en-IN" smtClean="0"/>
              <a:t>‹#›</a:t>
            </a:fld>
            <a:endParaRPr lang="en-IN"/>
          </a:p>
        </p:txBody>
      </p:sp>
    </p:spTree>
    <p:extLst>
      <p:ext uri="{BB962C8B-B14F-4D97-AF65-F5344CB8AC3E}">
        <p14:creationId xmlns:p14="http://schemas.microsoft.com/office/powerpoint/2010/main" val="2929353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15D9182-CE88-4EE7-8806-1E601BE56D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1896BFD-B2CC-42DF-9CF2-F4DE158712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B3C7EC6-486D-4BE5-AE03-4442C20DAA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42BDA0-0CDB-45EB-90BA-E6F205A138F2}" type="datetimeFigureOut">
              <a:rPr lang="en-IN" smtClean="0"/>
              <a:t>09-11-2024</a:t>
            </a:fld>
            <a:endParaRPr lang="en-IN"/>
          </a:p>
        </p:txBody>
      </p:sp>
      <p:sp>
        <p:nvSpPr>
          <p:cNvPr id="5" name="Footer Placeholder 4">
            <a:extLst>
              <a:ext uri="{FF2B5EF4-FFF2-40B4-BE49-F238E27FC236}">
                <a16:creationId xmlns:a16="http://schemas.microsoft.com/office/drawing/2014/main" xmlns="" id="{3922A524-18CD-4593-9B06-992F77038D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7AF6EF63-CFFE-4663-96FC-8D9AB40B94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08398D-CB2D-4E05-B0AD-2365E6337147}" type="slidenum">
              <a:rPr lang="en-IN" smtClean="0"/>
              <a:t>‹#›</a:t>
            </a:fld>
            <a:endParaRPr lang="en-IN"/>
          </a:p>
        </p:txBody>
      </p:sp>
    </p:spTree>
    <p:extLst>
      <p:ext uri="{BB962C8B-B14F-4D97-AF65-F5344CB8AC3E}">
        <p14:creationId xmlns:p14="http://schemas.microsoft.com/office/powerpoint/2010/main" val="42016929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363CE8-BB9E-4A75-A291-8CBA7D3B6BDA}"/>
              </a:ext>
            </a:extLst>
          </p:cNvPr>
          <p:cNvSpPr>
            <a:spLocks noGrp="1"/>
          </p:cNvSpPr>
          <p:nvPr>
            <p:ph type="ctrTitle"/>
          </p:nvPr>
        </p:nvSpPr>
        <p:spPr/>
        <p:txBody>
          <a:bodyPr/>
          <a:lstStyle/>
          <a:p>
            <a:r>
              <a:rPr lang="en-US" dirty="0"/>
              <a:t>CENTRAL NERVOUS </a:t>
            </a:r>
            <a:r>
              <a:rPr lang="en-US" dirty="0" smtClean="0"/>
              <a:t>SYSTEM-2</a:t>
            </a:r>
            <a:endParaRPr lang="en-IN" dirty="0"/>
          </a:p>
        </p:txBody>
      </p:sp>
    </p:spTree>
    <p:extLst>
      <p:ext uri="{BB962C8B-B14F-4D97-AF65-F5344CB8AC3E}">
        <p14:creationId xmlns:p14="http://schemas.microsoft.com/office/powerpoint/2010/main" val="2088734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462" y="136733"/>
            <a:ext cx="11647917" cy="6657174"/>
          </a:xfrm>
        </p:spPr>
        <p:txBody>
          <a:bodyPr/>
          <a:lstStyle/>
          <a:p>
            <a:pPr marL="0" indent="0">
              <a:buNone/>
            </a:pPr>
            <a:r>
              <a:rPr lang="en-US" dirty="0" smtClean="0"/>
              <a:t>                                   NERVOUS SYSIEM</a:t>
            </a:r>
          </a:p>
          <a:p>
            <a:endParaRPr lang="en-US" dirty="0"/>
          </a:p>
          <a:p>
            <a:endParaRPr lang="en-US" dirty="0" smtClean="0"/>
          </a:p>
          <a:p>
            <a:pPr marL="0" indent="0">
              <a:buNone/>
            </a:pPr>
            <a:r>
              <a:rPr lang="en-US" dirty="0"/>
              <a:t> </a:t>
            </a:r>
            <a:r>
              <a:rPr lang="en-US" dirty="0" smtClean="0"/>
              <a:t>           CENTRAL NERVOUS SYSTEM            PERIPHERAL NERVOUS SYSTEM</a:t>
            </a:r>
          </a:p>
          <a:p>
            <a:endParaRPr lang="en-US" dirty="0"/>
          </a:p>
          <a:p>
            <a:endParaRPr lang="en-US" dirty="0" smtClean="0"/>
          </a:p>
          <a:p>
            <a:pPr marL="0" indent="0">
              <a:buNone/>
            </a:pPr>
            <a:r>
              <a:rPr lang="en-US" dirty="0"/>
              <a:t> </a:t>
            </a:r>
            <a:r>
              <a:rPr lang="en-US" dirty="0" smtClean="0"/>
              <a:t>           BRAIN             SPINAL CORD       AUTONOMIC                 SOMATIC </a:t>
            </a:r>
          </a:p>
          <a:p>
            <a:pPr marL="0" indent="0">
              <a:buNone/>
            </a:pPr>
            <a:r>
              <a:rPr lang="en-US" dirty="0"/>
              <a:t> </a:t>
            </a:r>
            <a:r>
              <a:rPr lang="en-US" dirty="0" smtClean="0"/>
              <a:t>                                                                NERVOUS SYSTEM        NERVOUS SYSTEM</a:t>
            </a:r>
          </a:p>
          <a:p>
            <a:endParaRPr lang="en-US" dirty="0"/>
          </a:p>
          <a:p>
            <a:endParaRPr lang="en-US" dirty="0" smtClean="0"/>
          </a:p>
          <a:p>
            <a:pPr marL="0" indent="0">
              <a:buNone/>
            </a:pPr>
            <a:r>
              <a:rPr lang="en-US" dirty="0"/>
              <a:t> </a:t>
            </a:r>
            <a:r>
              <a:rPr lang="en-US" dirty="0" smtClean="0"/>
              <a:t>                                     SYMPATHETIC                 PARASYMPATHETIC</a:t>
            </a:r>
          </a:p>
          <a:p>
            <a:pPr marL="0" indent="0">
              <a:buNone/>
            </a:pPr>
            <a:r>
              <a:rPr lang="en-US" dirty="0"/>
              <a:t> </a:t>
            </a:r>
            <a:r>
              <a:rPr lang="en-US" dirty="0" smtClean="0"/>
              <a:t>                                 NERVOUS SYSTEM                NERVOUS SYSTEM</a:t>
            </a:r>
            <a:endParaRPr lang="en-US" dirty="0"/>
          </a:p>
        </p:txBody>
      </p:sp>
      <p:sp>
        <p:nvSpPr>
          <p:cNvPr id="4" name="Down Arrow 3"/>
          <p:cNvSpPr/>
          <p:nvPr/>
        </p:nvSpPr>
        <p:spPr>
          <a:xfrm>
            <a:off x="4486542" y="581114"/>
            <a:ext cx="51275" cy="4956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flipV="1">
            <a:off x="3255948" y="1136591"/>
            <a:ext cx="3341405" cy="1"/>
          </a:xfrm>
          <a:prstGeom prst="line">
            <a:avLst/>
          </a:prstGeom>
        </p:spPr>
        <p:style>
          <a:lnRef idx="1">
            <a:schemeClr val="accent1"/>
          </a:lnRef>
          <a:fillRef idx="0">
            <a:schemeClr val="accent1"/>
          </a:fillRef>
          <a:effectRef idx="0">
            <a:schemeClr val="accent1"/>
          </a:effectRef>
          <a:fontRef idx="minor">
            <a:schemeClr val="tx1"/>
          </a:fontRef>
        </p:style>
      </p:cxnSp>
      <p:sp>
        <p:nvSpPr>
          <p:cNvPr id="7" name="Down Arrow 6"/>
          <p:cNvSpPr/>
          <p:nvPr/>
        </p:nvSpPr>
        <p:spPr>
          <a:xfrm>
            <a:off x="3233088" y="1136591"/>
            <a:ext cx="45719" cy="3161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wn Arrow 7"/>
          <p:cNvSpPr/>
          <p:nvPr/>
        </p:nvSpPr>
        <p:spPr>
          <a:xfrm flipH="1">
            <a:off x="6574493" y="1145138"/>
            <a:ext cx="45719" cy="37601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own Arrow 9"/>
          <p:cNvSpPr/>
          <p:nvPr/>
        </p:nvSpPr>
        <p:spPr>
          <a:xfrm>
            <a:off x="3210229" y="2127903"/>
            <a:ext cx="45719" cy="39310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p:nvPr/>
        </p:nvCxnSpPr>
        <p:spPr>
          <a:xfrm flipV="1">
            <a:off x="2025353" y="2572284"/>
            <a:ext cx="2709017" cy="25637"/>
          </a:xfrm>
          <a:prstGeom prst="line">
            <a:avLst/>
          </a:prstGeom>
        </p:spPr>
        <p:style>
          <a:lnRef idx="1">
            <a:schemeClr val="accent1"/>
          </a:lnRef>
          <a:fillRef idx="0">
            <a:schemeClr val="accent1"/>
          </a:fillRef>
          <a:effectRef idx="0">
            <a:schemeClr val="accent1"/>
          </a:effectRef>
          <a:fontRef idx="minor">
            <a:schemeClr val="tx1"/>
          </a:fontRef>
        </p:style>
      </p:cxnSp>
      <p:sp>
        <p:nvSpPr>
          <p:cNvPr id="13" name="Down Arrow 12"/>
          <p:cNvSpPr/>
          <p:nvPr/>
        </p:nvSpPr>
        <p:spPr>
          <a:xfrm>
            <a:off x="1939895" y="2623559"/>
            <a:ext cx="68367" cy="35892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p:cNvSpPr/>
          <p:nvPr/>
        </p:nvSpPr>
        <p:spPr>
          <a:xfrm flipH="1">
            <a:off x="4734370" y="2572284"/>
            <a:ext cx="45719" cy="38456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p:cNvSpPr/>
          <p:nvPr/>
        </p:nvSpPr>
        <p:spPr>
          <a:xfrm>
            <a:off x="8670991" y="2127903"/>
            <a:ext cx="45719" cy="47001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p:nvPr/>
        </p:nvCxnSpPr>
        <p:spPr>
          <a:xfrm>
            <a:off x="3649054" y="1956987"/>
            <a:ext cx="606752" cy="427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7118647" y="2623559"/>
            <a:ext cx="3025211"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Down Arrow 19"/>
          <p:cNvSpPr/>
          <p:nvPr/>
        </p:nvSpPr>
        <p:spPr>
          <a:xfrm>
            <a:off x="7169921" y="2623559"/>
            <a:ext cx="45719" cy="45292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own Arrow 20"/>
          <p:cNvSpPr/>
          <p:nvPr/>
        </p:nvSpPr>
        <p:spPr>
          <a:xfrm>
            <a:off x="10143858" y="2649198"/>
            <a:ext cx="59821" cy="41019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own Arrow 21"/>
          <p:cNvSpPr/>
          <p:nvPr/>
        </p:nvSpPr>
        <p:spPr>
          <a:xfrm>
            <a:off x="6725540" y="4221622"/>
            <a:ext cx="119641" cy="49565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p:cNvCxnSpPr/>
          <p:nvPr/>
        </p:nvCxnSpPr>
        <p:spPr>
          <a:xfrm flipV="1">
            <a:off x="5392396" y="4811282"/>
            <a:ext cx="2811567" cy="17092"/>
          </a:xfrm>
          <a:prstGeom prst="line">
            <a:avLst/>
          </a:prstGeom>
        </p:spPr>
        <p:style>
          <a:lnRef idx="1">
            <a:schemeClr val="accent1"/>
          </a:lnRef>
          <a:fillRef idx="0">
            <a:schemeClr val="accent1"/>
          </a:fillRef>
          <a:effectRef idx="0">
            <a:schemeClr val="accent1"/>
          </a:effectRef>
          <a:fontRef idx="minor">
            <a:schemeClr val="tx1"/>
          </a:fontRef>
        </p:style>
      </p:cxnSp>
      <p:sp>
        <p:nvSpPr>
          <p:cNvPr id="25" name="Down Arrow 24"/>
          <p:cNvSpPr/>
          <p:nvPr/>
        </p:nvSpPr>
        <p:spPr>
          <a:xfrm>
            <a:off x="5349667" y="4811282"/>
            <a:ext cx="68367" cy="4101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Down Arrow 25"/>
          <p:cNvSpPr/>
          <p:nvPr/>
        </p:nvSpPr>
        <p:spPr>
          <a:xfrm>
            <a:off x="8098423" y="4828374"/>
            <a:ext cx="45719" cy="4956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8765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912" y="205099"/>
            <a:ext cx="12268912" cy="5971864"/>
          </a:xfrm>
        </p:spPr>
        <p:txBody>
          <a:bodyPr>
            <a:normAutofit/>
          </a:bodyPr>
          <a:lstStyle/>
          <a:p>
            <a:r>
              <a:rPr lang="en-US" sz="2400" dirty="0" smtClean="0"/>
              <a:t>                                                           BRAIN</a:t>
            </a:r>
          </a:p>
          <a:p>
            <a:endParaRPr lang="en-US" sz="2400" dirty="0"/>
          </a:p>
          <a:p>
            <a:endParaRPr lang="en-US" sz="2400" dirty="0" smtClean="0"/>
          </a:p>
          <a:p>
            <a:r>
              <a:rPr lang="en-US" sz="2400" dirty="0" smtClean="0"/>
              <a:t>FOREBRAIN                                               MIDBRAIN                                 HINDBRAIN</a:t>
            </a:r>
          </a:p>
          <a:p>
            <a:r>
              <a:rPr lang="en-US" sz="2400" dirty="0" smtClean="0"/>
              <a:t>[PROSENCEPHALON]                   [MESENCEPHALON]                       [RHOMBENCEPHALON]</a:t>
            </a:r>
          </a:p>
          <a:p>
            <a:endParaRPr lang="en-US" sz="2400" dirty="0"/>
          </a:p>
          <a:p>
            <a:endParaRPr lang="en-US" sz="2400" dirty="0" smtClean="0"/>
          </a:p>
          <a:p>
            <a:r>
              <a:rPr lang="en-US" sz="2400" dirty="0" smtClean="0"/>
              <a:t>TELENCEPHALON           DIENCEPHALON                                  1.Pons                    Medulla oblongata</a:t>
            </a:r>
          </a:p>
          <a:p>
            <a:r>
              <a:rPr lang="en-US" sz="2400" dirty="0" smtClean="0"/>
              <a:t>1. Cerebrum                      1.  Thalamus                                     2.Cerebellum</a:t>
            </a:r>
          </a:p>
          <a:p>
            <a:r>
              <a:rPr lang="en-US" sz="2400" dirty="0" smtClean="0"/>
              <a:t>2. Basal ganglion               2. Hypothalamus</a:t>
            </a:r>
          </a:p>
          <a:p>
            <a:r>
              <a:rPr lang="en-US" sz="2400" dirty="0" smtClean="0"/>
              <a:t>3.Amygdala</a:t>
            </a:r>
          </a:p>
          <a:p>
            <a:r>
              <a:rPr lang="en-US" sz="2400" dirty="0" smtClean="0"/>
              <a:t>4. Hippocampus</a:t>
            </a:r>
            <a:endParaRPr lang="en-US" sz="2400" dirty="0"/>
          </a:p>
          <a:p>
            <a:r>
              <a:rPr lang="en-US" sz="2400" dirty="0" smtClean="0"/>
              <a:t>                                                                     </a:t>
            </a:r>
            <a:r>
              <a:rPr lang="en-US" dirty="0" smtClean="0"/>
              <a:t>  </a:t>
            </a:r>
            <a:endParaRPr lang="en-US" dirty="0"/>
          </a:p>
        </p:txBody>
      </p:sp>
      <p:sp>
        <p:nvSpPr>
          <p:cNvPr id="4" name="Down Arrow 3"/>
          <p:cNvSpPr/>
          <p:nvPr/>
        </p:nvSpPr>
        <p:spPr>
          <a:xfrm>
            <a:off x="4700187" y="666572"/>
            <a:ext cx="45719" cy="4358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flipV="1">
            <a:off x="1777525" y="1153682"/>
            <a:ext cx="7913406" cy="17092"/>
          </a:xfrm>
          <a:prstGeom prst="line">
            <a:avLst/>
          </a:prstGeom>
        </p:spPr>
        <p:style>
          <a:lnRef idx="1">
            <a:schemeClr val="accent1"/>
          </a:lnRef>
          <a:fillRef idx="0">
            <a:schemeClr val="accent1"/>
          </a:fillRef>
          <a:effectRef idx="0">
            <a:schemeClr val="accent1"/>
          </a:effectRef>
          <a:fontRef idx="minor">
            <a:schemeClr val="tx1"/>
          </a:fontRef>
        </p:style>
      </p:cxnSp>
      <p:sp>
        <p:nvSpPr>
          <p:cNvPr id="7" name="Down Arrow 6"/>
          <p:cNvSpPr/>
          <p:nvPr/>
        </p:nvSpPr>
        <p:spPr>
          <a:xfrm>
            <a:off x="1754665" y="1239140"/>
            <a:ext cx="45719" cy="36746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wn Arrow 7"/>
          <p:cNvSpPr/>
          <p:nvPr/>
        </p:nvSpPr>
        <p:spPr>
          <a:xfrm>
            <a:off x="5785503" y="1170774"/>
            <a:ext cx="45719" cy="4358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own Arrow 8"/>
          <p:cNvSpPr/>
          <p:nvPr/>
        </p:nvSpPr>
        <p:spPr>
          <a:xfrm>
            <a:off x="9554198" y="1196412"/>
            <a:ext cx="59821" cy="4101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p:cNvSpPr/>
          <p:nvPr/>
        </p:nvSpPr>
        <p:spPr>
          <a:xfrm>
            <a:off x="1384419" y="2401368"/>
            <a:ext cx="45719" cy="50420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a:off x="444381" y="2905570"/>
            <a:ext cx="3070931"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Down Arrow 15"/>
          <p:cNvSpPr/>
          <p:nvPr/>
        </p:nvSpPr>
        <p:spPr>
          <a:xfrm>
            <a:off x="390117" y="2905570"/>
            <a:ext cx="45719" cy="35037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Down Arrow 16"/>
          <p:cNvSpPr/>
          <p:nvPr/>
        </p:nvSpPr>
        <p:spPr>
          <a:xfrm>
            <a:off x="3469593" y="2905570"/>
            <a:ext cx="45719" cy="4101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own Arrow 19"/>
          <p:cNvSpPr/>
          <p:nvPr/>
        </p:nvSpPr>
        <p:spPr>
          <a:xfrm>
            <a:off x="9195275" y="2401368"/>
            <a:ext cx="45719" cy="3418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p:nvCxnSpPr>
        <p:spPr>
          <a:xfrm flipV="1">
            <a:off x="7477570" y="2828658"/>
            <a:ext cx="3876230" cy="8546"/>
          </a:xfrm>
          <a:prstGeom prst="line">
            <a:avLst/>
          </a:prstGeom>
        </p:spPr>
        <p:style>
          <a:lnRef idx="1">
            <a:schemeClr val="accent1"/>
          </a:lnRef>
          <a:fillRef idx="0">
            <a:schemeClr val="accent1"/>
          </a:fillRef>
          <a:effectRef idx="0">
            <a:schemeClr val="accent1"/>
          </a:effectRef>
          <a:fontRef idx="minor">
            <a:schemeClr val="tx1"/>
          </a:fontRef>
        </p:style>
      </p:cxnSp>
      <p:sp>
        <p:nvSpPr>
          <p:cNvPr id="24" name="Down Arrow 23"/>
          <p:cNvSpPr/>
          <p:nvPr/>
        </p:nvSpPr>
        <p:spPr>
          <a:xfrm>
            <a:off x="7477570" y="2828658"/>
            <a:ext cx="45719" cy="4187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Down Arrow 24"/>
          <p:cNvSpPr/>
          <p:nvPr/>
        </p:nvSpPr>
        <p:spPr>
          <a:xfrm>
            <a:off x="11379437" y="2897024"/>
            <a:ext cx="45719" cy="4187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1854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1095" y="179462"/>
            <a:ext cx="11818834" cy="6315342"/>
          </a:xfrm>
        </p:spPr>
        <p:txBody>
          <a:bodyPr/>
          <a:lstStyle/>
          <a:p>
            <a:r>
              <a:rPr lang="en-US" dirty="0" smtClean="0"/>
              <a:t>                                             BRAIN</a:t>
            </a:r>
          </a:p>
          <a:p>
            <a:pPr marL="0" indent="0">
              <a:buNone/>
            </a:pPr>
            <a:r>
              <a:rPr lang="en-US" sz="1800" dirty="0" smtClean="0"/>
              <a:t>Form 3% of body weight and it weighs about 1.5 kg. Brain and spinal cord are covered by three coverings like pia mater, arachnoid mater and Dura mater. Subdural space  between dura and arachnoid mater is filled with tissue fluid and Sub arachnoid space is filled with cerebrospinal fluid. Brain is divided into three regions</a:t>
            </a:r>
          </a:p>
          <a:p>
            <a:pPr marL="342900" indent="-342900">
              <a:buAutoNum type="arabicPeriod"/>
            </a:pPr>
            <a:r>
              <a:rPr lang="en-US" sz="1800" dirty="0" smtClean="0"/>
              <a:t>FORE BRAIN or PROSENCEPHALON</a:t>
            </a:r>
          </a:p>
          <a:p>
            <a:pPr marL="0" indent="0">
              <a:buNone/>
            </a:pPr>
            <a:r>
              <a:rPr lang="en-US" sz="1800" dirty="0" smtClean="0"/>
              <a:t>     A. TELENCEPHALON or CEREBRUM</a:t>
            </a:r>
          </a:p>
          <a:p>
            <a:pPr marL="0" indent="0">
              <a:buNone/>
            </a:pPr>
            <a:r>
              <a:rPr lang="en-US" sz="1800" dirty="0"/>
              <a:t> </a:t>
            </a:r>
            <a:r>
              <a:rPr lang="en-US" sz="1800" dirty="0" smtClean="0"/>
              <a:t>   B. DIENCEPHALON --- THALAMUS, SUB THALAMUS [ RED NUCLEUS , SUBSTANTIA NIGRA &amp; SUBTHALAMIC NUCLEUS], EPITHALAMUS [HABENULAR NUCLEUS &amp; PINEAL GLAND]&amp; HYPOTHALAMUS </a:t>
            </a:r>
          </a:p>
          <a:p>
            <a:pPr marL="0" indent="0">
              <a:buNone/>
            </a:pPr>
            <a:r>
              <a:rPr lang="en-US" sz="1800" dirty="0" smtClean="0"/>
              <a:t>2. MID BRAIN or MESENCEPHALON</a:t>
            </a:r>
          </a:p>
          <a:p>
            <a:pPr marL="0" indent="0">
              <a:buNone/>
            </a:pPr>
            <a:r>
              <a:rPr lang="en-US" sz="1800" dirty="0" smtClean="0"/>
              <a:t>3. HIND BRAIN or RHOMBENCEPHALON--- CEREBELLUM, PONS AND MEDULLA.</a:t>
            </a:r>
          </a:p>
          <a:p>
            <a:pPr marL="0" indent="0">
              <a:buNone/>
            </a:pPr>
            <a:r>
              <a:rPr lang="en-US" sz="1800" dirty="0"/>
              <a:t> </a:t>
            </a:r>
            <a:r>
              <a:rPr lang="en-US" sz="1800" dirty="0" smtClean="0"/>
              <a:t>                                                                </a:t>
            </a:r>
            <a:r>
              <a:rPr lang="en-US" dirty="0" smtClean="0"/>
              <a:t>CEREBRUM</a:t>
            </a:r>
          </a:p>
          <a:p>
            <a:pPr marL="0" indent="0">
              <a:buNone/>
            </a:pPr>
            <a:r>
              <a:rPr lang="en-US" sz="1800" dirty="0" smtClean="0"/>
              <a:t>It form the largest part of brain. Surface is covered by 2-4 mm thick grey matter known as cerebral cortex. Cerebral hemisphere is divided into four lobes like Frontal[motor function], Parietal, Temporal[hearing] and occipital[vision]</a:t>
            </a:r>
          </a:p>
          <a:p>
            <a:pPr marL="0" indent="0">
              <a:buNone/>
            </a:pPr>
            <a:r>
              <a:rPr lang="en-US" sz="1800" dirty="0" smtClean="0"/>
              <a:t>There are two cerebral hemispheres like Right and Left. Left cerebral hemisphere[Categorical hemisphere] performs language related motor functions like speech, reading and writing etc.  Right cerebral hemisphere[Representational hemisphere] performs functions like ability to appreciate music , artistic skills, stereo gnosis etc.  </a:t>
            </a:r>
            <a:endParaRPr lang="en-US" sz="1800" dirty="0"/>
          </a:p>
        </p:txBody>
      </p:sp>
    </p:spTree>
    <p:extLst>
      <p:ext uri="{BB962C8B-B14F-4D97-AF65-F5344CB8AC3E}">
        <p14:creationId xmlns:p14="http://schemas.microsoft.com/office/powerpoint/2010/main" val="21495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1095" y="0"/>
            <a:ext cx="12080905" cy="6858000"/>
          </a:xfrm>
        </p:spPr>
        <p:txBody>
          <a:bodyPr/>
          <a:lstStyle/>
          <a:p>
            <a:pPr lvl="1"/>
            <a:r>
              <a:rPr lang="en-US" dirty="0" smtClean="0"/>
              <a:t>FUNCTIONS OF CEREBRUM</a:t>
            </a:r>
          </a:p>
          <a:p>
            <a:pPr lvl="1"/>
            <a:r>
              <a:rPr lang="en-US" dirty="0" smtClean="0"/>
              <a:t>Help to interpret touch, speech, vision, hearing, reasoning, emotions, learning and fine control of movements.</a:t>
            </a:r>
          </a:p>
          <a:p>
            <a:pPr lvl="1"/>
            <a:r>
              <a:rPr lang="en-US" dirty="0" smtClean="0"/>
              <a:t>THALAMUS</a:t>
            </a:r>
          </a:p>
          <a:p>
            <a:pPr lvl="1"/>
            <a:r>
              <a:rPr lang="en-US" dirty="0" smtClean="0"/>
              <a:t>Receive senses [except smell] , regulate level of consciousness. Manage motor and cognitive functions</a:t>
            </a:r>
          </a:p>
          <a:p>
            <a:pPr lvl="1"/>
            <a:r>
              <a:rPr lang="en-US" dirty="0" smtClean="0"/>
              <a:t>HYPOTHALAMUS</a:t>
            </a:r>
          </a:p>
          <a:p>
            <a:pPr lvl="1"/>
            <a:r>
              <a:rPr lang="en-US" dirty="0" smtClean="0"/>
              <a:t>Regulate sleep, hunger and body temperature</a:t>
            </a:r>
          </a:p>
          <a:p>
            <a:pPr lvl="1"/>
            <a:r>
              <a:rPr lang="en-US" dirty="0" smtClean="0"/>
              <a:t>HIPPOCAMPUS- Learning and memory</a:t>
            </a:r>
          </a:p>
          <a:p>
            <a:pPr lvl="1"/>
            <a:r>
              <a:rPr lang="en-US" dirty="0" smtClean="0"/>
              <a:t>AMYGDALA- Control fear, memory, trigger sexual desire</a:t>
            </a:r>
          </a:p>
          <a:p>
            <a:pPr lvl="1"/>
            <a:r>
              <a:rPr lang="en-US" dirty="0" smtClean="0"/>
              <a:t>BRAIN STEM-MID BRAIN ,PONS AND MEDULLA</a:t>
            </a:r>
          </a:p>
          <a:p>
            <a:pPr marL="457200" lvl="1" indent="0">
              <a:buNone/>
            </a:pPr>
            <a:r>
              <a:rPr lang="en-US" dirty="0" smtClean="0"/>
              <a:t>         Relays signals between brain and spinal cord and manage basic involuntary functions.</a:t>
            </a:r>
          </a:p>
          <a:p>
            <a:pPr lvl="1"/>
            <a:r>
              <a:rPr lang="en-US" dirty="0" smtClean="0"/>
              <a:t>PONS- </a:t>
            </a:r>
            <a:r>
              <a:rPr lang="en-US" dirty="0"/>
              <a:t>b</a:t>
            </a:r>
            <a:r>
              <a:rPr lang="en-US" dirty="0" smtClean="0"/>
              <a:t>reathing rhythm</a:t>
            </a:r>
          </a:p>
          <a:p>
            <a:pPr lvl="1"/>
            <a:r>
              <a:rPr lang="en-US" dirty="0" smtClean="0"/>
              <a:t>MEDULLA- Respiration, circulation, digestion, swallowing, coughing </a:t>
            </a:r>
          </a:p>
          <a:p>
            <a:pPr lvl="1"/>
            <a:r>
              <a:rPr lang="en-US" dirty="0" smtClean="0"/>
              <a:t>MIDBRAIN- vision, hearing and motor control.</a:t>
            </a:r>
          </a:p>
          <a:p>
            <a:pPr lvl="1"/>
            <a:r>
              <a:rPr lang="en-US" dirty="0" smtClean="0"/>
              <a:t>CEREBELLUM- maintain posture and balance</a:t>
            </a:r>
            <a:endParaRPr lang="en-US" dirty="0"/>
          </a:p>
        </p:txBody>
      </p:sp>
    </p:spTree>
    <p:extLst>
      <p:ext uri="{BB962C8B-B14F-4D97-AF65-F5344CB8AC3E}">
        <p14:creationId xmlns:p14="http://schemas.microsoft.com/office/powerpoint/2010/main" val="1026803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9295" y="0"/>
            <a:ext cx="10515600" cy="583458"/>
          </a:xfrm>
        </p:spPr>
        <p:txBody>
          <a:bodyPr>
            <a:normAutofit fontScale="90000"/>
          </a:bodyPr>
          <a:lstStyle/>
          <a:p>
            <a:r>
              <a:rPr lang="en-US" dirty="0" smtClean="0"/>
              <a:t>                                  NEURON</a:t>
            </a:r>
            <a:endParaRPr lang="en-US" dirty="0"/>
          </a:p>
        </p:txBody>
      </p:sp>
      <p:sp>
        <p:nvSpPr>
          <p:cNvPr id="3" name="Content Placeholder 2"/>
          <p:cNvSpPr>
            <a:spLocks noGrp="1"/>
          </p:cNvSpPr>
          <p:nvPr>
            <p:ph idx="1"/>
          </p:nvPr>
        </p:nvSpPr>
        <p:spPr>
          <a:xfrm>
            <a:off x="85457" y="452926"/>
            <a:ext cx="12015387" cy="6272613"/>
          </a:xfrm>
        </p:spPr>
        <p:txBody>
          <a:bodyPr>
            <a:normAutofit fontScale="92500" lnSpcReduction="10000"/>
          </a:bodyPr>
          <a:lstStyle/>
          <a:p>
            <a:r>
              <a:rPr lang="en-US" sz="2100" dirty="0" smtClean="0"/>
              <a:t>Neuron is the structural and functional unit of nervous system. There are 100 million neurons in the body. Centromere is absent so it cannot </a:t>
            </a:r>
            <a:r>
              <a:rPr lang="en-US" sz="1800" dirty="0" smtClean="0"/>
              <a:t>divide. </a:t>
            </a:r>
          </a:p>
          <a:p>
            <a:pPr marL="0" indent="0">
              <a:buNone/>
            </a:pPr>
            <a:r>
              <a:rPr lang="en-US" sz="1800" dirty="0"/>
              <a:t> </a:t>
            </a:r>
            <a:r>
              <a:rPr lang="en-US" sz="1800" dirty="0" smtClean="0"/>
              <a:t>                                                      </a:t>
            </a:r>
            <a:r>
              <a:rPr lang="en-US" sz="2400" dirty="0" smtClean="0"/>
              <a:t>STRUCTURE OF NEURON</a:t>
            </a:r>
          </a:p>
          <a:p>
            <a:r>
              <a:rPr lang="en-US" sz="2400" dirty="0" smtClean="0"/>
              <a:t>It consist of cell body, dendrites and axon</a:t>
            </a:r>
          </a:p>
          <a:p>
            <a:pPr marL="0" indent="0">
              <a:buNone/>
            </a:pPr>
            <a:r>
              <a:rPr lang="en-US" sz="2400" dirty="0"/>
              <a:t> </a:t>
            </a:r>
            <a:r>
              <a:rPr lang="en-US" sz="2400" dirty="0" smtClean="0"/>
              <a:t>                                               CELL BODY</a:t>
            </a:r>
          </a:p>
          <a:p>
            <a:pPr marL="0" indent="0">
              <a:buNone/>
            </a:pPr>
            <a:r>
              <a:rPr lang="en-US" sz="2400" dirty="0" smtClean="0"/>
              <a:t>Also known as soma or perikaryon. It consists of nucleus, nissil bodies, neuro fibrils, mitochondrion and Golgi body. Nucleus is present in the central part of soma. It has one nucleolus  and lack centromere so cannot divide.</a:t>
            </a:r>
          </a:p>
          <a:p>
            <a:pPr marL="0" indent="0">
              <a:buNone/>
            </a:pPr>
            <a:r>
              <a:rPr lang="en-US" sz="2400" dirty="0"/>
              <a:t> </a:t>
            </a:r>
            <a:r>
              <a:rPr lang="en-US" sz="2400" dirty="0" smtClean="0"/>
              <a:t>                                                NISSIL BODIES</a:t>
            </a:r>
          </a:p>
          <a:p>
            <a:pPr marL="0" indent="0">
              <a:buNone/>
            </a:pPr>
            <a:r>
              <a:rPr lang="en-US" sz="2400" dirty="0" smtClean="0"/>
              <a:t>Are small basophilic granules .They are present in soma but not present in axon hillock[part of soma where axon arises] extend into dendrites but not into axon. It contain ribosomes and synthesis proteins which are transported to axon by axon flow. When there is excess need as in work or fatigue,  the </a:t>
            </a:r>
            <a:r>
              <a:rPr lang="en-US" sz="2400" dirty="0"/>
              <a:t>N</a:t>
            </a:r>
            <a:r>
              <a:rPr lang="en-US" sz="2400" dirty="0" smtClean="0"/>
              <a:t>issil granules overwork and disappear. This is known as Chromatolysis.</a:t>
            </a:r>
          </a:p>
          <a:p>
            <a:pPr marL="0" indent="0">
              <a:buNone/>
            </a:pPr>
            <a:r>
              <a:rPr lang="en-US" sz="2400" dirty="0"/>
              <a:t> </a:t>
            </a:r>
            <a:r>
              <a:rPr lang="en-US" sz="2400" dirty="0" smtClean="0"/>
              <a:t>                                               MITOCHONDRIA</a:t>
            </a:r>
          </a:p>
          <a:p>
            <a:pPr marL="0" indent="0">
              <a:buNone/>
            </a:pPr>
            <a:r>
              <a:rPr lang="en-US" sz="2400" dirty="0" smtClean="0"/>
              <a:t>Are present in soma and axon. It synthesis ATP.</a:t>
            </a:r>
          </a:p>
          <a:p>
            <a:pPr marL="0" indent="0">
              <a:buNone/>
            </a:pPr>
            <a:r>
              <a:rPr lang="en-US" sz="2400" dirty="0"/>
              <a:t> </a:t>
            </a:r>
            <a:r>
              <a:rPr lang="en-US" sz="2400" dirty="0" smtClean="0"/>
              <a:t>                                                GOLGI APPARATUS</a:t>
            </a:r>
          </a:p>
          <a:p>
            <a:pPr marL="0" indent="0">
              <a:buNone/>
            </a:pPr>
            <a:r>
              <a:rPr lang="en-US" sz="2400" dirty="0" smtClean="0"/>
              <a:t>Is similar to other cells. It is concerned with processing and packaging of proteins.</a:t>
            </a:r>
          </a:p>
          <a:p>
            <a:pPr marL="0" indent="0">
              <a:buNone/>
            </a:pPr>
            <a:r>
              <a:rPr lang="en-US" sz="2400" dirty="0"/>
              <a:t> </a:t>
            </a:r>
            <a:r>
              <a:rPr lang="en-US" sz="2400" dirty="0" smtClean="0"/>
              <a:t> </a:t>
            </a:r>
            <a:endParaRPr lang="en-US" sz="2400" dirty="0"/>
          </a:p>
        </p:txBody>
      </p:sp>
    </p:spTree>
    <p:extLst>
      <p:ext uri="{BB962C8B-B14F-4D97-AF65-F5344CB8AC3E}">
        <p14:creationId xmlns:p14="http://schemas.microsoft.com/office/powerpoint/2010/main" val="700035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8277"/>
            <a:ext cx="12192000" cy="6956277"/>
          </a:xfrm>
        </p:spPr>
        <p:txBody>
          <a:bodyPr>
            <a:normAutofit/>
          </a:bodyPr>
          <a:lstStyle/>
          <a:p>
            <a:r>
              <a:rPr lang="en-US" sz="1800" b="1" dirty="0"/>
              <a:t> </a:t>
            </a:r>
            <a:r>
              <a:rPr lang="en-US" sz="1800" b="1" dirty="0" smtClean="0"/>
              <a:t>                                                                           NEUROFIBRILS</a:t>
            </a:r>
          </a:p>
          <a:p>
            <a:r>
              <a:rPr lang="en-US" sz="1800" dirty="0" smtClean="0"/>
              <a:t> Made of microfilaments and microtubules and are thread like structures present in soma and nerve processes</a:t>
            </a:r>
          </a:p>
          <a:p>
            <a:endParaRPr lang="en-US" sz="1800" dirty="0"/>
          </a:p>
          <a:p>
            <a:endParaRPr lang="en-US" sz="1800" dirty="0" smtClean="0"/>
          </a:p>
          <a:p>
            <a:endParaRPr lang="en-US" sz="1800" dirty="0"/>
          </a:p>
          <a:p>
            <a:endParaRPr lang="en-US" sz="1800" dirty="0" smtClean="0"/>
          </a:p>
          <a:p>
            <a:endParaRPr lang="en-US" sz="1800" dirty="0"/>
          </a:p>
          <a:p>
            <a:endParaRPr lang="en-US" sz="1800" dirty="0" smtClean="0"/>
          </a:p>
          <a:p>
            <a:endParaRPr lang="en-US" sz="1800" dirty="0"/>
          </a:p>
          <a:p>
            <a:endParaRPr lang="en-US" sz="1800" dirty="0" smtClean="0"/>
          </a:p>
          <a:p>
            <a:endParaRPr lang="en-US" sz="1800" dirty="0"/>
          </a:p>
          <a:p>
            <a:endParaRPr lang="en-US" sz="1800" dirty="0" smtClean="0"/>
          </a:p>
          <a:p>
            <a:r>
              <a:rPr lang="en-US" sz="1800" dirty="0" smtClean="0"/>
              <a:t>                                                                               DENDRITE</a:t>
            </a:r>
          </a:p>
          <a:p>
            <a:r>
              <a:rPr lang="en-US" sz="1800" dirty="0" smtClean="0"/>
              <a:t>It is a short process which has nissil granules and neurofibrils. It transmit impulse towards the cell body.</a:t>
            </a:r>
          </a:p>
          <a:p>
            <a:r>
              <a:rPr lang="en-US" sz="1800" dirty="0" smtClean="0"/>
              <a:t>                                                                                AXON</a:t>
            </a:r>
          </a:p>
          <a:p>
            <a:pPr marL="0" indent="0">
              <a:buNone/>
            </a:pPr>
            <a:r>
              <a:rPr lang="en-US" sz="1800" dirty="0" smtClean="0"/>
              <a:t>Is a long process which arise from axon hillock. First part of the axon is more excitable than other parts of the neuron. Many axons together form a bundle called fasciculus. Many fasciculi together form a nerve trunk. Each nerve fiber is covered by a perineurium.  Each nerve trunk is covered by epineurium. Axon contains a central core of cytoplasm called axoplasm. It is covered by tubular sheath called axolemma. Axoplasm and axolemma together  is called  axon cylinder. It is covered by a membrane called neurilemma.</a:t>
            </a:r>
          </a:p>
          <a:p>
            <a:endParaRPr lang="en-US" sz="1800" dirty="0" smtClean="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015099" y="-989175"/>
            <a:ext cx="3204673" cy="6858000"/>
          </a:xfrm>
          <a:prstGeom prst="rect">
            <a:avLst/>
          </a:prstGeom>
        </p:spPr>
      </p:pic>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989219" y="-1006428"/>
            <a:ext cx="3204673" cy="6858000"/>
          </a:xfrm>
          <a:prstGeom prst="rect">
            <a:avLst/>
          </a:prstGeom>
        </p:spPr>
      </p:pic>
    </p:spTree>
    <p:extLst>
      <p:ext uri="{BB962C8B-B14F-4D97-AF65-F5344CB8AC3E}">
        <p14:creationId xmlns:p14="http://schemas.microsoft.com/office/powerpoint/2010/main" val="3021370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9641"/>
            <a:ext cx="10515600" cy="222191"/>
          </a:xfrm>
        </p:spPr>
        <p:txBody>
          <a:bodyPr>
            <a:normAutofit fontScale="90000"/>
          </a:bodyPr>
          <a:lstStyle/>
          <a:p>
            <a:r>
              <a:rPr lang="en-US" dirty="0" smtClean="0"/>
              <a:t>TYPES OF AXON[NERVE FIBER]</a:t>
            </a:r>
            <a:endParaRPr lang="en-US" dirty="0"/>
          </a:p>
        </p:txBody>
      </p:sp>
      <p:sp>
        <p:nvSpPr>
          <p:cNvPr id="3" name="Content Placeholder 2"/>
          <p:cNvSpPr>
            <a:spLocks noGrp="1"/>
          </p:cNvSpPr>
          <p:nvPr>
            <p:ph idx="1"/>
          </p:nvPr>
        </p:nvSpPr>
        <p:spPr>
          <a:xfrm>
            <a:off x="85458" y="470018"/>
            <a:ext cx="12032478" cy="6387981"/>
          </a:xfrm>
        </p:spPr>
        <p:txBody>
          <a:bodyPr>
            <a:normAutofit/>
          </a:bodyPr>
          <a:lstStyle/>
          <a:p>
            <a:r>
              <a:rPr lang="en-US" sz="1800" dirty="0" smtClean="0"/>
              <a:t>There are two types of axons</a:t>
            </a:r>
          </a:p>
          <a:p>
            <a:r>
              <a:rPr lang="en-US" sz="1800" dirty="0" smtClean="0"/>
              <a:t>1. Myelinated </a:t>
            </a:r>
          </a:p>
          <a:p>
            <a:r>
              <a:rPr lang="en-US" sz="1800" dirty="0" smtClean="0"/>
              <a:t>2. Non myelinated</a:t>
            </a:r>
          </a:p>
          <a:p>
            <a:r>
              <a:rPr lang="en-US" sz="1800" dirty="0" smtClean="0"/>
              <a:t>MYELINATED AXONS</a:t>
            </a:r>
          </a:p>
          <a:p>
            <a:r>
              <a:rPr lang="en-US" sz="1800" dirty="0" smtClean="0"/>
              <a:t>Axons are covered by myelin sheath which acts as an insulator. Myelin sheath is made of lipoprotein which is absent in specific regions called Nodes of Ranvier. The region between two nodes of Ranvier is called Internode. In myelinated nerve fiber the impulse </a:t>
            </a:r>
            <a:r>
              <a:rPr lang="en-US" sz="1800" dirty="0"/>
              <a:t>j</a:t>
            </a:r>
            <a:r>
              <a:rPr lang="en-US" sz="1800" dirty="0" smtClean="0"/>
              <a:t>ump from one node to another node of Ranvier, aiding in faster conduction of impulse. This type of impulse conduction is called saltatory conduction. Myelin sheath act as an insulator and restrict the nerve impulse within stimulated nerve.</a:t>
            </a:r>
          </a:p>
          <a:p>
            <a:r>
              <a:rPr lang="en-US" sz="1800" dirty="0" smtClean="0"/>
              <a:t>CLASSIFICATION OF NERVE FIBERS</a:t>
            </a:r>
          </a:p>
          <a:p>
            <a:r>
              <a:rPr lang="en-US" sz="1800" dirty="0" smtClean="0"/>
              <a:t>Neurons are classified in three ways</a:t>
            </a:r>
          </a:p>
          <a:p>
            <a:r>
              <a:rPr lang="en-US" sz="1800" dirty="0" smtClean="0"/>
              <a:t>1 Based on the number of poles</a:t>
            </a:r>
          </a:p>
          <a:p>
            <a:r>
              <a:rPr lang="en-US" sz="1800" dirty="0" smtClean="0"/>
              <a:t>2 Based on function</a:t>
            </a:r>
          </a:p>
          <a:p>
            <a:r>
              <a:rPr lang="en-US" sz="1800" dirty="0" smtClean="0"/>
              <a:t>3 Based on the length of axon</a:t>
            </a:r>
          </a:p>
          <a:p>
            <a:r>
              <a:rPr lang="en-US" sz="1800" dirty="0" smtClean="0"/>
              <a:t>BASED ON THE NUMBER OF POLES</a:t>
            </a:r>
          </a:p>
          <a:p>
            <a:r>
              <a:rPr lang="en-US" sz="1800" dirty="0" smtClean="0"/>
              <a:t>1 UNIPOLAR NEURON- They have only one pole from which axon and dendrite arise.</a:t>
            </a:r>
          </a:p>
          <a:p>
            <a:r>
              <a:rPr lang="en-US" sz="1800" dirty="0" smtClean="0"/>
              <a:t>2 BIPOLAR NEURON-These neurons have two poles ,axon arise from one pole and dendrite arise from other pole.</a:t>
            </a:r>
          </a:p>
          <a:p>
            <a:r>
              <a:rPr lang="en-US" sz="1800" dirty="0" smtClean="0"/>
              <a:t>3 MULTIPOLAR NEURON- These neurons have many poles . Axon arise from one pole and dendrite arise from other poles.</a:t>
            </a:r>
            <a:endParaRPr lang="en-US" sz="1800" dirty="0"/>
          </a:p>
        </p:txBody>
      </p:sp>
    </p:spTree>
    <p:extLst>
      <p:ext uri="{BB962C8B-B14F-4D97-AF65-F5344CB8AC3E}">
        <p14:creationId xmlns:p14="http://schemas.microsoft.com/office/powerpoint/2010/main" val="4101587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59821"/>
            <a:ext cx="12192000" cy="6716994"/>
          </a:xfrm>
        </p:spPr>
        <p:txBody>
          <a:bodyPr/>
          <a:lstStyle/>
          <a:p>
            <a:r>
              <a:rPr lang="en-US" sz="2000" dirty="0" smtClean="0"/>
              <a:t>2 BASED ON THE FUNCTION</a:t>
            </a:r>
          </a:p>
          <a:p>
            <a:r>
              <a:rPr lang="en-US" sz="1800" dirty="0" smtClean="0"/>
              <a:t>1. SENSORY NEURON-They carry sensory information from periphery to central nervous system.</a:t>
            </a:r>
          </a:p>
          <a:p>
            <a:r>
              <a:rPr lang="en-US" sz="1800" dirty="0" smtClean="0"/>
              <a:t>2. MOTOR NEURON – They carry motor information from central nervous system to effector organs.</a:t>
            </a:r>
          </a:p>
          <a:p>
            <a:r>
              <a:rPr lang="en-US" sz="1800" dirty="0" smtClean="0"/>
              <a:t>3. BASED ON THE LENGTH OF THE AXON</a:t>
            </a:r>
          </a:p>
          <a:p>
            <a:r>
              <a:rPr lang="en-US" sz="1800" dirty="0" smtClean="0"/>
              <a:t>1. GOLGI TYPE I NEURON- They have very long axon.</a:t>
            </a:r>
          </a:p>
          <a:p>
            <a:r>
              <a:rPr lang="en-US" sz="1800" dirty="0" smtClean="0"/>
              <a:t>2 GOLGI TYPE II NEURON– They have short axon. They are present in cerebral cortex and spinal cord.</a:t>
            </a:r>
          </a:p>
          <a:p>
            <a:r>
              <a:rPr lang="en-US" sz="2400" dirty="0" smtClean="0"/>
              <a:t>CONDUCTION OF NERVE IMPULSE</a:t>
            </a:r>
          </a:p>
          <a:p>
            <a:r>
              <a:rPr lang="en-US" sz="2400" dirty="0" smtClean="0"/>
              <a:t>CONDUCTION THROUGH UNMYELINATED NEURON</a:t>
            </a:r>
          </a:p>
          <a:p>
            <a:r>
              <a:rPr lang="en-US" sz="1800" dirty="0" smtClean="0"/>
              <a:t>The main function of neuron is to conduct nerve impulse in the form of action potential .Conduction of impulse is an active and self propagating processes. Region of neuron where excitation is produced in the axon is called active region .Outside of the neuron current flows from adjacent inactive regions to active region and inside the neuron current flows from active regions to inactive region .This type of circular current flow is called </a:t>
            </a:r>
            <a:r>
              <a:rPr lang="en-US" sz="2000" dirty="0" smtClean="0"/>
              <a:t>local circuit current flow /Electro tonic conduction</a:t>
            </a:r>
            <a:r>
              <a:rPr lang="en-US" sz="1800" dirty="0" smtClean="0"/>
              <a:t>. The current flow from inside to outside at the two neighboring regions cause open up of sodium channels and de polarization. Thus the neighboring regions become active and the process is repeated. Conduction of impulse towards the effector organ is called </a:t>
            </a:r>
            <a:r>
              <a:rPr lang="en-US" sz="2000" dirty="0" smtClean="0"/>
              <a:t>orthodromic conduction </a:t>
            </a:r>
            <a:r>
              <a:rPr lang="en-US" sz="1800" dirty="0" smtClean="0"/>
              <a:t>and conduction towards the cell body is called </a:t>
            </a:r>
            <a:r>
              <a:rPr lang="en-US" sz="2000" dirty="0" smtClean="0"/>
              <a:t>antidromic conduction</a:t>
            </a:r>
            <a:r>
              <a:rPr lang="en-US" sz="1800" dirty="0" smtClean="0"/>
              <a:t>.</a:t>
            </a:r>
          </a:p>
          <a:p>
            <a:r>
              <a:rPr lang="en-US" sz="1800" dirty="0"/>
              <a:t> </a:t>
            </a:r>
            <a:r>
              <a:rPr lang="en-US" sz="1800" dirty="0" smtClean="0"/>
              <a:t>     In a myelinated neuron current flow from inactive to active node outside the membrane and from active node to inactive node inside the membrane. Thus the impulse is jumping from one node to another node and this type of impulse conduction is called </a:t>
            </a:r>
            <a:r>
              <a:rPr lang="en-US" sz="2000" dirty="0" smtClean="0"/>
              <a:t>saltatory conduction</a:t>
            </a:r>
            <a:r>
              <a:rPr lang="en-US" sz="1800" dirty="0" smtClean="0"/>
              <a:t>. Saltatory conduction in myelinated fiber is 50-100 times more faster than conduction in un myelinated fiber</a:t>
            </a:r>
          </a:p>
          <a:p>
            <a:endParaRPr lang="en-US" sz="1800" dirty="0" smtClean="0"/>
          </a:p>
        </p:txBody>
      </p:sp>
    </p:spTree>
    <p:extLst>
      <p:ext uri="{BB962C8B-B14F-4D97-AF65-F5344CB8AC3E}">
        <p14:creationId xmlns:p14="http://schemas.microsoft.com/office/powerpoint/2010/main" val="6720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13267"/>
          <a:stretch/>
        </p:blipFill>
        <p:spPr>
          <a:xfrm>
            <a:off x="1179320" y="504825"/>
            <a:ext cx="9699475" cy="5937250"/>
          </a:xfrm>
        </p:spPr>
      </p:pic>
    </p:spTree>
    <p:extLst>
      <p:ext uri="{BB962C8B-B14F-4D97-AF65-F5344CB8AC3E}">
        <p14:creationId xmlns:p14="http://schemas.microsoft.com/office/powerpoint/2010/main" val="2946501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30C8D2-A151-456C-BF0C-841EDB877339}"/>
              </a:ext>
            </a:extLst>
          </p:cNvPr>
          <p:cNvSpPr>
            <a:spLocks noGrp="1"/>
          </p:cNvSpPr>
          <p:nvPr>
            <p:ph type="title"/>
          </p:nvPr>
        </p:nvSpPr>
        <p:spPr>
          <a:xfrm>
            <a:off x="720754" y="276838"/>
            <a:ext cx="10515600" cy="528506"/>
          </a:xfrm>
        </p:spPr>
        <p:txBody>
          <a:bodyPr>
            <a:normAutofit fontScale="90000"/>
          </a:bodyPr>
          <a:lstStyle/>
          <a:p>
            <a:r>
              <a:rPr lang="en-US" dirty="0"/>
              <a:t>                          ASCENDING TRACTS</a:t>
            </a:r>
            <a:endParaRPr lang="en-IN" dirty="0"/>
          </a:p>
        </p:txBody>
      </p:sp>
      <p:sp>
        <p:nvSpPr>
          <p:cNvPr id="3" name="Content Placeholder 2">
            <a:extLst>
              <a:ext uri="{FF2B5EF4-FFF2-40B4-BE49-F238E27FC236}">
                <a16:creationId xmlns:a16="http://schemas.microsoft.com/office/drawing/2014/main" xmlns="" id="{3BB6C80E-DC06-4D9E-B7ED-9FA48547C74A}"/>
              </a:ext>
            </a:extLst>
          </p:cNvPr>
          <p:cNvSpPr>
            <a:spLocks noGrp="1"/>
          </p:cNvSpPr>
          <p:nvPr>
            <p:ph idx="1"/>
          </p:nvPr>
        </p:nvSpPr>
        <p:spPr>
          <a:xfrm>
            <a:off x="209725" y="919613"/>
            <a:ext cx="11144075" cy="5867081"/>
          </a:xfrm>
        </p:spPr>
        <p:txBody>
          <a:bodyPr/>
          <a:lstStyle/>
          <a:p>
            <a:r>
              <a:rPr lang="en-US" dirty="0"/>
              <a:t>SENSORY TRACTS</a:t>
            </a:r>
          </a:p>
          <a:p>
            <a:r>
              <a:rPr lang="en-US" sz="1800" dirty="0"/>
              <a:t>1.LISSAUER’S TRACT-----PAIN AND TEMPERATURE</a:t>
            </a:r>
          </a:p>
          <a:p>
            <a:r>
              <a:rPr lang="en-US" sz="1800" dirty="0"/>
              <a:t>2. LATERAL SPINOTHALAMIC TRACT--- PAIN /TEMPERATURE</a:t>
            </a:r>
          </a:p>
          <a:p>
            <a:r>
              <a:rPr lang="en-US" sz="1800" dirty="0"/>
              <a:t>3. ANTERIOR/VENTRAL SPINOTHALAMIC TRACT--- PRESSURE/DEEP TOUCH</a:t>
            </a:r>
          </a:p>
          <a:p>
            <a:r>
              <a:rPr lang="en-US" sz="1800" dirty="0"/>
              <a:t>4.SPINORETICULAR  TRACT [ ARAS]-- SLOW PAIN AND ALERTNESS</a:t>
            </a:r>
          </a:p>
          <a:p>
            <a:r>
              <a:rPr lang="en-US" sz="1800" dirty="0"/>
              <a:t>5. DORSAL COLUMN TRACT[FASCICULUS GRACILIS &amp; FASCICULUS CUNEATUS/</a:t>
            </a:r>
          </a:p>
          <a:p>
            <a:pPr marL="0" indent="0">
              <a:buNone/>
            </a:pPr>
            <a:r>
              <a:rPr lang="en-US" sz="1800" dirty="0"/>
              <a:t>                                  TRACT OF GOLL&amp; BURDACH]---- FINE TOUCH, TACTILE LOCALISATION &amp; DISCRIMINATION</a:t>
            </a:r>
          </a:p>
          <a:p>
            <a:pPr marL="0" indent="0">
              <a:buNone/>
            </a:pPr>
            <a:r>
              <a:rPr lang="en-US" dirty="0"/>
              <a:t>NONSENSORY TRACTS </a:t>
            </a:r>
          </a:p>
          <a:p>
            <a:pPr marL="0" indent="0">
              <a:buNone/>
            </a:pPr>
            <a:r>
              <a:rPr lang="en-US" sz="1800" dirty="0"/>
              <a:t>   1. SPINOCEREBELLAR TRACTS[ DORSAL/POSTERIOR&amp;ANTERIOR /VENTRAL]--- MUSCLE TONE &amp; COORDINATE</a:t>
            </a:r>
          </a:p>
          <a:p>
            <a:pPr marL="0" indent="0">
              <a:buNone/>
            </a:pPr>
            <a:r>
              <a:rPr lang="en-US" sz="1800" dirty="0"/>
              <a:t>                                                                                                                                                           MOVEMENTS</a:t>
            </a:r>
          </a:p>
          <a:p>
            <a:pPr marL="0" indent="0">
              <a:buNone/>
            </a:pPr>
            <a:r>
              <a:rPr lang="en-US" sz="1800" dirty="0"/>
              <a:t>  2. SPINOTECTAL TRACT--- SPINOVISUAL RELEX</a:t>
            </a:r>
          </a:p>
          <a:p>
            <a:pPr marL="0" indent="0">
              <a:buNone/>
            </a:pPr>
            <a:r>
              <a:rPr lang="en-US" sz="1800" dirty="0"/>
              <a:t>  3. SPINO OLIVARY TRACT—NO SIGNIFICANT FUNCTION</a:t>
            </a:r>
            <a:endParaRPr lang="en-IN" sz="1800" dirty="0"/>
          </a:p>
        </p:txBody>
      </p:sp>
    </p:spTree>
    <p:extLst>
      <p:ext uri="{BB962C8B-B14F-4D97-AF65-F5344CB8AC3E}">
        <p14:creationId xmlns:p14="http://schemas.microsoft.com/office/powerpoint/2010/main" val="1069614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55A080-EF7E-4C2C-9B0A-3B439E3FD98E}"/>
              </a:ext>
            </a:extLst>
          </p:cNvPr>
          <p:cNvSpPr>
            <a:spLocks noGrp="1"/>
          </p:cNvSpPr>
          <p:nvPr>
            <p:ph type="title"/>
          </p:nvPr>
        </p:nvSpPr>
        <p:spPr/>
        <p:txBody>
          <a:bodyPr/>
          <a:lstStyle/>
          <a:p>
            <a:r>
              <a:rPr lang="en-US" dirty="0"/>
              <a:t>                    Extrapyramidal tracts</a:t>
            </a:r>
            <a:endParaRPr lang="en-IN" dirty="0"/>
          </a:p>
        </p:txBody>
      </p:sp>
      <p:sp>
        <p:nvSpPr>
          <p:cNvPr id="3" name="Content Placeholder 2">
            <a:extLst>
              <a:ext uri="{FF2B5EF4-FFF2-40B4-BE49-F238E27FC236}">
                <a16:creationId xmlns:a16="http://schemas.microsoft.com/office/drawing/2014/main" xmlns="" id="{616112A5-9E1A-4AD5-998D-4D563E1A198A}"/>
              </a:ext>
            </a:extLst>
          </p:cNvPr>
          <p:cNvSpPr>
            <a:spLocks noGrp="1"/>
          </p:cNvSpPr>
          <p:nvPr>
            <p:ph idx="1"/>
          </p:nvPr>
        </p:nvSpPr>
        <p:spPr>
          <a:xfrm>
            <a:off x="838200" y="1273630"/>
            <a:ext cx="10515600" cy="5584370"/>
          </a:xfrm>
        </p:spPr>
        <p:txBody>
          <a:bodyPr>
            <a:normAutofit/>
          </a:bodyPr>
          <a:lstStyle/>
          <a:p>
            <a:r>
              <a:rPr lang="en-US" sz="2400" dirty="0"/>
              <a:t>Background tone posture and equilibrium .</a:t>
            </a:r>
          </a:p>
          <a:p>
            <a:r>
              <a:rPr lang="en-US" sz="2400" dirty="0"/>
              <a:t>Arise from subcortical structures like basal ganglia, brain stem, reticular formation , red nucleus, pretectal nucleus, vestibular nucleus and olivary nucleus.</a:t>
            </a:r>
          </a:p>
          <a:p>
            <a:r>
              <a:rPr lang="en-US" sz="2400" dirty="0"/>
              <a:t>Reticular formation form the relay and integrating center.</a:t>
            </a:r>
          </a:p>
          <a:p>
            <a:pPr marL="0" indent="0">
              <a:buNone/>
            </a:pPr>
            <a:r>
              <a:rPr lang="en-US" sz="2400" dirty="0"/>
              <a:t>The extrapyramidal tracts are</a:t>
            </a:r>
          </a:p>
          <a:p>
            <a:pPr marL="457200" indent="-457200">
              <a:buAutoNum type="arabicPeriod"/>
            </a:pPr>
            <a:r>
              <a:rPr lang="en-US" sz="2400" dirty="0"/>
              <a:t>Reticulospinal tract– Regulates muscle tone </a:t>
            </a:r>
          </a:p>
          <a:p>
            <a:pPr marL="457200" indent="-457200">
              <a:buAutoNum type="arabicPeriod"/>
            </a:pPr>
            <a:r>
              <a:rPr lang="en-US" sz="2400" dirty="0"/>
              <a:t>Vestibulospinal tract– Facilitates extensor group of muscles</a:t>
            </a:r>
          </a:p>
          <a:p>
            <a:pPr marL="457200" indent="-457200">
              <a:buAutoNum type="arabicPeriod"/>
            </a:pPr>
            <a:r>
              <a:rPr lang="en-US" sz="2400" dirty="0"/>
              <a:t>Rubrospinal tract--- Facilitates flexor group of muscles.</a:t>
            </a:r>
          </a:p>
          <a:p>
            <a:pPr marL="457200" indent="-457200">
              <a:buAutoNum type="arabicPeriod"/>
            </a:pPr>
            <a:r>
              <a:rPr lang="en-US" sz="2400" dirty="0"/>
              <a:t>Olivo-spinal tract--- Function not known</a:t>
            </a:r>
          </a:p>
          <a:p>
            <a:pPr marL="457200" indent="-457200">
              <a:buAutoNum type="arabicPeriod"/>
            </a:pPr>
            <a:r>
              <a:rPr lang="en-US" sz="2400" dirty="0"/>
              <a:t>Tectospinal tract– Reflex neck movements in response to visual stimuli[</a:t>
            </a:r>
            <a:r>
              <a:rPr lang="en-US" sz="2400" dirty="0" err="1"/>
              <a:t>spino</a:t>
            </a:r>
            <a:r>
              <a:rPr lang="en-US" sz="2400" dirty="0"/>
              <a:t>-visual reflex]</a:t>
            </a:r>
          </a:p>
          <a:p>
            <a:pPr marL="457200" indent="-457200">
              <a:buAutoNum type="arabicPeriod"/>
            </a:pPr>
            <a:r>
              <a:rPr lang="en-US" sz="2400" dirty="0"/>
              <a:t>Medial longitudinal bundle--- co-ordinate neck movements with eye movements[both voluntary and reflex movements]</a:t>
            </a:r>
            <a:endParaRPr lang="en-IN" sz="2400" dirty="0"/>
          </a:p>
        </p:txBody>
      </p:sp>
    </p:spTree>
    <p:extLst>
      <p:ext uri="{BB962C8B-B14F-4D97-AF65-F5344CB8AC3E}">
        <p14:creationId xmlns:p14="http://schemas.microsoft.com/office/powerpoint/2010/main" val="479742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470019"/>
          </a:xfrm>
        </p:spPr>
        <p:txBody>
          <a:bodyPr>
            <a:normAutofit fontScale="90000"/>
          </a:bodyPr>
          <a:lstStyle/>
          <a:p>
            <a:r>
              <a:rPr lang="en-US" dirty="0" smtClean="0"/>
              <a:t>                           VISCERAL PAIN</a:t>
            </a:r>
            <a:endParaRPr lang="en-US" dirty="0"/>
          </a:p>
        </p:txBody>
      </p:sp>
      <p:sp>
        <p:nvSpPr>
          <p:cNvPr id="3" name="Content Placeholder 2"/>
          <p:cNvSpPr>
            <a:spLocks noGrp="1"/>
          </p:cNvSpPr>
          <p:nvPr>
            <p:ph idx="1"/>
          </p:nvPr>
        </p:nvSpPr>
        <p:spPr>
          <a:xfrm>
            <a:off x="0" y="470019"/>
            <a:ext cx="11259796" cy="6315342"/>
          </a:xfrm>
        </p:spPr>
        <p:txBody>
          <a:bodyPr>
            <a:normAutofit/>
          </a:bodyPr>
          <a:lstStyle/>
          <a:p>
            <a:r>
              <a:rPr lang="en-US" sz="1800" dirty="0" smtClean="0"/>
              <a:t>Normally the viscera are insensitive to various forms of stimuli. If there is an inflammation of viscera there is diffused pain. It is poorly localized </a:t>
            </a:r>
          </a:p>
          <a:p>
            <a:r>
              <a:rPr lang="en-US" sz="1800" dirty="0" smtClean="0"/>
              <a:t>CAUSES OF VISCERAL PAIN</a:t>
            </a:r>
          </a:p>
          <a:p>
            <a:r>
              <a:rPr lang="en-US" sz="1800" dirty="0" smtClean="0"/>
              <a:t>1. Inflammation-</a:t>
            </a:r>
            <a:r>
              <a:rPr lang="en-US" sz="1800" dirty="0" err="1" smtClean="0"/>
              <a:t>eg</a:t>
            </a:r>
            <a:r>
              <a:rPr lang="en-US" sz="1800" dirty="0" smtClean="0"/>
              <a:t> Appendicitis, pancreatitis.</a:t>
            </a:r>
          </a:p>
          <a:p>
            <a:r>
              <a:rPr lang="en-US" sz="1800" dirty="0" smtClean="0"/>
              <a:t>2.Distension-eg stone in ureter, bile duct</a:t>
            </a:r>
          </a:p>
          <a:p>
            <a:r>
              <a:rPr lang="en-US" sz="1800" dirty="0" smtClean="0"/>
              <a:t>3.Cramping pain-</a:t>
            </a:r>
            <a:r>
              <a:rPr lang="en-US" sz="1800" dirty="0" err="1" smtClean="0"/>
              <a:t>eg</a:t>
            </a:r>
            <a:r>
              <a:rPr lang="en-US" sz="1800" dirty="0" smtClean="0"/>
              <a:t> dysmenorrhea, labor pain.</a:t>
            </a:r>
          </a:p>
          <a:p>
            <a:r>
              <a:rPr lang="en-US" sz="1800" dirty="0" smtClean="0"/>
              <a:t>4.Chemical damage e.g.– peptic ulcer </a:t>
            </a:r>
          </a:p>
          <a:p>
            <a:r>
              <a:rPr lang="en-US" sz="1800" dirty="0" smtClean="0"/>
              <a:t> 5.Spasm of smooth muscle e.g.-intestinal colic</a:t>
            </a:r>
          </a:p>
          <a:p>
            <a:r>
              <a:rPr lang="en-US" sz="1800" dirty="0" smtClean="0"/>
              <a:t>PATHWAY OF VISCERAL PAIN</a:t>
            </a:r>
          </a:p>
          <a:p>
            <a:r>
              <a:rPr lang="en-US" sz="1800" dirty="0" smtClean="0"/>
              <a:t>Trachea, pharynx and esophagus– carried by </a:t>
            </a:r>
            <a:r>
              <a:rPr lang="en-US" sz="1800" dirty="0" err="1" smtClean="0"/>
              <a:t>vagus</a:t>
            </a:r>
            <a:r>
              <a:rPr lang="en-US" sz="1800" dirty="0" smtClean="0"/>
              <a:t> and glossopharyngeal nerve</a:t>
            </a:r>
          </a:p>
          <a:p>
            <a:r>
              <a:rPr lang="en-US" sz="1800" dirty="0" smtClean="0"/>
              <a:t>THORAX – carried by sympathetic fibers of T1 to L2 segments</a:t>
            </a:r>
          </a:p>
          <a:p>
            <a:r>
              <a:rPr lang="en-US" sz="1800" dirty="0" smtClean="0"/>
              <a:t>PELVIC  ORGANS-Carried by sacral parasympathetic fibers.</a:t>
            </a:r>
          </a:p>
          <a:p>
            <a:r>
              <a:rPr lang="en-US" sz="1800" dirty="0" smtClean="0"/>
              <a:t>When enter CNS the afferent fibers are carried by somatic ascending tracts</a:t>
            </a:r>
          </a:p>
          <a:p>
            <a:r>
              <a:rPr lang="en-US" sz="1800" dirty="0" smtClean="0"/>
              <a:t>FEATURES</a:t>
            </a:r>
            <a:r>
              <a:rPr lang="en-US" sz="1800" dirty="0"/>
              <a:t> </a:t>
            </a:r>
            <a:r>
              <a:rPr lang="en-US" sz="1800" dirty="0" smtClean="0"/>
              <a:t>OF VTSCERAL PAIN</a:t>
            </a:r>
          </a:p>
          <a:p>
            <a:r>
              <a:rPr lang="en-US" sz="1800" dirty="0" smtClean="0"/>
              <a:t>Less localized and more diffuse.</a:t>
            </a:r>
          </a:p>
          <a:p>
            <a:r>
              <a:rPr lang="en-US" sz="1800" dirty="0" smtClean="0"/>
              <a:t>Unpleasant and severe</a:t>
            </a:r>
          </a:p>
          <a:p>
            <a:pPr marL="0" indent="0">
              <a:buNone/>
            </a:pPr>
            <a:endParaRPr lang="en-US" sz="1800" dirty="0" smtClean="0"/>
          </a:p>
          <a:p>
            <a:endParaRPr lang="en-US" sz="1800" dirty="0"/>
          </a:p>
        </p:txBody>
      </p:sp>
    </p:spTree>
    <p:extLst>
      <p:ext uri="{BB962C8B-B14F-4D97-AF65-F5344CB8AC3E}">
        <p14:creationId xmlns:p14="http://schemas.microsoft.com/office/powerpoint/2010/main" val="2247028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458" y="85458"/>
            <a:ext cx="11268342" cy="6554624"/>
          </a:xfrm>
        </p:spPr>
        <p:txBody>
          <a:bodyPr>
            <a:normAutofit/>
          </a:bodyPr>
          <a:lstStyle/>
          <a:p>
            <a:r>
              <a:rPr lang="en-US" sz="1800" dirty="0" smtClean="0"/>
              <a:t>Associated with autonomic manifestations like nausea, vomiting etc.</a:t>
            </a:r>
          </a:p>
          <a:p>
            <a:r>
              <a:rPr lang="en-US" sz="1800" dirty="0" smtClean="0"/>
              <a:t>Visceral pain cause reflex contraction of nearby skeletal muscle known as guarding.</a:t>
            </a:r>
          </a:p>
          <a:p>
            <a:r>
              <a:rPr lang="en-US" sz="1800" dirty="0" smtClean="0"/>
              <a:t>Is not localized but felt in a somatic structure  away  from the local site [referred pain]</a:t>
            </a:r>
          </a:p>
          <a:p>
            <a:r>
              <a:rPr lang="en-US" sz="1800" dirty="0" smtClean="0"/>
              <a:t>Spreads from local site to the referred area[ Radiating pain]</a:t>
            </a:r>
            <a:endParaRPr lang="en-US" sz="1800" dirty="0"/>
          </a:p>
        </p:txBody>
      </p:sp>
    </p:spTree>
    <p:extLst>
      <p:ext uri="{BB962C8B-B14F-4D97-AF65-F5344CB8AC3E}">
        <p14:creationId xmlns:p14="http://schemas.microsoft.com/office/powerpoint/2010/main" val="1933298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9421A6-3B55-4D45-94A9-CE3F42312E2A}"/>
              </a:ext>
            </a:extLst>
          </p:cNvPr>
          <p:cNvSpPr>
            <a:spLocks noGrp="1"/>
          </p:cNvSpPr>
          <p:nvPr>
            <p:ph type="title"/>
          </p:nvPr>
        </p:nvSpPr>
        <p:spPr>
          <a:xfrm>
            <a:off x="658586" y="97971"/>
            <a:ext cx="10515600" cy="571500"/>
          </a:xfrm>
        </p:spPr>
        <p:txBody>
          <a:bodyPr>
            <a:normAutofit fontScale="90000"/>
          </a:bodyPr>
          <a:lstStyle/>
          <a:p>
            <a:r>
              <a:rPr lang="en-US" dirty="0"/>
              <a:t>                          REFERRED   PAIN</a:t>
            </a:r>
            <a:endParaRPr lang="en-IN" dirty="0"/>
          </a:p>
        </p:txBody>
      </p:sp>
      <p:sp>
        <p:nvSpPr>
          <p:cNvPr id="3" name="Content Placeholder 2">
            <a:extLst>
              <a:ext uri="{FF2B5EF4-FFF2-40B4-BE49-F238E27FC236}">
                <a16:creationId xmlns:a16="http://schemas.microsoft.com/office/drawing/2014/main" xmlns="" id="{C3EFCC2E-3133-4EDD-B217-6EE96B87C509}"/>
              </a:ext>
            </a:extLst>
          </p:cNvPr>
          <p:cNvSpPr>
            <a:spLocks noGrp="1"/>
          </p:cNvSpPr>
          <p:nvPr>
            <p:ph idx="1"/>
          </p:nvPr>
        </p:nvSpPr>
        <p:spPr>
          <a:xfrm>
            <a:off x="123825" y="563336"/>
            <a:ext cx="11944350" cy="6229351"/>
          </a:xfrm>
        </p:spPr>
        <p:txBody>
          <a:bodyPr/>
          <a:lstStyle/>
          <a:p>
            <a:pPr marL="914400" lvl="2" indent="0">
              <a:buNone/>
            </a:pPr>
            <a:r>
              <a:rPr lang="en-IN" sz="2800" dirty="0"/>
              <a:t>Pain which occur in a visceral organ can be felt in a superficial somatic area at a considerable distance belonging to same dermatome</a:t>
            </a:r>
            <a:r>
              <a:rPr lang="en-IN" dirty="0"/>
              <a:t>.</a:t>
            </a:r>
          </a:p>
          <a:p>
            <a:pPr marL="0" indent="0">
              <a:buNone/>
            </a:pPr>
            <a:r>
              <a:rPr lang="en-IN" dirty="0"/>
              <a:t>Example-</a:t>
            </a:r>
          </a:p>
          <a:p>
            <a:r>
              <a:rPr lang="en-IN" dirty="0"/>
              <a:t>1. pain in heart is felt on left shoulder tip ,radiating to finger tips.</a:t>
            </a:r>
          </a:p>
          <a:p>
            <a:r>
              <a:rPr lang="en-IN" dirty="0"/>
              <a:t>2. pain from diaphragm is referred to right shoulder tip.</a:t>
            </a:r>
          </a:p>
          <a:p>
            <a:r>
              <a:rPr lang="en-IN" dirty="0"/>
              <a:t>3. pain in appendicitis is felt around the skin of umbilicus.</a:t>
            </a:r>
          </a:p>
          <a:p>
            <a:r>
              <a:rPr lang="en-IN" dirty="0"/>
              <a:t>4. Maxillary sinus pain is referred to nearby tooth.</a:t>
            </a:r>
          </a:p>
          <a:p>
            <a:r>
              <a:rPr lang="en-IN" dirty="0"/>
              <a:t>DERMATOMAL RULE</a:t>
            </a:r>
          </a:p>
          <a:p>
            <a:r>
              <a:rPr lang="en-IN" dirty="0"/>
              <a:t>Pain is referred to a superficial structure that has developed from the same embryonic structure from which the organ has developed.</a:t>
            </a:r>
          </a:p>
          <a:p>
            <a:r>
              <a:rPr lang="en-IN" dirty="0"/>
              <a:t>Organ from which pain originates and the organ to which pain get referred belong to the same embryonic segment.</a:t>
            </a:r>
          </a:p>
          <a:p>
            <a:pPr marL="0" indent="0">
              <a:buNone/>
            </a:pPr>
            <a:endParaRPr lang="en-IN" dirty="0"/>
          </a:p>
          <a:p>
            <a:endParaRPr lang="en-IN" dirty="0"/>
          </a:p>
          <a:p>
            <a:endParaRPr lang="en-IN" dirty="0"/>
          </a:p>
          <a:p>
            <a:endParaRPr lang="en-IN" dirty="0"/>
          </a:p>
        </p:txBody>
      </p:sp>
    </p:spTree>
    <p:extLst>
      <p:ext uri="{BB962C8B-B14F-4D97-AF65-F5344CB8AC3E}">
        <p14:creationId xmlns:p14="http://schemas.microsoft.com/office/powerpoint/2010/main" val="1646916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7183DCA-9252-4F97-A940-3284095DC8AB}"/>
              </a:ext>
            </a:extLst>
          </p:cNvPr>
          <p:cNvSpPr>
            <a:spLocks noGrp="1"/>
          </p:cNvSpPr>
          <p:nvPr>
            <p:ph idx="1"/>
          </p:nvPr>
        </p:nvSpPr>
        <p:spPr>
          <a:xfrm>
            <a:off x="-1" y="89806"/>
            <a:ext cx="12192001" cy="6768193"/>
          </a:xfrm>
        </p:spPr>
        <p:txBody>
          <a:bodyPr>
            <a:normAutofit/>
          </a:bodyPr>
          <a:lstStyle/>
          <a:p>
            <a:pPr marL="0" indent="0">
              <a:buNone/>
            </a:pPr>
            <a:r>
              <a:rPr lang="en-US" sz="2400" dirty="0"/>
              <a:t>                                  THEORIES  WHICH EXPLAINS PAIN MECHANISM</a:t>
            </a:r>
          </a:p>
          <a:p>
            <a:pPr marL="0" indent="0">
              <a:buNone/>
            </a:pPr>
            <a:r>
              <a:rPr lang="en-US" sz="2400" dirty="0"/>
              <a:t>CONVERGENCE THEORY &amp;facilitation theory</a:t>
            </a:r>
          </a:p>
          <a:p>
            <a:pPr marL="0" indent="0">
              <a:buNone/>
            </a:pPr>
            <a:r>
              <a:rPr lang="en-US" sz="2400" dirty="0"/>
              <a:t>                                               </a:t>
            </a:r>
            <a:endParaRPr lang="en-IN" sz="2400" dirty="0"/>
          </a:p>
        </p:txBody>
      </p:sp>
      <p:pic>
        <p:nvPicPr>
          <p:cNvPr id="5" name="Picture 4">
            <a:extLst>
              <a:ext uri="{FF2B5EF4-FFF2-40B4-BE49-F238E27FC236}">
                <a16:creationId xmlns:a16="http://schemas.microsoft.com/office/drawing/2014/main" xmlns="" id="{137B10F6-3895-46BF-986E-E83539ABE826}"/>
              </a:ext>
            </a:extLst>
          </p:cNvPr>
          <p:cNvPicPr>
            <a:picLocks noChangeAspect="1"/>
          </p:cNvPicPr>
          <p:nvPr/>
        </p:nvPicPr>
        <p:blipFill rotWithShape="1">
          <a:blip r:embed="rId2">
            <a:extLst>
              <a:ext uri="{28A0092B-C50C-407E-A947-70E740481C1C}">
                <a14:useLocalDpi xmlns:a14="http://schemas.microsoft.com/office/drawing/2010/main" val="0"/>
              </a:ext>
            </a:extLst>
          </a:blip>
          <a:srcRect t="16667" b="20714"/>
          <a:stretch/>
        </p:blipFill>
        <p:spPr>
          <a:xfrm>
            <a:off x="849086" y="1142999"/>
            <a:ext cx="8809264" cy="5388429"/>
          </a:xfrm>
          <a:prstGeom prst="rect">
            <a:avLst/>
          </a:prstGeom>
        </p:spPr>
      </p:pic>
    </p:spTree>
    <p:extLst>
      <p:ext uri="{BB962C8B-B14F-4D97-AF65-F5344CB8AC3E}">
        <p14:creationId xmlns:p14="http://schemas.microsoft.com/office/powerpoint/2010/main" val="2405108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65" y="111094"/>
            <a:ext cx="12023933" cy="6537533"/>
          </a:xfrm>
        </p:spPr>
        <p:txBody>
          <a:bodyPr/>
          <a:lstStyle/>
          <a:p>
            <a:r>
              <a:rPr lang="en-US" dirty="0" smtClean="0"/>
              <a:t>                               BRODMANN’S AREAS</a:t>
            </a:r>
          </a:p>
          <a:p>
            <a:r>
              <a:rPr lang="en-US" dirty="0" smtClean="0"/>
              <a:t>FRONTAL LOBE AREAS</a:t>
            </a:r>
          </a:p>
          <a:p>
            <a:r>
              <a:rPr lang="en-US" sz="1800" dirty="0" smtClean="0"/>
              <a:t>Area 4- PRIMARY MOTOR AREA[ Initiate voluntary movements of opposite half of the body ]</a:t>
            </a:r>
          </a:p>
          <a:p>
            <a:r>
              <a:rPr lang="en-US" sz="1800" dirty="0" smtClean="0"/>
              <a:t>Area 6– PREMOTOR AREA [Smooth and accurate skilled movements]</a:t>
            </a:r>
          </a:p>
          <a:p>
            <a:r>
              <a:rPr lang="en-US" sz="1800" dirty="0" smtClean="0"/>
              <a:t>Area 8– FRONTAL EYE FIELD[Conjugate deviation of eye balls]</a:t>
            </a:r>
          </a:p>
          <a:p>
            <a:r>
              <a:rPr lang="en-US" sz="1800" dirty="0" smtClean="0"/>
              <a:t>Area 44---BROCAS SPEECH AREA[ Controls motor activities of speech][left cerebral hemisphere in right handed individual]</a:t>
            </a:r>
          </a:p>
          <a:p>
            <a:r>
              <a:rPr lang="en-US" sz="1800" dirty="0" smtClean="0"/>
              <a:t>Area 9 to 14, 23,24,29,32,35,45,46,47--- PREFRONTAL/ORBITOFRONTAL CORTEX[ [control thought, memory, ability to concentrate, elaborate thought, cultured or polished behavior, autonomic functions etc. ]</a:t>
            </a:r>
          </a:p>
          <a:p>
            <a:pPr marL="0" indent="0">
              <a:buNone/>
            </a:pPr>
            <a:r>
              <a:rPr lang="en-US" sz="2400" dirty="0" smtClean="0"/>
              <a:t>                                                                   PARIETAL LOBE</a:t>
            </a:r>
          </a:p>
          <a:p>
            <a:r>
              <a:rPr lang="en-US" sz="1800" dirty="0" smtClean="0"/>
              <a:t>Area 3,1 &amp;2—PRIMARY SENSORY AREA [appreciation of all somatic sensations]</a:t>
            </a:r>
          </a:p>
          <a:p>
            <a:r>
              <a:rPr lang="en-US" sz="1800" dirty="0" smtClean="0"/>
              <a:t>Area 5&amp;7--- SENSORY ASSOCIATION AREA[understanding and analysis of sensations]</a:t>
            </a:r>
          </a:p>
          <a:p>
            <a:r>
              <a:rPr lang="en-US" sz="1800" dirty="0"/>
              <a:t> </a:t>
            </a:r>
            <a:r>
              <a:rPr lang="en-US" sz="1800" dirty="0" smtClean="0"/>
              <a:t>                                                                        </a:t>
            </a:r>
            <a:r>
              <a:rPr lang="en-US" sz="2000" dirty="0" smtClean="0"/>
              <a:t>OCCIPITAL LO</a:t>
            </a:r>
            <a:r>
              <a:rPr lang="en-US" sz="1800" dirty="0" smtClean="0"/>
              <a:t>BE</a:t>
            </a:r>
          </a:p>
          <a:p>
            <a:r>
              <a:rPr lang="en-US" sz="1800" dirty="0" smtClean="0"/>
              <a:t>Area 17,18&amp;19--- Visual areas[ perceive and interpret visual stimuli]</a:t>
            </a:r>
          </a:p>
          <a:p>
            <a:r>
              <a:rPr lang="en-US" sz="1800" dirty="0" smtClean="0"/>
              <a:t>Area 41,42 &amp;22– Auditory areas[perceive and discriminate auditory stimuli]</a:t>
            </a:r>
            <a:endParaRPr lang="en-US" sz="1800" dirty="0"/>
          </a:p>
        </p:txBody>
      </p:sp>
    </p:spTree>
    <p:extLst>
      <p:ext uri="{BB962C8B-B14F-4D97-AF65-F5344CB8AC3E}">
        <p14:creationId xmlns:p14="http://schemas.microsoft.com/office/powerpoint/2010/main" val="1609954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b="1769"/>
          <a:stretch/>
        </p:blipFill>
        <p:spPr>
          <a:xfrm rot="16200000">
            <a:off x="3313635" y="-1160095"/>
            <a:ext cx="4832643" cy="9015816"/>
          </a:xfrm>
        </p:spPr>
      </p:pic>
    </p:spTree>
    <p:extLst>
      <p:ext uri="{BB962C8B-B14F-4D97-AF65-F5344CB8AC3E}">
        <p14:creationId xmlns:p14="http://schemas.microsoft.com/office/powerpoint/2010/main" val="66031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rot="16200000">
            <a:off x="2937656" y="-2261979"/>
            <a:ext cx="4657546" cy="9911753"/>
          </a:xfrm>
        </p:spPr>
      </p:pic>
    </p:spTree>
    <p:extLst>
      <p:ext uri="{BB962C8B-B14F-4D97-AF65-F5344CB8AC3E}">
        <p14:creationId xmlns:p14="http://schemas.microsoft.com/office/powerpoint/2010/main" val="16899558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7228431-5D58-4C6C-BCE9-3001B948B36E}"/>
              </a:ext>
            </a:extLst>
          </p:cNvPr>
          <p:cNvSpPr>
            <a:spLocks noGrp="1"/>
          </p:cNvSpPr>
          <p:nvPr>
            <p:ph type="title"/>
          </p:nvPr>
        </p:nvSpPr>
        <p:spPr>
          <a:xfrm>
            <a:off x="1079740" y="250824"/>
            <a:ext cx="10515600" cy="639082"/>
          </a:xfrm>
        </p:spPr>
        <p:txBody>
          <a:bodyPr>
            <a:normAutofit fontScale="90000"/>
          </a:bodyPr>
          <a:lstStyle/>
          <a:p>
            <a:r>
              <a:rPr lang="en-US" dirty="0"/>
              <a:t>                              HYPOTHALAMUS</a:t>
            </a:r>
            <a:endParaRPr lang="en-IN" dirty="0"/>
          </a:p>
        </p:txBody>
      </p:sp>
      <p:sp>
        <p:nvSpPr>
          <p:cNvPr id="3" name="Content Placeholder 2">
            <a:extLst>
              <a:ext uri="{FF2B5EF4-FFF2-40B4-BE49-F238E27FC236}">
                <a16:creationId xmlns:a16="http://schemas.microsoft.com/office/drawing/2014/main" xmlns="" id="{F976AF10-D905-41BD-9426-5AD264DF14DD}"/>
              </a:ext>
            </a:extLst>
          </p:cNvPr>
          <p:cNvSpPr>
            <a:spLocks noGrp="1"/>
          </p:cNvSpPr>
          <p:nvPr>
            <p:ph idx="1"/>
          </p:nvPr>
        </p:nvSpPr>
        <p:spPr>
          <a:xfrm>
            <a:off x="114299" y="889906"/>
            <a:ext cx="11985171" cy="5968093"/>
          </a:xfrm>
        </p:spPr>
        <p:txBody>
          <a:bodyPr/>
          <a:lstStyle/>
          <a:p>
            <a:r>
              <a:rPr lang="en-US" dirty="0"/>
              <a:t>1. ROLE IN THERMOREGULATION---</a:t>
            </a:r>
            <a:r>
              <a:rPr lang="en-US" sz="1800" dirty="0"/>
              <a:t>  </a:t>
            </a:r>
          </a:p>
          <a:p>
            <a:r>
              <a:rPr lang="en-US" sz="1800" dirty="0"/>
              <a:t>ANTERIOR HYPOTHALAMUS– Heat loss center.</a:t>
            </a:r>
          </a:p>
          <a:p>
            <a:r>
              <a:rPr lang="en-US" sz="1800" dirty="0"/>
              <a:t>Posterior Hypothalamus– Heat gain center.</a:t>
            </a:r>
          </a:p>
          <a:p>
            <a:r>
              <a:rPr lang="en-US" sz="1800" dirty="0"/>
              <a:t>2. ROLE IN REGULATION OF ANTERIOR PITUITARY– Anterior pituitary secretes six hormone</a:t>
            </a:r>
          </a:p>
          <a:p>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IN" dirty="0"/>
          </a:p>
        </p:txBody>
      </p:sp>
      <p:graphicFrame>
        <p:nvGraphicFramePr>
          <p:cNvPr id="6" name="Table 6">
            <a:extLst>
              <a:ext uri="{FF2B5EF4-FFF2-40B4-BE49-F238E27FC236}">
                <a16:creationId xmlns:a16="http://schemas.microsoft.com/office/drawing/2014/main" xmlns="" id="{E945D69B-30A5-4E5E-A56A-844C74E43967}"/>
              </a:ext>
            </a:extLst>
          </p:cNvPr>
          <p:cNvGraphicFramePr>
            <a:graphicFrameLocks noGrp="1"/>
          </p:cNvGraphicFramePr>
          <p:nvPr>
            <p:extLst>
              <p:ext uri="{D42A27DB-BD31-4B8C-83A1-F6EECF244321}">
                <p14:modId xmlns:p14="http://schemas.microsoft.com/office/powerpoint/2010/main" val="2176286428"/>
              </p:ext>
            </p:extLst>
          </p:nvPr>
        </p:nvGraphicFramePr>
        <p:xfrm>
          <a:off x="603250" y="2507644"/>
          <a:ext cx="8128000" cy="4146249"/>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xmlns="" val="1792863381"/>
                    </a:ext>
                  </a:extLst>
                </a:gridCol>
                <a:gridCol w="4064000">
                  <a:extLst>
                    <a:ext uri="{9D8B030D-6E8A-4147-A177-3AD203B41FA5}">
                      <a16:colId xmlns:a16="http://schemas.microsoft.com/office/drawing/2014/main" xmlns="" val="3626093495"/>
                    </a:ext>
                  </a:extLst>
                </a:gridCol>
              </a:tblGrid>
              <a:tr h="422334">
                <a:tc>
                  <a:txBody>
                    <a:bodyPr/>
                    <a:lstStyle/>
                    <a:p>
                      <a:r>
                        <a:rPr lang="en-US" dirty="0"/>
                        <a:t>HYPOTHALAMUS</a:t>
                      </a:r>
                      <a:endParaRPr lang="en-IN" dirty="0"/>
                    </a:p>
                  </a:txBody>
                  <a:tcPr/>
                </a:tc>
                <a:tc>
                  <a:txBody>
                    <a:bodyPr/>
                    <a:lstStyle/>
                    <a:p>
                      <a:r>
                        <a:rPr lang="en-US" dirty="0"/>
                        <a:t>ANTERIOR PITUITARY</a:t>
                      </a:r>
                      <a:endParaRPr lang="en-IN" dirty="0"/>
                    </a:p>
                  </a:txBody>
                  <a:tcPr/>
                </a:tc>
                <a:extLst>
                  <a:ext uri="{0D108BD9-81ED-4DB2-BD59-A6C34878D82A}">
                    <a16:rowId xmlns:a16="http://schemas.microsoft.com/office/drawing/2014/main" xmlns="" val="3621390563"/>
                  </a:ext>
                </a:extLst>
              </a:tr>
              <a:tr h="3723915">
                <a:tc>
                  <a:txBody>
                    <a:bodyPr/>
                    <a:lstStyle/>
                    <a:p>
                      <a:r>
                        <a:rPr lang="en-US" dirty="0"/>
                        <a:t>1.GHRH[GROWTH HORMONE RELEASING</a:t>
                      </a:r>
                    </a:p>
                    <a:p>
                      <a:r>
                        <a:rPr lang="en-US" dirty="0"/>
                        <a:t>                                            HORMONE]</a:t>
                      </a:r>
                    </a:p>
                    <a:p>
                      <a:r>
                        <a:rPr lang="en-US" dirty="0"/>
                        <a:t>2.GHIH.[GROWTH HORMONE INHIBITING HORMONE]</a:t>
                      </a:r>
                    </a:p>
                    <a:p>
                      <a:r>
                        <a:rPr lang="en-US" dirty="0"/>
                        <a:t>3. TRH[THYROTROPIN RELEASING HORMONE]</a:t>
                      </a:r>
                    </a:p>
                    <a:p>
                      <a:r>
                        <a:rPr lang="en-US" dirty="0"/>
                        <a:t>4. CRH[ CORTICO TROPIN RELEASING HORMONE]</a:t>
                      </a:r>
                    </a:p>
                    <a:p>
                      <a:r>
                        <a:rPr lang="en-US" dirty="0"/>
                        <a:t>5. GnRH[GONADOTROPIN RELEASING HORMONE]</a:t>
                      </a:r>
                    </a:p>
                    <a:p>
                      <a:r>
                        <a:rPr lang="en-US" dirty="0"/>
                        <a:t>6. PRH[PROLACTIN RELEASING HORMONE]</a:t>
                      </a:r>
                    </a:p>
                    <a:p>
                      <a:r>
                        <a:rPr lang="en-US" dirty="0"/>
                        <a:t>PIH[PROLACTIN INHIBITING HORMONE]</a:t>
                      </a:r>
                      <a:endParaRPr lang="en-IN" dirty="0"/>
                    </a:p>
                  </a:txBody>
                  <a:tcPr/>
                </a:tc>
                <a:tc>
                  <a:txBody>
                    <a:bodyPr/>
                    <a:lstStyle/>
                    <a:p>
                      <a:pPr marL="342900" indent="-342900">
                        <a:buAutoNum type="arabicPeriod"/>
                      </a:pPr>
                      <a:r>
                        <a:rPr lang="en-US" dirty="0"/>
                        <a:t>GH[ GROWTH HORMONE </a:t>
                      </a:r>
                    </a:p>
                    <a:p>
                      <a:pPr marL="342900" indent="-342900">
                        <a:buAutoNum type="arabicPeriod"/>
                      </a:pPr>
                      <a:r>
                        <a:rPr lang="en-US" dirty="0"/>
                        <a:t>TSH[THYROID STIMULATING HORMONE]</a:t>
                      </a:r>
                    </a:p>
                    <a:p>
                      <a:pPr marL="342900" indent="-342900">
                        <a:buAutoNum type="arabicPeriod"/>
                      </a:pPr>
                      <a:r>
                        <a:rPr lang="en-US" dirty="0"/>
                        <a:t>ACTH [ADRENOCORTICOTROPIC HORMONE]</a:t>
                      </a:r>
                    </a:p>
                    <a:p>
                      <a:pPr marL="342900" indent="-342900">
                        <a:buAutoNum type="arabicPeriod"/>
                      </a:pPr>
                      <a:r>
                        <a:rPr lang="en-US" dirty="0"/>
                        <a:t>FSH[FOLLICLE STIMULATIN HORMONE]</a:t>
                      </a:r>
                    </a:p>
                    <a:p>
                      <a:pPr marL="342900" indent="-342900">
                        <a:buAutoNum type="arabicPeriod"/>
                      </a:pPr>
                      <a:r>
                        <a:rPr lang="en-US" dirty="0"/>
                        <a:t>LH [LEUTENISING HORMONE]</a:t>
                      </a:r>
                    </a:p>
                    <a:p>
                      <a:pPr marL="342900" indent="-342900">
                        <a:buAutoNum type="arabicPeriod"/>
                      </a:pPr>
                      <a:r>
                        <a:rPr lang="en-US" dirty="0"/>
                        <a:t>PROLACTIN</a:t>
                      </a:r>
                      <a:endParaRPr lang="en-IN" dirty="0"/>
                    </a:p>
                  </a:txBody>
                  <a:tcPr/>
                </a:tc>
                <a:extLst>
                  <a:ext uri="{0D108BD9-81ED-4DB2-BD59-A6C34878D82A}">
                    <a16:rowId xmlns:a16="http://schemas.microsoft.com/office/drawing/2014/main" xmlns="" val="304854735"/>
                  </a:ext>
                </a:extLst>
              </a:tr>
            </a:tbl>
          </a:graphicData>
        </a:graphic>
      </p:graphicFrame>
    </p:spTree>
    <p:extLst>
      <p:ext uri="{BB962C8B-B14F-4D97-AF65-F5344CB8AC3E}">
        <p14:creationId xmlns:p14="http://schemas.microsoft.com/office/powerpoint/2010/main" val="4110398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5AC7484-7EE3-43B7-A012-F940B1C9E184}"/>
              </a:ext>
            </a:extLst>
          </p:cNvPr>
          <p:cNvSpPr>
            <a:spLocks noGrp="1"/>
          </p:cNvSpPr>
          <p:nvPr>
            <p:ph idx="1"/>
          </p:nvPr>
        </p:nvSpPr>
        <p:spPr>
          <a:xfrm>
            <a:off x="0" y="0"/>
            <a:ext cx="11133364" cy="6596743"/>
          </a:xfrm>
        </p:spPr>
        <p:txBody>
          <a:bodyPr>
            <a:normAutofit fontScale="25000" lnSpcReduction="20000"/>
          </a:bodyPr>
          <a:lstStyle/>
          <a:p>
            <a:r>
              <a:rPr lang="en-US" sz="6400" dirty="0"/>
              <a:t>3. ROLE IN REGULATION OF POSTERIOR PITUITARY HORMONES—</a:t>
            </a:r>
          </a:p>
          <a:p>
            <a:r>
              <a:rPr lang="en-US" sz="6400" dirty="0"/>
              <a:t>ADH &amp; OXYTOCIN ARE RELEASED FROM SON AND PVN OF HYPOTHALAMUS AND ARE CARRIED UPTO THE POSTERIOR PITUITARY THROUGH HYPOTHALAMO-HYPOPHYSEAL NERVE TRACT. FUNCTION OF POSTERIOR PITUITARY IS STORAGE AND RELEASE OF THESE HORMONES.</a:t>
            </a:r>
          </a:p>
          <a:p>
            <a:r>
              <a:rPr lang="en-US" sz="6400" dirty="0"/>
              <a:t>4. ROLE IN WATER BALANCE– LATERAL HYPOTHALAMUS IS INVOLVED IN THIRST MECHANISM AND BY THE RELEASE OF ADH , HYPOTHALAMUS IS INVOLVED IN WATER BALANCE OF THE BODY.</a:t>
            </a:r>
          </a:p>
          <a:p>
            <a:r>
              <a:rPr lang="en-US" sz="6400" dirty="0"/>
              <a:t>5. ROLE IN HUNGER AND SATIETY—LATERAL HYPOTHALAMUS IS INVOLVED IN HUNGER AND MEDIAN HYPOTHALAMUS IS INVOLVED IN SATIETY .</a:t>
            </a:r>
          </a:p>
          <a:p>
            <a:r>
              <a:rPr lang="en-US" sz="6400" dirty="0"/>
              <a:t>6.  ROLE IN REGULATION OF AUTONOMIC NERVOUS SYSTEM—</a:t>
            </a:r>
          </a:p>
          <a:p>
            <a:r>
              <a:rPr lang="en-US" sz="6400" dirty="0"/>
              <a:t>ANTERIOR HYPOTHALAMUS STIMULATE  PARASYMPATHETIC NERVOUS SYSTEM.</a:t>
            </a:r>
          </a:p>
          <a:p>
            <a:r>
              <a:rPr lang="en-US" sz="6400" dirty="0"/>
              <a:t>POSTERIOR HYPOTHALAMUS STIMULATE SYMPATHETIC NERVOUS SYSTEM    </a:t>
            </a:r>
          </a:p>
          <a:p>
            <a:r>
              <a:rPr lang="en-US" sz="6400" dirty="0"/>
              <a:t>7. ROLE IN REGULATION OF GENERAL AND SEXUAL BEHAVIOUR---</a:t>
            </a:r>
          </a:p>
          <a:p>
            <a:r>
              <a:rPr lang="en-US" sz="6400" dirty="0"/>
              <a:t>THERE ARE TWO CENTRES OF HYPOTHALAMUS LIKE </a:t>
            </a:r>
          </a:p>
          <a:p>
            <a:pPr marL="342900" indent="-342900">
              <a:buAutoNum type="arabicPeriod"/>
            </a:pPr>
            <a:r>
              <a:rPr lang="en-US" sz="6400" dirty="0"/>
              <a:t>REWARD CENTRE AND PUNISHMENT CENTRE. BY THE COMBINED ACTION OF THESE TWO CENTRES GENERAL BEHAVIOUR OF THE INDIVIDUAL IS DEVELOPED</a:t>
            </a:r>
            <a:r>
              <a:rPr lang="en-US" sz="6400" dirty="0" smtClean="0"/>
              <a:t>.</a:t>
            </a:r>
          </a:p>
          <a:p>
            <a:pPr marL="0" indent="0">
              <a:buNone/>
            </a:pPr>
            <a:r>
              <a:rPr lang="en-US" sz="6400" dirty="0"/>
              <a:t> </a:t>
            </a:r>
            <a:r>
              <a:rPr lang="en-US" sz="6400" dirty="0" smtClean="0"/>
              <a:t>   8.ROLE AS A BIOLOGICAL CLOCK— REGULATES DAILY CYCLE LIKE SLEEP –WAKE CYCLE, NORMONAL RHYTHM, MONTHLY CYCLE LIKE MENSTRUAL CYCLE.</a:t>
            </a:r>
            <a:endParaRPr lang="en-US" sz="6400" dirty="0"/>
          </a:p>
          <a:p>
            <a:pPr marL="0" indent="0">
              <a:buNone/>
            </a:pPr>
            <a:r>
              <a:rPr lang="en-US" sz="7200" dirty="0" smtClean="0"/>
              <a:t>.</a:t>
            </a:r>
            <a:endParaRPr lang="en-US" sz="7200" dirty="0"/>
          </a:p>
          <a:p>
            <a:pPr marL="0" indent="0">
              <a:buNone/>
            </a:pPr>
            <a:r>
              <a:rPr lang="en-US" sz="7200" dirty="0"/>
              <a:t>                                                </a:t>
            </a:r>
          </a:p>
          <a:p>
            <a:pPr marL="0" indent="0">
              <a:buNone/>
            </a:pPr>
            <a:endParaRPr lang="en-US" sz="7200" dirty="0"/>
          </a:p>
          <a:p>
            <a:pPr marL="0" indent="0">
              <a:buNone/>
            </a:pPr>
            <a:endParaRPr lang="en-US" sz="7200" dirty="0"/>
          </a:p>
          <a:p>
            <a:pPr marL="0" indent="0">
              <a:buNone/>
            </a:pPr>
            <a:endParaRPr lang="en-US" sz="7200" dirty="0"/>
          </a:p>
          <a:p>
            <a:pPr marL="0" indent="0">
              <a:buNone/>
            </a:pPr>
            <a:endParaRPr lang="en-US" sz="7200" dirty="0"/>
          </a:p>
          <a:p>
            <a:pPr marL="0" indent="0">
              <a:buNone/>
            </a:pPr>
            <a:endParaRPr lang="en-US" sz="7200" dirty="0"/>
          </a:p>
          <a:p>
            <a:pPr marL="342900" indent="-342900">
              <a:buAutoNum type="arabicPeriod"/>
            </a:pPr>
            <a:endParaRPr lang="en-US" sz="2900" dirty="0"/>
          </a:p>
          <a:p>
            <a:pPr marL="0" indent="0">
              <a:buNone/>
            </a:pPr>
            <a:endParaRPr lang="en-US" sz="7200" dirty="0"/>
          </a:p>
          <a:p>
            <a:pPr marL="342900" indent="-342900">
              <a:buAutoNum type="arabicPeriod"/>
            </a:pPr>
            <a:endParaRPr lang="en-US" sz="2900" dirty="0"/>
          </a:p>
          <a:p>
            <a:pPr marL="342900" indent="-342900">
              <a:buAutoNum type="arabicPeriod"/>
            </a:pPr>
            <a:endParaRPr lang="en-US" sz="2900" dirty="0"/>
          </a:p>
          <a:p>
            <a:pPr marL="342900" indent="-342900">
              <a:buAutoNum type="arabicPeriod"/>
            </a:pPr>
            <a:endParaRPr lang="en-US" sz="2900" dirty="0"/>
          </a:p>
          <a:p>
            <a:pPr marL="342900" indent="-342900">
              <a:buAutoNum type="arabicPeriod"/>
            </a:pPr>
            <a:endParaRPr lang="en-US" sz="1800" dirty="0"/>
          </a:p>
          <a:p>
            <a:pPr marL="342900" indent="-342900">
              <a:buAutoNum type="arabicPeriod"/>
            </a:pPr>
            <a:endParaRPr lang="en-US" sz="1800" dirty="0"/>
          </a:p>
          <a:p>
            <a:pPr marL="342900" indent="-342900">
              <a:buAutoNum type="arabicPeriod"/>
            </a:pPr>
            <a:endParaRPr lang="en-US" sz="1800" dirty="0"/>
          </a:p>
          <a:p>
            <a:pPr marL="342900" indent="-342900">
              <a:buAutoNum type="arabicPeriod"/>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r>
              <a:rPr lang="en-US" sz="1800" dirty="0"/>
              <a:t>                                                                                                          </a:t>
            </a:r>
          </a:p>
          <a:p>
            <a:pPr marL="0" indent="0">
              <a:buNone/>
            </a:pPr>
            <a:r>
              <a:rPr lang="en-US" sz="1800" dirty="0"/>
              <a:t>                                                                                                                                                                                                                                                                                                                                                                                                                                                                                                                                                                                                                                                                                                                                                                                                                                                                                                                                                                                                                                                                                                                                                                                                                                                                                                                                                                                                                                                                                                                                                                                                                                                                                                                                                                                                                                                                                                                                                                                                                                                                                                                                  </a:t>
            </a:r>
            <a:endParaRPr lang="en-IN" sz="1800" dirty="0"/>
          </a:p>
        </p:txBody>
      </p:sp>
    </p:spTree>
    <p:extLst>
      <p:ext uri="{BB962C8B-B14F-4D97-AF65-F5344CB8AC3E}">
        <p14:creationId xmlns:p14="http://schemas.microsoft.com/office/powerpoint/2010/main" val="28463474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94A72A-BE0A-4844-9DF3-C38586CCBCDF}"/>
              </a:ext>
            </a:extLst>
          </p:cNvPr>
          <p:cNvSpPr>
            <a:spLocks noGrp="1"/>
          </p:cNvSpPr>
          <p:nvPr>
            <p:ph type="title"/>
          </p:nvPr>
        </p:nvSpPr>
        <p:spPr>
          <a:xfrm>
            <a:off x="838200" y="365126"/>
            <a:ext cx="10515600" cy="516618"/>
          </a:xfrm>
        </p:spPr>
        <p:txBody>
          <a:bodyPr>
            <a:normAutofit fontScale="90000"/>
          </a:bodyPr>
          <a:lstStyle/>
          <a:p>
            <a:r>
              <a:rPr lang="en-US" dirty="0"/>
              <a:t>              FUNCTIONS OF CEREBELLUM</a:t>
            </a:r>
            <a:endParaRPr lang="en-IN" dirty="0"/>
          </a:p>
        </p:txBody>
      </p:sp>
      <p:sp>
        <p:nvSpPr>
          <p:cNvPr id="3" name="Content Placeholder 2">
            <a:extLst>
              <a:ext uri="{FF2B5EF4-FFF2-40B4-BE49-F238E27FC236}">
                <a16:creationId xmlns:a16="http://schemas.microsoft.com/office/drawing/2014/main" xmlns="" id="{E37FE2E4-C458-4BB1-A955-36C89642D88C}"/>
              </a:ext>
            </a:extLst>
          </p:cNvPr>
          <p:cNvSpPr>
            <a:spLocks noGrp="1"/>
          </p:cNvSpPr>
          <p:nvPr>
            <p:ph idx="1"/>
          </p:nvPr>
        </p:nvSpPr>
        <p:spPr>
          <a:xfrm>
            <a:off x="155120" y="947057"/>
            <a:ext cx="11723915" cy="5755822"/>
          </a:xfrm>
        </p:spPr>
        <p:txBody>
          <a:bodyPr/>
          <a:lstStyle/>
          <a:p>
            <a:r>
              <a:rPr lang="en-US" dirty="0"/>
              <a:t>1</a:t>
            </a:r>
            <a:r>
              <a:rPr lang="en-US" sz="1800" dirty="0"/>
              <a:t>. HELP IN CO-ORDINATION OF VOLUNTARY MOVEMENTS</a:t>
            </a:r>
          </a:p>
          <a:p>
            <a:r>
              <a:rPr lang="en-US" sz="1800" dirty="0"/>
              <a:t>2. HELPS IN EQUILIBRIUM</a:t>
            </a:r>
          </a:p>
          <a:p>
            <a:r>
              <a:rPr lang="en-US" sz="1800" dirty="0"/>
              <a:t>3.PREDICTIVE FUNCTION –PREDICT THE FUTURE POSITION OF LIMBS.</a:t>
            </a:r>
          </a:p>
          <a:p>
            <a:r>
              <a:rPr lang="en-US" sz="1800" dirty="0"/>
              <a:t>MOVEMENTS ARE MADE CORRECT AND PRECISE BY THE DAMPING ACTION OF CEREBELLUM.</a:t>
            </a:r>
          </a:p>
          <a:p>
            <a:r>
              <a:rPr lang="en-US" sz="1800" dirty="0"/>
              <a:t>4. HELPS IN ERROR DETECTION AND CORRECTION SINCE CEREBELLUM IS CONNECTED TO CEREBRAL CORTEX AND VOLUNTARY MUSCLES.</a:t>
            </a:r>
          </a:p>
          <a:p>
            <a:r>
              <a:rPr lang="en-US" sz="1800" dirty="0"/>
              <a:t>5.REGULATE RATE, RANGE ,FORCE AND DIRECTION OF MOVEMENT</a:t>
            </a:r>
          </a:p>
          <a:p>
            <a:r>
              <a:rPr lang="en-US" sz="1800" dirty="0"/>
              <a:t>6.REGULATE INVOLUNTARY MOVEMENTS LIKE KNEE JERK.</a:t>
            </a:r>
          </a:p>
          <a:p>
            <a:r>
              <a:rPr lang="en-US" sz="1800" dirty="0"/>
              <a:t>7. CAUSE </a:t>
            </a:r>
            <a:r>
              <a:rPr lang="en-US" sz="1800" dirty="0" smtClean="0"/>
              <a:t>HYPERTONICITY</a:t>
            </a:r>
            <a:endParaRPr lang="en-US" sz="1800" dirty="0"/>
          </a:p>
          <a:p>
            <a:pPr marL="0" indent="0">
              <a:buNone/>
            </a:pPr>
            <a:r>
              <a:rPr lang="en-US" sz="1800" dirty="0"/>
              <a:t>CEREBELLAR ATAXIA-</a:t>
            </a:r>
          </a:p>
          <a:p>
            <a:pPr marL="342900" indent="-342900">
              <a:buAutoNum type="arabicPeriod"/>
            </a:pPr>
            <a:r>
              <a:rPr lang="en-US" sz="1800" dirty="0"/>
              <a:t>ATAXIA-INCO-ORDINATED MOVEMENTS</a:t>
            </a:r>
          </a:p>
          <a:p>
            <a:pPr marL="514350" indent="-514350">
              <a:buAutoNum type="arabicPeriod"/>
            </a:pPr>
            <a:r>
              <a:rPr lang="en-US" sz="1800" dirty="0"/>
              <a:t>HYPOTONIA</a:t>
            </a:r>
          </a:p>
          <a:p>
            <a:pPr marL="514350" indent="-514350">
              <a:buAutoNum type="arabicPeriod"/>
            </a:pPr>
            <a:r>
              <a:rPr lang="en-US" sz="1800" dirty="0"/>
              <a:t>INTENSION TREMOR</a:t>
            </a:r>
          </a:p>
          <a:p>
            <a:pPr marL="514350" indent="-514350">
              <a:buAutoNum type="arabicPeriod"/>
            </a:pPr>
            <a:r>
              <a:rPr lang="en-US" sz="1800" dirty="0"/>
              <a:t>DRUNKEN GAIT</a:t>
            </a:r>
          </a:p>
          <a:p>
            <a:pPr marL="514350" indent="-514350">
              <a:buAutoNum type="arabicPeriod"/>
            </a:pPr>
            <a:r>
              <a:rPr lang="en-US" sz="1800" dirty="0"/>
              <a:t>PENDULLAR KNEE JERK</a:t>
            </a:r>
            <a:endParaRPr lang="en-IN" dirty="0"/>
          </a:p>
        </p:txBody>
      </p:sp>
    </p:spTree>
    <p:extLst>
      <p:ext uri="{BB962C8B-B14F-4D97-AF65-F5344CB8AC3E}">
        <p14:creationId xmlns:p14="http://schemas.microsoft.com/office/powerpoint/2010/main" val="32606394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9DACB1-9807-4834-AAE4-491992641863}"/>
              </a:ext>
            </a:extLst>
          </p:cNvPr>
          <p:cNvSpPr>
            <a:spLocks noGrp="1"/>
          </p:cNvSpPr>
          <p:nvPr>
            <p:ph type="title"/>
          </p:nvPr>
        </p:nvSpPr>
        <p:spPr>
          <a:xfrm>
            <a:off x="838200" y="365125"/>
            <a:ext cx="10515600" cy="720725"/>
          </a:xfrm>
        </p:spPr>
        <p:txBody>
          <a:bodyPr/>
          <a:lstStyle/>
          <a:p>
            <a:r>
              <a:rPr lang="en-US" dirty="0"/>
              <a:t>                             THALAMUS</a:t>
            </a:r>
            <a:endParaRPr lang="en-IN" dirty="0"/>
          </a:p>
        </p:txBody>
      </p:sp>
      <p:sp>
        <p:nvSpPr>
          <p:cNvPr id="3" name="Content Placeholder 2">
            <a:extLst>
              <a:ext uri="{FF2B5EF4-FFF2-40B4-BE49-F238E27FC236}">
                <a16:creationId xmlns:a16="http://schemas.microsoft.com/office/drawing/2014/main" xmlns="" id="{A67F9D93-4FD9-4671-8A5F-E96F9B3C1875}"/>
              </a:ext>
            </a:extLst>
          </p:cNvPr>
          <p:cNvSpPr>
            <a:spLocks noGrp="1"/>
          </p:cNvSpPr>
          <p:nvPr>
            <p:ph idx="1"/>
          </p:nvPr>
        </p:nvSpPr>
        <p:spPr>
          <a:xfrm>
            <a:off x="171449" y="955221"/>
            <a:ext cx="11903529" cy="5804808"/>
          </a:xfrm>
        </p:spPr>
        <p:txBody>
          <a:bodyPr>
            <a:normAutofit/>
          </a:bodyPr>
          <a:lstStyle/>
          <a:p>
            <a:r>
              <a:rPr lang="en-US" sz="1800" dirty="0"/>
              <a:t>RELAY CENTRE FOR SENSORY PATHWAYS LIKE FINE TOUCH, PRESSURE, PAIN AMD TEMPERATURE.</a:t>
            </a:r>
          </a:p>
          <a:p>
            <a:r>
              <a:rPr lang="en-US" sz="1800" dirty="0"/>
              <a:t>RELAY CENTRE FOR SPECIAL SENSES LIKE VISION, AUDITION. SMELL. AND TASTE.</a:t>
            </a:r>
          </a:p>
          <a:p>
            <a:r>
              <a:rPr lang="en-US" sz="1800" dirty="0"/>
              <a:t>CONNECTION WITH CEREBELLUM AND BASAL GANGLIA , IT CAN ACT AS AN INTEGRATING CENTRE  FOR MOTOR ACTIVITIES</a:t>
            </a:r>
          </a:p>
          <a:p>
            <a:r>
              <a:rPr lang="en-US" sz="1800" dirty="0"/>
              <a:t>ASSOCIATION NUCLEI CONNECT THALAMUS TO DIFFERENT AREAS OF CEREBRAL CORTEX AND THALAMUS AND CORTEX TUNCTION AS SINGLE UNIT AND INTEGRATE SENSORY AND MOTOR FUNCTIONS.</a:t>
            </a:r>
          </a:p>
          <a:p>
            <a:r>
              <a:rPr lang="en-US" sz="1800" dirty="0"/>
              <a:t>HAS A ROLE IN LANGUAGE DEVELOPMENT</a:t>
            </a:r>
          </a:p>
          <a:p>
            <a:r>
              <a:rPr lang="en-US" sz="1800" dirty="0"/>
              <a:t>HELPS IN EMOTIONAL BEHAVIOUR AND RECENT MEMORY.</a:t>
            </a:r>
          </a:p>
          <a:p>
            <a:r>
              <a:rPr lang="en-US" sz="1800" dirty="0"/>
              <a:t>NONSPECIFIC PROJECTION NUCLEI FORM PART OF ARAS[ Ascending reticular activating system]</a:t>
            </a:r>
            <a:r>
              <a:rPr lang="en-IN" sz="1800" dirty="0"/>
              <a:t> and is responsible for alertness, arousal and attention of an individual. </a:t>
            </a:r>
          </a:p>
          <a:p>
            <a:pPr marL="0" indent="0">
              <a:buNone/>
            </a:pPr>
            <a:r>
              <a:rPr lang="en-IN" sz="1800" dirty="0"/>
              <a:t> THALAMIC SYNDROME==</a:t>
            </a:r>
          </a:p>
          <a:p>
            <a:pPr marL="0" indent="0">
              <a:buNone/>
            </a:pPr>
            <a:r>
              <a:rPr lang="en-IN" sz="1800" dirty="0"/>
              <a:t>1.Hemianesthesia</a:t>
            </a:r>
          </a:p>
          <a:p>
            <a:pPr marL="0" indent="0">
              <a:buNone/>
            </a:pPr>
            <a:r>
              <a:rPr lang="en-IN" sz="1800" dirty="0"/>
              <a:t>2.Astereognosis</a:t>
            </a:r>
          </a:p>
          <a:p>
            <a:pPr marL="0" indent="0">
              <a:buNone/>
            </a:pPr>
            <a:r>
              <a:rPr lang="en-IN" sz="1800" dirty="0"/>
              <a:t>3.Thalamic pain</a:t>
            </a:r>
          </a:p>
          <a:p>
            <a:pPr marL="0" indent="0">
              <a:buNone/>
            </a:pPr>
            <a:r>
              <a:rPr lang="en-IN" sz="1800" dirty="0"/>
              <a:t>4. Thalamic phantom limb.</a:t>
            </a:r>
          </a:p>
          <a:p>
            <a:pPr marL="0" indent="0">
              <a:buNone/>
            </a:pPr>
            <a:r>
              <a:rPr lang="en-IN" sz="1800" dirty="0"/>
              <a:t>5. Intention tremor</a:t>
            </a:r>
            <a:endParaRPr lang="en-US" sz="1800" dirty="0"/>
          </a:p>
        </p:txBody>
      </p:sp>
    </p:spTree>
    <p:extLst>
      <p:ext uri="{BB962C8B-B14F-4D97-AF65-F5344CB8AC3E}">
        <p14:creationId xmlns:p14="http://schemas.microsoft.com/office/powerpoint/2010/main" val="35034872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29634"/>
          </a:xfrm>
        </p:spPr>
        <p:txBody>
          <a:bodyPr>
            <a:normAutofit fontScale="90000"/>
          </a:bodyPr>
          <a:lstStyle/>
          <a:p>
            <a:r>
              <a:rPr lang="en-US" dirty="0" smtClean="0"/>
              <a:t>FUNCTIONS OF MEDULLA</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82011" y="794760"/>
                <a:ext cx="11071789" cy="5956418"/>
              </a:xfrm>
            </p:spPr>
            <p:txBody>
              <a:bodyPr>
                <a:normAutofit fontScale="92500" lnSpcReduction="10000"/>
              </a:bodyPr>
              <a:lstStyle/>
              <a:p>
                <a:r>
                  <a:rPr lang="en-US" sz="2000" dirty="0" smtClean="0"/>
                  <a:t>It is the terminal part of brain stem and is present between pons and spinal cord. There are two regions of medulla</a:t>
                </a:r>
              </a:p>
              <a:p>
                <a:r>
                  <a:rPr lang="en-US" sz="2000" dirty="0" smtClean="0"/>
                  <a:t>Ventral medulla</a:t>
                </a:r>
              </a:p>
              <a:p>
                <a:r>
                  <a:rPr lang="en-US" sz="2000" dirty="0"/>
                  <a:t>D</a:t>
                </a:r>
                <a:r>
                  <a:rPr lang="en-US" sz="2000" dirty="0" smtClean="0"/>
                  <a:t>orsal medulla</a:t>
                </a:r>
              </a:p>
              <a:p>
                <a:r>
                  <a:rPr lang="en-US" sz="2000" dirty="0" smtClean="0"/>
                  <a:t>Pyramidal tracts are present in the ventral medulla as a pair of triangular structures called pyramids..</a:t>
                </a:r>
              </a:p>
              <a:p>
                <a:r>
                  <a:rPr lang="en-US" sz="2000" dirty="0" smtClean="0"/>
                  <a:t>80% Pyramidal tract fibers cross in the lower part of medulla slightly above the intersection with spinal cord .Here decussation of pyramids occur. Ventral medulla contain olivary bodies lateral to pyramids.</a:t>
                </a:r>
              </a:p>
              <a:p>
                <a:r>
                  <a:rPr lang="en-US" sz="2000" dirty="0" smtClean="0"/>
                  <a:t>From dorsal medulla originates 7 pairs of cranial nerves. They exit medulla ventrally. White matter of medulla intervened with gray matter to form reticular formation. Lower region of fourth ventricle form upper part of medulla.</a:t>
                </a:r>
              </a:p>
              <a:p>
                <a:r>
                  <a:rPr lang="en-US" sz="2000" dirty="0" smtClean="0"/>
                  <a:t>FUNCTIONS</a:t>
                </a:r>
              </a:p>
              <a:p>
                <a:r>
                  <a:rPr lang="en-US" sz="2000" dirty="0" smtClean="0"/>
                  <a:t>1 Help in transmission of signals from brain to spinal cord.</a:t>
                </a:r>
              </a:p>
              <a:p>
                <a:r>
                  <a:rPr lang="en-US" sz="2000" dirty="0" smtClean="0"/>
                  <a:t>2 Regulate heart rate, BP, Respiration and reflexes like vomiting, coughing, sneezing, swallowing etc.</a:t>
                </a:r>
              </a:p>
              <a:p>
                <a:r>
                  <a:rPr lang="en-US" sz="2000" dirty="0" smtClean="0"/>
                  <a:t>3 Cranial nerves like </a:t>
                </a:r>
                <a:r>
                  <a:rPr lang="en-US" sz="2000" dirty="0" err="1" smtClean="0"/>
                  <a:t>lX</a:t>
                </a:r>
                <a:r>
                  <a:rPr lang="en-US" sz="2000" dirty="0" smtClean="0"/>
                  <a:t> , X, Xl, </a:t>
                </a:r>
                <a14:m>
                  <m:oMath xmlns:m="http://schemas.openxmlformats.org/officeDocument/2006/math">
                    <m:r>
                      <m:rPr>
                        <m:sty m:val="p"/>
                      </m:rPr>
                      <a:rPr lang="en-US" sz="2000" i="1" smtClean="0">
                        <a:latin typeface="Cambria Math" panose="02040503050406030204" pitchFamily="18" charset="0"/>
                      </a:rPr>
                      <m:t>Xll</m:t>
                    </m:r>
                    <m:r>
                      <a:rPr lang="en-US" sz="2000" b="0" i="1" smtClean="0">
                        <a:latin typeface="Cambria Math" panose="02040503050406030204" pitchFamily="18" charset="0"/>
                      </a:rPr>
                      <m:t> </m:t>
                    </m:r>
                    <m:r>
                      <a:rPr lang="en-US" sz="2000" b="0" i="1" smtClean="0">
                        <a:latin typeface="Cambria Math" panose="02040503050406030204" pitchFamily="18" charset="0"/>
                      </a:rPr>
                      <m:t>𝑠𝑡𝑎𝑟𝑡𝑠</m:t>
                    </m:r>
                    <m:r>
                      <a:rPr lang="en-US" sz="2000" b="0" i="1" smtClean="0">
                        <a:latin typeface="Cambria Math" panose="02040503050406030204" pitchFamily="18" charset="0"/>
                      </a:rPr>
                      <m:t> </m:t>
                    </m:r>
                    <m:r>
                      <a:rPr lang="en-US" sz="2000" b="0" i="1" smtClean="0">
                        <a:latin typeface="Cambria Math" panose="02040503050406030204" pitchFamily="18" charset="0"/>
                      </a:rPr>
                      <m:t>𝑖𝑛</m:t>
                    </m:r>
                    <m:r>
                      <a:rPr lang="en-US" sz="2000" b="0" i="1" smtClean="0">
                        <a:latin typeface="Cambria Math" panose="02040503050406030204" pitchFamily="18" charset="0"/>
                      </a:rPr>
                      <m:t> </m:t>
                    </m:r>
                    <m:r>
                      <a:rPr lang="en-US" sz="2000" b="0" i="1" smtClean="0">
                        <a:latin typeface="Cambria Math" panose="02040503050406030204" pitchFamily="18" charset="0"/>
                      </a:rPr>
                      <m:t>𝑚𝑒𝑑𝑢𝑙𝑙𝑎</m:t>
                    </m:r>
                    <m:r>
                      <a:rPr lang="en-US" sz="2000" b="0" i="1" smtClean="0">
                        <a:latin typeface="Cambria Math" panose="02040503050406030204" pitchFamily="18" charset="0"/>
                      </a:rPr>
                      <m:t> </m:t>
                    </m:r>
                    <m:r>
                      <a:rPr lang="en-US" sz="2000" b="0" i="1" smtClean="0">
                        <a:latin typeface="Cambria Math" panose="02040503050406030204" pitchFamily="18" charset="0"/>
                      </a:rPr>
                      <m:t>𝑜𝑏𝑙𝑜𝑛𝑔𝑎𝑡𝑎</m:t>
                    </m:r>
                  </m:oMath>
                </a14:m>
                <a:endParaRPr lang="en-US" sz="2000" b="0" dirty="0" smtClean="0"/>
              </a:p>
              <a:p>
                <a:r>
                  <a:rPr lang="en-US" sz="2000" dirty="0" smtClean="0"/>
                  <a:t>Ix-  swallowing, taste, and saliva</a:t>
                </a:r>
              </a:p>
              <a:p>
                <a:r>
                  <a:rPr lang="en-US" sz="2000" dirty="0" smtClean="0"/>
                  <a:t>X– breathing , heart function and digestion</a:t>
                </a:r>
              </a:p>
              <a:p>
                <a:r>
                  <a:rPr lang="en-US" sz="2000" dirty="0" smtClean="0"/>
                  <a:t>XI– upper back and neck movement</a:t>
                </a:r>
              </a:p>
              <a:p>
                <a:r>
                  <a:rPr lang="en-US" sz="2000" dirty="0" smtClean="0"/>
                  <a:t>XII– movement of tongue, speech and swallowing</a:t>
                </a: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82011" y="794760"/>
                <a:ext cx="11071789" cy="5956418"/>
              </a:xfrm>
              <a:blipFill rotWithShape="0">
                <a:blip r:embed="rId2"/>
                <a:stretch>
                  <a:fillRect l="-385" t="-1331" b="-1126"/>
                </a:stretch>
              </a:blipFill>
            </p:spPr>
            <p:txBody>
              <a:bodyPr/>
              <a:lstStyle/>
              <a:p>
                <a:r>
                  <a:rPr lang="en-US">
                    <a:noFill/>
                  </a:rPr>
                  <a:t> </a:t>
                </a:r>
              </a:p>
            </p:txBody>
          </p:sp>
        </mc:Fallback>
      </mc:AlternateContent>
    </p:spTree>
    <p:extLst>
      <p:ext uri="{BB962C8B-B14F-4D97-AF65-F5344CB8AC3E}">
        <p14:creationId xmlns:p14="http://schemas.microsoft.com/office/powerpoint/2010/main" val="15126576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6010" y="179463"/>
            <a:ext cx="10515600" cy="6426436"/>
          </a:xfrm>
        </p:spPr>
        <p:txBody>
          <a:bodyPr>
            <a:normAutofit/>
          </a:bodyPr>
          <a:lstStyle/>
          <a:p>
            <a:r>
              <a:rPr lang="en-US" sz="2400" dirty="0" smtClean="0"/>
              <a:t>In medulla gray matter and white matter intermingled and form reticular formation. Neurons of reticular formation help to transmit motor and sensory information. </a:t>
            </a:r>
          </a:p>
          <a:p>
            <a:r>
              <a:rPr lang="en-US" sz="2400" dirty="0" smtClean="0"/>
              <a:t>Neurons in the </a:t>
            </a:r>
            <a:r>
              <a:rPr lang="en-US" sz="2400" dirty="0"/>
              <a:t>m</a:t>
            </a:r>
            <a:r>
              <a:rPr lang="en-US" sz="2400" dirty="0" smtClean="0"/>
              <a:t>edulla control autonomic nervous activity, regulate respiration, , digestive system. </a:t>
            </a:r>
          </a:p>
          <a:p>
            <a:r>
              <a:rPr lang="en-US" sz="2400" dirty="0" smtClean="0"/>
              <a:t>Other important functions are control of movement, relay of somatic sensory information from internal organs, and control of sleep and wakefulness.</a:t>
            </a:r>
            <a:endParaRPr lang="en-US" sz="2400" dirty="0"/>
          </a:p>
        </p:txBody>
      </p:sp>
    </p:spTree>
    <p:extLst>
      <p:ext uri="{BB962C8B-B14F-4D97-AF65-F5344CB8AC3E}">
        <p14:creationId xmlns:p14="http://schemas.microsoft.com/office/powerpoint/2010/main" val="7158865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659422"/>
          </a:xfrm>
        </p:spPr>
        <p:txBody>
          <a:bodyPr>
            <a:normAutofit fontScale="90000"/>
          </a:bodyPr>
          <a:lstStyle/>
          <a:p>
            <a:r>
              <a:rPr lang="en-US" dirty="0" smtClean="0"/>
              <a:t>FUNCTIONS OF PONS</a:t>
            </a:r>
            <a:endParaRPr lang="en-US" dirty="0"/>
          </a:p>
        </p:txBody>
      </p:sp>
      <p:sp>
        <p:nvSpPr>
          <p:cNvPr id="3" name="Content Placeholder 2"/>
          <p:cNvSpPr>
            <a:spLocks noGrp="1"/>
          </p:cNvSpPr>
          <p:nvPr>
            <p:ph idx="1"/>
          </p:nvPr>
        </p:nvSpPr>
        <p:spPr>
          <a:xfrm>
            <a:off x="290146" y="527538"/>
            <a:ext cx="11063654" cy="6216162"/>
          </a:xfrm>
        </p:spPr>
        <p:txBody>
          <a:bodyPr>
            <a:normAutofit/>
          </a:bodyPr>
          <a:lstStyle/>
          <a:p>
            <a:r>
              <a:rPr lang="en-US" sz="2000" dirty="0" smtClean="0"/>
              <a:t>It is present in between the mid brain and medulla oblongata. It functions as a center which relay signals between lower cerebellum, spinal cord, midbrain, cerebrum and other higher parts of brain. </a:t>
            </a:r>
          </a:p>
          <a:p>
            <a:r>
              <a:rPr lang="en-US" sz="2000" dirty="0" smtClean="0"/>
              <a:t>FUNCTIONS</a:t>
            </a:r>
          </a:p>
          <a:p>
            <a:r>
              <a:rPr lang="en-US" sz="2000" dirty="0" smtClean="0"/>
              <a:t>1 Help to transfer signals between cerebellum and motor cortex[cerebrum]</a:t>
            </a:r>
          </a:p>
          <a:p>
            <a:r>
              <a:rPr lang="en-US" sz="2000" dirty="0" smtClean="0"/>
              <a:t>2 Sensation and motor function of head and neck</a:t>
            </a:r>
          </a:p>
          <a:p>
            <a:r>
              <a:rPr lang="en-US" sz="2000" dirty="0"/>
              <a:t>3</a:t>
            </a:r>
            <a:r>
              <a:rPr lang="en-US" sz="2000" dirty="0" smtClean="0"/>
              <a:t> Controls the rate and depth of respiration.</a:t>
            </a:r>
          </a:p>
          <a:p>
            <a:r>
              <a:rPr lang="en-US" sz="2000" dirty="0"/>
              <a:t>4</a:t>
            </a:r>
            <a:r>
              <a:rPr lang="en-US" sz="2000" dirty="0" smtClean="0"/>
              <a:t> Involved in controlling sleep cycles, alertness, pain responses and help in body’s fight or flight system.</a:t>
            </a:r>
          </a:p>
          <a:p>
            <a:r>
              <a:rPr lang="en-US" sz="2000" dirty="0" smtClean="0"/>
              <a:t>4. Responsible for rapid eye movement during sleep.</a:t>
            </a:r>
          </a:p>
          <a:p>
            <a:r>
              <a:rPr lang="en-US" sz="2000" dirty="0" smtClean="0"/>
              <a:t>5  Cranial nerves which arise from pons focus on motor response, eye and facial movements.[v, vi, vii and viii cranial nerves ]</a:t>
            </a:r>
          </a:p>
          <a:p>
            <a:r>
              <a:rPr lang="en-US" sz="2000" dirty="0" smtClean="0"/>
              <a:t>V Cranial nerve – Help in chewing and also sensation from face.</a:t>
            </a:r>
          </a:p>
          <a:p>
            <a:r>
              <a:rPr lang="en-US" sz="2000" dirty="0" smtClean="0"/>
              <a:t>VI Cranial nerve– help in eye movement outward and away from nose.</a:t>
            </a:r>
          </a:p>
          <a:p>
            <a:r>
              <a:rPr lang="en-US" sz="2000" dirty="0" smtClean="0"/>
              <a:t>VII Cranial nerve– Help in taste and swallowing and also  facial movement and expressions</a:t>
            </a:r>
          </a:p>
          <a:p>
            <a:r>
              <a:rPr lang="en-US" sz="2000" dirty="0" smtClean="0"/>
              <a:t>VIII Cranial nerve- Help in equilibrium and hearing.</a:t>
            </a:r>
          </a:p>
          <a:p>
            <a:endParaRPr lang="en-US" sz="2000" dirty="0"/>
          </a:p>
        </p:txBody>
      </p:sp>
    </p:spTree>
    <p:extLst>
      <p:ext uri="{BB962C8B-B14F-4D97-AF65-F5344CB8AC3E}">
        <p14:creationId xmlns:p14="http://schemas.microsoft.com/office/powerpoint/2010/main" val="5139229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VESTIBULAR APPARATUS</a:t>
            </a:r>
            <a:endParaRPr lang="en-US" dirty="0"/>
          </a:p>
        </p:txBody>
      </p:sp>
      <p:pic>
        <p:nvPicPr>
          <p:cNvPr id="4" name="Content Placeholder 3"/>
          <p:cNvPicPr>
            <a:picLocks noGrp="1" noChangeAspect="1"/>
          </p:cNvPicPr>
          <p:nvPr>
            <p:ph idx="1"/>
          </p:nvPr>
        </p:nvPicPr>
        <p:blipFill>
          <a:blip r:embed="rId2"/>
          <a:stretch>
            <a:fillRect/>
          </a:stretch>
        </p:blipFill>
        <p:spPr>
          <a:xfrm>
            <a:off x="2843375" y="1888621"/>
            <a:ext cx="6505249" cy="4288342"/>
          </a:xfrm>
          <a:prstGeom prst="rect">
            <a:avLst/>
          </a:prstGeom>
        </p:spPr>
      </p:pic>
    </p:spTree>
    <p:extLst>
      <p:ext uri="{BB962C8B-B14F-4D97-AF65-F5344CB8AC3E}">
        <p14:creationId xmlns:p14="http://schemas.microsoft.com/office/powerpoint/2010/main" val="18199628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AD0A963-6255-427E-9442-049DCBD215F2}"/>
              </a:ext>
            </a:extLst>
          </p:cNvPr>
          <p:cNvSpPr>
            <a:spLocks noGrp="1"/>
          </p:cNvSpPr>
          <p:nvPr>
            <p:ph type="title"/>
          </p:nvPr>
        </p:nvSpPr>
        <p:spPr>
          <a:xfrm>
            <a:off x="838200" y="365126"/>
            <a:ext cx="10515600" cy="508454"/>
          </a:xfrm>
        </p:spPr>
        <p:txBody>
          <a:bodyPr>
            <a:normAutofit fontScale="90000"/>
          </a:bodyPr>
          <a:lstStyle/>
          <a:p>
            <a:r>
              <a:rPr lang="en-IN" dirty="0" smtClean="0"/>
              <a:t>                       VESTIBULAR APPARATUS</a:t>
            </a:r>
            <a:endParaRPr lang="en-IN" dirty="0"/>
          </a:p>
        </p:txBody>
      </p:sp>
      <p:sp>
        <p:nvSpPr>
          <p:cNvPr id="3" name="Content Placeholder 2"/>
          <p:cNvSpPr>
            <a:spLocks noGrp="1"/>
          </p:cNvSpPr>
          <p:nvPr>
            <p:ph idx="1"/>
          </p:nvPr>
        </p:nvSpPr>
        <p:spPr>
          <a:xfrm>
            <a:off x="128187" y="873580"/>
            <a:ext cx="11998295" cy="5826323"/>
          </a:xfrm>
        </p:spPr>
        <p:txBody>
          <a:bodyPr>
            <a:normAutofit lnSpcReduction="10000"/>
          </a:bodyPr>
          <a:lstStyle/>
          <a:p>
            <a:r>
              <a:rPr lang="en-US" sz="1800" dirty="0" smtClean="0"/>
              <a:t>It is the sense organ for the sensation of equilibrium. The membranous labyrinth is the functional part of the vestibular apparatus. It consists of </a:t>
            </a:r>
          </a:p>
          <a:p>
            <a:r>
              <a:rPr lang="en-US" sz="1800" dirty="0" smtClean="0"/>
              <a:t>1.Three semicircular canals</a:t>
            </a:r>
          </a:p>
          <a:p>
            <a:r>
              <a:rPr lang="en-US" sz="1800" dirty="0" smtClean="0"/>
              <a:t>2. The otolith organs are saccule and utricle. </a:t>
            </a:r>
          </a:p>
          <a:p>
            <a:pPr marL="0" indent="0">
              <a:buNone/>
            </a:pPr>
            <a:r>
              <a:rPr lang="en-US" sz="1800" dirty="0" smtClean="0"/>
              <a:t>                                                                             </a:t>
            </a:r>
            <a:r>
              <a:rPr lang="en-US" sz="2400" dirty="0" smtClean="0"/>
              <a:t>SEMICIRCULAR CANAL</a:t>
            </a:r>
          </a:p>
          <a:p>
            <a:pPr marL="0" indent="0">
              <a:buNone/>
            </a:pPr>
            <a:r>
              <a:rPr lang="en-US" sz="1800" dirty="0" smtClean="0"/>
              <a:t>Semicircular canals are the tubular structures placed at right angles to each other. Because of this type of arrangement, the </a:t>
            </a:r>
          </a:p>
          <a:p>
            <a:pPr marL="0" indent="0">
              <a:buNone/>
            </a:pPr>
            <a:r>
              <a:rPr lang="en-US" sz="1800" dirty="0" smtClean="0"/>
              <a:t>Semicircular canals represent the three axis of rotation ; horizontal[lateral], superior[anterior] and inferior[posterior].</a:t>
            </a:r>
          </a:p>
          <a:p>
            <a:pPr marL="0" indent="0">
              <a:buNone/>
            </a:pPr>
            <a:r>
              <a:rPr lang="en-US" sz="1800" dirty="0" smtClean="0"/>
              <a:t>They contain endolymph and are separated from bony </a:t>
            </a:r>
            <a:r>
              <a:rPr lang="en-US" sz="1800" dirty="0"/>
              <a:t>c</a:t>
            </a:r>
            <a:r>
              <a:rPr lang="en-US" sz="1800" dirty="0" smtClean="0"/>
              <a:t>anal by perilymph. Each canal begins as a dilation containing a projecting ridge called crista ampullaris. Each crista ampullaris</a:t>
            </a:r>
            <a:r>
              <a:rPr lang="en-US" sz="1800" dirty="0"/>
              <a:t> </a:t>
            </a:r>
            <a:r>
              <a:rPr lang="en-US" sz="1800" dirty="0" smtClean="0"/>
              <a:t>contain hair cells and supporting cells surrounded by a gelatinous partition [cupula]  that closes off the ampulla. The process of hair cells are embedded in the cupula and the base of hair cells are in contact with afferent fibers of the vestibular division of vestibulo- cochlear nerve.</a:t>
            </a:r>
          </a:p>
          <a:p>
            <a:pPr marL="0" indent="0">
              <a:buNone/>
            </a:pPr>
            <a:r>
              <a:rPr lang="en-US" sz="1800" dirty="0"/>
              <a:t> </a:t>
            </a:r>
            <a:r>
              <a:rPr lang="en-US" sz="1800" dirty="0" smtClean="0"/>
              <a:t>   The utricle and saccule contain macula [receptor in otolith organ]. Macula is formed of hair cells and supporting cells. A large non motile hair called Kino cilium and  the remaining hair cells are called stercocilia, are small cilia which increase in their height. The cupula contain fine chalky calcium carbonate crystals otoliths. Hairs plus gelatinous material containing calcium carbonate is called as otolith membrane.</a:t>
            </a:r>
          </a:p>
          <a:p>
            <a:pPr marL="0" indent="0">
              <a:buNone/>
            </a:pPr>
            <a:r>
              <a:rPr lang="en-US" sz="1800" dirty="0" smtClean="0"/>
              <a:t>When head is in the normal erect position </a:t>
            </a:r>
          </a:p>
          <a:p>
            <a:pPr marL="0" indent="0">
              <a:buNone/>
            </a:pPr>
            <a:r>
              <a:rPr lang="en-US" sz="1800" dirty="0" smtClean="0"/>
              <a:t>Macula of each utricle is in the horizontal plane.</a:t>
            </a:r>
          </a:p>
          <a:p>
            <a:pPr marL="0" indent="0">
              <a:buNone/>
            </a:pPr>
            <a:r>
              <a:rPr lang="en-US" sz="1800" dirty="0" smtClean="0"/>
              <a:t>Macula of each saccule is in the vertical plane.</a:t>
            </a:r>
          </a:p>
          <a:p>
            <a:endParaRPr lang="en-US" sz="1800" dirty="0"/>
          </a:p>
        </p:txBody>
      </p:sp>
    </p:spTree>
    <p:extLst>
      <p:ext uri="{BB962C8B-B14F-4D97-AF65-F5344CB8AC3E}">
        <p14:creationId xmlns:p14="http://schemas.microsoft.com/office/powerpoint/2010/main" val="12544342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0736" y="85458"/>
            <a:ext cx="11961264" cy="6691357"/>
          </a:xfrm>
        </p:spPr>
        <p:txBody>
          <a:bodyPr>
            <a:normAutofit lnSpcReduction="10000"/>
          </a:bodyPr>
          <a:lstStyle/>
          <a:p>
            <a:r>
              <a:rPr lang="en-US" dirty="0" smtClean="0"/>
              <a:t>FUNCTIONS</a:t>
            </a:r>
          </a:p>
          <a:p>
            <a:r>
              <a:rPr lang="en-US" sz="1800" dirty="0" smtClean="0"/>
              <a:t>Otolith organ in utricle and saccule  is stimulated by gravity and semicircular canals activated by rotational activity.</a:t>
            </a:r>
          </a:p>
          <a:p>
            <a:r>
              <a:rPr lang="en-US" sz="1800" dirty="0" smtClean="0"/>
              <a:t>It helps in erect position of head with respect to trunk.</a:t>
            </a:r>
          </a:p>
          <a:p>
            <a:r>
              <a:rPr lang="en-US" sz="1800" dirty="0" smtClean="0"/>
              <a:t>Helps to recognize position and movements of the head and allows visual fixation on moving objects.</a:t>
            </a:r>
          </a:p>
          <a:p>
            <a:endParaRPr lang="en-US" sz="1800" dirty="0"/>
          </a:p>
          <a:p>
            <a:r>
              <a:rPr lang="en-US" sz="1800" dirty="0" smtClean="0"/>
              <a:t>FUNCTIONING OF VESTIBULAR APPARATUS</a:t>
            </a:r>
          </a:p>
          <a:p>
            <a:r>
              <a:rPr lang="en-US" sz="1800" dirty="0" smtClean="0"/>
              <a:t>Utricle and Saccule provide information about linear acceleration and position of head with respect to gravity.</a:t>
            </a:r>
          </a:p>
          <a:p>
            <a:r>
              <a:rPr lang="en-US" sz="1800" dirty="0" smtClean="0"/>
              <a:t>Macula of utricle is held horizontally so utricle respond to horizontal acceleration[as in travelling in a car] and Macula of saccule is held vertically so saccule responds  to vertical acceleration[as in travelling in lift]. The maculae of both are stretch receptors. Based on bending the head [sideways or Ventro-dorsal ]gravity acts. Saccule is stimulated when there is sideways flexion [right or left] Utricle is stimulated when there is ventral or dorsiflexion of head. </a:t>
            </a:r>
          </a:p>
          <a:p>
            <a:r>
              <a:rPr lang="en-US" sz="1800" dirty="0" smtClean="0"/>
              <a:t>FUNCTIONING OF SEMICIRCULAR CANALS</a:t>
            </a:r>
          </a:p>
          <a:p>
            <a:r>
              <a:rPr lang="en-US" sz="1800" dirty="0" smtClean="0"/>
              <a:t>The semicircular canals detects angular acceleration. When a person rotates in clockwise direction, in the right semicircular canal endolymph move towards ampulla[stimulation], while in left semicircular canal  endolymph move away from ampulla[not stimulated]. Because of stimulation the hair cells in the right horizontal canal send information through sensory nerves to vestibular, cerebellar and reticular centers. Now these centers send proper instructions to muscles of the body to maintain equilibrium. Rotation in anticlockwise direction cause stimulation of hair cells in the ampulla of horizontal canal in the  left ear only.</a:t>
            </a:r>
          </a:p>
          <a:p>
            <a:r>
              <a:rPr lang="en-US" sz="1800" dirty="0" smtClean="0"/>
              <a:t>ROLE IN REGULATION OF POSTURE</a:t>
            </a:r>
          </a:p>
          <a:p>
            <a:r>
              <a:rPr lang="en-US" sz="1800" dirty="0" smtClean="0"/>
              <a:t>1.The tract that descends from vestibular nuclei into spinal cord maintains tone in antigravity muscle and coordinates the adjustments made by the limbs and eyes in response to change in body position. The vestibular apparatus help in support of head during movements, orientation of head in space and in tonic reflexes [accompanying locomotion labyrinthine and righting reflexes]</a:t>
            </a:r>
          </a:p>
          <a:p>
            <a:endParaRPr lang="en-US" sz="1800" dirty="0"/>
          </a:p>
          <a:p>
            <a:endParaRPr lang="en-US" sz="1800" dirty="0" smtClean="0"/>
          </a:p>
          <a:p>
            <a:endParaRPr lang="en-US" sz="1800" dirty="0"/>
          </a:p>
          <a:p>
            <a:endParaRPr lang="en-US" sz="1800" dirty="0" smtClean="0"/>
          </a:p>
          <a:p>
            <a:endParaRPr lang="en-US" sz="1800" dirty="0"/>
          </a:p>
          <a:p>
            <a:endParaRPr lang="en-US" sz="1800" dirty="0" smtClean="0"/>
          </a:p>
          <a:p>
            <a:endParaRPr lang="en-US" sz="1800" dirty="0"/>
          </a:p>
          <a:p>
            <a:endParaRPr lang="en-US" sz="1800" dirty="0" smtClean="0"/>
          </a:p>
          <a:p>
            <a:endParaRPr lang="en-US" sz="1800" dirty="0"/>
          </a:p>
          <a:p>
            <a:endParaRPr lang="en-US" sz="1800" dirty="0" smtClean="0"/>
          </a:p>
          <a:p>
            <a:endParaRPr lang="en-US" sz="1800" dirty="0"/>
          </a:p>
          <a:p>
            <a:endParaRPr lang="en-US" sz="1800" dirty="0" smtClean="0"/>
          </a:p>
          <a:p>
            <a:pPr marL="0" indent="0">
              <a:buNone/>
            </a:pPr>
            <a:endParaRPr lang="en-US" sz="1800" dirty="0" smtClean="0"/>
          </a:p>
          <a:p>
            <a:endParaRPr lang="en-US" sz="1800" dirty="0"/>
          </a:p>
        </p:txBody>
      </p:sp>
    </p:spTree>
    <p:extLst>
      <p:ext uri="{BB962C8B-B14F-4D97-AF65-F5344CB8AC3E}">
        <p14:creationId xmlns:p14="http://schemas.microsoft.com/office/powerpoint/2010/main" val="40970524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467154" y="275956"/>
            <a:ext cx="5768849" cy="5857875"/>
          </a:xfrm>
        </p:spPr>
      </p:pic>
    </p:spTree>
    <p:extLst>
      <p:ext uri="{BB962C8B-B14F-4D97-AF65-F5344CB8AC3E}">
        <p14:creationId xmlns:p14="http://schemas.microsoft.com/office/powerpoint/2010/main" val="21920222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087594" y="586597"/>
            <a:ext cx="6771734" cy="6116578"/>
          </a:xfrm>
        </p:spPr>
      </p:pic>
    </p:spTree>
    <p:extLst>
      <p:ext uri="{BB962C8B-B14F-4D97-AF65-F5344CB8AC3E}">
        <p14:creationId xmlns:p14="http://schemas.microsoft.com/office/powerpoint/2010/main" val="6335537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B606B5B-983F-49CB-AF2E-ACF00FEF5083}"/>
              </a:ext>
            </a:extLst>
          </p:cNvPr>
          <p:cNvSpPr>
            <a:spLocks noGrp="1"/>
          </p:cNvSpPr>
          <p:nvPr>
            <p:ph idx="1"/>
          </p:nvPr>
        </p:nvSpPr>
        <p:spPr>
          <a:xfrm>
            <a:off x="1" y="76912"/>
            <a:ext cx="12385220" cy="6781088"/>
          </a:xfrm>
        </p:spPr>
        <p:txBody>
          <a:bodyPr>
            <a:normAutofit/>
          </a:bodyPr>
          <a:lstStyle/>
          <a:p>
            <a:pPr marL="0" indent="0">
              <a:buNone/>
            </a:pPr>
            <a:r>
              <a:rPr lang="en-US" sz="1800" dirty="0" smtClean="0"/>
              <a:t>2 It regulates eye movements through ascending connections at cranial nerve nuclei. Eye can remain fixed in the same point in spite of changes in head position.[vestibule ocular reflex]</a:t>
            </a:r>
          </a:p>
          <a:p>
            <a:pPr marL="0" indent="0">
              <a:buNone/>
            </a:pPr>
            <a:r>
              <a:rPr lang="en-US" sz="1800" dirty="0" smtClean="0"/>
              <a:t>3.Orientation in space- Relative position of various body parts in space depends on four inputs.</a:t>
            </a:r>
          </a:p>
          <a:p>
            <a:pPr marL="0" indent="0">
              <a:buNone/>
            </a:pPr>
            <a:r>
              <a:rPr lang="en-US" sz="1800" dirty="0" smtClean="0"/>
              <a:t>a. From vestibular  receptors</a:t>
            </a:r>
          </a:p>
          <a:p>
            <a:pPr marL="0" indent="0">
              <a:buNone/>
            </a:pPr>
            <a:r>
              <a:rPr lang="en-US" sz="1800" dirty="0" smtClean="0"/>
              <a:t>b. From visual information</a:t>
            </a:r>
          </a:p>
          <a:p>
            <a:pPr marL="0" indent="0">
              <a:buNone/>
            </a:pPr>
            <a:r>
              <a:rPr lang="en-US" sz="1800" dirty="0" smtClean="0"/>
              <a:t>c. By impulses from proprio receptors of joint capsule</a:t>
            </a:r>
          </a:p>
          <a:p>
            <a:pPr marL="0" indent="0">
              <a:buNone/>
            </a:pPr>
            <a:r>
              <a:rPr lang="en-US" sz="1800" dirty="0" smtClean="0"/>
              <a:t>d. By impulses from cutaneous extero receptors. </a:t>
            </a:r>
          </a:p>
          <a:p>
            <a:pPr marL="0" indent="0">
              <a:buNone/>
            </a:pPr>
            <a:endParaRPr lang="en-US" sz="1800" dirty="0"/>
          </a:p>
          <a:p>
            <a:pPr marL="0" indent="0">
              <a:buNone/>
            </a:pPr>
            <a:r>
              <a:rPr lang="en-US" sz="1800" dirty="0" smtClean="0"/>
              <a:t>UTRICLE AND SACCULE                                                                                         SEMICIRCULAR CANAL</a:t>
            </a:r>
          </a:p>
          <a:p>
            <a:pPr marL="0" indent="0">
              <a:buNone/>
            </a:pPr>
            <a:endParaRPr lang="en-US" sz="1800" dirty="0"/>
          </a:p>
          <a:p>
            <a:pPr marL="0" indent="0">
              <a:buNone/>
            </a:pPr>
            <a:endParaRPr lang="en-US" sz="1800" dirty="0" smtClean="0"/>
          </a:p>
          <a:p>
            <a:pPr marL="0" indent="0">
              <a:buNone/>
            </a:pPr>
            <a:endParaRPr lang="en-US" sz="1800" dirty="0"/>
          </a:p>
          <a:p>
            <a:pPr marL="0" indent="0">
              <a:buNone/>
            </a:pPr>
            <a:endParaRPr lang="en-US" sz="1800" dirty="0" smtClean="0"/>
          </a:p>
          <a:p>
            <a:pPr marL="0" indent="0">
              <a:buNone/>
            </a:pPr>
            <a:endParaRPr lang="en-US" sz="1800" dirty="0"/>
          </a:p>
          <a:p>
            <a:pPr marL="0" indent="0">
              <a:buNone/>
            </a:pPr>
            <a:endParaRPr lang="en-US" sz="1800" dirty="0" smtClean="0"/>
          </a:p>
          <a:p>
            <a:pPr marL="0" indent="0">
              <a:buNone/>
            </a:pPr>
            <a:endParaRPr lang="en-US" sz="1800" dirty="0"/>
          </a:p>
          <a:p>
            <a:pPr marL="0" indent="0">
              <a:buNone/>
            </a:pPr>
            <a:endParaRPr lang="en-US" sz="1800" dirty="0" smtClean="0"/>
          </a:p>
          <a:p>
            <a:pPr marL="0" indent="0">
              <a:buNone/>
            </a:pPr>
            <a:endParaRPr lang="en-US" sz="1800" dirty="0"/>
          </a:p>
          <a:p>
            <a:pPr marL="0" indent="0">
              <a:buNone/>
            </a:pPr>
            <a:endParaRPr lang="en-US" sz="1800" dirty="0" smtClean="0"/>
          </a:p>
          <a:p>
            <a:pPr marL="0" indent="0">
              <a:buNone/>
            </a:pPr>
            <a:endParaRPr lang="en-US" sz="1800" dirty="0"/>
          </a:p>
          <a:p>
            <a:pPr marL="0" indent="0">
              <a:buNone/>
            </a:pPr>
            <a:endParaRPr lang="en-US" sz="1800" dirty="0" smtClean="0"/>
          </a:p>
          <a:p>
            <a:pPr marL="0" indent="0">
              <a:buNone/>
            </a:pPr>
            <a:endParaRPr lang="en-US" sz="1800" dirty="0"/>
          </a:p>
          <a:p>
            <a:pPr marL="0" indent="0">
              <a:buNone/>
            </a:pPr>
            <a:endParaRPr lang="en-US" sz="1800" dirty="0" smtClean="0"/>
          </a:p>
          <a:p>
            <a:pPr marL="0" indent="0">
              <a:buNone/>
            </a:pPr>
            <a:endParaRPr lang="en-US" sz="1800" dirty="0"/>
          </a:p>
          <a:p>
            <a:pPr marL="0" indent="0">
              <a:buNone/>
            </a:pPr>
            <a:endParaRPr lang="en-US" sz="1800" dirty="0" smtClean="0"/>
          </a:p>
          <a:p>
            <a:pPr marL="0" indent="0">
              <a:buNone/>
            </a:pPr>
            <a:endParaRPr lang="en-US" sz="1800" dirty="0"/>
          </a:p>
          <a:p>
            <a:pPr marL="0" indent="0">
              <a:buNone/>
            </a:pPr>
            <a:endParaRPr lang="en-US" sz="1800" dirty="0" smtClean="0"/>
          </a:p>
          <a:p>
            <a:pPr marL="0" indent="0">
              <a:buNone/>
            </a:pPr>
            <a:endParaRPr lang="en-US" sz="1800" dirty="0"/>
          </a:p>
          <a:p>
            <a:pPr marL="0" indent="0">
              <a:buNone/>
            </a:pPr>
            <a:endParaRPr lang="en-US" sz="1800" dirty="0" smtClean="0"/>
          </a:p>
          <a:p>
            <a:pPr marL="0" indent="0">
              <a:buNone/>
            </a:pPr>
            <a:endParaRPr lang="en-US" sz="1800" dirty="0"/>
          </a:p>
          <a:p>
            <a:pPr marL="0" indent="0">
              <a:buNone/>
            </a:pPr>
            <a:endParaRPr lang="en-US" sz="1800" dirty="0" smtClean="0"/>
          </a:p>
          <a:p>
            <a:pPr marL="0" indent="0">
              <a:buNone/>
            </a:pPr>
            <a:endParaRPr lang="en-US" sz="1800" dirty="0"/>
          </a:p>
          <a:p>
            <a:pPr marL="0" indent="0">
              <a:buNone/>
            </a:pPr>
            <a:endParaRPr lang="en-US" sz="1800" dirty="0" smtClean="0"/>
          </a:p>
          <a:p>
            <a:pPr marL="0" indent="0">
              <a:buNone/>
            </a:pPr>
            <a:endParaRPr lang="en-US" sz="1800" dirty="0"/>
          </a:p>
          <a:p>
            <a:pPr marL="0" indent="0">
              <a:buNone/>
            </a:pPr>
            <a:endParaRPr lang="en-US" sz="1800" dirty="0" smtClean="0"/>
          </a:p>
          <a:p>
            <a:pPr marL="0" indent="0">
              <a:buNone/>
            </a:pPr>
            <a:endParaRPr lang="en-US" sz="1800" dirty="0"/>
          </a:p>
          <a:p>
            <a:pPr marL="0" indent="0">
              <a:buNone/>
            </a:pPr>
            <a:endParaRPr lang="en-US" sz="1800" dirty="0" smtClean="0"/>
          </a:p>
          <a:p>
            <a:pPr marL="0" indent="0">
              <a:buNone/>
            </a:pPr>
            <a:endParaRPr lang="en-US" sz="1800" dirty="0"/>
          </a:p>
          <a:p>
            <a:pPr marL="0" indent="0">
              <a:buNone/>
            </a:pPr>
            <a:endParaRPr lang="en-US" sz="1800" dirty="0" smtClean="0"/>
          </a:p>
          <a:p>
            <a:pPr marL="0" indent="0">
              <a:buNone/>
            </a:pPr>
            <a:endParaRPr lang="en-US" sz="1800" dirty="0"/>
          </a:p>
          <a:p>
            <a:pPr marL="0" indent="0">
              <a:buNone/>
            </a:pPr>
            <a:endParaRPr lang="en-US" sz="1800" dirty="0" smtClean="0"/>
          </a:p>
          <a:p>
            <a:pPr marL="0" indent="0">
              <a:buNone/>
            </a:pPr>
            <a:endParaRPr lang="en-US" sz="1800" dirty="0" smtClean="0"/>
          </a:p>
          <a:p>
            <a:pPr marL="0" indent="0">
              <a:buNone/>
            </a:pPr>
            <a:endParaRPr lang="en-US" sz="1800" dirty="0" smtClean="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367043"/>
            <a:ext cx="5554766" cy="2845750"/>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98249" y="3367042"/>
            <a:ext cx="5400943" cy="3025211"/>
          </a:xfrm>
          <a:prstGeom prst="rect">
            <a:avLst/>
          </a:prstGeom>
        </p:spPr>
      </p:pic>
    </p:spTree>
    <p:extLst>
      <p:ext uri="{BB962C8B-B14F-4D97-AF65-F5344CB8AC3E}">
        <p14:creationId xmlns:p14="http://schemas.microsoft.com/office/powerpoint/2010/main" val="10912312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74079" y="931492"/>
            <a:ext cx="6299679" cy="5245471"/>
          </a:xfrm>
        </p:spPr>
      </p:pic>
    </p:spTree>
    <p:extLst>
      <p:ext uri="{BB962C8B-B14F-4D97-AF65-F5344CB8AC3E}">
        <p14:creationId xmlns:p14="http://schemas.microsoft.com/office/powerpoint/2010/main" val="7576638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CC5E9F-0C0C-4F6D-A7D8-83622F795087}"/>
              </a:ext>
            </a:extLst>
          </p:cNvPr>
          <p:cNvSpPr>
            <a:spLocks noGrp="1"/>
          </p:cNvSpPr>
          <p:nvPr>
            <p:ph type="title"/>
          </p:nvPr>
        </p:nvSpPr>
        <p:spPr>
          <a:xfrm>
            <a:off x="119641" y="76913"/>
            <a:ext cx="12072359" cy="6657174"/>
          </a:xfrm>
        </p:spPr>
        <p:txBody>
          <a:bodyPr>
            <a:normAutofit/>
          </a:bodyPr>
          <a:lstStyle/>
          <a:p>
            <a:r>
              <a:rPr lang="en-US" dirty="0"/>
              <a:t>                             </a:t>
            </a:r>
            <a:endParaRPr lang="en-IN" dirty="0"/>
          </a:p>
        </p:txBody>
      </p:sp>
      <p:sp>
        <p:nvSpPr>
          <p:cNvPr id="3" name="Content Placeholder 2">
            <a:extLst>
              <a:ext uri="{FF2B5EF4-FFF2-40B4-BE49-F238E27FC236}">
                <a16:creationId xmlns:a16="http://schemas.microsoft.com/office/drawing/2014/main" xmlns="" id="{AB760057-2E9B-4128-BAE6-C5DA50C2E6FB}"/>
              </a:ext>
            </a:extLst>
          </p:cNvPr>
          <p:cNvSpPr>
            <a:spLocks noGrp="1"/>
          </p:cNvSpPr>
          <p:nvPr>
            <p:ph idx="1"/>
          </p:nvPr>
        </p:nvSpPr>
        <p:spPr>
          <a:xfrm>
            <a:off x="838200" y="1020536"/>
            <a:ext cx="10515600" cy="5837464"/>
          </a:xfrm>
        </p:spPr>
        <p:txBody>
          <a:bodyPr>
            <a:normAutofit/>
          </a:bodyPr>
          <a:lstStyle/>
          <a:p>
            <a:pPr marL="0" indent="0">
              <a:buNone/>
            </a:pPr>
            <a:endParaRPr lang="en-US" sz="1800" dirty="0"/>
          </a:p>
          <a:p>
            <a:pPr marL="457200" indent="-457200">
              <a:buAutoNum type="arabicPeriod"/>
            </a:pPr>
            <a:endParaRPr lang="en-IN"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947" y="1546788"/>
            <a:ext cx="8759216" cy="4263461"/>
          </a:xfrm>
          <a:prstGeom prst="rect">
            <a:avLst/>
          </a:prstGeom>
        </p:spPr>
      </p:pic>
    </p:spTree>
    <p:extLst>
      <p:ext uri="{BB962C8B-B14F-4D97-AF65-F5344CB8AC3E}">
        <p14:creationId xmlns:p14="http://schemas.microsoft.com/office/powerpoint/2010/main" val="25822276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rotWithShape="1">
          <a:blip r:embed="rId2">
            <a:extLst>
              <a:ext uri="{28A0092B-C50C-407E-A947-70E740481C1C}">
                <a14:useLocalDpi xmlns:a14="http://schemas.microsoft.com/office/drawing/2010/main" val="0"/>
              </a:ext>
            </a:extLst>
          </a:blip>
          <a:srcRect t="9830" b="2877"/>
          <a:stretch/>
        </p:blipFill>
        <p:spPr>
          <a:xfrm>
            <a:off x="1612009" y="794759"/>
            <a:ext cx="8756845" cy="5691499"/>
          </a:xfrm>
        </p:spPr>
      </p:pic>
    </p:spTree>
    <p:extLst>
      <p:ext uri="{BB962C8B-B14F-4D97-AF65-F5344CB8AC3E}">
        <p14:creationId xmlns:p14="http://schemas.microsoft.com/office/powerpoint/2010/main" val="15993942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BFCDF3-A0B5-4A5D-A423-23E266469A6C}"/>
              </a:ext>
            </a:extLst>
          </p:cNvPr>
          <p:cNvSpPr>
            <a:spLocks noGrp="1"/>
          </p:cNvSpPr>
          <p:nvPr>
            <p:ph type="title"/>
          </p:nvPr>
        </p:nvSpPr>
        <p:spPr>
          <a:xfrm>
            <a:off x="81643" y="97972"/>
            <a:ext cx="12028713" cy="326571"/>
          </a:xfrm>
        </p:spPr>
        <p:txBody>
          <a:bodyPr>
            <a:normAutofit fontScale="90000"/>
          </a:bodyPr>
          <a:lstStyle/>
          <a:p>
            <a:r>
              <a:rPr lang="en-US" dirty="0"/>
              <a:t>                                    NEUROGLIA</a:t>
            </a:r>
            <a:endParaRPr lang="en-IN" dirty="0"/>
          </a:p>
        </p:txBody>
      </p:sp>
      <p:sp>
        <p:nvSpPr>
          <p:cNvPr id="3" name="Content Placeholder 2">
            <a:extLst>
              <a:ext uri="{FF2B5EF4-FFF2-40B4-BE49-F238E27FC236}">
                <a16:creationId xmlns:a16="http://schemas.microsoft.com/office/drawing/2014/main" xmlns="" id="{B844A655-E259-44DE-9B5F-F18403D71522}"/>
              </a:ext>
            </a:extLst>
          </p:cNvPr>
          <p:cNvSpPr>
            <a:spLocks noGrp="1"/>
          </p:cNvSpPr>
          <p:nvPr>
            <p:ph idx="1"/>
          </p:nvPr>
        </p:nvSpPr>
        <p:spPr>
          <a:xfrm>
            <a:off x="81643" y="424544"/>
            <a:ext cx="12110357" cy="6384470"/>
          </a:xfrm>
        </p:spPr>
        <p:txBody>
          <a:bodyPr/>
          <a:lstStyle/>
          <a:p>
            <a:r>
              <a:rPr lang="en-US" dirty="0"/>
              <a:t>FUNCTION OF ASTROCYTES—</a:t>
            </a:r>
          </a:p>
          <a:p>
            <a:r>
              <a:rPr lang="en-US" dirty="0"/>
              <a:t>1.Protoplasmic astrocytes support neurons in grey matter and Fibrous astrocytes support neurons in white matter.</a:t>
            </a:r>
          </a:p>
          <a:p>
            <a:r>
              <a:rPr lang="en-US" dirty="0"/>
              <a:t>2. Act as an insulator.</a:t>
            </a:r>
          </a:p>
          <a:p>
            <a:r>
              <a:rPr lang="en-US" dirty="0"/>
              <a:t>3.Help in repair of  scar formation</a:t>
            </a:r>
          </a:p>
          <a:p>
            <a:r>
              <a:rPr lang="en-US" dirty="0"/>
              <a:t>4. Help in formation of blood brain barrier.</a:t>
            </a:r>
          </a:p>
          <a:p>
            <a:r>
              <a:rPr lang="en-US" dirty="0"/>
              <a:t>5. Form a route through which nutrients reach the brain tissue from blood. </a:t>
            </a:r>
          </a:p>
          <a:p>
            <a:r>
              <a:rPr lang="en-US" dirty="0"/>
              <a:t>FUNCTION OF OLIGODENDROCYTES---</a:t>
            </a:r>
          </a:p>
          <a:p>
            <a:r>
              <a:rPr lang="en-US" dirty="0"/>
              <a:t>Help in myelination of nerve </a:t>
            </a:r>
            <a:r>
              <a:rPr lang="en-US" dirty="0" err="1"/>
              <a:t>fibres</a:t>
            </a:r>
            <a:endParaRPr lang="en-US" dirty="0"/>
          </a:p>
          <a:p>
            <a:r>
              <a:rPr lang="en-US" dirty="0"/>
              <a:t>FUNCTION OF MICROGLIA—</a:t>
            </a:r>
          </a:p>
          <a:p>
            <a:r>
              <a:rPr lang="en-US" dirty="0"/>
              <a:t>Help in phagocytosis.</a:t>
            </a:r>
          </a:p>
          <a:p>
            <a:endParaRPr lang="en-IN" dirty="0"/>
          </a:p>
        </p:txBody>
      </p:sp>
    </p:spTree>
    <p:extLst>
      <p:ext uri="{BB962C8B-B14F-4D97-AF65-F5344CB8AC3E}">
        <p14:creationId xmlns:p14="http://schemas.microsoft.com/office/powerpoint/2010/main" val="16293305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9509857F-CF78-4CAA-A266-5AC0CF40993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7894" y="1436841"/>
            <a:ext cx="5803689" cy="4911499"/>
          </a:xfrm>
        </p:spPr>
      </p:pic>
      <p:pic>
        <p:nvPicPr>
          <p:cNvPr id="7" name="Picture 6">
            <a:extLst>
              <a:ext uri="{FF2B5EF4-FFF2-40B4-BE49-F238E27FC236}">
                <a16:creationId xmlns:a16="http://schemas.microsoft.com/office/drawing/2014/main" xmlns="" id="{FA1D58CB-E822-45D0-A3F1-84EDC0E9B4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2880" y="870104"/>
            <a:ext cx="5555770" cy="5478236"/>
          </a:xfrm>
          <a:prstGeom prst="rect">
            <a:avLst/>
          </a:prstGeom>
        </p:spPr>
      </p:pic>
    </p:spTree>
    <p:extLst>
      <p:ext uri="{BB962C8B-B14F-4D97-AF65-F5344CB8AC3E}">
        <p14:creationId xmlns:p14="http://schemas.microsoft.com/office/powerpoint/2010/main" val="38602579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FE1247-FC2B-4B3D-8F37-A7F41CB22EE9}"/>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xmlns="" id="{146A1C60-6177-4756-9B30-BBAF890186D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4616" y="486681"/>
            <a:ext cx="8154100" cy="5855395"/>
          </a:xfrm>
        </p:spPr>
      </p:pic>
    </p:spTree>
    <p:extLst>
      <p:ext uri="{BB962C8B-B14F-4D97-AF65-F5344CB8AC3E}">
        <p14:creationId xmlns:p14="http://schemas.microsoft.com/office/powerpoint/2010/main" val="42240637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04C4AAB-7705-491A-9EC0-B119F34B86AE}"/>
              </a:ext>
            </a:extLst>
          </p:cNvPr>
          <p:cNvSpPr>
            <a:spLocks noGrp="1"/>
          </p:cNvSpPr>
          <p:nvPr>
            <p:ph idx="1"/>
          </p:nvPr>
        </p:nvSpPr>
        <p:spPr>
          <a:xfrm>
            <a:off x="75501" y="201336"/>
            <a:ext cx="11853644" cy="6656664"/>
          </a:xfrm>
        </p:spPr>
        <p:txBody>
          <a:bodyPr/>
          <a:lstStyle/>
          <a:p>
            <a:r>
              <a:rPr lang="en-US" dirty="0"/>
              <a:t>Composition of CSF—</a:t>
            </a:r>
          </a:p>
          <a:p>
            <a:r>
              <a:rPr lang="en-US" sz="1800" dirty="0"/>
              <a:t>Total volume-150 ml</a:t>
            </a:r>
          </a:p>
          <a:p>
            <a:r>
              <a:rPr lang="en-US" sz="1800" dirty="0"/>
              <a:t>Ph-7.35-7.4</a:t>
            </a:r>
          </a:p>
          <a:p>
            <a:r>
              <a:rPr lang="en-US" sz="1800" dirty="0"/>
              <a:t>Osmolarity-289 milliosmoles /liter</a:t>
            </a:r>
          </a:p>
          <a:p>
            <a:r>
              <a:rPr lang="en-US" sz="1800" dirty="0"/>
              <a:t>CSF pressure-10 mmHg</a:t>
            </a:r>
          </a:p>
          <a:p>
            <a:r>
              <a:rPr lang="en-US" sz="1800" dirty="0"/>
              <a:t>Rate of formation- 500-600ml/day</a:t>
            </a:r>
          </a:p>
          <a:p>
            <a:r>
              <a:rPr lang="en-US" sz="1800" dirty="0"/>
              <a:t>FORMATION OF CSF– </a:t>
            </a:r>
          </a:p>
          <a:p>
            <a:r>
              <a:rPr lang="en-US" sz="1800" dirty="0"/>
              <a:t>2/3 BY THE CHOROID PLEXUS,  EPENDYMAL CELLS  AND BRAIN TISSUE </a:t>
            </a:r>
          </a:p>
          <a:p>
            <a:r>
              <a:rPr lang="en-US" sz="3200" dirty="0"/>
              <a:t>                                CIRCULATION OF CSF</a:t>
            </a:r>
          </a:p>
          <a:p>
            <a:r>
              <a:rPr lang="en-US" sz="1800" dirty="0"/>
              <a:t>                                     LATERAL VENTRICLE</a:t>
            </a:r>
          </a:p>
          <a:p>
            <a:r>
              <a:rPr lang="en-US" sz="1800" dirty="0"/>
              <a:t>            FORAMEN OF MONRO</a:t>
            </a:r>
          </a:p>
          <a:p>
            <a:r>
              <a:rPr lang="en-US" sz="1800" dirty="0"/>
              <a:t>                                  THIRD VENTRICLE</a:t>
            </a:r>
          </a:p>
          <a:p>
            <a:r>
              <a:rPr lang="en-US" sz="1800" dirty="0"/>
              <a:t>            AQUEDUCT OF SYLVIUS                                          </a:t>
            </a:r>
          </a:p>
          <a:p>
            <a:r>
              <a:rPr lang="en-US" sz="1800" dirty="0"/>
              <a:t>                                FOURTH VENTRICLE                    </a:t>
            </a:r>
          </a:p>
          <a:p>
            <a:r>
              <a:rPr lang="en-IN" sz="1800" dirty="0"/>
              <a:t>            FORAMEN OF LUSCHKA  FORAMEN OF MAGENDIE</a:t>
            </a:r>
          </a:p>
          <a:p>
            <a:r>
              <a:rPr lang="en-IN" sz="1800" dirty="0"/>
              <a:t>                                CENTRAL CANAL OF SPINAL CORD AND SUB ARACHNOID SPACE</a:t>
            </a:r>
          </a:p>
        </p:txBody>
      </p:sp>
      <p:sp>
        <p:nvSpPr>
          <p:cNvPr id="4" name="Arrow: Down 3">
            <a:extLst>
              <a:ext uri="{FF2B5EF4-FFF2-40B4-BE49-F238E27FC236}">
                <a16:creationId xmlns:a16="http://schemas.microsoft.com/office/drawing/2014/main" xmlns="" id="{4A3B36FB-E29B-4716-8F61-0A00803CD97D}"/>
              </a:ext>
            </a:extLst>
          </p:cNvPr>
          <p:cNvSpPr/>
          <p:nvPr/>
        </p:nvSpPr>
        <p:spPr>
          <a:xfrm flipH="1">
            <a:off x="3225143" y="4236441"/>
            <a:ext cx="45719" cy="37750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rrow: Down 4">
            <a:extLst>
              <a:ext uri="{FF2B5EF4-FFF2-40B4-BE49-F238E27FC236}">
                <a16:creationId xmlns:a16="http://schemas.microsoft.com/office/drawing/2014/main" xmlns="" id="{DE7D8C98-542D-42BC-9752-73E3F6E8A171}"/>
              </a:ext>
            </a:extLst>
          </p:cNvPr>
          <p:cNvSpPr/>
          <p:nvPr/>
        </p:nvSpPr>
        <p:spPr>
          <a:xfrm flipH="1">
            <a:off x="3225139" y="5033394"/>
            <a:ext cx="45721" cy="37750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rrow: Down 5">
            <a:extLst>
              <a:ext uri="{FF2B5EF4-FFF2-40B4-BE49-F238E27FC236}">
                <a16:creationId xmlns:a16="http://schemas.microsoft.com/office/drawing/2014/main" xmlns="" id="{77FD77E9-6B3A-4D47-A2D9-4DDC2F2B37E8}"/>
              </a:ext>
            </a:extLst>
          </p:cNvPr>
          <p:cNvSpPr/>
          <p:nvPr/>
        </p:nvSpPr>
        <p:spPr>
          <a:xfrm>
            <a:off x="3202284" y="5712899"/>
            <a:ext cx="68577" cy="52012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05065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B39C87-E16E-4452-8DF7-4AC896447DEF}"/>
              </a:ext>
            </a:extLst>
          </p:cNvPr>
          <p:cNvSpPr>
            <a:spLocks noGrp="1"/>
          </p:cNvSpPr>
          <p:nvPr>
            <p:ph type="title"/>
          </p:nvPr>
        </p:nvSpPr>
        <p:spPr>
          <a:xfrm>
            <a:off x="838200" y="365125"/>
            <a:ext cx="10515600" cy="968725"/>
          </a:xfrm>
        </p:spPr>
        <p:txBody>
          <a:bodyPr>
            <a:normAutofit/>
          </a:bodyPr>
          <a:lstStyle/>
          <a:p>
            <a:r>
              <a:rPr lang="en-US" sz="2800" dirty="0"/>
              <a:t>FUNCTIONS OF CSF</a:t>
            </a:r>
            <a:endParaRPr lang="en-IN" sz="2800" dirty="0"/>
          </a:p>
        </p:txBody>
      </p:sp>
      <p:sp>
        <p:nvSpPr>
          <p:cNvPr id="3" name="Content Placeholder 2">
            <a:extLst>
              <a:ext uri="{FF2B5EF4-FFF2-40B4-BE49-F238E27FC236}">
                <a16:creationId xmlns:a16="http://schemas.microsoft.com/office/drawing/2014/main" xmlns="" id="{41E421F8-E50F-4748-A538-BE6F3ABCAE27}"/>
              </a:ext>
            </a:extLst>
          </p:cNvPr>
          <p:cNvSpPr>
            <a:spLocks noGrp="1"/>
          </p:cNvSpPr>
          <p:nvPr>
            <p:ph idx="1"/>
          </p:nvPr>
        </p:nvSpPr>
        <p:spPr>
          <a:xfrm>
            <a:off x="151002" y="1132514"/>
            <a:ext cx="11202798" cy="5044449"/>
          </a:xfrm>
        </p:spPr>
        <p:txBody>
          <a:bodyPr>
            <a:normAutofit/>
          </a:bodyPr>
          <a:lstStyle/>
          <a:p>
            <a:r>
              <a:rPr lang="en-US" sz="1800" dirty="0"/>
              <a:t>1.CSF acts as a cushion and protects the brain</a:t>
            </a:r>
          </a:p>
          <a:p>
            <a:r>
              <a:rPr lang="en-US" sz="1800" dirty="0"/>
              <a:t>Specific gravity of brain and CSF is the same so brain floats in the CSF. When a severe hit occur in any part of the head , CSF move towards the direction of hit and brain move in the opposite direction and  injury can occur in the opposite part of the brain . This is known as </a:t>
            </a:r>
            <a:r>
              <a:rPr lang="en-US" sz="2400" dirty="0"/>
              <a:t>contre- coup </a:t>
            </a:r>
            <a:r>
              <a:rPr lang="en-US" sz="1800" dirty="0"/>
              <a:t>injury.</a:t>
            </a:r>
          </a:p>
          <a:p>
            <a:r>
              <a:rPr lang="en-US" sz="1800" dirty="0"/>
              <a:t>It act as a reservoir and regulate the intracranial volume and pressure </a:t>
            </a:r>
          </a:p>
          <a:p>
            <a:r>
              <a:rPr lang="en-US" sz="1800" dirty="0"/>
              <a:t>Nourishes the brain</a:t>
            </a:r>
          </a:p>
          <a:p>
            <a:r>
              <a:rPr lang="en-US" sz="1800" dirty="0"/>
              <a:t>Remove metabolites from brain</a:t>
            </a:r>
          </a:p>
          <a:p>
            <a:r>
              <a:rPr lang="en-US" sz="1800" dirty="0"/>
              <a:t>Form the route through which pineal secretions the anterior pituitary</a:t>
            </a:r>
          </a:p>
          <a:p>
            <a:r>
              <a:rPr lang="en-US" sz="1800" dirty="0"/>
              <a:t>Help to return proteins from brain interstitial space to CSF and then to </a:t>
            </a:r>
            <a:r>
              <a:rPr lang="en-US" sz="1800" dirty="0" smtClean="0"/>
              <a:t>Dural </a:t>
            </a:r>
            <a:r>
              <a:rPr lang="en-US" sz="1800" dirty="0"/>
              <a:t>venous sinuses.</a:t>
            </a:r>
            <a:endParaRPr lang="en-IN" sz="1800" dirty="0"/>
          </a:p>
        </p:txBody>
      </p:sp>
    </p:spTree>
    <p:extLst>
      <p:ext uri="{BB962C8B-B14F-4D97-AF65-F5344CB8AC3E}">
        <p14:creationId xmlns:p14="http://schemas.microsoft.com/office/powerpoint/2010/main" val="40818676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10748"/>
          </a:xfrm>
        </p:spPr>
        <p:txBody>
          <a:bodyPr>
            <a:normAutofit fontScale="90000"/>
          </a:bodyPr>
          <a:lstStyle/>
          <a:p>
            <a:r>
              <a:rPr lang="en-US" dirty="0" smtClean="0"/>
              <a:t>BLOOD -BRAIN BARRIER AND BLOOD-  CSFBARRIER</a:t>
            </a:r>
            <a:endParaRPr lang="en-US" dirty="0"/>
          </a:p>
        </p:txBody>
      </p:sp>
      <p:sp>
        <p:nvSpPr>
          <p:cNvPr id="3" name="Content Placeholder 2"/>
          <p:cNvSpPr>
            <a:spLocks noGrp="1"/>
          </p:cNvSpPr>
          <p:nvPr>
            <p:ph idx="1"/>
          </p:nvPr>
        </p:nvSpPr>
        <p:spPr>
          <a:xfrm>
            <a:off x="838200" y="1110953"/>
            <a:ext cx="10515600" cy="5665862"/>
          </a:xfrm>
        </p:spPr>
        <p:txBody>
          <a:bodyPr>
            <a:normAutofit/>
          </a:bodyPr>
          <a:lstStyle/>
          <a:p>
            <a:r>
              <a:rPr lang="en-US" sz="1800" dirty="0" smtClean="0"/>
              <a:t>Blood brain barrier is present in all areas of brain except hypothalamus. Hypothalamus help in maintaining homeostasis and so it is outside the BBB. BBB is permeable to lipid soluble substances  and impermeable to plasma proteins. </a:t>
            </a:r>
          </a:p>
          <a:p>
            <a:r>
              <a:rPr lang="en-US" sz="1800" dirty="0" smtClean="0"/>
              <a:t>Tight junctions between endothelial cells of the capillaries, presence of basement membrane outside endothelial cells, foot process of protoplasmic astrocytes outside capillary wall</a:t>
            </a:r>
            <a:r>
              <a:rPr lang="en-US" sz="1800" dirty="0"/>
              <a:t> </a:t>
            </a:r>
            <a:r>
              <a:rPr lang="en-US" sz="1800" dirty="0" smtClean="0"/>
              <a:t>etc. are contributing to the formation of BBB.</a:t>
            </a:r>
          </a:p>
          <a:p>
            <a:r>
              <a:rPr lang="en-US" sz="1800" dirty="0" smtClean="0"/>
              <a:t>Regions of brain outside blood brain barrier are posterior lobe of pituitary, median eminence of hypothalamus, tuber cinereum, sub fornical organ, vascular area postrema.</a:t>
            </a:r>
          </a:p>
          <a:p>
            <a:r>
              <a:rPr lang="en-US" sz="1800" dirty="0" smtClean="0"/>
              <a:t>Blood –CSF barrier is present in the choroid plexus as tight junctions between the choroid epithelial cells</a:t>
            </a:r>
          </a:p>
          <a:p>
            <a:r>
              <a:rPr lang="en-US" sz="1800" dirty="0" smtClean="0"/>
              <a:t>FUNCTIONS. </a:t>
            </a:r>
          </a:p>
          <a:p>
            <a:r>
              <a:rPr lang="en-US" sz="1800" dirty="0" smtClean="0"/>
              <a:t>1 Protects brain and spinal cord from harmful substances </a:t>
            </a:r>
            <a:r>
              <a:rPr lang="en-US" sz="1800" smtClean="0"/>
              <a:t>in blood  </a:t>
            </a:r>
            <a:r>
              <a:rPr lang="en-US" sz="1800" dirty="0" smtClean="0"/>
              <a:t>and also allow  nutrients and gases to enter brain tissue.</a:t>
            </a:r>
          </a:p>
          <a:p>
            <a:r>
              <a:rPr lang="en-US" sz="1800" dirty="0" smtClean="0"/>
              <a:t>2 maintain a suitable environment for brain tissues. Maintain low potassium level for the development of high electrical potential.</a:t>
            </a:r>
          </a:p>
          <a:p>
            <a:r>
              <a:rPr lang="en-US" sz="1800" dirty="0" smtClean="0"/>
              <a:t>3 Substances present in CSF like drugs can easily diffuse into brain tissue.</a:t>
            </a:r>
          </a:p>
          <a:p>
            <a:r>
              <a:rPr lang="en-US" sz="1800" dirty="0" smtClean="0"/>
              <a:t>4 Prevent diffusion of neurotransmitters from brain into blood circulation</a:t>
            </a:r>
          </a:p>
          <a:p>
            <a:endParaRPr lang="en-US" sz="1800" dirty="0"/>
          </a:p>
          <a:p>
            <a:endParaRPr lang="en-US" sz="1800" dirty="0" smtClean="0"/>
          </a:p>
          <a:p>
            <a:endParaRPr lang="en-US" sz="1800" dirty="0"/>
          </a:p>
          <a:p>
            <a:endParaRPr lang="en-US" sz="1800" dirty="0" smtClean="0"/>
          </a:p>
          <a:p>
            <a:endParaRPr lang="en-US" sz="1800" dirty="0"/>
          </a:p>
          <a:p>
            <a:endParaRPr lang="en-US" sz="1800" dirty="0" smtClean="0"/>
          </a:p>
        </p:txBody>
      </p:sp>
    </p:spTree>
    <p:extLst>
      <p:ext uri="{BB962C8B-B14F-4D97-AF65-F5344CB8AC3E}">
        <p14:creationId xmlns:p14="http://schemas.microsoft.com/office/powerpoint/2010/main" val="24312565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553422" y="416164"/>
            <a:ext cx="6213780" cy="7037717"/>
          </a:xfrm>
          <a:prstGeom prst="rect">
            <a:avLst/>
          </a:prstGeom>
        </p:spPr>
      </p:pic>
    </p:spTree>
    <p:extLst>
      <p:ext uri="{BB962C8B-B14F-4D97-AF65-F5344CB8AC3E}">
        <p14:creationId xmlns:p14="http://schemas.microsoft.com/office/powerpoint/2010/main" val="4694350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550021" y="-1772980"/>
            <a:ext cx="5097712" cy="9592576"/>
          </a:xfrm>
          <a:prstGeom prst="rect">
            <a:avLst/>
          </a:prstGeom>
        </p:spPr>
      </p:pic>
    </p:spTree>
    <p:extLst>
      <p:ext uri="{BB962C8B-B14F-4D97-AF65-F5344CB8AC3E}">
        <p14:creationId xmlns:p14="http://schemas.microsoft.com/office/powerpoint/2010/main" val="23619373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28737"/>
          </a:xfrm>
        </p:spPr>
        <p:txBody>
          <a:bodyPr/>
          <a:lstStyle/>
          <a:p>
            <a:r>
              <a:rPr lang="en-US" dirty="0" smtClean="0"/>
              <a:t>FUNCTIONS OF LIMBIC SYSTEM</a:t>
            </a:r>
            <a:endParaRPr lang="en-US" dirty="0"/>
          </a:p>
        </p:txBody>
      </p:sp>
      <p:sp>
        <p:nvSpPr>
          <p:cNvPr id="3" name="Content Placeholder 2"/>
          <p:cNvSpPr>
            <a:spLocks noGrp="1"/>
          </p:cNvSpPr>
          <p:nvPr>
            <p:ph idx="1"/>
          </p:nvPr>
        </p:nvSpPr>
        <p:spPr>
          <a:xfrm>
            <a:off x="128187" y="931492"/>
            <a:ext cx="11810288" cy="5853869"/>
          </a:xfrm>
        </p:spPr>
        <p:txBody>
          <a:bodyPr/>
          <a:lstStyle/>
          <a:p>
            <a:pPr marL="0" indent="0">
              <a:buNone/>
            </a:pPr>
            <a:r>
              <a:rPr lang="en-US" dirty="0" smtClean="0"/>
              <a:t>1 </a:t>
            </a:r>
            <a:r>
              <a:rPr lang="en-US" sz="1800" dirty="0" smtClean="0"/>
              <a:t>REGULATION OF FEEDING BEHAVIOUR </a:t>
            </a:r>
          </a:p>
          <a:p>
            <a:pPr marL="0" indent="0">
              <a:buNone/>
            </a:pPr>
            <a:r>
              <a:rPr lang="en-US" sz="1800" dirty="0" smtClean="0"/>
              <a:t>Stimulation of hunger and thirst cause food and water intake. Stimulation of limbic cortex result in satisfaction. </a:t>
            </a:r>
          </a:p>
          <a:p>
            <a:pPr marL="0" indent="0">
              <a:buNone/>
            </a:pPr>
            <a:r>
              <a:rPr lang="en-US" sz="1800" dirty="0" smtClean="0"/>
              <a:t>2 REGULATION OF SOMATIC RESPONSE</a:t>
            </a:r>
          </a:p>
          <a:p>
            <a:pPr marL="0" indent="0">
              <a:buNone/>
            </a:pPr>
            <a:r>
              <a:rPr lang="en-US" sz="1800" dirty="0" smtClean="0"/>
              <a:t>Stimulation of limbic cortex produce somatic response in facial muscle for facial expression[emotional expression]</a:t>
            </a:r>
          </a:p>
          <a:p>
            <a:pPr marL="0" indent="0">
              <a:buNone/>
            </a:pPr>
            <a:r>
              <a:rPr lang="en-US" sz="1800" dirty="0" smtClean="0"/>
              <a:t>3 REGULATION OF SEXUAL BEHAVIOUR</a:t>
            </a:r>
          </a:p>
          <a:p>
            <a:pPr marL="0" indent="0">
              <a:buNone/>
            </a:pPr>
            <a:r>
              <a:rPr lang="en-US" sz="1800" dirty="0" smtClean="0"/>
              <a:t>Sexual behavior is controlled  by limbic system and hypothalamus. Normal sexual behavior  is influenced by gonadal hormones and cerebral cortex.</a:t>
            </a:r>
          </a:p>
          <a:p>
            <a:pPr marL="0" indent="0">
              <a:buNone/>
            </a:pPr>
            <a:r>
              <a:rPr lang="en-US" sz="1800" dirty="0" smtClean="0"/>
              <a:t>4. MATERNAL BEHAVIOUR</a:t>
            </a:r>
          </a:p>
          <a:p>
            <a:pPr marL="0" indent="0">
              <a:buNone/>
            </a:pPr>
            <a:r>
              <a:rPr lang="en-US" sz="1800" dirty="0" smtClean="0"/>
              <a:t>Cingulate gyrus is concerned with breast feeding and protection of offspring. Oxytocin and prolactin help in maternal behavior.</a:t>
            </a:r>
          </a:p>
          <a:p>
            <a:pPr marL="0" indent="0">
              <a:buNone/>
            </a:pPr>
            <a:r>
              <a:rPr lang="en-US" sz="1800" dirty="0" smtClean="0"/>
              <a:t>5.ROLE IN CONSCIOUSNESS, MEMORY AND EMOTIONS</a:t>
            </a:r>
          </a:p>
          <a:p>
            <a:pPr marL="0" indent="0">
              <a:buNone/>
            </a:pPr>
            <a:r>
              <a:rPr lang="en-US" sz="1800" dirty="0" smtClean="0"/>
              <a:t>Consciousness is the simultaneous awareness of self and the environment  by limbic system. Memory is the ability to recall an event or thought again and again. Recent memory is the function of hippocampus and amygdala. Hippocampus can convert recent memory into long term memory. Limbic system and Hypothalamus regulate emotional behavior.</a:t>
            </a:r>
          </a:p>
          <a:p>
            <a:endParaRPr lang="en-US" sz="1800" dirty="0" smtClean="0"/>
          </a:p>
          <a:p>
            <a:endParaRPr lang="en-US" sz="1800" dirty="0"/>
          </a:p>
        </p:txBody>
      </p:sp>
    </p:spTree>
    <p:extLst>
      <p:ext uri="{BB962C8B-B14F-4D97-AF65-F5344CB8AC3E}">
        <p14:creationId xmlns:p14="http://schemas.microsoft.com/office/powerpoint/2010/main" val="23203106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DB029B-DBD0-46A7-8930-D1F3B1F98A4A}"/>
              </a:ext>
            </a:extLst>
          </p:cNvPr>
          <p:cNvSpPr>
            <a:spLocks noGrp="1"/>
          </p:cNvSpPr>
          <p:nvPr>
            <p:ph type="title"/>
          </p:nvPr>
        </p:nvSpPr>
        <p:spPr>
          <a:xfrm>
            <a:off x="146957" y="0"/>
            <a:ext cx="10782300" cy="681037"/>
          </a:xfrm>
        </p:spPr>
        <p:txBody>
          <a:bodyPr>
            <a:normAutofit fontScale="90000"/>
          </a:bodyPr>
          <a:lstStyle/>
          <a:p>
            <a:r>
              <a:rPr lang="en-US" dirty="0"/>
              <a:t>SYMPATHETIC AND PARASYMPATHETICNERVOUSSYSTEM</a:t>
            </a:r>
            <a:endParaRPr lang="en-IN" dirty="0"/>
          </a:p>
        </p:txBody>
      </p:sp>
      <p:graphicFrame>
        <p:nvGraphicFramePr>
          <p:cNvPr id="4" name="Table 4">
            <a:extLst>
              <a:ext uri="{FF2B5EF4-FFF2-40B4-BE49-F238E27FC236}">
                <a16:creationId xmlns:a16="http://schemas.microsoft.com/office/drawing/2014/main" xmlns="" id="{0EEE4FBB-E5B7-4AF7-A7D1-24F3DAEBFC05}"/>
              </a:ext>
            </a:extLst>
          </p:cNvPr>
          <p:cNvGraphicFramePr>
            <a:graphicFrameLocks noGrp="1"/>
          </p:cNvGraphicFramePr>
          <p:nvPr>
            <p:ph idx="1"/>
            <p:extLst>
              <p:ext uri="{D42A27DB-BD31-4B8C-83A1-F6EECF244321}">
                <p14:modId xmlns:p14="http://schemas.microsoft.com/office/powerpoint/2010/main" val="109201224"/>
              </p:ext>
            </p:extLst>
          </p:nvPr>
        </p:nvGraphicFramePr>
        <p:xfrm>
          <a:off x="146957" y="767443"/>
          <a:ext cx="10648950" cy="4759777"/>
        </p:xfrm>
        <a:graphic>
          <a:graphicData uri="http://schemas.openxmlformats.org/drawingml/2006/table">
            <a:tbl>
              <a:tblPr firstRow="1" bandRow="1">
                <a:tableStyleId>{5C22544A-7EE6-4342-B048-85BDC9FD1C3A}</a:tableStyleId>
              </a:tblPr>
              <a:tblGrid>
                <a:gridCol w="5250427">
                  <a:extLst>
                    <a:ext uri="{9D8B030D-6E8A-4147-A177-3AD203B41FA5}">
                      <a16:colId xmlns:a16="http://schemas.microsoft.com/office/drawing/2014/main" xmlns="" val="1631071185"/>
                    </a:ext>
                  </a:extLst>
                </a:gridCol>
                <a:gridCol w="5398523">
                  <a:extLst>
                    <a:ext uri="{9D8B030D-6E8A-4147-A177-3AD203B41FA5}">
                      <a16:colId xmlns:a16="http://schemas.microsoft.com/office/drawing/2014/main" xmlns="" val="91544386"/>
                    </a:ext>
                  </a:extLst>
                </a:gridCol>
              </a:tblGrid>
              <a:tr h="656521">
                <a:tc>
                  <a:txBody>
                    <a:bodyPr/>
                    <a:lstStyle/>
                    <a:p>
                      <a:r>
                        <a:rPr lang="en-US" dirty="0"/>
                        <a:t>SYMPATHETIC NERVOUS SYSTEM</a:t>
                      </a:r>
                      <a:endParaRPr lang="en-IN" dirty="0"/>
                    </a:p>
                  </a:txBody>
                  <a:tcPr/>
                </a:tc>
                <a:tc>
                  <a:txBody>
                    <a:bodyPr/>
                    <a:lstStyle/>
                    <a:p>
                      <a:r>
                        <a:rPr lang="en-US" dirty="0"/>
                        <a:t>PARASYMPATHETIC NERVOUS SYSTEM</a:t>
                      </a:r>
                      <a:endParaRPr lang="en-IN" dirty="0"/>
                    </a:p>
                  </a:txBody>
                  <a:tcPr/>
                </a:tc>
                <a:extLst>
                  <a:ext uri="{0D108BD9-81ED-4DB2-BD59-A6C34878D82A}">
                    <a16:rowId xmlns:a16="http://schemas.microsoft.com/office/drawing/2014/main" xmlns="" val="655822241"/>
                  </a:ext>
                </a:extLst>
              </a:tr>
              <a:tr h="4103256">
                <a:tc>
                  <a:txBody>
                    <a:bodyPr/>
                    <a:lstStyle/>
                    <a:p>
                      <a:pPr marL="342900" indent="-342900">
                        <a:buAutoNum type="arabicPeriod"/>
                      </a:pPr>
                      <a:r>
                        <a:rPr lang="en-US" dirty="0"/>
                        <a:t>CELLBODIES OF PREGANGLIONIC NEURONS ARE PRESENT IN T₁ TO L₂ SEGMENTS OF SPINAL CORD</a:t>
                      </a:r>
                    </a:p>
                    <a:p>
                      <a:pPr marL="342900" indent="-342900">
                        <a:buAutoNum type="arabicPeriod"/>
                      </a:pPr>
                      <a:endParaRPr lang="en-US" dirty="0"/>
                    </a:p>
                    <a:p>
                      <a:r>
                        <a:rPr lang="en-US" dirty="0"/>
                        <a:t>2. PREGANGLIONIC NEURON IS SHORT AND POST GANGLIONIC NEURON IS LONG</a:t>
                      </a:r>
                    </a:p>
                    <a:p>
                      <a:endParaRPr lang="en-US" dirty="0"/>
                    </a:p>
                    <a:p>
                      <a:r>
                        <a:rPr lang="en-US" dirty="0"/>
                        <a:t>3. EFFECT IS LONG LASTING AND WIDE SPREAD</a:t>
                      </a:r>
                    </a:p>
                    <a:p>
                      <a:endParaRPr lang="en-US" dirty="0"/>
                    </a:p>
                    <a:p>
                      <a:r>
                        <a:rPr lang="en-US" dirty="0"/>
                        <a:t>4.PREPARED THE BODY FOR EMERGENCY CONDITIONS</a:t>
                      </a:r>
                    </a:p>
                    <a:p>
                      <a:r>
                        <a:rPr lang="en-US" dirty="0"/>
                        <a:t>LIKE FIGHT, FLIGHT OR FRIGHT</a:t>
                      </a:r>
                      <a:endParaRPr lang="en-IN" dirty="0"/>
                    </a:p>
                  </a:txBody>
                  <a:tcPr/>
                </a:tc>
                <a:tc>
                  <a:txBody>
                    <a:bodyPr/>
                    <a:lstStyle/>
                    <a:p>
                      <a:pPr marL="342900" indent="-342900">
                        <a:buAutoNum type="arabicPeriod"/>
                      </a:pPr>
                      <a:r>
                        <a:rPr lang="en-US" dirty="0"/>
                        <a:t>PRESENT IN III, VII,IX AND X CRANIAL NERVE NUCLEI AND S₂,S₃ AND S₄ SEGMENTS OF SPINAL CORD</a:t>
                      </a:r>
                    </a:p>
                    <a:p>
                      <a:pPr marL="342900" indent="-342900">
                        <a:buAutoNum type="arabicPeriod"/>
                      </a:pPr>
                      <a:endParaRPr lang="en-US" dirty="0"/>
                    </a:p>
                    <a:p>
                      <a:pPr marL="342900" indent="-342900">
                        <a:buAutoNum type="arabicPeriod"/>
                      </a:pPr>
                      <a:r>
                        <a:rPr lang="en-US" dirty="0"/>
                        <a:t>PREGANGLIONIC NEURON IS LONG AND POST GANGLIONIC NEURON IS SHORT</a:t>
                      </a:r>
                    </a:p>
                    <a:p>
                      <a:pPr marL="342900" indent="-342900">
                        <a:buAutoNum type="arabicPeriod"/>
                      </a:pPr>
                      <a:endParaRPr lang="en-US" dirty="0"/>
                    </a:p>
                    <a:p>
                      <a:pPr marL="342900" indent="-342900">
                        <a:buAutoNum type="arabicPeriod"/>
                      </a:pPr>
                      <a:r>
                        <a:rPr lang="en-US" dirty="0"/>
                        <a:t>EFFECT IS LOCALISED TO AN ORGAN /SYSTEM</a:t>
                      </a:r>
                    </a:p>
                    <a:p>
                      <a:pPr marL="342900" indent="-342900">
                        <a:buAutoNum type="arabicPeriod"/>
                      </a:pPr>
                      <a:endParaRPr lang="en-US" dirty="0"/>
                    </a:p>
                    <a:p>
                      <a:pPr marL="342900" indent="-342900">
                        <a:buAutoNum type="arabicPeriod"/>
                      </a:pPr>
                      <a:r>
                        <a:rPr lang="en-US" dirty="0"/>
                        <a:t> HELP TO CONSERVE ENERGY[ANABOLIC NERVOUS SYSTEM]</a:t>
                      </a:r>
                    </a:p>
                    <a:p>
                      <a:pPr marL="342900" indent="-342900">
                        <a:buAutoNum type="arabicPeriod"/>
                      </a:pPr>
                      <a:endParaRPr lang="en-IN" dirty="0"/>
                    </a:p>
                  </a:txBody>
                  <a:tcPr/>
                </a:tc>
                <a:extLst>
                  <a:ext uri="{0D108BD9-81ED-4DB2-BD59-A6C34878D82A}">
                    <a16:rowId xmlns:a16="http://schemas.microsoft.com/office/drawing/2014/main" xmlns="" val="837835946"/>
                  </a:ext>
                </a:extLst>
              </a:tr>
            </a:tbl>
          </a:graphicData>
        </a:graphic>
      </p:graphicFrame>
    </p:spTree>
    <p:extLst>
      <p:ext uri="{BB962C8B-B14F-4D97-AF65-F5344CB8AC3E}">
        <p14:creationId xmlns:p14="http://schemas.microsoft.com/office/powerpoint/2010/main" val="6853068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D2A7D2-2974-4D83-AB88-2FF5CF62BBDF}"/>
              </a:ext>
            </a:extLst>
          </p:cNvPr>
          <p:cNvSpPr>
            <a:spLocks noGrp="1"/>
          </p:cNvSpPr>
          <p:nvPr>
            <p:ph type="title"/>
          </p:nvPr>
        </p:nvSpPr>
        <p:spPr>
          <a:xfrm>
            <a:off x="-796954" y="0"/>
            <a:ext cx="12050486" cy="516346"/>
          </a:xfrm>
        </p:spPr>
        <p:txBody>
          <a:bodyPr>
            <a:normAutofit fontScale="90000"/>
          </a:bodyPr>
          <a:lstStyle/>
          <a:p>
            <a:r>
              <a:rPr lang="en-US" dirty="0"/>
              <a:t>EFFECTS OF SYMPATHETIC AND PARASYMPATHETIC NS</a:t>
            </a:r>
            <a:endParaRPr lang="en-IN" dirty="0"/>
          </a:p>
        </p:txBody>
      </p:sp>
      <p:graphicFrame>
        <p:nvGraphicFramePr>
          <p:cNvPr id="7" name="Table 7">
            <a:extLst>
              <a:ext uri="{FF2B5EF4-FFF2-40B4-BE49-F238E27FC236}">
                <a16:creationId xmlns:a16="http://schemas.microsoft.com/office/drawing/2014/main" xmlns="" id="{8F33FD7F-6590-41AF-9E82-18A719FFE3F8}"/>
              </a:ext>
            </a:extLst>
          </p:cNvPr>
          <p:cNvGraphicFramePr>
            <a:graphicFrameLocks noGrp="1"/>
          </p:cNvGraphicFramePr>
          <p:nvPr>
            <p:ph idx="1"/>
            <p:extLst>
              <p:ext uri="{D42A27DB-BD31-4B8C-83A1-F6EECF244321}">
                <p14:modId xmlns:p14="http://schemas.microsoft.com/office/powerpoint/2010/main" val="3100759891"/>
              </p:ext>
            </p:extLst>
          </p:nvPr>
        </p:nvGraphicFramePr>
        <p:xfrm>
          <a:off x="-642551" y="516346"/>
          <a:ext cx="12622031" cy="6492240"/>
        </p:xfrm>
        <a:graphic>
          <a:graphicData uri="http://schemas.openxmlformats.org/drawingml/2006/table">
            <a:tbl>
              <a:tblPr firstRow="1" bandRow="1">
                <a:tableStyleId>{5C22544A-7EE6-4342-B048-85BDC9FD1C3A}</a:tableStyleId>
              </a:tblPr>
              <a:tblGrid>
                <a:gridCol w="1474416">
                  <a:extLst>
                    <a:ext uri="{9D8B030D-6E8A-4147-A177-3AD203B41FA5}">
                      <a16:colId xmlns:a16="http://schemas.microsoft.com/office/drawing/2014/main" xmlns="" val="1008650253"/>
                    </a:ext>
                  </a:extLst>
                </a:gridCol>
                <a:gridCol w="5882517">
                  <a:extLst>
                    <a:ext uri="{9D8B030D-6E8A-4147-A177-3AD203B41FA5}">
                      <a16:colId xmlns:a16="http://schemas.microsoft.com/office/drawing/2014/main" xmlns="" val="85439819"/>
                    </a:ext>
                  </a:extLst>
                </a:gridCol>
                <a:gridCol w="5265098">
                  <a:extLst>
                    <a:ext uri="{9D8B030D-6E8A-4147-A177-3AD203B41FA5}">
                      <a16:colId xmlns:a16="http://schemas.microsoft.com/office/drawing/2014/main" xmlns="" val="2859754927"/>
                    </a:ext>
                  </a:extLst>
                </a:gridCol>
              </a:tblGrid>
              <a:tr h="632264">
                <a:tc>
                  <a:txBody>
                    <a:bodyPr/>
                    <a:lstStyle/>
                    <a:p>
                      <a:r>
                        <a:rPr lang="en-US" dirty="0"/>
                        <a:t>EFFECT ON SYSTEMS</a:t>
                      </a:r>
                      <a:endParaRPr lang="en-IN" dirty="0"/>
                    </a:p>
                  </a:txBody>
                  <a:tcPr/>
                </a:tc>
                <a:tc>
                  <a:txBody>
                    <a:bodyPr/>
                    <a:lstStyle/>
                    <a:p>
                      <a:r>
                        <a:rPr lang="en-US" dirty="0"/>
                        <a:t>PARASYMPATHETIC STIMULATION</a:t>
                      </a:r>
                      <a:endParaRPr lang="en-IN" dirty="0"/>
                    </a:p>
                  </a:txBody>
                  <a:tcPr/>
                </a:tc>
                <a:tc>
                  <a:txBody>
                    <a:bodyPr/>
                    <a:lstStyle/>
                    <a:p>
                      <a:r>
                        <a:rPr lang="en-US" dirty="0"/>
                        <a:t>SYMPATHETIC STIMULATIONH</a:t>
                      </a:r>
                      <a:endParaRPr lang="en-IN" dirty="0"/>
                    </a:p>
                  </a:txBody>
                  <a:tcPr/>
                </a:tc>
                <a:extLst>
                  <a:ext uri="{0D108BD9-81ED-4DB2-BD59-A6C34878D82A}">
                    <a16:rowId xmlns:a16="http://schemas.microsoft.com/office/drawing/2014/main" xmlns="" val="1809575551"/>
                  </a:ext>
                </a:extLst>
              </a:tr>
              <a:tr h="5780704">
                <a:tc>
                  <a:txBody>
                    <a:bodyPr/>
                    <a:lstStyle/>
                    <a:p>
                      <a:r>
                        <a:rPr lang="en-US" dirty="0"/>
                        <a:t>HEART</a:t>
                      </a:r>
                      <a:endParaRPr lang="en-IN" dirty="0"/>
                    </a:p>
                    <a:p>
                      <a:r>
                        <a:rPr lang="en-IN" dirty="0"/>
                        <a:t>RESPIRATRY </a:t>
                      </a:r>
                    </a:p>
                    <a:p>
                      <a:r>
                        <a:rPr lang="en-IN" dirty="0"/>
                        <a:t>TRACT</a:t>
                      </a:r>
                    </a:p>
                    <a:p>
                      <a:r>
                        <a:rPr lang="en-IN" dirty="0"/>
                        <a:t>GIT</a:t>
                      </a:r>
                    </a:p>
                    <a:p>
                      <a:endParaRPr lang="en-IN" dirty="0"/>
                    </a:p>
                    <a:p>
                      <a:r>
                        <a:rPr lang="en-IN" dirty="0"/>
                        <a:t>EXOCRINE</a:t>
                      </a:r>
                    </a:p>
                    <a:p>
                      <a:r>
                        <a:rPr lang="en-IN" dirty="0"/>
                        <a:t>GLANDS</a:t>
                      </a:r>
                    </a:p>
                    <a:p>
                      <a:endParaRPr lang="en-IN" dirty="0"/>
                    </a:p>
                    <a:p>
                      <a:r>
                        <a:rPr lang="en-IN" dirty="0"/>
                        <a:t>SALIVARY </a:t>
                      </a:r>
                    </a:p>
                    <a:p>
                      <a:r>
                        <a:rPr lang="en-IN" dirty="0"/>
                        <a:t>GLANDS</a:t>
                      </a:r>
                    </a:p>
                    <a:p>
                      <a:r>
                        <a:rPr lang="en-IN" dirty="0"/>
                        <a:t>BLOOD VESSELS</a:t>
                      </a:r>
                    </a:p>
                    <a:p>
                      <a:endParaRPr lang="en-IN" dirty="0"/>
                    </a:p>
                    <a:p>
                      <a:r>
                        <a:rPr lang="en-IN" dirty="0"/>
                        <a:t>URINARY BLADDER</a:t>
                      </a:r>
                    </a:p>
                    <a:p>
                      <a:endParaRPr lang="en-IN" dirty="0"/>
                    </a:p>
                    <a:p>
                      <a:endParaRPr lang="en-IN" dirty="0"/>
                    </a:p>
                    <a:p>
                      <a:r>
                        <a:rPr lang="en-IN" dirty="0"/>
                        <a:t>GALL BLADDER</a:t>
                      </a:r>
                    </a:p>
                    <a:p>
                      <a:endParaRPr lang="en-IN" dirty="0"/>
                    </a:p>
                    <a:p>
                      <a:r>
                        <a:rPr lang="en-IN" dirty="0"/>
                        <a:t>EYE</a:t>
                      </a:r>
                      <a:endParaRPr lang="en-US" dirty="0"/>
                    </a:p>
                  </a:txBody>
                  <a:tcPr/>
                </a:tc>
                <a:tc>
                  <a:txBody>
                    <a:bodyPr/>
                    <a:lstStyle/>
                    <a:p>
                      <a:r>
                        <a:rPr lang="en-US" dirty="0"/>
                        <a:t>DECREASE IN HEART RATE</a:t>
                      </a:r>
                    </a:p>
                    <a:p>
                      <a:r>
                        <a:rPr lang="en-US" dirty="0"/>
                        <a:t>BRONCHOCONSTRICTION</a:t>
                      </a:r>
                    </a:p>
                    <a:p>
                      <a:endParaRPr lang="en-US" dirty="0"/>
                    </a:p>
                    <a:p>
                      <a:r>
                        <a:rPr lang="en-US" dirty="0"/>
                        <a:t>INCREASE MOVEMENTS AND RELAXATION OF SPHINCTERS</a:t>
                      </a:r>
                    </a:p>
                    <a:p>
                      <a:endParaRPr lang="en-US" dirty="0"/>
                    </a:p>
                    <a:p>
                      <a:pPr marL="0" indent="0"/>
                      <a:r>
                        <a:rPr lang="en-US" dirty="0"/>
                        <a:t>INCREASE SECRETIONS OF ALL GLANDS </a:t>
                      </a:r>
                    </a:p>
                    <a:p>
                      <a:r>
                        <a:rPr lang="en-US" dirty="0"/>
                        <a:t>[EXCEPT MAMMARY GLANDS]</a:t>
                      </a:r>
                    </a:p>
                    <a:p>
                      <a:endParaRPr lang="en-US" dirty="0"/>
                    </a:p>
                    <a:p>
                      <a:r>
                        <a:rPr lang="en-US" dirty="0"/>
                        <a:t>WATERY SALIVA</a:t>
                      </a:r>
                    </a:p>
                    <a:p>
                      <a:endParaRPr lang="en-US" dirty="0"/>
                    </a:p>
                    <a:p>
                      <a:r>
                        <a:rPr lang="en-US" dirty="0"/>
                        <a:t>VASODILATION</a:t>
                      </a:r>
                    </a:p>
                    <a:p>
                      <a:endParaRPr lang="en-US" dirty="0"/>
                    </a:p>
                    <a:p>
                      <a:endParaRPr lang="en-US" dirty="0"/>
                    </a:p>
                    <a:p>
                      <a:r>
                        <a:rPr lang="en-US" dirty="0"/>
                        <a:t>CONTRACTS DETRUSOR MUSCLE AND RELAXES UPPER URETHRAL SPHINCTER</a:t>
                      </a:r>
                    </a:p>
                    <a:p>
                      <a:endParaRPr lang="en-US" dirty="0"/>
                    </a:p>
                    <a:p>
                      <a:endParaRPr lang="en-US" dirty="0"/>
                    </a:p>
                    <a:p>
                      <a:r>
                        <a:rPr lang="en-US" dirty="0"/>
                        <a:t>CONTRACTION</a:t>
                      </a:r>
                    </a:p>
                    <a:p>
                      <a:endParaRPr lang="en-US" dirty="0"/>
                    </a:p>
                    <a:p>
                      <a:r>
                        <a:rPr lang="en-US" dirty="0"/>
                        <a:t>CONSTRICTION OF PUPIL</a:t>
                      </a:r>
                      <a:endParaRPr lang="en-IN" dirty="0"/>
                    </a:p>
                  </a:txBody>
                  <a:tcPr/>
                </a:tc>
                <a:tc>
                  <a:txBody>
                    <a:bodyPr/>
                    <a:lstStyle/>
                    <a:p>
                      <a:r>
                        <a:rPr lang="en-US" dirty="0"/>
                        <a:t>INCREASEIN HEART RATE</a:t>
                      </a:r>
                    </a:p>
                    <a:p>
                      <a:r>
                        <a:rPr lang="en-US" dirty="0"/>
                        <a:t>BRONCHODILATATION</a:t>
                      </a:r>
                    </a:p>
                    <a:p>
                      <a:endParaRPr lang="en-US" dirty="0"/>
                    </a:p>
                    <a:p>
                      <a:r>
                        <a:rPr lang="en-US" dirty="0"/>
                        <a:t>DECREASE MOVEMENTS AND CONSTRICTION OF SPHINCTERS</a:t>
                      </a:r>
                    </a:p>
                    <a:p>
                      <a:endParaRPr lang="en-US" dirty="0"/>
                    </a:p>
                    <a:p>
                      <a:r>
                        <a:rPr lang="en-US" dirty="0"/>
                        <a:t>DECREASE SECRETIONS OF ALL GLANDS </a:t>
                      </a:r>
                    </a:p>
                    <a:p>
                      <a:r>
                        <a:rPr lang="en-US" dirty="0"/>
                        <a:t>[EXCEPT SALIVARY GLANDS]</a:t>
                      </a:r>
                    </a:p>
                    <a:p>
                      <a:endParaRPr lang="en-US" dirty="0"/>
                    </a:p>
                    <a:p>
                      <a:r>
                        <a:rPr lang="en-US" dirty="0"/>
                        <a:t>THICK AND VISCOUS SALIVA</a:t>
                      </a:r>
                    </a:p>
                    <a:p>
                      <a:endParaRPr lang="en-US" dirty="0"/>
                    </a:p>
                    <a:p>
                      <a:r>
                        <a:rPr lang="en-US" dirty="0"/>
                        <a:t>VASOCONSTRICTION</a:t>
                      </a:r>
                    </a:p>
                    <a:p>
                      <a:endParaRPr lang="en-US" dirty="0"/>
                    </a:p>
                    <a:p>
                      <a:endParaRPr lang="en-US" dirty="0"/>
                    </a:p>
                    <a:p>
                      <a:r>
                        <a:rPr lang="en-US" dirty="0"/>
                        <a:t>RELAX DETRUSOR MUSCLE AND CONSTRICT SPHINCTER</a:t>
                      </a:r>
                    </a:p>
                    <a:p>
                      <a:endParaRPr lang="en-US" dirty="0"/>
                    </a:p>
                    <a:p>
                      <a:endParaRPr lang="en-US" dirty="0"/>
                    </a:p>
                    <a:p>
                      <a:r>
                        <a:rPr lang="en-US" dirty="0"/>
                        <a:t>RELAXATION</a:t>
                      </a:r>
                    </a:p>
                    <a:p>
                      <a:endParaRPr lang="en-US" dirty="0"/>
                    </a:p>
                    <a:p>
                      <a:r>
                        <a:rPr lang="en-US" dirty="0"/>
                        <a:t>DILATATION OF PUPIL</a:t>
                      </a:r>
                      <a:endParaRPr lang="en-IN" dirty="0"/>
                    </a:p>
                  </a:txBody>
                  <a:tcPr/>
                </a:tc>
                <a:extLst>
                  <a:ext uri="{0D108BD9-81ED-4DB2-BD59-A6C34878D82A}">
                    <a16:rowId xmlns:a16="http://schemas.microsoft.com/office/drawing/2014/main" xmlns="" val="2892923126"/>
                  </a:ext>
                </a:extLst>
              </a:tr>
            </a:tbl>
          </a:graphicData>
        </a:graphic>
      </p:graphicFrame>
    </p:spTree>
    <p:extLst>
      <p:ext uri="{BB962C8B-B14F-4D97-AF65-F5344CB8AC3E}">
        <p14:creationId xmlns:p14="http://schemas.microsoft.com/office/powerpoint/2010/main" val="415933833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24311</TotalTime>
  <Words>4350</Words>
  <Application>Microsoft Office PowerPoint</Application>
  <PresentationFormat>Widescreen</PresentationFormat>
  <Paragraphs>513</Paragraphs>
  <Slides>46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Calibri</vt:lpstr>
      <vt:lpstr>Calibri Light</vt:lpstr>
      <vt:lpstr>Cambria Math</vt:lpstr>
      <vt:lpstr>Office Theme</vt:lpstr>
      <vt:lpstr>CENTRAL NERVOUS SYSTEM-2</vt:lpstr>
      <vt:lpstr>PowerPoint Presentation</vt:lpstr>
      <vt:lpstr>PowerPoint Presentation</vt:lpstr>
      <vt:lpstr>PowerPoint Presentation</vt:lpstr>
      <vt:lpstr>PowerPoint Presentation</vt:lpstr>
      <vt:lpstr>                                  NEURON</vt:lpstr>
      <vt:lpstr>PowerPoint Presentation</vt:lpstr>
      <vt:lpstr>TYPES OF AXON[NERVE FIBER]</vt:lpstr>
      <vt:lpstr>PowerPoint Presentation</vt:lpstr>
      <vt:lpstr>PowerPoint Presentation</vt:lpstr>
      <vt:lpstr>                          ASCENDING TRACTS</vt:lpstr>
      <vt:lpstr>                    Extrapyramidal tracts</vt:lpstr>
      <vt:lpstr>                           VISCERAL PAIN</vt:lpstr>
      <vt:lpstr>PowerPoint Presentation</vt:lpstr>
      <vt:lpstr>                          REFERRED   PAIN</vt:lpstr>
      <vt:lpstr>PowerPoint Presentation</vt:lpstr>
      <vt:lpstr>PowerPoint Presentation</vt:lpstr>
      <vt:lpstr>PowerPoint Presentation</vt:lpstr>
      <vt:lpstr>PowerPoint Presentation</vt:lpstr>
      <vt:lpstr>                              HYPOTHALAMUS</vt:lpstr>
      <vt:lpstr>PowerPoint Presentation</vt:lpstr>
      <vt:lpstr>              FUNCTIONS OF CEREBELLUM</vt:lpstr>
      <vt:lpstr>                             THALAMUS</vt:lpstr>
      <vt:lpstr>FUNCTIONS OF MEDULLA</vt:lpstr>
      <vt:lpstr>PowerPoint Presentation</vt:lpstr>
      <vt:lpstr>FUNCTIONS OF PONS</vt:lpstr>
      <vt:lpstr>             VESTIBULAR APPARATUS</vt:lpstr>
      <vt:lpstr>                       VESTIBULAR APPARATUS</vt:lpstr>
      <vt:lpstr>PowerPoint Presentation</vt:lpstr>
      <vt:lpstr>PowerPoint Presentation</vt:lpstr>
      <vt:lpstr>PowerPoint Presentation</vt:lpstr>
      <vt:lpstr>PowerPoint Presentation</vt:lpstr>
      <vt:lpstr>PowerPoint Presentation</vt:lpstr>
      <vt:lpstr>                             </vt:lpstr>
      <vt:lpstr>PowerPoint Presentation</vt:lpstr>
      <vt:lpstr>                                    NEUROGLIA</vt:lpstr>
      <vt:lpstr>PowerPoint Presentation</vt:lpstr>
      <vt:lpstr>PowerPoint Presentation</vt:lpstr>
      <vt:lpstr>PowerPoint Presentation</vt:lpstr>
      <vt:lpstr>FUNCTIONS OF CSF</vt:lpstr>
      <vt:lpstr>BLOOD -BRAIN BARRIER AND BLOOD-  CSFBARRIER</vt:lpstr>
      <vt:lpstr>PowerPoint Presentation</vt:lpstr>
      <vt:lpstr>PowerPoint Presentation</vt:lpstr>
      <vt:lpstr>FUNCTIONS OF LIMBIC SYSTEM</vt:lpstr>
      <vt:lpstr>SYMPATHETIC AND PARASYMPATHETICNERVOUSSYSTEM</vt:lpstr>
      <vt:lpstr>EFFECTS OF SYMPATHETIC AND PARASYMPATHETIC NS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CENTRAL NERVOUS SYSTEM</dc:title>
  <dc:creator>sreelekha s</dc:creator>
  <cp:lastModifiedBy>user</cp:lastModifiedBy>
  <cp:revision>290</cp:revision>
  <dcterms:created xsi:type="dcterms:W3CDTF">2021-03-19T08:23:07Z</dcterms:created>
  <dcterms:modified xsi:type="dcterms:W3CDTF">2024-11-09T10:04:09Z</dcterms:modified>
</cp:coreProperties>
</file>