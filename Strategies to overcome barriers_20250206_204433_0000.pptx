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Kulachat Serif" charset="1" panose="00000000000000000000"/>
      <p:regular r:id="rId43"/>
    </p:embeddedFont>
    <p:embeddedFont>
      <p:font typeface="Angella White" charset="1" panose="02000503000000020003"/>
      <p:regular r:id="rId44"/>
    </p:embeddedFont>
    <p:embeddedFont>
      <p:font typeface="Canva Sans Bold" charset="1" panose="020B0803030501040103"/>
      <p:regular r:id="rId45"/>
    </p:embeddedFont>
    <p:embeddedFont>
      <p:font typeface="Canva Sans" charset="1" panose="020B0503030501040103"/>
      <p:regular r:id="rId46"/>
    </p:embeddedFont>
    <p:embeddedFont>
      <p:font typeface="Kulachat Serif Bold" charset="1" panose="00000000000000000000"/>
      <p:regular r:id="rId47"/>
    </p:embeddedFont>
    <p:embeddedFont>
      <p:font typeface="Montserrat" charset="1" panose="0000050000000000000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4365004" y="5143500"/>
            <a:ext cx="3616776" cy="7883980"/>
          </a:xfrm>
          <a:custGeom>
            <a:avLst/>
            <a:gdLst/>
            <a:ahLst/>
            <a:cxnLst/>
            <a:rect r="r" b="b" t="t" l="l"/>
            <a:pathLst>
              <a:path h="7883980" w="3616776">
                <a:moveTo>
                  <a:pt x="0" y="0"/>
                </a:moveTo>
                <a:lnTo>
                  <a:pt x="3616775" y="0"/>
                </a:lnTo>
                <a:lnTo>
                  <a:pt x="3616775"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12176714" y="-1555083"/>
            <a:ext cx="7015142" cy="5679421"/>
            <a:chOff x="0" y="0"/>
            <a:chExt cx="9353523" cy="7572561"/>
          </a:xfrm>
        </p:grpSpPr>
        <p:sp>
          <p:nvSpPr>
            <p:cNvPr name="Freeform 4" id="4"/>
            <p:cNvSpPr/>
            <p:nvPr/>
          </p:nvSpPr>
          <p:spPr>
            <a:xfrm flipH="false" flipV="false" rot="0">
              <a:off x="0" y="0"/>
              <a:ext cx="6819446" cy="6856847"/>
            </a:xfrm>
            <a:custGeom>
              <a:avLst/>
              <a:gdLst/>
              <a:ahLst/>
              <a:cxnLst/>
              <a:rect r="r" b="b" t="t" l="l"/>
              <a:pathLst>
                <a:path h="6856847" w="6819446">
                  <a:moveTo>
                    <a:pt x="0" y="0"/>
                  </a:moveTo>
                  <a:lnTo>
                    <a:pt x="6819446" y="0"/>
                  </a:lnTo>
                  <a:lnTo>
                    <a:pt x="6819446" y="6856847"/>
                  </a:lnTo>
                  <a:lnTo>
                    <a:pt x="0" y="68568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776098" y="1991407"/>
              <a:ext cx="3267251" cy="5581154"/>
            </a:xfrm>
            <a:custGeom>
              <a:avLst/>
              <a:gdLst/>
              <a:ahLst/>
              <a:cxnLst/>
              <a:rect r="r" b="b" t="t" l="l"/>
              <a:pathLst>
                <a:path h="5581154" w="3267251">
                  <a:moveTo>
                    <a:pt x="0" y="5581154"/>
                  </a:moveTo>
                  <a:lnTo>
                    <a:pt x="3267251" y="5581154"/>
                  </a:lnTo>
                  <a:lnTo>
                    <a:pt x="3267251" y="0"/>
                  </a:lnTo>
                  <a:lnTo>
                    <a:pt x="0" y="0"/>
                  </a:lnTo>
                  <a:lnTo>
                    <a:pt x="0" y="558115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74250" y="2308489"/>
              <a:ext cx="3879273" cy="1911423"/>
            </a:xfrm>
            <a:custGeom>
              <a:avLst/>
              <a:gdLst/>
              <a:ahLst/>
              <a:cxnLst/>
              <a:rect r="r" b="b" t="t" l="l"/>
              <a:pathLst>
                <a:path h="1911423" w="3879273">
                  <a:moveTo>
                    <a:pt x="0" y="0"/>
                  </a:moveTo>
                  <a:lnTo>
                    <a:pt x="3879273" y="0"/>
                  </a:lnTo>
                  <a:lnTo>
                    <a:pt x="3879273" y="1911424"/>
                  </a:lnTo>
                  <a:lnTo>
                    <a:pt x="0" y="19114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7" id="7"/>
          <p:cNvSpPr txBox="true"/>
          <p:nvPr/>
        </p:nvSpPr>
        <p:spPr>
          <a:xfrm rot="0">
            <a:off x="3620304" y="1221105"/>
            <a:ext cx="11707389" cy="7568565"/>
          </a:xfrm>
          <a:prstGeom prst="rect">
            <a:avLst/>
          </a:prstGeom>
        </p:spPr>
        <p:txBody>
          <a:bodyPr anchor="t" rtlCol="false" tIns="0" lIns="0" bIns="0" rIns="0">
            <a:spAutoFit/>
          </a:bodyPr>
          <a:lstStyle/>
          <a:p>
            <a:pPr algn="ctr">
              <a:lnSpc>
                <a:spcPts val="20160"/>
              </a:lnSpc>
            </a:pPr>
            <a:r>
              <a:rPr lang="en-US" sz="14400">
                <a:solidFill>
                  <a:srgbClr val="726151"/>
                </a:solidFill>
                <a:latin typeface="Kulachat Serif"/>
                <a:ea typeface="Kulachat Serif"/>
                <a:cs typeface="Kulachat Serif"/>
                <a:sym typeface="Kulachat Serif"/>
              </a:rPr>
              <a:t>Strategies to overcome barriers</a:t>
            </a:r>
          </a:p>
        </p:txBody>
      </p:sp>
      <p:grpSp>
        <p:nvGrpSpPr>
          <p:cNvPr name="Group 8" id="8"/>
          <p:cNvGrpSpPr/>
          <p:nvPr/>
        </p:nvGrpSpPr>
        <p:grpSpPr>
          <a:xfrm rot="0">
            <a:off x="-2798279" y="5674528"/>
            <a:ext cx="8768578" cy="8753056"/>
            <a:chOff x="0" y="0"/>
            <a:chExt cx="11691438" cy="11670742"/>
          </a:xfrm>
        </p:grpSpPr>
        <p:sp>
          <p:nvSpPr>
            <p:cNvPr name="Freeform 9" id="9"/>
            <p:cNvSpPr/>
            <p:nvPr/>
          </p:nvSpPr>
          <p:spPr>
            <a:xfrm flipH="false" flipV="false" rot="-7023068">
              <a:off x="1516426" y="1482334"/>
              <a:ext cx="8658586" cy="8706074"/>
            </a:xfrm>
            <a:custGeom>
              <a:avLst/>
              <a:gdLst/>
              <a:ahLst/>
              <a:cxnLst/>
              <a:rect r="r" b="b" t="t" l="l"/>
              <a:pathLst>
                <a:path h="8706074" w="8658586">
                  <a:moveTo>
                    <a:pt x="0" y="0"/>
                  </a:moveTo>
                  <a:lnTo>
                    <a:pt x="8658586" y="0"/>
                  </a:lnTo>
                  <a:lnTo>
                    <a:pt x="8658586" y="8706074"/>
                  </a:lnTo>
                  <a:lnTo>
                    <a:pt x="0" y="8706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031629">
              <a:off x="1990850" y="1230761"/>
              <a:ext cx="6267189" cy="2199214"/>
            </a:xfrm>
            <a:custGeom>
              <a:avLst/>
              <a:gdLst/>
              <a:ahLst/>
              <a:cxnLst/>
              <a:rect r="r" b="b" t="t" l="l"/>
              <a:pathLst>
                <a:path h="2199214" w="6267189">
                  <a:moveTo>
                    <a:pt x="0" y="0"/>
                  </a:moveTo>
                  <a:lnTo>
                    <a:pt x="6267189" y="0"/>
                  </a:lnTo>
                  <a:lnTo>
                    <a:pt x="6267189" y="2199213"/>
                  </a:lnTo>
                  <a:lnTo>
                    <a:pt x="0" y="219921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true" rot="2909932">
              <a:off x="4832926" y="1805987"/>
              <a:ext cx="3267251" cy="5581154"/>
            </a:xfrm>
            <a:custGeom>
              <a:avLst/>
              <a:gdLst/>
              <a:ahLst/>
              <a:cxnLst/>
              <a:rect r="r" b="b" t="t" l="l"/>
              <a:pathLst>
                <a:path h="5581154" w="3267251">
                  <a:moveTo>
                    <a:pt x="0" y="5581154"/>
                  </a:moveTo>
                  <a:lnTo>
                    <a:pt x="3267251" y="5581154"/>
                  </a:lnTo>
                  <a:lnTo>
                    <a:pt x="3267251" y="0"/>
                  </a:lnTo>
                  <a:lnTo>
                    <a:pt x="0" y="0"/>
                  </a:lnTo>
                  <a:lnTo>
                    <a:pt x="0" y="5581154"/>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2" id="12"/>
          <p:cNvSpPr/>
          <p:nvPr/>
        </p:nvSpPr>
        <p:spPr>
          <a:xfrm flipH="true" flipV="false" rot="1363955">
            <a:off x="-1407618" y="-242438"/>
            <a:ext cx="3637262" cy="7928637"/>
          </a:xfrm>
          <a:custGeom>
            <a:avLst/>
            <a:gdLst/>
            <a:ahLst/>
            <a:cxnLst/>
            <a:rect r="r" b="b" t="t" l="l"/>
            <a:pathLst>
              <a:path h="7928637" w="3637262">
                <a:moveTo>
                  <a:pt x="3637262" y="0"/>
                </a:moveTo>
                <a:lnTo>
                  <a:pt x="0" y="0"/>
                </a:lnTo>
                <a:lnTo>
                  <a:pt x="0" y="7928637"/>
                </a:lnTo>
                <a:lnTo>
                  <a:pt x="3637262" y="7928637"/>
                </a:lnTo>
                <a:lnTo>
                  <a:pt x="3637262"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657615" y="1466862"/>
            <a:ext cx="14601685" cy="2501899"/>
          </a:xfrm>
          <a:prstGeom prst="rect">
            <a:avLst/>
          </a:prstGeom>
        </p:spPr>
        <p:txBody>
          <a:bodyPr anchor="t" rtlCol="false" tIns="0" lIns="0" bIns="0" rIns="0">
            <a:spAutoFit/>
          </a:bodyPr>
          <a:lstStyle/>
          <a:p>
            <a:pPr algn="l">
              <a:lnSpc>
                <a:spcPts val="19600"/>
              </a:lnSpc>
            </a:pPr>
            <a:r>
              <a:rPr lang="en-US" sz="14000">
                <a:solidFill>
                  <a:srgbClr val="726151"/>
                </a:solidFill>
                <a:latin typeface="Angella White"/>
                <a:ea typeface="Angella White"/>
                <a:cs typeface="Angella White"/>
                <a:sym typeface="Angella White"/>
              </a:rPr>
              <a:t>Strategies to overcome barriers </a:t>
            </a:r>
          </a:p>
        </p:txBody>
      </p:sp>
      <p:sp>
        <p:nvSpPr>
          <p:cNvPr name="Freeform 3" id="3"/>
          <p:cNvSpPr/>
          <p:nvPr/>
        </p:nvSpPr>
        <p:spPr>
          <a:xfrm flipH="false" flipV="false" rot="-10057392">
            <a:off x="14012330" y="6199221"/>
            <a:ext cx="6493940" cy="6529555"/>
          </a:xfrm>
          <a:custGeom>
            <a:avLst/>
            <a:gdLst/>
            <a:ahLst/>
            <a:cxnLst/>
            <a:rect r="r" b="b" t="t" l="l"/>
            <a:pathLst>
              <a:path h="6529555" w="6493940">
                <a:moveTo>
                  <a:pt x="0" y="0"/>
                </a:moveTo>
                <a:lnTo>
                  <a:pt x="6493940" y="0"/>
                </a:lnTo>
                <a:lnTo>
                  <a:pt x="6493940" y="6529555"/>
                </a:lnTo>
                <a:lnTo>
                  <a:pt x="0" y="65295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4065954">
            <a:off x="12535028" y="7387601"/>
            <a:ext cx="4700392" cy="1649410"/>
          </a:xfrm>
          <a:custGeom>
            <a:avLst/>
            <a:gdLst/>
            <a:ahLst/>
            <a:cxnLst/>
            <a:rect r="r" b="b" t="t" l="l"/>
            <a:pathLst>
              <a:path h="1649410" w="4700392">
                <a:moveTo>
                  <a:pt x="0" y="0"/>
                </a:moveTo>
                <a:lnTo>
                  <a:pt x="4700392" y="0"/>
                </a:lnTo>
                <a:lnTo>
                  <a:pt x="4700392" y="1649411"/>
                </a:lnTo>
                <a:lnTo>
                  <a:pt x="0" y="1649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124391">
            <a:off x="15612139" y="6421325"/>
            <a:ext cx="2450438" cy="4185866"/>
          </a:xfrm>
          <a:custGeom>
            <a:avLst/>
            <a:gdLst/>
            <a:ahLst/>
            <a:cxnLst/>
            <a:rect r="r" b="b" t="t" l="l"/>
            <a:pathLst>
              <a:path h="4185866" w="2450438">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845437" y="4180703"/>
            <a:ext cx="12691790" cy="4023805"/>
          </a:xfrm>
          <a:prstGeom prst="rect">
            <a:avLst/>
          </a:prstGeom>
        </p:spPr>
        <p:txBody>
          <a:bodyPr anchor="t" rtlCol="false" tIns="0" lIns="0" bIns="0" rIns="0">
            <a:spAutoFit/>
          </a:bodyPr>
          <a:lstStyle/>
          <a:p>
            <a:pPr algn="l">
              <a:lnSpc>
                <a:spcPts val="5882"/>
              </a:lnSpc>
            </a:pPr>
          </a:p>
          <a:p>
            <a:pPr algn="l">
              <a:lnSpc>
                <a:spcPts val="5179"/>
              </a:lnSpc>
            </a:pPr>
            <a:r>
              <a:rPr lang="en-US" sz="3699">
                <a:solidFill>
                  <a:srgbClr val="726151"/>
                </a:solidFill>
                <a:latin typeface="Kulachat Serif"/>
                <a:ea typeface="Kulachat Serif"/>
                <a:cs typeface="Kulachat Serif"/>
                <a:sym typeface="Kulachat Serif"/>
              </a:rPr>
              <a:t>📍ʙᴀʀʀɪᴇʀ</a:t>
            </a:r>
          </a:p>
          <a:p>
            <a:pPr algn="l">
              <a:lnSpc>
                <a:spcPts val="5179"/>
              </a:lnSpc>
            </a:pPr>
          </a:p>
          <a:p>
            <a:pPr algn="l">
              <a:lnSpc>
                <a:spcPts val="5179"/>
              </a:lnSpc>
            </a:pPr>
            <a:r>
              <a:rPr lang="en-US" sz="3699">
                <a:solidFill>
                  <a:srgbClr val="726151"/>
                </a:solidFill>
                <a:latin typeface="Kulachat Serif"/>
                <a:ea typeface="Kulachat Serif"/>
                <a:cs typeface="Kulachat Serif"/>
                <a:sym typeface="Kulachat Serif"/>
              </a:rPr>
              <a:t>Barriers is anything that prevents,restrict,impedes the comunication between two or more persons in a social setting</a:t>
            </a:r>
          </a:p>
          <a:p>
            <a:pPr algn="l">
              <a:lnSpc>
                <a:spcPts val="5179"/>
              </a:lnSpc>
            </a:pPr>
          </a:p>
        </p:txBody>
      </p:sp>
      <p:sp>
        <p:nvSpPr>
          <p:cNvPr name="Freeform 7" id="7"/>
          <p:cNvSpPr/>
          <p:nvPr/>
        </p:nvSpPr>
        <p:spPr>
          <a:xfrm flipH="true" flipV="false" rot="1363955">
            <a:off x="-1407618" y="-242438"/>
            <a:ext cx="3637262" cy="7928637"/>
          </a:xfrm>
          <a:custGeom>
            <a:avLst/>
            <a:gdLst/>
            <a:ahLst/>
            <a:cxnLst/>
            <a:rect r="r" b="b" t="t" l="l"/>
            <a:pathLst>
              <a:path h="7928637" w="3637262">
                <a:moveTo>
                  <a:pt x="3637262" y="0"/>
                </a:moveTo>
                <a:lnTo>
                  <a:pt x="0" y="0"/>
                </a:lnTo>
                <a:lnTo>
                  <a:pt x="0" y="7928637"/>
                </a:lnTo>
                <a:lnTo>
                  <a:pt x="3637262" y="7928637"/>
                </a:lnTo>
                <a:lnTo>
                  <a:pt x="3637262" y="0"/>
                </a:lnTo>
                <a:close/>
              </a:path>
            </a:pathLst>
          </a:custGeom>
          <a:blipFill>
            <a:blip r:embed="rId8">
              <a:alphaModFix amt="75000"/>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616776" y="962025"/>
            <a:ext cx="11631626" cy="7971155"/>
          </a:xfrm>
          <a:prstGeom prst="rect">
            <a:avLst/>
          </a:prstGeom>
        </p:spPr>
        <p:txBody>
          <a:bodyPr anchor="t" rtlCol="false" tIns="0" lIns="0" bIns="0" rIns="0">
            <a:spAutoFit/>
          </a:bodyPr>
          <a:lstStyle/>
          <a:p>
            <a:pPr algn="ctr">
              <a:lnSpc>
                <a:spcPts val="5320"/>
              </a:lnSpc>
            </a:pPr>
          </a:p>
          <a:p>
            <a:pPr algn="ctr">
              <a:lnSpc>
                <a:spcPts val="5320"/>
              </a:lnSpc>
            </a:pPr>
          </a:p>
          <a:p>
            <a:pPr algn="ctr">
              <a:lnSpc>
                <a:spcPts val="5320"/>
              </a:lnSpc>
            </a:pPr>
            <a:r>
              <a:rPr lang="en-US" sz="3800">
                <a:solidFill>
                  <a:srgbClr val="726151"/>
                </a:solidFill>
                <a:latin typeface="Kulachat Serif"/>
                <a:ea typeface="Kulachat Serif"/>
                <a:cs typeface="Kulachat Serif"/>
                <a:sym typeface="Kulachat Serif"/>
              </a:rPr>
              <a:t>📍ʙᴀʀʀɪᴇʀS ɪɴ ɪɴᴛᴇʀᴘᴇʀSᴏɴᴀʟ ʀᴇᴀʟᴀᴛɪᴏɴSʜɪᴘ</a:t>
            </a:r>
          </a:p>
          <a:p>
            <a:pPr algn="ctr">
              <a:lnSpc>
                <a:spcPts val="5320"/>
              </a:lnSpc>
            </a:pPr>
          </a:p>
          <a:p>
            <a:pPr algn="ctr">
              <a:lnSpc>
                <a:spcPts val="5320"/>
              </a:lnSpc>
            </a:pPr>
            <a:r>
              <a:rPr lang="en-US" sz="3800">
                <a:solidFill>
                  <a:srgbClr val="726151"/>
                </a:solidFill>
                <a:latin typeface="Kulachat Serif"/>
                <a:ea typeface="Kulachat Serif"/>
                <a:cs typeface="Kulachat Serif"/>
                <a:sym typeface="Kulachat Serif"/>
              </a:rPr>
              <a:t>.Physiological barrier</a:t>
            </a:r>
          </a:p>
          <a:p>
            <a:pPr algn="ctr">
              <a:lnSpc>
                <a:spcPts val="5320"/>
              </a:lnSpc>
            </a:pPr>
            <a:r>
              <a:rPr lang="en-US" sz="3800">
                <a:solidFill>
                  <a:srgbClr val="726151"/>
                </a:solidFill>
                <a:latin typeface="Kulachat Serif"/>
                <a:ea typeface="Kulachat Serif"/>
                <a:cs typeface="Kulachat Serif"/>
                <a:sym typeface="Kulachat Serif"/>
              </a:rPr>
              <a:t>.Environmental barrier</a:t>
            </a:r>
          </a:p>
          <a:p>
            <a:pPr algn="ctr">
              <a:lnSpc>
                <a:spcPts val="5320"/>
              </a:lnSpc>
            </a:pPr>
            <a:r>
              <a:rPr lang="en-US" sz="3800">
                <a:solidFill>
                  <a:srgbClr val="726151"/>
                </a:solidFill>
                <a:latin typeface="Kulachat Serif"/>
                <a:ea typeface="Kulachat Serif"/>
                <a:cs typeface="Kulachat Serif"/>
                <a:sym typeface="Kulachat Serif"/>
              </a:rPr>
              <a:t>.Psychological barrier</a:t>
            </a:r>
          </a:p>
          <a:p>
            <a:pPr algn="ctr">
              <a:lnSpc>
                <a:spcPts val="5320"/>
              </a:lnSpc>
            </a:pPr>
            <a:r>
              <a:rPr lang="en-US" sz="3800">
                <a:solidFill>
                  <a:srgbClr val="726151"/>
                </a:solidFill>
                <a:latin typeface="Kulachat Serif"/>
                <a:ea typeface="Kulachat Serif"/>
                <a:cs typeface="Kulachat Serif"/>
                <a:sym typeface="Kulachat Serif"/>
              </a:rPr>
              <a:t>.Social barrier</a:t>
            </a:r>
          </a:p>
          <a:p>
            <a:pPr algn="ctr">
              <a:lnSpc>
                <a:spcPts val="5320"/>
              </a:lnSpc>
            </a:pPr>
            <a:r>
              <a:rPr lang="en-US" sz="3800">
                <a:solidFill>
                  <a:srgbClr val="726151"/>
                </a:solidFill>
                <a:latin typeface="Kulachat Serif"/>
                <a:ea typeface="Kulachat Serif"/>
                <a:cs typeface="Kulachat Serif"/>
                <a:sym typeface="Kulachat Serif"/>
              </a:rPr>
              <a:t>.cultural barrier</a:t>
            </a:r>
          </a:p>
          <a:p>
            <a:pPr algn="ctr">
              <a:lnSpc>
                <a:spcPts val="5320"/>
              </a:lnSpc>
            </a:pPr>
            <a:r>
              <a:rPr lang="en-US" sz="3800">
                <a:solidFill>
                  <a:srgbClr val="726151"/>
                </a:solidFill>
                <a:latin typeface="Kulachat Serif"/>
                <a:ea typeface="Kulachat Serif"/>
                <a:cs typeface="Kulachat Serif"/>
                <a:sym typeface="Kulachat Serif"/>
              </a:rPr>
              <a:t>.sementic barrier</a:t>
            </a:r>
          </a:p>
          <a:p>
            <a:pPr algn="ctr">
              <a:lnSpc>
                <a:spcPts val="5320"/>
              </a:lnSpc>
            </a:pPr>
            <a:r>
              <a:rPr lang="en-US" sz="3800">
                <a:solidFill>
                  <a:srgbClr val="726151"/>
                </a:solidFill>
                <a:latin typeface="Kulachat Serif"/>
                <a:ea typeface="Kulachat Serif"/>
                <a:cs typeface="Kulachat Serif"/>
                <a:sym typeface="Kulachat Serif"/>
              </a:rPr>
              <a:t>.organizational barrier</a:t>
            </a:r>
          </a:p>
          <a:p>
            <a:pPr algn="ctr">
              <a:lnSpc>
                <a:spcPts val="5320"/>
              </a:lnSpc>
            </a:pPr>
            <a:r>
              <a:rPr lang="en-US" sz="3800">
                <a:solidFill>
                  <a:srgbClr val="726151"/>
                </a:solidFill>
                <a:latin typeface="Kulachat Serif"/>
                <a:ea typeface="Kulachat Serif"/>
                <a:cs typeface="Kulachat Serif"/>
                <a:sym typeface="Kulachat Serif"/>
              </a:rPr>
              <a:t>.communication process related barrier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6901229" y="1496860"/>
            <a:ext cx="4485541" cy="7293279"/>
          </a:xfrm>
          <a:custGeom>
            <a:avLst/>
            <a:gdLst/>
            <a:ahLst/>
            <a:cxnLst/>
            <a:rect r="r" b="b" t="t" l="l"/>
            <a:pathLst>
              <a:path h="7293279" w="4485541">
                <a:moveTo>
                  <a:pt x="0" y="0"/>
                </a:moveTo>
                <a:lnTo>
                  <a:pt x="4485542" y="0"/>
                </a:lnTo>
                <a:lnTo>
                  <a:pt x="4485542" y="7293280"/>
                </a:lnTo>
                <a:lnTo>
                  <a:pt x="0" y="7293280"/>
                </a:lnTo>
                <a:lnTo>
                  <a:pt x="0" y="0"/>
                </a:lnTo>
                <a:close/>
              </a:path>
            </a:pathLst>
          </a:custGeom>
          <a:blipFill>
            <a:blip r:embed="rId2"/>
            <a:stretch>
              <a:fillRect l="-7312"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6919065" y="1965021"/>
            <a:ext cx="4449871" cy="6356958"/>
          </a:xfrm>
          <a:custGeom>
            <a:avLst/>
            <a:gdLst/>
            <a:ahLst/>
            <a:cxnLst/>
            <a:rect r="r" b="b" t="t" l="l"/>
            <a:pathLst>
              <a:path h="6356958" w="4449871">
                <a:moveTo>
                  <a:pt x="0" y="0"/>
                </a:moveTo>
                <a:lnTo>
                  <a:pt x="4449870" y="0"/>
                </a:lnTo>
                <a:lnTo>
                  <a:pt x="4449870" y="6356958"/>
                </a:lnTo>
                <a:lnTo>
                  <a:pt x="0" y="6356958"/>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403783" y="2469527"/>
            <a:ext cx="3480435" cy="6356958"/>
          </a:xfrm>
          <a:custGeom>
            <a:avLst/>
            <a:gdLst/>
            <a:ahLst/>
            <a:cxnLst/>
            <a:rect r="r" b="b" t="t" l="l"/>
            <a:pathLst>
              <a:path h="6356958" w="3480435">
                <a:moveTo>
                  <a:pt x="0" y="0"/>
                </a:moveTo>
                <a:lnTo>
                  <a:pt x="3480434" y="0"/>
                </a:lnTo>
                <a:lnTo>
                  <a:pt x="3480434" y="6356958"/>
                </a:lnTo>
                <a:lnTo>
                  <a:pt x="0" y="6356958"/>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2878692" y="1864003"/>
            <a:ext cx="12530617" cy="6558995"/>
          </a:xfrm>
          <a:custGeom>
            <a:avLst/>
            <a:gdLst/>
            <a:ahLst/>
            <a:cxnLst/>
            <a:rect r="r" b="b" t="t" l="l"/>
            <a:pathLst>
              <a:path h="6558995" w="12530617">
                <a:moveTo>
                  <a:pt x="0" y="0"/>
                </a:moveTo>
                <a:lnTo>
                  <a:pt x="12530616" y="0"/>
                </a:lnTo>
                <a:lnTo>
                  <a:pt x="12530616" y="6558994"/>
                </a:lnTo>
                <a:lnTo>
                  <a:pt x="0" y="6558994"/>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5245227" y="2141445"/>
            <a:ext cx="7797546" cy="6004110"/>
          </a:xfrm>
          <a:custGeom>
            <a:avLst/>
            <a:gdLst/>
            <a:ahLst/>
            <a:cxnLst/>
            <a:rect r="r" b="b" t="t" l="l"/>
            <a:pathLst>
              <a:path h="6004110" w="7797546">
                <a:moveTo>
                  <a:pt x="0" y="0"/>
                </a:moveTo>
                <a:lnTo>
                  <a:pt x="7797546" y="0"/>
                </a:lnTo>
                <a:lnTo>
                  <a:pt x="7797546" y="6004110"/>
                </a:lnTo>
                <a:lnTo>
                  <a:pt x="0" y="600411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6259530" y="1965021"/>
            <a:ext cx="5768940" cy="6356958"/>
          </a:xfrm>
          <a:custGeom>
            <a:avLst/>
            <a:gdLst/>
            <a:ahLst/>
            <a:cxnLst/>
            <a:rect r="r" b="b" t="t" l="l"/>
            <a:pathLst>
              <a:path h="6356958" w="5768940">
                <a:moveTo>
                  <a:pt x="0" y="0"/>
                </a:moveTo>
                <a:lnTo>
                  <a:pt x="5768940" y="0"/>
                </a:lnTo>
                <a:lnTo>
                  <a:pt x="5768940" y="6356958"/>
                </a:lnTo>
                <a:lnTo>
                  <a:pt x="0" y="6356958"/>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5790469" y="1619264"/>
            <a:ext cx="6707062" cy="7048472"/>
          </a:xfrm>
          <a:custGeom>
            <a:avLst/>
            <a:gdLst/>
            <a:ahLst/>
            <a:cxnLst/>
            <a:rect r="r" b="b" t="t" l="l"/>
            <a:pathLst>
              <a:path h="7048472" w="6707062">
                <a:moveTo>
                  <a:pt x="0" y="0"/>
                </a:moveTo>
                <a:lnTo>
                  <a:pt x="6707062" y="0"/>
                </a:lnTo>
                <a:lnTo>
                  <a:pt x="6707062" y="7048472"/>
                </a:lnTo>
                <a:lnTo>
                  <a:pt x="0" y="7048472"/>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6072795" y="1965021"/>
            <a:ext cx="6142411" cy="6356958"/>
          </a:xfrm>
          <a:custGeom>
            <a:avLst/>
            <a:gdLst/>
            <a:ahLst/>
            <a:cxnLst/>
            <a:rect r="r" b="b" t="t" l="l"/>
            <a:pathLst>
              <a:path h="6356958" w="6142411">
                <a:moveTo>
                  <a:pt x="0" y="0"/>
                </a:moveTo>
                <a:lnTo>
                  <a:pt x="6142410" y="0"/>
                </a:lnTo>
                <a:lnTo>
                  <a:pt x="6142410" y="6356958"/>
                </a:lnTo>
                <a:lnTo>
                  <a:pt x="0" y="6356958"/>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501155" y="657225"/>
            <a:ext cx="15285690" cy="2501899"/>
          </a:xfrm>
          <a:prstGeom prst="rect">
            <a:avLst/>
          </a:prstGeom>
        </p:spPr>
        <p:txBody>
          <a:bodyPr anchor="t" rtlCol="false" tIns="0" lIns="0" bIns="0" rIns="0">
            <a:spAutoFit/>
          </a:bodyPr>
          <a:lstStyle/>
          <a:p>
            <a:pPr algn="ctr">
              <a:lnSpc>
                <a:spcPts val="19600"/>
              </a:lnSpc>
            </a:pPr>
            <a:r>
              <a:rPr lang="en-US" sz="14000">
                <a:solidFill>
                  <a:srgbClr val="726151"/>
                </a:solidFill>
                <a:latin typeface="Angella White"/>
                <a:ea typeface="Angella White"/>
                <a:cs typeface="Angella White"/>
                <a:sym typeface="Angella White"/>
              </a:rPr>
              <a:t>Work life balance </a:t>
            </a:r>
          </a:p>
        </p:txBody>
      </p:sp>
      <p:sp>
        <p:nvSpPr>
          <p:cNvPr name="TextBox 3" id="3"/>
          <p:cNvSpPr txBox="true"/>
          <p:nvPr/>
        </p:nvSpPr>
        <p:spPr>
          <a:xfrm rot="0">
            <a:off x="0" y="3347117"/>
            <a:ext cx="17198842" cy="8516620"/>
          </a:xfrm>
          <a:prstGeom prst="rect">
            <a:avLst/>
          </a:prstGeom>
        </p:spPr>
        <p:txBody>
          <a:bodyPr anchor="t" rtlCol="false" tIns="0" lIns="0" bIns="0" rIns="0">
            <a:spAutoFit/>
          </a:bodyPr>
          <a:lstStyle/>
          <a:p>
            <a:pPr algn="ctr">
              <a:lnSpc>
                <a:spcPts val="5180"/>
              </a:lnSpc>
            </a:pPr>
            <a:r>
              <a:rPr lang="en-US" sz="3700">
                <a:solidFill>
                  <a:srgbClr val="726151"/>
                </a:solidFill>
                <a:latin typeface="Kulachat Serif"/>
                <a:ea typeface="Kulachat Serif"/>
                <a:cs typeface="Kulachat Serif"/>
                <a:sym typeface="Kulachat Serif"/>
              </a:rPr>
              <a:t>Work life balance refers to effective management of dual role at work and family.</a:t>
            </a:r>
          </a:p>
          <a:p>
            <a:pPr algn="ctr">
              <a:lnSpc>
                <a:spcPts val="5180"/>
              </a:lnSpc>
            </a:pPr>
          </a:p>
          <a:p>
            <a:pPr algn="ctr">
              <a:lnSpc>
                <a:spcPts val="5180"/>
              </a:lnSpc>
            </a:pPr>
          </a:p>
          <a:p>
            <a:pPr algn="ctr">
              <a:lnSpc>
                <a:spcPts val="5180"/>
              </a:lnSpc>
            </a:pPr>
            <a:r>
              <a:rPr lang="en-US" sz="3700">
                <a:solidFill>
                  <a:srgbClr val="726151"/>
                </a:solidFill>
                <a:latin typeface="Kulachat Serif"/>
                <a:ea typeface="Kulachat Serif"/>
                <a:cs typeface="Kulachat Serif"/>
                <a:sym typeface="Kulachat Serif"/>
              </a:rPr>
              <a:t>Work life balance means harmony between ones job and ones professional life .</a:t>
            </a:r>
          </a:p>
          <a:p>
            <a:pPr algn="ctr">
              <a:lnSpc>
                <a:spcPts val="5180"/>
              </a:lnSpc>
            </a:pPr>
          </a:p>
          <a:p>
            <a:pPr algn="ctr">
              <a:lnSpc>
                <a:spcPts val="5180"/>
              </a:lnSpc>
            </a:pPr>
          </a:p>
          <a:p>
            <a:pPr algn="ctr">
              <a:lnSpc>
                <a:spcPts val="5180"/>
              </a:lnSpc>
            </a:pPr>
            <a:r>
              <a:rPr lang="en-US" sz="3700">
                <a:solidFill>
                  <a:srgbClr val="726151"/>
                </a:solidFill>
                <a:latin typeface="Kulachat Serif"/>
                <a:ea typeface="Kulachat Serif"/>
                <a:cs typeface="Kulachat Serif"/>
                <a:sym typeface="Kulachat Serif"/>
              </a:rPr>
              <a:t>Work life balance is *"The extent to which an individual is equally self-engaged and satisfied</a:t>
            </a:r>
          </a:p>
          <a:p>
            <a:pPr algn="ctr">
              <a:lnSpc>
                <a:spcPts val="5180"/>
              </a:lnSpc>
            </a:pPr>
            <a:r>
              <a:rPr lang="en-US" sz="3700">
                <a:solidFill>
                  <a:srgbClr val="726151"/>
                </a:solidFill>
                <a:latin typeface="Kulachat Serif"/>
                <a:ea typeface="Kulachat Serif"/>
                <a:cs typeface="Kulachat Serif"/>
                <a:sym typeface="Kulachat Serif"/>
              </a:rPr>
              <a:t> with his or her work role and family role."*</a:t>
            </a:r>
          </a:p>
          <a:p>
            <a:pPr algn="ctr">
              <a:lnSpc>
                <a:spcPts val="5180"/>
              </a:lnSpc>
            </a:pPr>
            <a:r>
              <a:rPr lang="en-US" sz="3700">
                <a:solidFill>
                  <a:srgbClr val="726151"/>
                </a:solidFill>
                <a:latin typeface="Kulachat Serif"/>
                <a:ea typeface="Kulachat Serif"/>
                <a:cs typeface="Kulachat Serif"/>
                <a:sym typeface="Kulachat Serif"/>
              </a:rPr>
              <a:t>*_Greenhaus, Collins and Shaw (2003)*</a:t>
            </a:r>
          </a:p>
          <a:p>
            <a:pPr algn="ctr">
              <a:lnSpc>
                <a:spcPts val="5180"/>
              </a:lnSpc>
            </a:pPr>
          </a:p>
          <a:p>
            <a:pPr algn="ctr">
              <a:lnSpc>
                <a:spcPts val="5180"/>
              </a:lnSpc>
            </a:pPr>
          </a:p>
          <a:p>
            <a:pPr algn="ctr">
              <a:lnSpc>
                <a:spcPts val="5180"/>
              </a:lnSpc>
            </a:pPr>
          </a:p>
        </p:txBody>
      </p:sp>
      <p:sp>
        <p:nvSpPr>
          <p:cNvPr name="Freeform 4" id="4"/>
          <p:cNvSpPr/>
          <p:nvPr/>
        </p:nvSpPr>
        <p:spPr>
          <a:xfrm flipH="false" flipV="false" rot="0">
            <a:off x="-1699183" y="-1162878"/>
            <a:ext cx="5114585" cy="5142635"/>
          </a:xfrm>
          <a:custGeom>
            <a:avLst/>
            <a:gdLst/>
            <a:ahLst/>
            <a:cxnLst/>
            <a:rect r="r" b="b" t="t" l="l"/>
            <a:pathLst>
              <a:path h="5142635" w="5114585">
                <a:moveTo>
                  <a:pt x="0" y="0"/>
                </a:moveTo>
                <a:lnTo>
                  <a:pt x="5114584" y="0"/>
                </a:lnTo>
                <a:lnTo>
                  <a:pt x="5114584" y="5142636"/>
                </a:lnTo>
                <a:lnTo>
                  <a:pt x="0" y="51426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367110" y="330677"/>
            <a:ext cx="2450438" cy="4185866"/>
          </a:xfrm>
          <a:custGeom>
            <a:avLst/>
            <a:gdLst/>
            <a:ahLst/>
            <a:cxnLst/>
            <a:rect r="r" b="b" t="t" l="l"/>
            <a:pathLst>
              <a:path h="4185866" w="2450438">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2406504" y="568489"/>
            <a:ext cx="2909455" cy="1433568"/>
          </a:xfrm>
          <a:custGeom>
            <a:avLst/>
            <a:gdLst/>
            <a:ahLst/>
            <a:cxnLst/>
            <a:rect r="r" b="b" t="t" l="l"/>
            <a:pathLst>
              <a:path h="1433568" w="2909455">
                <a:moveTo>
                  <a:pt x="2909455" y="0"/>
                </a:moveTo>
                <a:lnTo>
                  <a:pt x="0" y="0"/>
                </a:lnTo>
                <a:lnTo>
                  <a:pt x="0" y="1433568"/>
                </a:lnTo>
                <a:lnTo>
                  <a:pt x="2909455" y="1433568"/>
                </a:lnTo>
                <a:lnTo>
                  <a:pt x="290945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122975" y="-1867293"/>
            <a:ext cx="17165025" cy="9581515"/>
          </a:xfrm>
          <a:prstGeom prst="rect">
            <a:avLst/>
          </a:prstGeom>
        </p:spPr>
        <p:txBody>
          <a:bodyPr anchor="t" rtlCol="false" tIns="0" lIns="0" bIns="0" rIns="0">
            <a:spAutoFit/>
          </a:bodyPr>
          <a:lstStyle/>
          <a:p>
            <a:pPr algn="ctr">
              <a:lnSpc>
                <a:spcPts val="4759"/>
              </a:lnSpc>
            </a:pPr>
          </a:p>
          <a:p>
            <a:pPr algn="ctr">
              <a:lnSpc>
                <a:spcPts val="4759"/>
              </a:lnSpc>
            </a:pPr>
          </a:p>
          <a:p>
            <a:pPr algn="ctr">
              <a:lnSpc>
                <a:spcPts val="4759"/>
              </a:lnSpc>
            </a:pPr>
          </a:p>
          <a:p>
            <a:pPr algn="ctr">
              <a:lnSpc>
                <a:spcPts val="4759"/>
              </a:lnSpc>
            </a:pPr>
          </a:p>
          <a:p>
            <a:pPr algn="ctr">
              <a:lnSpc>
                <a:spcPts val="4759"/>
              </a:lnSpc>
            </a:pPr>
          </a:p>
          <a:p>
            <a:pPr algn="ctr">
              <a:lnSpc>
                <a:spcPts val="4759"/>
              </a:lnSpc>
            </a:pPr>
          </a:p>
          <a:p>
            <a:pPr algn="ctr">
              <a:lnSpc>
                <a:spcPts val="4759"/>
              </a:lnSpc>
            </a:pPr>
            <a:r>
              <a:rPr lang="en-US" b="true" sz="3399">
                <a:solidFill>
                  <a:srgbClr val="545454"/>
                </a:solidFill>
                <a:latin typeface="Canva Sans Bold"/>
                <a:ea typeface="Canva Sans Bold"/>
                <a:cs typeface="Canva Sans Bold"/>
                <a:sym typeface="Canva Sans Bold"/>
              </a:rPr>
              <a:t>IMPORTANCE OF WORK-LIFE BALANCE IN NURSING</a:t>
            </a:r>
          </a:p>
          <a:p>
            <a:pPr algn="ctr">
              <a:lnSpc>
                <a:spcPts val="4759"/>
              </a:lnSpc>
            </a:pPr>
          </a:p>
          <a:p>
            <a:pPr algn="ctr">
              <a:lnSpc>
                <a:spcPts val="4759"/>
              </a:lnSpc>
            </a:pPr>
          </a:p>
          <a:p>
            <a:pPr algn="ctr">
              <a:lnSpc>
                <a:spcPts val="4759"/>
              </a:lnSpc>
            </a:pPr>
          </a:p>
          <a:p>
            <a:pPr algn="ctr">
              <a:lnSpc>
                <a:spcPts val="4759"/>
              </a:lnSpc>
            </a:pPr>
            <a:r>
              <a:rPr lang="en-US" sz="3399">
                <a:solidFill>
                  <a:srgbClr val="000000"/>
                </a:solidFill>
                <a:latin typeface="Canva Sans"/>
                <a:ea typeface="Canva Sans"/>
                <a:cs typeface="Canva Sans"/>
                <a:sym typeface="Canva Sans"/>
              </a:rPr>
              <a:t>🔅nursing is a demanding profession which requires scientific, interpersonal and emotional intelligence. </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🔅Nurses deal with long working hours, shift system and frequent job rotations, under staffing, minimal resources, outdated equipment, demands of sick patients and emotional strain of caregivers  put a lot of burden on her.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636862" y="3259212"/>
            <a:ext cx="13823447" cy="7027788"/>
          </a:xfrm>
          <a:prstGeom prst="rect">
            <a:avLst/>
          </a:prstGeom>
        </p:spPr>
        <p:txBody>
          <a:bodyPr anchor="t" rtlCol="false" tIns="0" lIns="0" bIns="0" rIns="0">
            <a:spAutoFit/>
          </a:bodyPr>
          <a:lstStyle/>
          <a:p>
            <a:pPr algn="ctr">
              <a:lnSpc>
                <a:spcPts val="4291"/>
              </a:lnSpc>
            </a:pPr>
          </a:p>
          <a:p>
            <a:pPr algn="ctr">
              <a:lnSpc>
                <a:spcPts val="4291"/>
              </a:lnSpc>
            </a:pPr>
          </a:p>
          <a:p>
            <a:pPr algn="ctr">
              <a:lnSpc>
                <a:spcPts val="4291"/>
              </a:lnSpc>
            </a:pPr>
          </a:p>
          <a:p>
            <a:pPr algn="ctr">
              <a:lnSpc>
                <a:spcPts val="4291"/>
              </a:lnSpc>
            </a:pPr>
            <a:r>
              <a:rPr lang="en-US" b="true" sz="3065">
                <a:solidFill>
                  <a:srgbClr val="545454"/>
                </a:solidFill>
                <a:latin typeface="Kulachat Serif Bold"/>
                <a:ea typeface="Kulachat Serif Bold"/>
                <a:cs typeface="Kulachat Serif Bold"/>
                <a:sym typeface="Kulachat Serif Bold"/>
              </a:rPr>
              <a:t>INDIVIDUAL  BENEFITS</a:t>
            </a:r>
          </a:p>
          <a:p>
            <a:pPr algn="ctr">
              <a:lnSpc>
                <a:spcPts val="4291"/>
              </a:lnSpc>
            </a:pPr>
          </a:p>
          <a:p>
            <a:pPr algn="ctr">
              <a:lnSpc>
                <a:spcPts val="4291"/>
              </a:lnSpc>
            </a:pPr>
            <a:r>
              <a:rPr lang="en-US" sz="3065">
                <a:solidFill>
                  <a:srgbClr val="726151"/>
                </a:solidFill>
                <a:latin typeface="Kulachat Serif"/>
                <a:ea typeface="Kulachat Serif"/>
                <a:cs typeface="Kulachat Serif"/>
                <a:sym typeface="Kulachat Serif"/>
              </a:rPr>
              <a:t>▫️Devolops self-esteem</a:t>
            </a:r>
          </a:p>
          <a:p>
            <a:pPr algn="ctr">
              <a:lnSpc>
                <a:spcPts val="4291"/>
              </a:lnSpc>
            </a:pPr>
          </a:p>
          <a:p>
            <a:pPr algn="ctr">
              <a:lnSpc>
                <a:spcPts val="4291"/>
              </a:lnSpc>
            </a:pPr>
            <a:r>
              <a:rPr lang="en-US" sz="3065">
                <a:solidFill>
                  <a:srgbClr val="726151"/>
                </a:solidFill>
                <a:latin typeface="Kulachat Serif"/>
                <a:ea typeface="Kulachat Serif"/>
                <a:cs typeface="Kulachat Serif"/>
                <a:sym typeface="Kulachat Serif"/>
              </a:rPr>
              <a:t>▫️Maintains  psychological wellbeing</a:t>
            </a:r>
          </a:p>
          <a:p>
            <a:pPr algn="ctr">
              <a:lnSpc>
                <a:spcPts val="4291"/>
              </a:lnSpc>
            </a:pPr>
          </a:p>
          <a:p>
            <a:pPr algn="ctr">
              <a:lnSpc>
                <a:spcPts val="4291"/>
              </a:lnSpc>
            </a:pPr>
            <a:r>
              <a:rPr lang="en-US" sz="3065">
                <a:solidFill>
                  <a:srgbClr val="726151"/>
                </a:solidFill>
                <a:latin typeface="Kulachat Serif"/>
                <a:ea typeface="Kulachat Serif"/>
                <a:cs typeface="Kulachat Serif"/>
                <a:sym typeface="Kulachat Serif"/>
              </a:rPr>
              <a:t>▫️ Helps in attaining contentment</a:t>
            </a:r>
          </a:p>
          <a:p>
            <a:pPr algn="ctr">
              <a:lnSpc>
                <a:spcPts val="4291"/>
              </a:lnSpc>
            </a:pPr>
          </a:p>
          <a:p>
            <a:pPr algn="ctr">
              <a:lnSpc>
                <a:spcPts val="4291"/>
              </a:lnSpc>
            </a:pPr>
            <a:r>
              <a:rPr lang="en-US" sz="3065">
                <a:solidFill>
                  <a:srgbClr val="726151"/>
                </a:solidFill>
                <a:latin typeface="Kulachat Serif"/>
                <a:ea typeface="Kulachat Serif"/>
                <a:cs typeface="Kulachat Serif"/>
                <a:sym typeface="Kulachat Serif"/>
              </a:rPr>
              <a:t>▫️ Helps to achieve harmony between work and life with minimum role conflict</a:t>
            </a:r>
          </a:p>
          <a:p>
            <a:pPr algn="ctr">
              <a:lnSpc>
                <a:spcPts val="4291"/>
              </a:lnSpc>
            </a:pPr>
          </a:p>
        </p:txBody>
      </p:sp>
      <p:grpSp>
        <p:nvGrpSpPr>
          <p:cNvPr name="Group 3" id="3"/>
          <p:cNvGrpSpPr/>
          <p:nvPr/>
        </p:nvGrpSpPr>
        <p:grpSpPr>
          <a:xfrm rot="-10800000">
            <a:off x="12176714" y="-1555083"/>
            <a:ext cx="7015142" cy="5679421"/>
            <a:chOff x="0" y="0"/>
            <a:chExt cx="9353523" cy="7572561"/>
          </a:xfrm>
        </p:grpSpPr>
        <p:sp>
          <p:nvSpPr>
            <p:cNvPr name="Freeform 4" id="4"/>
            <p:cNvSpPr/>
            <p:nvPr/>
          </p:nvSpPr>
          <p:spPr>
            <a:xfrm flipH="false" flipV="false" rot="0">
              <a:off x="0" y="0"/>
              <a:ext cx="6819446" cy="6856847"/>
            </a:xfrm>
            <a:custGeom>
              <a:avLst/>
              <a:gdLst/>
              <a:ahLst/>
              <a:cxnLst/>
              <a:rect r="r" b="b" t="t" l="l"/>
              <a:pathLst>
                <a:path h="6856847" w="6819446">
                  <a:moveTo>
                    <a:pt x="0" y="0"/>
                  </a:moveTo>
                  <a:lnTo>
                    <a:pt x="6819446" y="0"/>
                  </a:lnTo>
                  <a:lnTo>
                    <a:pt x="6819446" y="6856847"/>
                  </a:lnTo>
                  <a:lnTo>
                    <a:pt x="0" y="68568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776098" y="1991407"/>
              <a:ext cx="3267251" cy="5581154"/>
            </a:xfrm>
            <a:custGeom>
              <a:avLst/>
              <a:gdLst/>
              <a:ahLst/>
              <a:cxnLst/>
              <a:rect r="r" b="b" t="t" l="l"/>
              <a:pathLst>
                <a:path h="5581154" w="3267251">
                  <a:moveTo>
                    <a:pt x="0" y="5581154"/>
                  </a:moveTo>
                  <a:lnTo>
                    <a:pt x="3267251" y="5581154"/>
                  </a:lnTo>
                  <a:lnTo>
                    <a:pt x="3267251" y="0"/>
                  </a:lnTo>
                  <a:lnTo>
                    <a:pt x="0" y="0"/>
                  </a:lnTo>
                  <a:lnTo>
                    <a:pt x="0" y="558115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474250" y="2308489"/>
              <a:ext cx="3879273" cy="1911423"/>
            </a:xfrm>
            <a:custGeom>
              <a:avLst/>
              <a:gdLst/>
              <a:ahLst/>
              <a:cxnLst/>
              <a:rect r="r" b="b" t="t" l="l"/>
              <a:pathLst>
                <a:path h="1911423" w="3879273">
                  <a:moveTo>
                    <a:pt x="0" y="0"/>
                  </a:moveTo>
                  <a:lnTo>
                    <a:pt x="3879273" y="0"/>
                  </a:lnTo>
                  <a:lnTo>
                    <a:pt x="3879273" y="1911424"/>
                  </a:lnTo>
                  <a:lnTo>
                    <a:pt x="0" y="19114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7" id="7"/>
          <p:cNvSpPr/>
          <p:nvPr/>
        </p:nvSpPr>
        <p:spPr>
          <a:xfrm flipH="true" flipV="false" rot="0">
            <a:off x="0" y="5143500"/>
            <a:ext cx="3616776" cy="7883980"/>
          </a:xfrm>
          <a:custGeom>
            <a:avLst/>
            <a:gdLst/>
            <a:ahLst/>
            <a:cxnLst/>
            <a:rect r="r" b="b" t="t" l="l"/>
            <a:pathLst>
              <a:path h="7883980" w="3616776">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0" y="-371475"/>
            <a:ext cx="17949267" cy="4987924"/>
          </a:xfrm>
          <a:prstGeom prst="rect">
            <a:avLst/>
          </a:prstGeom>
        </p:spPr>
        <p:txBody>
          <a:bodyPr anchor="t" rtlCol="false" tIns="0" lIns="0" bIns="0" rIns="0">
            <a:spAutoFit/>
          </a:bodyPr>
          <a:lstStyle/>
          <a:p>
            <a:pPr algn="ctr">
              <a:lnSpc>
                <a:spcPts val="19600"/>
              </a:lnSpc>
            </a:pPr>
            <a:r>
              <a:rPr lang="en-US" sz="14000">
                <a:solidFill>
                  <a:srgbClr val="000000"/>
                </a:solidFill>
                <a:latin typeface="Angella White"/>
                <a:ea typeface="Angella White"/>
                <a:cs typeface="Angella White"/>
                <a:sym typeface="Angella White"/>
              </a:rPr>
              <a:t>Benefits of maintaining work life balance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355130" y="813195"/>
            <a:ext cx="13577740" cy="8206016"/>
          </a:xfrm>
          <a:prstGeom prst="rect">
            <a:avLst/>
          </a:prstGeom>
        </p:spPr>
        <p:txBody>
          <a:bodyPr anchor="t" rtlCol="false" tIns="0" lIns="0" bIns="0" rIns="0">
            <a:spAutoFit/>
          </a:bodyPr>
          <a:lstStyle/>
          <a:p>
            <a:pPr algn="ctr">
              <a:lnSpc>
                <a:spcPts val="5057"/>
              </a:lnSpc>
            </a:pPr>
          </a:p>
          <a:p>
            <a:pPr algn="ctr">
              <a:lnSpc>
                <a:spcPts val="5057"/>
              </a:lnSpc>
            </a:pPr>
          </a:p>
          <a:p>
            <a:pPr algn="ctr">
              <a:lnSpc>
                <a:spcPts val="5057"/>
              </a:lnSpc>
            </a:pPr>
            <a:r>
              <a:rPr lang="en-US" sz="3612">
                <a:solidFill>
                  <a:srgbClr val="000000"/>
                </a:solidFill>
                <a:latin typeface="Kulachat Serif"/>
                <a:ea typeface="Kulachat Serif"/>
                <a:cs typeface="Kulachat Serif"/>
                <a:sym typeface="Kulachat Serif"/>
              </a:rPr>
              <a:t>▫️Reduced absenteeism</a:t>
            </a:r>
          </a:p>
          <a:p>
            <a:pPr algn="ctr">
              <a:lnSpc>
                <a:spcPts val="5057"/>
              </a:lnSpc>
            </a:pPr>
          </a:p>
          <a:p>
            <a:pPr algn="ctr">
              <a:lnSpc>
                <a:spcPts val="5057"/>
              </a:lnSpc>
            </a:pPr>
            <a:r>
              <a:rPr lang="en-US" sz="3612">
                <a:solidFill>
                  <a:srgbClr val="000000"/>
                </a:solidFill>
                <a:latin typeface="Kulachat Serif"/>
                <a:ea typeface="Kulachat Serif"/>
                <a:cs typeface="Kulachat Serif"/>
                <a:sym typeface="Kulachat Serif"/>
              </a:rPr>
              <a:t>▫️Increased productivity</a:t>
            </a:r>
          </a:p>
          <a:p>
            <a:pPr algn="ctr">
              <a:lnSpc>
                <a:spcPts val="5057"/>
              </a:lnSpc>
            </a:pPr>
          </a:p>
          <a:p>
            <a:pPr algn="ctr">
              <a:lnSpc>
                <a:spcPts val="5057"/>
              </a:lnSpc>
            </a:pPr>
            <a:r>
              <a:rPr lang="en-US" sz="3612">
                <a:solidFill>
                  <a:srgbClr val="000000"/>
                </a:solidFill>
                <a:latin typeface="Kulachat Serif"/>
                <a:ea typeface="Kulachat Serif"/>
                <a:cs typeface="Kulachat Serif"/>
                <a:sym typeface="Kulachat Serif"/>
              </a:rPr>
              <a:t>▫️Retention of skilled staff leading to reduction in training costs</a:t>
            </a:r>
          </a:p>
          <a:p>
            <a:pPr algn="ctr">
              <a:lnSpc>
                <a:spcPts val="5057"/>
              </a:lnSpc>
            </a:pPr>
          </a:p>
          <a:p>
            <a:pPr algn="ctr">
              <a:lnSpc>
                <a:spcPts val="5057"/>
              </a:lnSpc>
            </a:pPr>
            <a:r>
              <a:rPr lang="en-US" sz="3612">
                <a:solidFill>
                  <a:srgbClr val="000000"/>
                </a:solidFill>
                <a:latin typeface="Kulachat Serif"/>
                <a:ea typeface="Kulachat Serif"/>
                <a:cs typeface="Kulachat Serif"/>
                <a:sym typeface="Kulachat Serif"/>
              </a:rPr>
              <a:t>▫️ Reduced staff turnover</a:t>
            </a:r>
          </a:p>
          <a:p>
            <a:pPr algn="ctr">
              <a:lnSpc>
                <a:spcPts val="5057"/>
              </a:lnSpc>
            </a:pPr>
          </a:p>
          <a:p>
            <a:pPr algn="ctr">
              <a:lnSpc>
                <a:spcPts val="5057"/>
              </a:lnSpc>
            </a:pPr>
            <a:r>
              <a:rPr lang="en-US" sz="3612">
                <a:solidFill>
                  <a:srgbClr val="000000"/>
                </a:solidFill>
                <a:latin typeface="Kulachat Serif"/>
                <a:ea typeface="Kulachat Serif"/>
                <a:cs typeface="Kulachat Serif"/>
                <a:sym typeface="Kulachat Serif"/>
              </a:rPr>
              <a:t>▫️ Greater interest shown by skilled personnel to join the organization</a:t>
            </a:r>
          </a:p>
          <a:p>
            <a:pPr algn="ctr">
              <a:lnSpc>
                <a:spcPts val="5057"/>
              </a:lnSpc>
            </a:pPr>
          </a:p>
          <a:p>
            <a:pPr algn="ctr">
              <a:lnSpc>
                <a:spcPts val="5057"/>
              </a:lnSpc>
            </a:pPr>
            <a:r>
              <a:rPr lang="en-US" sz="3612">
                <a:solidFill>
                  <a:srgbClr val="000000"/>
                </a:solidFill>
                <a:latin typeface="Kulachat Serif"/>
                <a:ea typeface="Kulachat Serif"/>
                <a:cs typeface="Kulachat Serif"/>
                <a:sym typeface="Kulachat Serif"/>
              </a:rPr>
              <a:t>▫️Continuous support from the employees</a:t>
            </a:r>
          </a:p>
        </p:txBody>
      </p:sp>
      <p:sp>
        <p:nvSpPr>
          <p:cNvPr name="TextBox 3" id="3"/>
          <p:cNvSpPr txBox="true"/>
          <p:nvPr/>
        </p:nvSpPr>
        <p:spPr>
          <a:xfrm rot="0">
            <a:off x="5098435" y="-257175"/>
            <a:ext cx="8091131" cy="1807845"/>
          </a:xfrm>
          <a:prstGeom prst="rect">
            <a:avLst/>
          </a:prstGeom>
        </p:spPr>
        <p:txBody>
          <a:bodyPr anchor="t" rtlCol="false" tIns="0" lIns="0" bIns="0" rIns="0">
            <a:spAutoFit/>
          </a:bodyPr>
          <a:lstStyle/>
          <a:p>
            <a:pPr algn="ctr">
              <a:lnSpc>
                <a:spcPts val="14279"/>
              </a:lnSpc>
            </a:pPr>
            <a:r>
              <a:rPr lang="en-US" sz="10200">
                <a:solidFill>
                  <a:srgbClr val="000000"/>
                </a:solidFill>
                <a:latin typeface="Angella White"/>
                <a:ea typeface="Angella White"/>
                <a:cs typeface="Angella White"/>
                <a:sym typeface="Angella White"/>
              </a:rPr>
              <a:t>Organizational benefits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1279815">
            <a:off x="16479612" y="1697"/>
            <a:ext cx="3616776" cy="7883980"/>
          </a:xfrm>
          <a:custGeom>
            <a:avLst/>
            <a:gdLst/>
            <a:ahLst/>
            <a:cxnLst/>
            <a:rect r="r" b="b" t="t" l="l"/>
            <a:pathLst>
              <a:path h="7883980" w="3616776">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14169" y="6326281"/>
            <a:ext cx="6493940" cy="6529555"/>
          </a:xfrm>
          <a:custGeom>
            <a:avLst/>
            <a:gdLst/>
            <a:ahLst/>
            <a:cxnLst/>
            <a:rect r="r" b="b" t="t" l="l"/>
            <a:pathLst>
              <a:path h="6529555" w="6493940">
                <a:moveTo>
                  <a:pt x="0" y="0"/>
                </a:moveTo>
                <a:lnTo>
                  <a:pt x="6493939" y="0"/>
                </a:lnTo>
                <a:lnTo>
                  <a:pt x="6493939"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68370">
            <a:off x="-636901" y="4079291"/>
            <a:ext cx="2689927" cy="1649410"/>
          </a:xfrm>
          <a:custGeom>
            <a:avLst/>
            <a:gdLst/>
            <a:ahLst/>
            <a:cxnLst/>
            <a:rect r="r" b="b" t="t" l="l"/>
            <a:pathLst>
              <a:path h="1649410" w="2689927">
                <a:moveTo>
                  <a:pt x="0" y="0"/>
                </a:moveTo>
                <a:lnTo>
                  <a:pt x="2689928" y="0"/>
                </a:lnTo>
                <a:lnTo>
                  <a:pt x="2689928"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74740" t="0" r="0" b="0"/>
            </a:stretch>
          </a:blipFill>
        </p:spPr>
      </p:sp>
      <p:sp>
        <p:nvSpPr>
          <p:cNvPr name="Freeform 5" id="5"/>
          <p:cNvSpPr/>
          <p:nvPr/>
        </p:nvSpPr>
        <p:spPr>
          <a:xfrm flipH="false" flipV="true" rot="8309932">
            <a:off x="7582" y="6646127"/>
            <a:ext cx="2450438" cy="4185866"/>
          </a:xfrm>
          <a:custGeom>
            <a:avLst/>
            <a:gdLst/>
            <a:ahLst/>
            <a:cxnLst/>
            <a:rect r="r" b="b" t="t" l="l"/>
            <a:pathLst>
              <a:path h="4185866" w="2450438">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0" y="-104775"/>
            <a:ext cx="19253268" cy="880110"/>
          </a:xfrm>
          <a:prstGeom prst="rect">
            <a:avLst/>
          </a:prstGeom>
        </p:spPr>
        <p:txBody>
          <a:bodyPr anchor="t" rtlCol="false" tIns="0" lIns="0" bIns="0" rIns="0">
            <a:spAutoFit/>
          </a:bodyPr>
          <a:lstStyle/>
          <a:p>
            <a:pPr algn="ctr">
              <a:lnSpc>
                <a:spcPts val="7139"/>
              </a:lnSpc>
            </a:pPr>
            <a:r>
              <a:rPr lang="en-US" sz="5100">
                <a:solidFill>
                  <a:srgbClr val="726151"/>
                </a:solidFill>
                <a:latin typeface="Canva Sans"/>
                <a:ea typeface="Canva Sans"/>
                <a:cs typeface="Canva Sans"/>
                <a:sym typeface="Canva Sans"/>
              </a:rPr>
              <a:t>Individual strategies to maintain work like balance</a:t>
            </a:r>
          </a:p>
        </p:txBody>
      </p:sp>
      <p:sp>
        <p:nvSpPr>
          <p:cNvPr name="TextBox 7" id="7"/>
          <p:cNvSpPr txBox="true"/>
          <p:nvPr/>
        </p:nvSpPr>
        <p:spPr>
          <a:xfrm rot="0">
            <a:off x="839782" y="414736"/>
            <a:ext cx="17448218" cy="10246605"/>
          </a:xfrm>
          <a:prstGeom prst="rect">
            <a:avLst/>
          </a:prstGeom>
        </p:spPr>
        <p:txBody>
          <a:bodyPr anchor="t" rtlCol="false" tIns="0" lIns="0" bIns="0" rIns="0">
            <a:spAutoFit/>
          </a:bodyPr>
          <a:lstStyle/>
          <a:p>
            <a:pPr algn="ctr">
              <a:lnSpc>
                <a:spcPts val="3861"/>
              </a:lnSpc>
            </a:pPr>
          </a:p>
          <a:p>
            <a:pPr algn="ctr">
              <a:lnSpc>
                <a:spcPts val="3861"/>
              </a:lnSpc>
            </a:pPr>
          </a:p>
          <a:p>
            <a:pPr algn="ctr">
              <a:lnSpc>
                <a:spcPts val="3861"/>
              </a:lnSpc>
            </a:pPr>
          </a:p>
          <a:p>
            <a:pPr algn="ctr">
              <a:lnSpc>
                <a:spcPts val="3861"/>
              </a:lnSpc>
            </a:pPr>
            <a:r>
              <a:rPr lang="en-US" sz="2758">
                <a:solidFill>
                  <a:srgbClr val="726151"/>
                </a:solidFill>
                <a:latin typeface="Canva Sans"/>
                <a:ea typeface="Canva Sans"/>
                <a:cs typeface="Canva Sans"/>
                <a:sym typeface="Canva Sans"/>
              </a:rPr>
              <a:t>🔸Assess job areas that are most demanding</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 Pay special attention to rest and relaxation while on night shift</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🔸Build self care activities in daily routine and follow practice relaxation techniques</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🔸Talk to friends, family or counselor to overcome stressors</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🔸Be flexible at both work place and home</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🔸Accept that everything cannot be changed</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🔸Learn  to delegate work</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🔸Do not feel guilty while seeking assistance at work</a:t>
            </a:r>
          </a:p>
          <a:p>
            <a:pPr algn="ctr">
              <a:lnSpc>
                <a:spcPts val="3861"/>
              </a:lnSpc>
            </a:pPr>
          </a:p>
          <a:p>
            <a:pPr algn="ctr">
              <a:lnSpc>
                <a:spcPts val="3861"/>
              </a:lnSpc>
            </a:pPr>
            <a:r>
              <a:rPr lang="en-US" sz="2758">
                <a:solidFill>
                  <a:srgbClr val="726151"/>
                </a:solidFill>
                <a:latin typeface="Canva Sans"/>
                <a:ea typeface="Canva Sans"/>
                <a:cs typeface="Canva Sans"/>
                <a:sym typeface="Canva Sans"/>
              </a:rPr>
              <a:t> 🔸Feel free to decline politely</a:t>
            </a:r>
          </a:p>
          <a:p>
            <a:pPr algn="ctr">
              <a:lnSpc>
                <a:spcPts val="3861"/>
              </a:lnSpc>
            </a:pP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629490" y="1905635"/>
            <a:ext cx="11810762" cy="8381365"/>
          </a:xfrm>
          <a:prstGeom prst="rect">
            <a:avLst/>
          </a:prstGeom>
        </p:spPr>
        <p:txBody>
          <a:bodyPr anchor="t" rtlCol="false" tIns="0" lIns="0" bIns="0" rIns="0">
            <a:spAutoFit/>
          </a:bodyPr>
          <a:lstStyle/>
          <a:p>
            <a:pPr algn="ctr">
              <a:lnSpc>
                <a:spcPts val="4759"/>
              </a:lnSpc>
            </a:pPr>
          </a:p>
          <a:p>
            <a:pPr algn="ctr">
              <a:lnSpc>
                <a:spcPts val="4759"/>
              </a:lnSpc>
            </a:pPr>
          </a:p>
          <a:p>
            <a:pPr algn="ctr">
              <a:lnSpc>
                <a:spcPts val="4759"/>
              </a:lnSpc>
            </a:pPr>
            <a:r>
              <a:rPr lang="en-US" sz="3399">
                <a:solidFill>
                  <a:srgbClr val="000000"/>
                </a:solidFill>
                <a:latin typeface="Canva Sans"/>
                <a:ea typeface="Canva Sans"/>
                <a:cs typeface="Canva Sans"/>
                <a:sym typeface="Canva Sans"/>
              </a:rPr>
              <a:t> 🔸Reduce long working hours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🔸Allow  flexible working hours where permissible</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🔸Provide part time jobs with less hours and fewer shifts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🔸Make job sharing arrangements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🔸Make leave taking more flexible</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🔸Allow staff to take extra leave by forgoing pay </a:t>
            </a:r>
          </a:p>
          <a:p>
            <a:pPr algn="ctr">
              <a:lnSpc>
                <a:spcPts val="4759"/>
              </a:lnSpc>
            </a:pPr>
          </a:p>
        </p:txBody>
      </p:sp>
      <p:sp>
        <p:nvSpPr>
          <p:cNvPr name="TextBox 3" id="3"/>
          <p:cNvSpPr txBox="true"/>
          <p:nvPr/>
        </p:nvSpPr>
        <p:spPr>
          <a:xfrm rot="0">
            <a:off x="0" y="942975"/>
            <a:ext cx="18288000" cy="1801495"/>
          </a:xfrm>
          <a:prstGeom prst="rect">
            <a:avLst/>
          </a:prstGeom>
        </p:spPr>
        <p:txBody>
          <a:bodyPr anchor="t" rtlCol="false" tIns="0" lIns="0" bIns="0" rIns="0">
            <a:spAutoFit/>
          </a:bodyPr>
          <a:lstStyle/>
          <a:p>
            <a:pPr algn="ctr">
              <a:lnSpc>
                <a:spcPts val="7279"/>
              </a:lnSpc>
            </a:pPr>
            <a:r>
              <a:rPr lang="en-US" sz="5199">
                <a:solidFill>
                  <a:srgbClr val="000000"/>
                </a:solidFill>
                <a:latin typeface="Montserrat"/>
                <a:ea typeface="Montserrat"/>
                <a:cs typeface="Montserrat"/>
                <a:sym typeface="Montserrat"/>
              </a:rPr>
              <a:t>ORGANIZATIONAL STRATEGIES TO MAINTAIN WORK-LIFE BALANCE*</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0" y="2719705"/>
            <a:ext cx="18288000" cy="478091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🔸Provide access to child care</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🔸provide subsidies for child care</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🔸Allow recieving of urgent telephone calls or messages from family members while at work </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🔸Offer programs for employees to return to work after extended leave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5400000">
            <a:off x="13751729" y="4621158"/>
            <a:ext cx="7015142" cy="5679421"/>
            <a:chOff x="0" y="0"/>
            <a:chExt cx="9353523" cy="7572561"/>
          </a:xfrm>
        </p:grpSpPr>
        <p:sp>
          <p:nvSpPr>
            <p:cNvPr name="Freeform 3" id="3"/>
            <p:cNvSpPr/>
            <p:nvPr/>
          </p:nvSpPr>
          <p:spPr>
            <a:xfrm flipH="false" flipV="false" rot="0">
              <a:off x="0" y="0"/>
              <a:ext cx="6819446" cy="6856847"/>
            </a:xfrm>
            <a:custGeom>
              <a:avLst/>
              <a:gdLst/>
              <a:ahLst/>
              <a:cxnLst/>
              <a:rect r="r" b="b" t="t" l="l"/>
              <a:pathLst>
                <a:path h="6856847" w="6819446">
                  <a:moveTo>
                    <a:pt x="0" y="0"/>
                  </a:moveTo>
                  <a:lnTo>
                    <a:pt x="6819446" y="0"/>
                  </a:lnTo>
                  <a:lnTo>
                    <a:pt x="6819446" y="6856847"/>
                  </a:lnTo>
                  <a:lnTo>
                    <a:pt x="0" y="68568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776098" y="1991407"/>
              <a:ext cx="3267251" cy="5581154"/>
            </a:xfrm>
            <a:custGeom>
              <a:avLst/>
              <a:gdLst/>
              <a:ahLst/>
              <a:cxnLst/>
              <a:rect r="r" b="b" t="t" l="l"/>
              <a:pathLst>
                <a:path h="5581154" w="3267251">
                  <a:moveTo>
                    <a:pt x="0" y="5581154"/>
                  </a:moveTo>
                  <a:lnTo>
                    <a:pt x="3267251" y="5581154"/>
                  </a:lnTo>
                  <a:lnTo>
                    <a:pt x="3267251" y="0"/>
                  </a:lnTo>
                  <a:lnTo>
                    <a:pt x="0" y="0"/>
                  </a:lnTo>
                  <a:lnTo>
                    <a:pt x="0" y="558115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474250" y="2308489"/>
              <a:ext cx="3879273" cy="1911423"/>
            </a:xfrm>
            <a:custGeom>
              <a:avLst/>
              <a:gdLst/>
              <a:ahLst/>
              <a:cxnLst/>
              <a:rect r="r" b="b" t="t" l="l"/>
              <a:pathLst>
                <a:path h="1911423" w="3879273">
                  <a:moveTo>
                    <a:pt x="0" y="0"/>
                  </a:moveTo>
                  <a:lnTo>
                    <a:pt x="3879273" y="0"/>
                  </a:lnTo>
                  <a:lnTo>
                    <a:pt x="3879273" y="1911424"/>
                  </a:lnTo>
                  <a:lnTo>
                    <a:pt x="0" y="19114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6" id="6"/>
          <p:cNvSpPr/>
          <p:nvPr/>
        </p:nvSpPr>
        <p:spPr>
          <a:xfrm flipH="true" flipV="false" rot="0">
            <a:off x="-1808388" y="292931"/>
            <a:ext cx="3616776" cy="7883980"/>
          </a:xfrm>
          <a:custGeom>
            <a:avLst/>
            <a:gdLst/>
            <a:ahLst/>
            <a:cxnLst/>
            <a:rect r="r" b="b" t="t" l="l"/>
            <a:pathLst>
              <a:path h="7883980" w="3616776">
                <a:moveTo>
                  <a:pt x="3616776" y="0"/>
                </a:moveTo>
                <a:lnTo>
                  <a:pt x="0" y="0"/>
                </a:lnTo>
                <a:lnTo>
                  <a:pt x="0" y="7883979"/>
                </a:lnTo>
                <a:lnTo>
                  <a:pt x="3616776" y="7883979"/>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238518" y="-371475"/>
            <a:ext cx="17049482" cy="2501899"/>
          </a:xfrm>
          <a:prstGeom prst="rect">
            <a:avLst/>
          </a:prstGeom>
        </p:spPr>
        <p:txBody>
          <a:bodyPr anchor="t" rtlCol="false" tIns="0" lIns="0" bIns="0" rIns="0">
            <a:spAutoFit/>
          </a:bodyPr>
          <a:lstStyle/>
          <a:p>
            <a:pPr algn="ctr">
              <a:lnSpc>
                <a:spcPts val="19600"/>
              </a:lnSpc>
            </a:pPr>
            <a:r>
              <a:rPr lang="en-US" sz="14000">
                <a:solidFill>
                  <a:srgbClr val="726151"/>
                </a:solidFill>
                <a:latin typeface="Angella White"/>
                <a:ea typeface="Angella White"/>
                <a:cs typeface="Angella White"/>
                <a:sym typeface="Angella White"/>
              </a:rPr>
              <a:t>Work place rule for happy life</a:t>
            </a:r>
          </a:p>
        </p:txBody>
      </p:sp>
      <p:sp>
        <p:nvSpPr>
          <p:cNvPr name="TextBox 8" id="8"/>
          <p:cNvSpPr txBox="true"/>
          <p:nvPr/>
        </p:nvSpPr>
        <p:spPr>
          <a:xfrm rot="0">
            <a:off x="3563528" y="3266694"/>
            <a:ext cx="12399461" cy="4194175"/>
          </a:xfrm>
          <a:prstGeom prst="rect">
            <a:avLst/>
          </a:prstGeom>
        </p:spPr>
        <p:txBody>
          <a:bodyPr anchor="t" rtlCol="false" tIns="0" lIns="0" bIns="0" rIns="0">
            <a:spAutoFit/>
          </a:bodyPr>
          <a:lstStyle/>
          <a:p>
            <a:pPr algn="l">
              <a:lnSpc>
                <a:spcPts val="5599"/>
              </a:lnSpc>
            </a:pPr>
            <a:r>
              <a:rPr lang="en-US" sz="3999">
                <a:solidFill>
                  <a:srgbClr val="726151"/>
                </a:solidFill>
                <a:latin typeface="Kulachat Serif"/>
                <a:ea typeface="Kulachat Serif"/>
                <a:cs typeface="Kulachat Serif"/>
                <a:sym typeface="Kulachat Serif"/>
              </a:rPr>
              <a:t>🔅Wold mental health day 2017 was observed with "Mental health in the workplace" as the central theme.</a:t>
            </a:r>
          </a:p>
          <a:p>
            <a:pPr algn="l">
              <a:lnSpc>
                <a:spcPts val="5599"/>
              </a:lnSpc>
            </a:pPr>
          </a:p>
          <a:p>
            <a:pPr algn="l">
              <a:lnSpc>
                <a:spcPts val="5599"/>
              </a:lnSpc>
            </a:pPr>
            <a:r>
              <a:rPr lang="en-US" sz="3999">
                <a:solidFill>
                  <a:srgbClr val="726151"/>
                </a:solidFill>
                <a:latin typeface="Kulachat Serif"/>
                <a:ea typeface="Kulachat Serif"/>
                <a:cs typeface="Kulachat Serif"/>
                <a:sym typeface="Kulachat Serif"/>
              </a:rPr>
              <a:t>🔅 The overall objective was to raise an awareness  on mental health issues and mobilize efforts in support of better mental health</a:t>
            </a:r>
          </a:p>
        </p:txBody>
      </p:sp>
      <p:sp>
        <p:nvSpPr>
          <p:cNvPr name="TextBox 9" id="9"/>
          <p:cNvSpPr txBox="true"/>
          <p:nvPr/>
        </p:nvSpPr>
        <p:spPr>
          <a:xfrm rot="0">
            <a:off x="2000906" y="8110235"/>
            <a:ext cx="12912411" cy="1780540"/>
          </a:xfrm>
          <a:prstGeom prst="rect">
            <a:avLst/>
          </a:prstGeom>
        </p:spPr>
        <p:txBody>
          <a:bodyPr anchor="t" rtlCol="false" tIns="0" lIns="0" bIns="0" rIns="0">
            <a:spAutoFit/>
          </a:bodyPr>
          <a:lstStyle/>
          <a:p>
            <a:pPr algn="ctr">
              <a:lnSpc>
                <a:spcPts val="4759"/>
              </a:lnSpc>
            </a:pPr>
            <a:r>
              <a:rPr lang="en-US" sz="3399">
                <a:solidFill>
                  <a:srgbClr val="726151"/>
                </a:solidFill>
                <a:latin typeface="Canva Sans"/>
                <a:ea typeface="Canva Sans"/>
                <a:cs typeface="Canva Sans"/>
                <a:sym typeface="Canva Sans"/>
              </a:rPr>
              <a:t>▫️Trust no one but respect everyone</a:t>
            </a:r>
          </a:p>
          <a:p>
            <a:pPr algn="ctr">
              <a:lnSpc>
                <a:spcPts val="4759"/>
              </a:lnSpc>
            </a:pPr>
          </a:p>
          <a:p>
            <a:pPr algn="ctr">
              <a:lnSpc>
                <a:spcPts val="4759"/>
              </a:lnSpc>
            </a:pPr>
            <a:r>
              <a:rPr lang="en-US" sz="3399">
                <a:solidFill>
                  <a:srgbClr val="726151"/>
                </a:solidFill>
                <a:latin typeface="Canva Sans"/>
                <a:ea typeface="Canva Sans"/>
                <a:cs typeface="Canva Sans"/>
                <a:sym typeface="Canva Sans"/>
              </a:rPr>
              <a:t>▫️Never carry office gossips back home</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887987" y="-881362"/>
            <a:ext cx="20063974" cy="10830560"/>
          </a:xfrm>
          <a:prstGeom prst="rect">
            <a:avLst/>
          </a:prstGeom>
        </p:spPr>
        <p:txBody>
          <a:bodyPr anchor="t" rtlCol="false" tIns="0" lIns="0" bIns="0" rIns="0">
            <a:spAutoFit/>
          </a:bodyPr>
          <a:lstStyle/>
          <a:p>
            <a:pPr algn="ctr">
              <a:lnSpc>
                <a:spcPts val="5740"/>
              </a:lnSpc>
            </a:pPr>
          </a:p>
          <a:p>
            <a:pPr algn="ctr">
              <a:lnSpc>
                <a:spcPts val="5740"/>
              </a:lnSpc>
            </a:pPr>
          </a:p>
          <a:p>
            <a:pPr algn="ctr">
              <a:lnSpc>
                <a:spcPts val="5740"/>
              </a:lnSpc>
            </a:pPr>
            <a:r>
              <a:rPr lang="en-US" sz="4100">
                <a:solidFill>
                  <a:srgbClr val="000000"/>
                </a:solidFill>
                <a:latin typeface="Canva Sans"/>
                <a:ea typeface="Canva Sans"/>
                <a:cs typeface="Canva Sans"/>
                <a:sym typeface="Canva Sans"/>
              </a:rPr>
              <a:t>▫️ Enter office on time and leave on time</a:t>
            </a:r>
          </a:p>
          <a:p>
            <a:pPr algn="ctr">
              <a:lnSpc>
                <a:spcPts val="5740"/>
              </a:lnSpc>
            </a:pPr>
          </a:p>
          <a:p>
            <a:pPr algn="ctr">
              <a:lnSpc>
                <a:spcPts val="5740"/>
              </a:lnSpc>
            </a:pPr>
            <a:r>
              <a:rPr lang="en-US" sz="4100">
                <a:solidFill>
                  <a:srgbClr val="000000"/>
                </a:solidFill>
                <a:latin typeface="Canva Sans"/>
                <a:ea typeface="Canva Sans"/>
                <a:cs typeface="Canva Sans"/>
                <a:sym typeface="Canva Sans"/>
              </a:rPr>
              <a:t>▫️ Never make relationships at workplace</a:t>
            </a:r>
          </a:p>
          <a:p>
            <a:pPr algn="ctr">
              <a:lnSpc>
                <a:spcPts val="5740"/>
              </a:lnSpc>
            </a:pPr>
          </a:p>
          <a:p>
            <a:pPr algn="ctr">
              <a:lnSpc>
                <a:spcPts val="5740"/>
              </a:lnSpc>
            </a:pPr>
            <a:r>
              <a:rPr lang="en-US" sz="4100">
                <a:solidFill>
                  <a:srgbClr val="000000"/>
                </a:solidFill>
                <a:latin typeface="Canva Sans"/>
                <a:ea typeface="Canva Sans"/>
                <a:cs typeface="Canva Sans"/>
                <a:sym typeface="Canva Sans"/>
              </a:rPr>
              <a:t>▫️Never  rush for your position</a:t>
            </a:r>
          </a:p>
          <a:p>
            <a:pPr algn="ctr">
              <a:lnSpc>
                <a:spcPts val="5740"/>
              </a:lnSpc>
            </a:pPr>
          </a:p>
          <a:p>
            <a:pPr algn="ctr">
              <a:lnSpc>
                <a:spcPts val="5740"/>
              </a:lnSpc>
            </a:pPr>
            <a:r>
              <a:rPr lang="en-US" sz="4100">
                <a:solidFill>
                  <a:srgbClr val="000000"/>
                </a:solidFill>
                <a:latin typeface="Canva Sans"/>
                <a:ea typeface="Canva Sans"/>
                <a:cs typeface="Canva Sans"/>
                <a:sym typeface="Canva Sans"/>
              </a:rPr>
              <a:t>▫️Never  run behind office stuff</a:t>
            </a:r>
          </a:p>
          <a:p>
            <a:pPr algn="ctr">
              <a:lnSpc>
                <a:spcPts val="5740"/>
              </a:lnSpc>
            </a:pPr>
          </a:p>
          <a:p>
            <a:pPr algn="ctr">
              <a:lnSpc>
                <a:spcPts val="5740"/>
              </a:lnSpc>
            </a:pPr>
            <a:r>
              <a:rPr lang="en-US" sz="4100">
                <a:solidFill>
                  <a:srgbClr val="000000"/>
                </a:solidFill>
                <a:latin typeface="Canva Sans"/>
                <a:ea typeface="Canva Sans"/>
                <a:cs typeface="Canva Sans"/>
                <a:sym typeface="Canva Sans"/>
              </a:rPr>
              <a:t>▫️ Avoid taking everything on your ego</a:t>
            </a:r>
          </a:p>
          <a:p>
            <a:pPr algn="ctr">
              <a:lnSpc>
                <a:spcPts val="5740"/>
              </a:lnSpc>
            </a:pPr>
          </a:p>
          <a:p>
            <a:pPr algn="ctr">
              <a:lnSpc>
                <a:spcPts val="5740"/>
              </a:lnSpc>
            </a:pPr>
            <a:r>
              <a:rPr lang="en-US" sz="4100">
                <a:solidFill>
                  <a:srgbClr val="000000"/>
                </a:solidFill>
                <a:latin typeface="Canva Sans"/>
                <a:ea typeface="Canva Sans"/>
                <a:cs typeface="Canva Sans"/>
                <a:sym typeface="Canva Sans"/>
              </a:rPr>
              <a:t>▫️ Does not matter how people treat you</a:t>
            </a:r>
          </a:p>
          <a:p>
            <a:pPr algn="ctr">
              <a:lnSpc>
                <a:spcPts val="5740"/>
              </a:lnSpc>
            </a:pPr>
          </a:p>
          <a:p>
            <a:pPr algn="ctr">
              <a:lnSpc>
                <a:spcPts val="5740"/>
              </a:lnSpc>
            </a:pPr>
            <a:r>
              <a:rPr lang="en-US" sz="4100">
                <a:solidFill>
                  <a:srgbClr val="000000"/>
                </a:solidFill>
                <a:latin typeface="Canva Sans"/>
                <a:ea typeface="Canva Sans"/>
                <a:cs typeface="Canva Sans"/>
                <a:sym typeface="Canva Sans"/>
              </a:rPr>
              <a:t>▫️Nothing  matters except family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true" flipV="false" rot="-1279815">
            <a:off x="812809" y="6086337"/>
            <a:ext cx="3616776" cy="7883980"/>
          </a:xfrm>
          <a:custGeom>
            <a:avLst/>
            <a:gdLst/>
            <a:ahLst/>
            <a:cxnLst/>
            <a:rect r="r" b="b" t="t" l="l"/>
            <a:pathLst>
              <a:path h="7883980" w="3616776">
                <a:moveTo>
                  <a:pt x="3616776" y="0"/>
                </a:moveTo>
                <a:lnTo>
                  <a:pt x="0" y="0"/>
                </a:lnTo>
                <a:lnTo>
                  <a:pt x="0" y="7883979"/>
                </a:lnTo>
                <a:lnTo>
                  <a:pt x="3616776" y="7883979"/>
                </a:lnTo>
                <a:lnTo>
                  <a:pt x="3616776"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12330" y="-1906791"/>
            <a:ext cx="6493940" cy="6529555"/>
          </a:xfrm>
          <a:custGeom>
            <a:avLst/>
            <a:gdLst/>
            <a:ahLst/>
            <a:cxnLst/>
            <a:rect r="r" b="b" t="t" l="l"/>
            <a:pathLst>
              <a:path h="6529555" w="6493940">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68370">
            <a:off x="14061058" y="203995"/>
            <a:ext cx="2689927" cy="1649410"/>
          </a:xfrm>
          <a:custGeom>
            <a:avLst/>
            <a:gdLst/>
            <a:ahLst/>
            <a:cxnLst/>
            <a:rect r="r" b="b" t="t" l="l"/>
            <a:pathLst>
              <a:path h="1649410" w="2689927">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74740" t="0" r="0" b="0"/>
            </a:stretch>
          </a:blipFill>
        </p:spPr>
      </p:sp>
      <p:sp>
        <p:nvSpPr>
          <p:cNvPr name="Freeform 5" id="5"/>
          <p:cNvSpPr/>
          <p:nvPr/>
        </p:nvSpPr>
        <p:spPr>
          <a:xfrm flipH="false" flipV="true" rot="8309932">
            <a:off x="16034081" y="-1586945"/>
            <a:ext cx="2450438" cy="4185866"/>
          </a:xfrm>
          <a:custGeom>
            <a:avLst/>
            <a:gdLst/>
            <a:ahLst/>
            <a:cxnLst/>
            <a:rect r="r" b="b" t="t" l="l"/>
            <a:pathLst>
              <a:path h="4185866" w="2450438">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625822" y="655041"/>
            <a:ext cx="17036356" cy="1224915"/>
          </a:xfrm>
          <a:prstGeom prst="rect">
            <a:avLst/>
          </a:prstGeom>
        </p:spPr>
        <p:txBody>
          <a:bodyPr anchor="t" rtlCol="false" tIns="0" lIns="0" bIns="0" rIns="0">
            <a:spAutoFit/>
          </a:bodyPr>
          <a:lstStyle/>
          <a:p>
            <a:pPr algn="ctr">
              <a:lnSpc>
                <a:spcPts val="9660"/>
              </a:lnSpc>
            </a:pPr>
            <a:r>
              <a:rPr lang="en-US" sz="6900" u="sng">
                <a:solidFill>
                  <a:srgbClr val="000000"/>
                </a:solidFill>
                <a:latin typeface="Angella White"/>
                <a:ea typeface="Angella White"/>
                <a:cs typeface="Angella White"/>
                <a:sym typeface="Angella White"/>
              </a:rPr>
              <a:t>SURVIVAL STRATEGIES</a:t>
            </a:r>
          </a:p>
        </p:txBody>
      </p:sp>
      <p:sp>
        <p:nvSpPr>
          <p:cNvPr name="TextBox 7" id="7"/>
          <p:cNvSpPr txBox="true"/>
          <p:nvPr/>
        </p:nvSpPr>
        <p:spPr>
          <a:xfrm rot="0">
            <a:off x="1807901" y="3232872"/>
            <a:ext cx="14672197" cy="4836160"/>
          </a:xfrm>
          <a:prstGeom prst="rect">
            <a:avLst/>
          </a:prstGeom>
        </p:spPr>
        <p:txBody>
          <a:bodyPr anchor="t" rtlCol="false" tIns="0" lIns="0" bIns="0" rIns="0">
            <a:spAutoFit/>
          </a:bodyPr>
          <a:lstStyle/>
          <a:p>
            <a:pPr algn="ctr">
              <a:lnSpc>
                <a:spcPts val="6439"/>
              </a:lnSpc>
            </a:pPr>
            <a:r>
              <a:rPr lang="en-US" sz="4599">
                <a:solidFill>
                  <a:srgbClr val="726151"/>
                </a:solidFill>
                <a:latin typeface="Kulachat Serif"/>
                <a:ea typeface="Kulachat Serif"/>
                <a:cs typeface="Kulachat Serif"/>
                <a:sym typeface="Kulachat Serif"/>
              </a:rPr>
              <a:t>Survival strategies are specific stress responses which include specific adaptive and maladaptive, biological, psychological and social constituents. They form four complimentary pairs-rescue and attachment, assertiveness and adaptation, fight and flight and competition and cooperation. </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673401" y="150178"/>
            <a:ext cx="14166424" cy="1592580"/>
          </a:xfrm>
          <a:prstGeom prst="rect">
            <a:avLst/>
          </a:prstGeom>
        </p:spPr>
        <p:txBody>
          <a:bodyPr anchor="t" rtlCol="false" tIns="0" lIns="0" bIns="0" rIns="0">
            <a:spAutoFit/>
          </a:bodyPr>
          <a:lstStyle/>
          <a:p>
            <a:pPr algn="ctr">
              <a:lnSpc>
                <a:spcPts val="13019"/>
              </a:lnSpc>
            </a:pPr>
            <a:r>
              <a:rPr lang="en-US" sz="9300">
                <a:solidFill>
                  <a:srgbClr val="000000"/>
                </a:solidFill>
                <a:latin typeface="Kulachat Serif"/>
                <a:ea typeface="Kulachat Serif"/>
                <a:cs typeface="Kulachat Serif"/>
                <a:sym typeface="Kulachat Serif"/>
              </a:rPr>
              <a:t>Time management </a:t>
            </a:r>
          </a:p>
        </p:txBody>
      </p:sp>
      <p:sp>
        <p:nvSpPr>
          <p:cNvPr name="TextBox 3" id="3"/>
          <p:cNvSpPr txBox="true"/>
          <p:nvPr/>
        </p:nvSpPr>
        <p:spPr>
          <a:xfrm rot="0">
            <a:off x="198686" y="2419667"/>
            <a:ext cx="17890629" cy="53809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Time isn't the main thing. It's the only thing." - *Miles Davis* </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'It is not enough to be busy... The questions is: what are we busy about?"</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-Henry David Thoreau</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'Lack of direction, not lack of time, is the problem. We all have twenty-four hour days."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-ZigZiglar</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12627" y="1001622"/>
            <a:ext cx="17275373" cy="8207556"/>
          </a:xfrm>
          <a:prstGeom prst="rect">
            <a:avLst/>
          </a:prstGeom>
        </p:spPr>
        <p:txBody>
          <a:bodyPr anchor="t" rtlCol="false" tIns="0" lIns="0" bIns="0" rIns="0">
            <a:spAutoFit/>
          </a:bodyPr>
          <a:lstStyle/>
          <a:p>
            <a:pPr algn="ctr">
              <a:lnSpc>
                <a:spcPts val="5939"/>
              </a:lnSpc>
            </a:pPr>
            <a:r>
              <a:rPr lang="en-US" sz="4242">
                <a:solidFill>
                  <a:srgbClr val="000000"/>
                </a:solidFill>
                <a:latin typeface="Canva Sans"/>
                <a:ea typeface="Canva Sans"/>
                <a:cs typeface="Canva Sans"/>
                <a:sym typeface="Canva Sans"/>
              </a:rPr>
              <a:t> Time management refers to the allocation of available time among specific activities based on certain priorities while giving preference to individual likes and dislikes.</a:t>
            </a:r>
          </a:p>
          <a:p>
            <a:pPr algn="ctr">
              <a:lnSpc>
                <a:spcPts val="5939"/>
              </a:lnSpc>
            </a:pPr>
          </a:p>
          <a:p>
            <a:pPr algn="ctr">
              <a:lnSpc>
                <a:spcPts val="5939"/>
              </a:lnSpc>
            </a:pPr>
            <a:r>
              <a:rPr lang="en-US" sz="4242">
                <a:solidFill>
                  <a:srgbClr val="000000"/>
                </a:solidFill>
                <a:latin typeface="Canva Sans"/>
                <a:ea typeface="Canva Sans"/>
                <a:cs typeface="Canva Sans"/>
                <a:sym typeface="Canva Sans"/>
              </a:rPr>
              <a:t>    It is an important soft skill that can be applied in almost every job and almost for everybody.</a:t>
            </a:r>
          </a:p>
          <a:p>
            <a:pPr algn="ctr">
              <a:lnSpc>
                <a:spcPts val="5939"/>
              </a:lnSpc>
            </a:pPr>
          </a:p>
          <a:p>
            <a:pPr algn="ctr">
              <a:lnSpc>
                <a:spcPts val="5939"/>
              </a:lnSpc>
            </a:pPr>
            <a:r>
              <a:rPr lang="en-US" sz="4242">
                <a:solidFill>
                  <a:srgbClr val="000000"/>
                </a:solidFill>
                <a:latin typeface="Canva Sans"/>
                <a:ea typeface="Canva Sans"/>
                <a:cs typeface="Canva Sans"/>
                <a:sym typeface="Canva Sans"/>
              </a:rPr>
              <a:t> Good time management allows one to work smarter if not harder.</a:t>
            </a:r>
          </a:p>
          <a:p>
            <a:pPr algn="ctr">
              <a:lnSpc>
                <a:spcPts val="5939"/>
              </a:lnSpc>
            </a:pPr>
          </a:p>
          <a:p>
            <a:pPr algn="ctr">
              <a:lnSpc>
                <a:spcPts val="5939"/>
              </a:lnSpc>
            </a:pPr>
            <a:r>
              <a:rPr lang="en-US" sz="4242">
                <a:solidFill>
                  <a:srgbClr val="000000"/>
                </a:solidFill>
                <a:latin typeface="Canva Sans"/>
                <a:ea typeface="Canva Sans"/>
                <a:cs typeface="Canva Sans"/>
                <a:sym typeface="Canva Sans"/>
              </a:rPr>
              <a:t> It gets the individual to do more in less time and enhances the ability to function effectively even under time pressures.</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277309" y="141605"/>
            <a:ext cx="15050750"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Kulachat Serif Bold"/>
                <a:ea typeface="Kulachat Serif Bold"/>
                <a:cs typeface="Kulachat Serif Bold"/>
                <a:sym typeface="Kulachat Serif Bold"/>
              </a:rPr>
              <a:t>Some of the important benefits of time management</a:t>
            </a:r>
          </a:p>
        </p:txBody>
      </p:sp>
      <p:sp>
        <p:nvSpPr>
          <p:cNvPr name="TextBox 3" id="3"/>
          <p:cNvSpPr txBox="true"/>
          <p:nvPr/>
        </p:nvSpPr>
        <p:spPr>
          <a:xfrm rot="0">
            <a:off x="176569" y="2677160"/>
            <a:ext cx="17151489" cy="658114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 Makes the individual more    organized and confident</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•Creates more opportunities for advancement in profession and reaching life goals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•Improves professional reputation</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•Results in greater productivity and efficiency by cutting on poor work flow</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•Reduces stress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•Allows greater control over job responsibilities.</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564612" y="16510"/>
            <a:ext cx="11158776" cy="1012190"/>
          </a:xfrm>
          <a:prstGeom prst="rect">
            <a:avLst/>
          </a:prstGeom>
        </p:spPr>
        <p:txBody>
          <a:bodyPr anchor="t" rtlCol="false" tIns="0" lIns="0" bIns="0" rIns="0">
            <a:spAutoFit/>
          </a:bodyPr>
          <a:lstStyle/>
          <a:p>
            <a:pPr algn="ctr">
              <a:lnSpc>
                <a:spcPts val="8260"/>
              </a:lnSpc>
            </a:pPr>
            <a:r>
              <a:rPr lang="en-US" sz="5900">
                <a:solidFill>
                  <a:srgbClr val="000000"/>
                </a:solidFill>
                <a:latin typeface="Kulachat Serif"/>
                <a:ea typeface="Kulachat Serif"/>
                <a:cs typeface="Kulachat Serif"/>
                <a:sym typeface="Kulachat Serif"/>
              </a:rPr>
              <a:t>BUILDING TIME MANAGEMENT SKILL</a:t>
            </a:r>
          </a:p>
        </p:txBody>
      </p:sp>
      <p:sp>
        <p:nvSpPr>
          <p:cNvPr name="TextBox 3" id="3"/>
          <p:cNvSpPr txBox="true"/>
          <p:nvPr/>
        </p:nvSpPr>
        <p:spPr>
          <a:xfrm rot="0">
            <a:off x="2601393" y="1397774"/>
            <a:ext cx="13970503" cy="8719542"/>
          </a:xfrm>
          <a:prstGeom prst="rect">
            <a:avLst/>
          </a:prstGeom>
        </p:spPr>
        <p:txBody>
          <a:bodyPr anchor="t" rtlCol="false" tIns="0" lIns="0" bIns="0" rIns="0">
            <a:spAutoFit/>
          </a:bodyPr>
          <a:lstStyle/>
          <a:p>
            <a:pPr algn="ctr">
              <a:lnSpc>
                <a:spcPts val="4333"/>
              </a:lnSpc>
            </a:pPr>
            <a:r>
              <a:rPr lang="en-US" sz="3095">
                <a:solidFill>
                  <a:srgbClr val="000000"/>
                </a:solidFill>
                <a:latin typeface="Canva Sans"/>
                <a:ea typeface="Canva Sans"/>
                <a:cs typeface="Canva Sans"/>
                <a:sym typeface="Canva Sans"/>
              </a:rPr>
              <a:t>Mastering time management skills requires dedicated effort and practice. </a:t>
            </a:r>
          </a:p>
          <a:p>
            <a:pPr algn="ctr">
              <a:lnSpc>
                <a:spcPts val="4333"/>
              </a:lnSpc>
            </a:pPr>
          </a:p>
          <a:p>
            <a:pPr algn="ctr">
              <a:lnSpc>
                <a:spcPts val="4333"/>
              </a:lnSpc>
            </a:pPr>
            <a:r>
              <a:rPr lang="en-US" sz="3095">
                <a:solidFill>
                  <a:srgbClr val="000000"/>
                </a:solidFill>
                <a:latin typeface="Canva Sans"/>
                <a:ea typeface="Canva Sans"/>
                <a:cs typeface="Canva Sans"/>
                <a:sym typeface="Canva Sans"/>
              </a:rPr>
              <a:t>A few tips for Improving time management skills are as under:</a:t>
            </a:r>
          </a:p>
          <a:p>
            <a:pPr algn="ctr">
              <a:lnSpc>
                <a:spcPts val="4333"/>
              </a:lnSpc>
            </a:pPr>
          </a:p>
          <a:p>
            <a:pPr algn="ctr">
              <a:lnSpc>
                <a:spcPts val="4333"/>
              </a:lnSpc>
            </a:pPr>
          </a:p>
          <a:p>
            <a:pPr algn="ctr">
              <a:lnSpc>
                <a:spcPts val="4333"/>
              </a:lnSpc>
            </a:pPr>
            <a:r>
              <a:rPr lang="en-US" sz="3095">
                <a:solidFill>
                  <a:srgbClr val="000000"/>
                </a:solidFill>
                <a:latin typeface="Canva Sans"/>
                <a:ea typeface="Canva Sans"/>
                <a:cs typeface="Canva Sans"/>
                <a:sym typeface="Canva Sans"/>
              </a:rPr>
              <a:t>•Prepare a time table for the routine</a:t>
            </a:r>
          </a:p>
          <a:p>
            <a:pPr algn="ctr">
              <a:lnSpc>
                <a:spcPts val="4333"/>
              </a:lnSpc>
            </a:pPr>
          </a:p>
          <a:p>
            <a:pPr algn="ctr">
              <a:lnSpc>
                <a:spcPts val="4333"/>
              </a:lnSpc>
            </a:pPr>
            <a:r>
              <a:rPr lang="en-US" sz="3095">
                <a:solidFill>
                  <a:srgbClr val="000000"/>
                </a:solidFill>
                <a:latin typeface="Canva Sans"/>
                <a:ea typeface="Canva Sans"/>
                <a:cs typeface="Canva Sans"/>
                <a:sym typeface="Canva Sans"/>
              </a:rPr>
              <a:t>•Start early in the day</a:t>
            </a:r>
          </a:p>
          <a:p>
            <a:pPr algn="ctr">
              <a:lnSpc>
                <a:spcPts val="4333"/>
              </a:lnSpc>
            </a:pPr>
          </a:p>
          <a:p>
            <a:pPr algn="ctr">
              <a:lnSpc>
                <a:spcPts val="4333"/>
              </a:lnSpc>
            </a:pPr>
            <a:r>
              <a:rPr lang="en-US" sz="3095">
                <a:solidFill>
                  <a:srgbClr val="000000"/>
                </a:solidFill>
                <a:latin typeface="Canva Sans"/>
                <a:ea typeface="Canva Sans"/>
                <a:cs typeface="Canva Sans"/>
                <a:sym typeface="Canva Sans"/>
              </a:rPr>
              <a:t>•Set goals for each study session</a:t>
            </a:r>
          </a:p>
          <a:p>
            <a:pPr algn="ctr">
              <a:lnSpc>
                <a:spcPts val="4333"/>
              </a:lnSpc>
            </a:pPr>
          </a:p>
          <a:p>
            <a:pPr algn="ctr">
              <a:lnSpc>
                <a:spcPts val="4333"/>
              </a:lnSpc>
            </a:pPr>
            <a:r>
              <a:rPr lang="en-US" sz="3095">
                <a:solidFill>
                  <a:srgbClr val="000000"/>
                </a:solidFill>
                <a:latin typeface="Canva Sans"/>
                <a:ea typeface="Canva Sans"/>
                <a:cs typeface="Canva Sans"/>
                <a:sym typeface="Canva Sans"/>
              </a:rPr>
              <a:t>9•Start working on assignments early</a:t>
            </a:r>
          </a:p>
          <a:p>
            <a:pPr algn="ctr">
              <a:lnSpc>
                <a:spcPts val="4333"/>
              </a:lnSpc>
            </a:pPr>
          </a:p>
          <a:p>
            <a:pPr algn="ctr">
              <a:lnSpc>
                <a:spcPts val="4333"/>
              </a:lnSpc>
            </a:pPr>
            <a:r>
              <a:rPr lang="en-US" sz="3095">
                <a:solidFill>
                  <a:srgbClr val="000000"/>
                </a:solidFill>
                <a:latin typeface="Canva Sans"/>
                <a:ea typeface="Canva Sans"/>
                <a:cs typeface="Canva Sans"/>
                <a:sym typeface="Canva Sans"/>
              </a:rPr>
              <a:t>•Learn to differentiate between urgent and important</a:t>
            </a:r>
          </a:p>
          <a:p>
            <a:pPr algn="ctr">
              <a:lnSpc>
                <a:spcPts val="4333"/>
              </a:lnSpc>
            </a:pPr>
          </a:p>
          <a:p>
            <a:pPr algn="ctr">
              <a:lnSpc>
                <a:spcPts val="4333"/>
              </a:lnSpc>
            </a:pP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412353" y="-530837"/>
            <a:ext cx="14804961" cy="10781374"/>
          </a:xfrm>
          <a:prstGeom prst="rect">
            <a:avLst/>
          </a:prstGeom>
        </p:spPr>
        <p:txBody>
          <a:bodyPr anchor="t" rtlCol="false" tIns="0" lIns="0" bIns="0" rIns="0">
            <a:spAutoFit/>
          </a:bodyPr>
          <a:lstStyle/>
          <a:p>
            <a:pPr algn="ctr">
              <a:lnSpc>
                <a:spcPts val="4776"/>
              </a:lnSpc>
            </a:pPr>
            <a:r>
              <a:rPr lang="en-US" sz="3411">
                <a:solidFill>
                  <a:srgbClr val="000000"/>
                </a:solidFill>
                <a:latin typeface="Canva Sans"/>
                <a:ea typeface="Canva Sans"/>
                <a:cs typeface="Canva Sans"/>
                <a:sym typeface="Canva Sans"/>
              </a:rPr>
              <a:t>•Do not over commit</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•Develop routines</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•Work on one thing at a time</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•Take short breaks during study hours</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•Eliminate or minimize distractions</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•Get adequate sleep</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•Allow time for the unexpected</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•Keep a track of learning</a:t>
            </a:r>
          </a:p>
          <a:p>
            <a:pPr algn="ctr">
              <a:lnSpc>
                <a:spcPts val="4776"/>
              </a:lnSpc>
            </a:pPr>
          </a:p>
          <a:p>
            <a:pPr algn="ctr">
              <a:lnSpc>
                <a:spcPts val="4776"/>
              </a:lnSpc>
            </a:pPr>
            <a:r>
              <a:rPr lang="en-US" sz="3411">
                <a:solidFill>
                  <a:srgbClr val="000000"/>
                </a:solidFill>
                <a:latin typeface="Canva Sans"/>
                <a:ea typeface="Canva Sans"/>
                <a:cs typeface="Canva Sans"/>
                <a:sym typeface="Canva Sans"/>
              </a:rPr>
              <a:t>• Set reasonable time for each goal</a:t>
            </a:r>
          </a:p>
          <a:p>
            <a:pPr algn="ctr">
              <a:lnSpc>
                <a:spcPts val="4776"/>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537270" y="1764347"/>
            <a:ext cx="13087689" cy="6487160"/>
          </a:xfrm>
          <a:prstGeom prst="rect">
            <a:avLst/>
          </a:prstGeom>
        </p:spPr>
        <p:txBody>
          <a:bodyPr anchor="t" rtlCol="false" tIns="0" lIns="0" bIns="0" rIns="0">
            <a:spAutoFit/>
          </a:bodyPr>
          <a:lstStyle/>
          <a:p>
            <a:pPr algn="ctr">
              <a:lnSpc>
                <a:spcPts val="5740"/>
              </a:lnSpc>
            </a:pPr>
            <a:r>
              <a:rPr lang="en-US" sz="4100">
                <a:solidFill>
                  <a:srgbClr val="726151"/>
                </a:solidFill>
                <a:latin typeface="Kulachat Serif"/>
                <a:ea typeface="Kulachat Serif"/>
                <a:cs typeface="Kulachat Serif"/>
                <a:sym typeface="Kulachat Serif"/>
              </a:rPr>
              <a:t>Stress is a universal phenomenon commonly experienced by most people. It is often defined as a state of emotional strain or tension resulting from adverse or demanding circumstances.</a:t>
            </a:r>
          </a:p>
          <a:p>
            <a:pPr algn="ctr">
              <a:lnSpc>
                <a:spcPts val="5740"/>
              </a:lnSpc>
            </a:pPr>
            <a:r>
              <a:rPr lang="en-US" sz="4100">
                <a:solidFill>
                  <a:srgbClr val="726151"/>
                </a:solidFill>
                <a:latin typeface="Kulachat Serif"/>
                <a:ea typeface="Kulachat Serif"/>
                <a:cs typeface="Kulachat Serif"/>
                <a:sym typeface="Kulachat Serif"/>
              </a:rPr>
              <a:t>Stress affects the whole person across all dimensions, viz., physical, emotional, intellectual, social and spiritual.</a:t>
            </a:r>
          </a:p>
          <a:p>
            <a:pPr algn="ctr">
              <a:lnSpc>
                <a:spcPts val="5740"/>
              </a:lnSpc>
            </a:pPr>
          </a:p>
          <a:p>
            <a:pPr algn="ctr">
              <a:lnSpc>
                <a:spcPts val="5740"/>
              </a:lnSpc>
            </a:pPr>
            <a:r>
              <a:rPr lang="en-US" sz="4100">
                <a:solidFill>
                  <a:srgbClr val="726151"/>
                </a:solidFill>
                <a:latin typeface="Kulachat Serif"/>
                <a:ea typeface="Kulachat Serif"/>
                <a:cs typeface="Kulachat Serif"/>
                <a:sym typeface="Kulachat Serif"/>
              </a:rPr>
              <a:t>It comprises of three components: a stressor, perception of the event and the response.</a:t>
            </a:r>
          </a:p>
        </p:txBody>
      </p:sp>
      <p:sp>
        <p:nvSpPr>
          <p:cNvPr name="TextBox 3" id="3"/>
          <p:cNvSpPr txBox="true"/>
          <p:nvPr/>
        </p:nvSpPr>
        <p:spPr>
          <a:xfrm rot="0">
            <a:off x="1232801" y="16828"/>
            <a:ext cx="16230600" cy="1823719"/>
          </a:xfrm>
          <a:prstGeom prst="rect">
            <a:avLst/>
          </a:prstGeom>
        </p:spPr>
        <p:txBody>
          <a:bodyPr anchor="t" rtlCol="false" tIns="0" lIns="0" bIns="0" rIns="0">
            <a:spAutoFit/>
          </a:bodyPr>
          <a:lstStyle/>
          <a:p>
            <a:pPr algn="ctr">
              <a:lnSpc>
                <a:spcPts val="14980"/>
              </a:lnSpc>
            </a:pPr>
            <a:r>
              <a:rPr lang="en-US" sz="10700">
                <a:solidFill>
                  <a:srgbClr val="726151"/>
                </a:solidFill>
                <a:latin typeface="Kulachat Serif"/>
                <a:ea typeface="Kulachat Serif"/>
                <a:cs typeface="Kulachat Serif"/>
                <a:sym typeface="Kulachat Serif"/>
              </a:rPr>
              <a:t>Coping with stress</a:t>
            </a:r>
          </a:p>
        </p:txBody>
      </p:sp>
      <p:sp>
        <p:nvSpPr>
          <p:cNvPr name="Freeform 4" id="4"/>
          <p:cNvSpPr/>
          <p:nvPr/>
        </p:nvSpPr>
        <p:spPr>
          <a:xfrm flipH="false" flipV="false" rot="-1279815">
            <a:off x="16479612" y="1697"/>
            <a:ext cx="3616776" cy="7883980"/>
          </a:xfrm>
          <a:custGeom>
            <a:avLst/>
            <a:gdLst/>
            <a:ahLst/>
            <a:cxnLst/>
            <a:rect r="r" b="b" t="t" l="l"/>
            <a:pathLst>
              <a:path h="7883980" w="3616776">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14169" y="6326281"/>
            <a:ext cx="6493940" cy="6529555"/>
          </a:xfrm>
          <a:custGeom>
            <a:avLst/>
            <a:gdLst/>
            <a:ahLst/>
            <a:cxnLst/>
            <a:rect r="r" b="b" t="t" l="l"/>
            <a:pathLst>
              <a:path h="6529555" w="6493940">
                <a:moveTo>
                  <a:pt x="0" y="0"/>
                </a:moveTo>
                <a:lnTo>
                  <a:pt x="6493939" y="0"/>
                </a:lnTo>
                <a:lnTo>
                  <a:pt x="6493939"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368370">
            <a:off x="-636901" y="4079291"/>
            <a:ext cx="2689927" cy="1649410"/>
          </a:xfrm>
          <a:custGeom>
            <a:avLst/>
            <a:gdLst/>
            <a:ahLst/>
            <a:cxnLst/>
            <a:rect r="r" b="b" t="t" l="l"/>
            <a:pathLst>
              <a:path h="1649410" w="2689927">
                <a:moveTo>
                  <a:pt x="0" y="0"/>
                </a:moveTo>
                <a:lnTo>
                  <a:pt x="2689928" y="0"/>
                </a:lnTo>
                <a:lnTo>
                  <a:pt x="2689928"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74740" t="0" r="0" b="0"/>
            </a:stretch>
          </a:blipFill>
        </p:spPr>
      </p:sp>
      <p:sp>
        <p:nvSpPr>
          <p:cNvPr name="Freeform 7" id="7"/>
          <p:cNvSpPr/>
          <p:nvPr/>
        </p:nvSpPr>
        <p:spPr>
          <a:xfrm flipH="false" flipV="true" rot="8309932">
            <a:off x="7582" y="6646127"/>
            <a:ext cx="2450438" cy="4185866"/>
          </a:xfrm>
          <a:custGeom>
            <a:avLst/>
            <a:gdLst/>
            <a:ahLst/>
            <a:cxnLst/>
            <a:rect r="r" b="b" t="t" l="l"/>
            <a:pathLst>
              <a:path h="4185866" w="2450438">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0" y="1519555"/>
            <a:ext cx="18288000" cy="7181215"/>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STRESSOR</a:t>
            </a:r>
          </a:p>
          <a:p>
            <a:pPr algn="l">
              <a:lnSpc>
                <a:spcPts val="4759"/>
              </a:lnSpc>
            </a:pPr>
            <a:r>
              <a:rPr lang="en-US" sz="3399">
                <a:solidFill>
                  <a:srgbClr val="000000"/>
                </a:solidFill>
                <a:latin typeface="Canva Sans"/>
                <a:ea typeface="Canva Sans"/>
                <a:cs typeface="Canva Sans"/>
                <a:sym typeface="Canva Sans"/>
              </a:rPr>
              <a:t>Stressor is the life change or extra demand which is the root of the problem. </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PE</a:t>
            </a:r>
            <a:r>
              <a:rPr lang="en-US" sz="3399" b="true">
                <a:solidFill>
                  <a:srgbClr val="000000"/>
                </a:solidFill>
                <a:latin typeface="Canva Sans Bold"/>
                <a:ea typeface="Canva Sans Bold"/>
                <a:cs typeface="Canva Sans Bold"/>
                <a:sym typeface="Canva Sans Bold"/>
              </a:rPr>
              <a:t>RCEPTION OF THE EVENT</a:t>
            </a:r>
          </a:p>
          <a:p>
            <a:pPr algn="l">
              <a:lnSpc>
                <a:spcPts val="4759"/>
              </a:lnSpc>
            </a:pPr>
            <a:r>
              <a:rPr lang="en-US" sz="3399">
                <a:solidFill>
                  <a:srgbClr val="000000"/>
                </a:solidFill>
                <a:latin typeface="Canva Sans"/>
                <a:ea typeface="Canva Sans"/>
                <a:cs typeface="Canva Sans"/>
                <a:sym typeface="Canva Sans"/>
              </a:rPr>
              <a:t>How an individual views the stressor and relates himself or herself to it is referred to as the perception of the event.</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RESPONSE</a:t>
            </a:r>
          </a:p>
          <a:p>
            <a:pPr algn="l">
              <a:lnSpc>
                <a:spcPts val="4759"/>
              </a:lnSpc>
            </a:pPr>
            <a:r>
              <a:rPr lang="en-US" sz="3399">
                <a:solidFill>
                  <a:srgbClr val="000000"/>
                </a:solidFill>
                <a:latin typeface="Canva Sans"/>
                <a:ea typeface="Canva Sans"/>
                <a:cs typeface="Canva Sans"/>
                <a:sym typeface="Canva Sans"/>
              </a:rPr>
              <a:t>Response is the way the body, behavior and thinking patterns change.</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COPING</a:t>
            </a:r>
          </a:p>
          <a:p>
            <a:pPr algn="l">
              <a:lnSpc>
                <a:spcPts val="4759"/>
              </a:lnSpc>
            </a:pPr>
            <a:r>
              <a:rPr lang="en-US" sz="3399">
                <a:solidFill>
                  <a:srgbClr val="000000"/>
                </a:solidFill>
                <a:latin typeface="Canva Sans"/>
                <a:ea typeface="Canva Sans"/>
                <a:cs typeface="Canva Sans"/>
                <a:sym typeface="Canva Sans"/>
              </a:rPr>
              <a:t>Coping includes efforts to control, reduce or tolerate the threats caused due to stress.</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50044" y="403225"/>
            <a:ext cx="17987912" cy="9883775"/>
          </a:xfrm>
          <a:prstGeom prst="rect">
            <a:avLst/>
          </a:prstGeom>
        </p:spPr>
        <p:txBody>
          <a:bodyPr anchor="t" rtlCol="false" tIns="0" lIns="0" bIns="0" rIns="0">
            <a:spAutoFit/>
          </a:bodyPr>
          <a:lstStyle/>
          <a:p>
            <a:pPr algn="ctr">
              <a:lnSpc>
                <a:spcPts val="4900"/>
              </a:lnSpc>
            </a:pPr>
          </a:p>
          <a:p>
            <a:pPr algn="ctr">
              <a:lnSpc>
                <a:spcPts val="4900"/>
              </a:lnSpc>
            </a:pPr>
          </a:p>
          <a:p>
            <a:pPr algn="ctr">
              <a:lnSpc>
                <a:spcPts val="4900"/>
              </a:lnSpc>
            </a:pPr>
            <a:r>
              <a:rPr lang="en-US" sz="3500">
                <a:solidFill>
                  <a:srgbClr val="000000"/>
                </a:solidFill>
                <a:latin typeface="Canva Sans"/>
                <a:ea typeface="Canva Sans"/>
                <a:cs typeface="Canva Sans"/>
                <a:sym typeface="Canva Sans"/>
              </a:rPr>
              <a:t>It involve taking care of oneself and staying as healthy as possible.</a:t>
            </a:r>
          </a:p>
          <a:p>
            <a:pPr algn="ctr">
              <a:lnSpc>
                <a:spcPts val="4900"/>
              </a:lnSpc>
            </a:pPr>
          </a:p>
          <a:p>
            <a:pPr algn="ctr">
              <a:lnSpc>
                <a:spcPts val="4900"/>
              </a:lnSpc>
            </a:pPr>
            <a:r>
              <a:rPr lang="en-US" sz="3500">
                <a:solidFill>
                  <a:srgbClr val="000000"/>
                </a:solidFill>
                <a:latin typeface="Canva Sans"/>
                <a:ea typeface="Canva Sans"/>
                <a:cs typeface="Canva Sans"/>
                <a:sym typeface="Canva Sans"/>
              </a:rPr>
              <a:t>♦️Physical activities like walking, aerobic exercises, climbing stairs, cycling, gardening, swimming, house work, etc., reduce stress, improve mood and energy levels.</a:t>
            </a:r>
          </a:p>
          <a:p>
            <a:pPr algn="ctr">
              <a:lnSpc>
                <a:spcPts val="4900"/>
              </a:lnSpc>
            </a:pPr>
            <a:r>
              <a:rPr lang="en-US" sz="3500">
                <a:solidFill>
                  <a:srgbClr val="000000"/>
                </a:solidFill>
                <a:latin typeface="Canva Sans"/>
                <a:ea typeface="Canva Sans"/>
                <a:cs typeface="Canva Sans"/>
                <a:sym typeface="Canva Sans"/>
              </a:rPr>
              <a:t>♦️Yoga and stretching: Even daily sessions of yoga and slow stretching in durations as small as 5-10 minutes can promote relaxation and reduce stress.</a:t>
            </a:r>
          </a:p>
          <a:p>
            <a:pPr algn="ctr">
              <a:lnSpc>
                <a:spcPts val="4900"/>
              </a:lnSpc>
            </a:pPr>
            <a:r>
              <a:rPr lang="en-US" sz="3500">
                <a:solidFill>
                  <a:srgbClr val="000000"/>
                </a:solidFill>
                <a:latin typeface="Canva Sans"/>
                <a:ea typeface="Canva Sans"/>
                <a:cs typeface="Canva Sans"/>
                <a:sym typeface="Canva Sans"/>
              </a:rPr>
              <a:t>♦️Diet rich in vegetables, fruits, whole grains, low fat dairy, lean meat, limited salt, sugar and saturated fats intake acts as a stress reducing agent.</a:t>
            </a:r>
          </a:p>
          <a:p>
            <a:pPr algn="ctr">
              <a:lnSpc>
                <a:spcPts val="4900"/>
              </a:lnSpc>
            </a:pPr>
            <a:r>
              <a:rPr lang="en-US" sz="3500">
                <a:solidFill>
                  <a:srgbClr val="000000"/>
                </a:solidFill>
                <a:latin typeface="Canva Sans"/>
                <a:ea typeface="Canva Sans"/>
                <a:cs typeface="Canva Sans"/>
                <a:sym typeface="Canva Sans"/>
              </a:rPr>
              <a:t>♦️Adequate rest and sleep regulates the mood and helps the individual to cope with stressful situations.</a:t>
            </a:r>
          </a:p>
          <a:p>
            <a:pPr algn="ctr">
              <a:lnSpc>
                <a:spcPts val="4900"/>
              </a:lnSpc>
            </a:pPr>
            <a:r>
              <a:rPr lang="en-US" sz="3500">
                <a:solidFill>
                  <a:srgbClr val="000000"/>
                </a:solidFill>
                <a:latin typeface="Canva Sans"/>
                <a:ea typeface="Canva Sans"/>
                <a:cs typeface="Canva Sans"/>
                <a:sym typeface="Canva Sans"/>
              </a:rPr>
              <a:t>♦️Relaxation techniques such as deep breathing exercises, progressive muscle relaxation, guided imagery meditation, mindful meditation, etc., slow breathing and heart rate, lower blood pressure and balance both the body and the mind.</a:t>
            </a:r>
          </a:p>
        </p:txBody>
      </p:sp>
      <p:sp>
        <p:nvSpPr>
          <p:cNvPr name="TextBox 3" id="3"/>
          <p:cNvSpPr txBox="true"/>
          <p:nvPr/>
        </p:nvSpPr>
        <p:spPr>
          <a:xfrm rot="0">
            <a:off x="3254896" y="-152400"/>
            <a:ext cx="13225141" cy="3263623"/>
          </a:xfrm>
          <a:prstGeom prst="rect">
            <a:avLst/>
          </a:prstGeom>
        </p:spPr>
        <p:txBody>
          <a:bodyPr anchor="t" rtlCol="false" tIns="0" lIns="0" bIns="0" rIns="0">
            <a:spAutoFit/>
          </a:bodyPr>
          <a:lstStyle/>
          <a:p>
            <a:pPr algn="ctr">
              <a:lnSpc>
                <a:spcPts val="11487"/>
              </a:lnSpc>
            </a:pPr>
            <a:r>
              <a:rPr lang="en-US" b="true" sz="8205">
                <a:solidFill>
                  <a:srgbClr val="000000"/>
                </a:solidFill>
                <a:latin typeface="Canva Sans Bold"/>
                <a:ea typeface="Canva Sans Bold"/>
                <a:cs typeface="Canva Sans Bold"/>
                <a:sym typeface="Canva Sans Bold"/>
              </a:rPr>
              <a:t>PHYSICAL/BEHAVIOURAL</a:t>
            </a:r>
          </a:p>
          <a:p>
            <a:pPr algn="ctr">
              <a:lnSpc>
                <a:spcPts val="15022"/>
              </a:lnSpc>
            </a:pP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472005" y="1207533"/>
            <a:ext cx="18288000" cy="10494010"/>
          </a:xfrm>
          <a:prstGeom prst="rect">
            <a:avLst/>
          </a:prstGeom>
        </p:spPr>
        <p:txBody>
          <a:bodyPr anchor="t" rtlCol="false" tIns="0" lIns="0" bIns="0" rIns="0">
            <a:spAutoFit/>
          </a:bodyPr>
          <a:lstStyle/>
          <a:p>
            <a:pPr algn="ctr">
              <a:lnSpc>
                <a:spcPts val="6439"/>
              </a:lnSpc>
            </a:pPr>
          </a:p>
          <a:p>
            <a:pPr algn="ctr">
              <a:lnSpc>
                <a:spcPts val="6439"/>
              </a:lnSpc>
            </a:pPr>
            <a:r>
              <a:rPr lang="en-US" sz="4599">
                <a:solidFill>
                  <a:srgbClr val="000000"/>
                </a:solidFill>
                <a:latin typeface="Canva Sans"/>
                <a:ea typeface="Canva Sans"/>
                <a:cs typeface="Canva Sans"/>
                <a:sym typeface="Canva Sans"/>
              </a:rPr>
              <a:t>IT </a:t>
            </a:r>
            <a:r>
              <a:rPr lang="en-US" sz="4599">
                <a:solidFill>
                  <a:srgbClr val="000000"/>
                </a:solidFill>
                <a:latin typeface="Canva Sans"/>
                <a:ea typeface="Canva Sans"/>
                <a:cs typeface="Canva Sans"/>
                <a:sym typeface="Canva Sans"/>
              </a:rPr>
              <a:t>involve using thoughts and the mind constructively to counteract negative effects of Stress.</a:t>
            </a:r>
          </a:p>
          <a:p>
            <a:pPr algn="ctr">
              <a:lnSpc>
                <a:spcPts val="6439"/>
              </a:lnSpc>
            </a:pPr>
            <a:r>
              <a:rPr lang="en-US" sz="4599">
                <a:solidFill>
                  <a:srgbClr val="000000"/>
                </a:solidFill>
                <a:latin typeface="Canva Sans"/>
                <a:ea typeface="Canva Sans"/>
                <a:cs typeface="Canva Sans"/>
                <a:sym typeface="Canva Sans"/>
              </a:rPr>
              <a:t>♦️Problem solving: These techniques help to choose the best alternative and also manage stress.</a:t>
            </a:r>
          </a:p>
          <a:p>
            <a:pPr algn="ctr">
              <a:lnSpc>
                <a:spcPts val="6439"/>
              </a:lnSpc>
            </a:pPr>
            <a:r>
              <a:rPr lang="en-US" sz="4599">
                <a:solidFill>
                  <a:srgbClr val="000000"/>
                </a:solidFill>
                <a:latin typeface="Canva Sans"/>
                <a:ea typeface="Canva Sans"/>
                <a:cs typeface="Canva Sans"/>
                <a:sym typeface="Canva Sans"/>
              </a:rPr>
              <a:t>♦️Sometimes interpretation of a stressor can magnify its impact and make it feel more stressful than it really is.</a:t>
            </a:r>
          </a:p>
          <a:p>
            <a:pPr algn="ctr">
              <a:lnSpc>
                <a:spcPts val="6439"/>
              </a:lnSpc>
            </a:pPr>
            <a:r>
              <a:rPr lang="en-US" sz="4599">
                <a:solidFill>
                  <a:srgbClr val="000000"/>
                </a:solidFill>
                <a:latin typeface="Canva Sans"/>
                <a:ea typeface="Canva Sans"/>
                <a:cs typeface="Canva Sans"/>
                <a:sym typeface="Canva Sans"/>
              </a:rPr>
              <a:t>♦️Effective time management allows individuals to maintain work-life balance, enhance sense of control, invest time on right things, better organize things, and improve efficiency. All these contribute to reducing stress precipitating factors.</a:t>
            </a:r>
          </a:p>
          <a:p>
            <a:pPr algn="ctr">
              <a:lnSpc>
                <a:spcPts val="6439"/>
              </a:lnSpc>
            </a:pPr>
          </a:p>
          <a:p>
            <a:pPr algn="ctr">
              <a:lnSpc>
                <a:spcPts val="6439"/>
              </a:lnSpc>
            </a:pPr>
          </a:p>
        </p:txBody>
      </p:sp>
      <p:sp>
        <p:nvSpPr>
          <p:cNvPr name="TextBox 3" id="3"/>
          <p:cNvSpPr txBox="true"/>
          <p:nvPr/>
        </p:nvSpPr>
        <p:spPr>
          <a:xfrm rot="0">
            <a:off x="3748813" y="-223756"/>
            <a:ext cx="11734384" cy="1517014"/>
          </a:xfrm>
          <a:prstGeom prst="rect">
            <a:avLst/>
          </a:prstGeom>
        </p:spPr>
        <p:txBody>
          <a:bodyPr anchor="t" rtlCol="false" tIns="0" lIns="0" bIns="0" rIns="0">
            <a:spAutoFit/>
          </a:bodyPr>
          <a:lstStyle/>
          <a:p>
            <a:pPr algn="ctr">
              <a:lnSpc>
                <a:spcPts val="12460"/>
              </a:lnSpc>
            </a:pPr>
            <a:r>
              <a:rPr lang="en-US" b="true" sz="8900">
                <a:solidFill>
                  <a:srgbClr val="000000"/>
                </a:solidFill>
                <a:latin typeface="Canva Sans Bold"/>
                <a:ea typeface="Canva Sans Bold"/>
                <a:cs typeface="Canva Sans Bold"/>
                <a:sym typeface="Canva Sans Bold"/>
              </a:rPr>
              <a:t>COGNITIVE/MENTAL </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32091" y="1785922"/>
            <a:ext cx="17587292" cy="5902071"/>
          </a:xfrm>
          <a:prstGeom prst="rect">
            <a:avLst/>
          </a:prstGeom>
        </p:spPr>
        <p:txBody>
          <a:bodyPr anchor="t" rtlCol="false" tIns="0" lIns="0" bIns="0" rIns="0">
            <a:spAutoFit/>
          </a:bodyPr>
          <a:lstStyle/>
          <a:p>
            <a:pPr algn="ctr">
              <a:lnSpc>
                <a:spcPts val="6689"/>
              </a:lnSpc>
            </a:pPr>
            <a:r>
              <a:rPr lang="en-US" sz="4778">
                <a:solidFill>
                  <a:srgbClr val="000000"/>
                </a:solidFill>
                <a:latin typeface="Canva Sans"/>
                <a:ea typeface="Canva Sans"/>
                <a:cs typeface="Canva Sans"/>
                <a:sym typeface="Canva Sans"/>
              </a:rPr>
              <a:t>♦️Assertiveness is the ability to express one's feelings and declare one's rights while respecting the feelings and rights of others</a:t>
            </a:r>
          </a:p>
          <a:p>
            <a:pPr algn="ctr">
              <a:lnSpc>
                <a:spcPts val="6689"/>
              </a:lnSpc>
            </a:pPr>
            <a:r>
              <a:rPr lang="en-US" sz="4778">
                <a:solidFill>
                  <a:srgbClr val="000000"/>
                </a:solidFill>
                <a:latin typeface="Canva Sans"/>
                <a:ea typeface="Canva Sans"/>
                <a:cs typeface="Canva Sans"/>
                <a:sym typeface="Canva Sans"/>
              </a:rPr>
              <a:t>♦️Some activities that can effectively reduce stress by handling negative emotions are writing a diary, crying out, talking to a friend, participating in favorite activities, taking a hot bath or a cold shower.</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0" y="1742786"/>
            <a:ext cx="18288000" cy="8271510"/>
          </a:xfrm>
          <a:prstGeom prst="rect">
            <a:avLst/>
          </a:prstGeom>
        </p:spPr>
        <p:txBody>
          <a:bodyPr anchor="t" rtlCol="false" tIns="0" lIns="0" bIns="0" rIns="0">
            <a:spAutoFit/>
          </a:bodyPr>
          <a:lstStyle/>
          <a:p>
            <a:pPr algn="ctr">
              <a:lnSpc>
                <a:spcPts val="5040"/>
              </a:lnSpc>
            </a:pPr>
          </a:p>
          <a:p>
            <a:pPr algn="ctr">
              <a:lnSpc>
                <a:spcPts val="5040"/>
              </a:lnSpc>
            </a:pPr>
            <a:r>
              <a:rPr lang="en-US" sz="3600">
                <a:solidFill>
                  <a:srgbClr val="000000"/>
                </a:solidFill>
                <a:latin typeface="Canva Sans"/>
                <a:ea typeface="Canva Sans"/>
                <a:cs typeface="Canva Sans"/>
                <a:sym typeface="Canva Sans"/>
              </a:rPr>
              <a:t>It involve having social support networks, taking care of current relationships, exploring and developing personal interests.</a:t>
            </a:r>
          </a:p>
          <a:p>
            <a:pPr algn="ctr">
              <a:lnSpc>
                <a:spcPts val="5040"/>
              </a:lnSpc>
            </a:pPr>
            <a:r>
              <a:rPr lang="en-US" sz="3600">
                <a:solidFill>
                  <a:srgbClr val="000000"/>
                </a:solidFill>
                <a:latin typeface="Canva Sans"/>
                <a:ea typeface="Canva Sans"/>
                <a:cs typeface="Canva Sans"/>
                <a:sym typeface="Canva Sans"/>
              </a:rPr>
              <a:t>♦️Friends and family members can prevent triggering of stress by reaching out before the situation goes out of control.</a:t>
            </a:r>
          </a:p>
          <a:p>
            <a:pPr algn="ctr">
              <a:lnSpc>
                <a:spcPts val="5040"/>
              </a:lnSpc>
            </a:pPr>
            <a:r>
              <a:rPr lang="en-US" sz="3600">
                <a:solidFill>
                  <a:srgbClr val="000000"/>
                </a:solidFill>
                <a:latin typeface="Canva Sans"/>
                <a:ea typeface="Canva Sans"/>
                <a:cs typeface="Canva Sans"/>
                <a:sym typeface="Canva Sans"/>
              </a:rPr>
              <a:t>♦️Social support is often mutual; relationships are maintained by reviewing, planning and nurturing.</a:t>
            </a:r>
          </a:p>
          <a:p>
            <a:pPr algn="ctr">
              <a:lnSpc>
                <a:spcPts val="5040"/>
              </a:lnSpc>
            </a:pPr>
            <a:r>
              <a:rPr lang="en-US" sz="3600">
                <a:solidFill>
                  <a:srgbClr val="000000"/>
                </a:solidFill>
                <a:latin typeface="Canva Sans"/>
                <a:ea typeface="Canva Sans"/>
                <a:cs typeface="Canva Sans"/>
                <a:sym typeface="Canva Sans"/>
              </a:rPr>
              <a:t>♦️Develop hobbies and personal interests, enjoy nature and outing, go for a walk in a park, get away from routine life, relax when possible, love yourself by avoiding self-criticism, praise and support, be gentle and kind to yourself, take care of the body, connect with the inner self and volunteer for community activities. All these activities can be rewarding and satisfying resulting in control and reduction of stress.</a:t>
            </a:r>
          </a:p>
        </p:txBody>
      </p:sp>
      <p:sp>
        <p:nvSpPr>
          <p:cNvPr name="TextBox 3" id="3"/>
          <p:cNvSpPr txBox="true"/>
          <p:nvPr/>
        </p:nvSpPr>
        <p:spPr>
          <a:xfrm rot="0">
            <a:off x="2044700" y="15115"/>
            <a:ext cx="14844366" cy="2599902"/>
          </a:xfrm>
          <a:prstGeom prst="rect">
            <a:avLst/>
          </a:prstGeom>
        </p:spPr>
        <p:txBody>
          <a:bodyPr anchor="t" rtlCol="false" tIns="0" lIns="0" bIns="0" rIns="0">
            <a:spAutoFit/>
          </a:bodyPr>
          <a:lstStyle/>
          <a:p>
            <a:pPr algn="ctr">
              <a:lnSpc>
                <a:spcPts val="10425"/>
              </a:lnSpc>
            </a:pPr>
            <a:r>
              <a:rPr lang="en-US" b="true" sz="7446">
                <a:solidFill>
                  <a:srgbClr val="000000"/>
                </a:solidFill>
                <a:latin typeface="Canva Sans Bold"/>
                <a:ea typeface="Canva Sans Bold"/>
                <a:cs typeface="Canva Sans Bold"/>
                <a:sym typeface="Canva Sans Bold"/>
              </a:rPr>
              <a:t>PERSONAL/SOCIAL</a:t>
            </a:r>
          </a:p>
          <a:p>
            <a:pPr algn="ctr">
              <a:lnSpc>
                <a:spcPts val="10425"/>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true" flipV="false" rot="0">
            <a:off x="-779688" y="5143500"/>
            <a:ext cx="3616776" cy="7883980"/>
          </a:xfrm>
          <a:custGeom>
            <a:avLst/>
            <a:gdLst/>
            <a:ahLst/>
            <a:cxnLst/>
            <a:rect r="r" b="b" t="t" l="l"/>
            <a:pathLst>
              <a:path h="7883980" w="3616776">
                <a:moveTo>
                  <a:pt x="3616776" y="0"/>
                </a:moveTo>
                <a:lnTo>
                  <a:pt x="0" y="0"/>
                </a:lnTo>
                <a:lnTo>
                  <a:pt x="0" y="7883980"/>
                </a:lnTo>
                <a:lnTo>
                  <a:pt x="3616776" y="7883980"/>
                </a:lnTo>
                <a:lnTo>
                  <a:pt x="3616776"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039486" y="-1321993"/>
            <a:ext cx="5114585" cy="5142635"/>
          </a:xfrm>
          <a:custGeom>
            <a:avLst/>
            <a:gdLst/>
            <a:ahLst/>
            <a:cxnLst/>
            <a:rect r="r" b="b" t="t" l="l"/>
            <a:pathLst>
              <a:path h="5142635" w="5114585">
                <a:moveTo>
                  <a:pt x="0" y="0"/>
                </a:moveTo>
                <a:lnTo>
                  <a:pt x="5114585" y="0"/>
                </a:lnTo>
                <a:lnTo>
                  <a:pt x="5114585" y="5142635"/>
                </a:lnTo>
                <a:lnTo>
                  <a:pt x="0" y="5142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10800000">
            <a:off x="753760" y="-1555083"/>
            <a:ext cx="2450438" cy="4185866"/>
          </a:xfrm>
          <a:custGeom>
            <a:avLst/>
            <a:gdLst/>
            <a:ahLst/>
            <a:cxnLst/>
            <a:rect r="r" b="b" t="t" l="l"/>
            <a:pathLst>
              <a:path h="4185866" w="2450438">
                <a:moveTo>
                  <a:pt x="0" y="4185865"/>
                </a:moveTo>
                <a:lnTo>
                  <a:pt x="2450438" y="4185865"/>
                </a:lnTo>
                <a:lnTo>
                  <a:pt x="2450438" y="0"/>
                </a:lnTo>
                <a:lnTo>
                  <a:pt x="0" y="0"/>
                </a:lnTo>
                <a:lnTo>
                  <a:pt x="0" y="418586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9955212">
            <a:off x="3204198" y="532540"/>
            <a:ext cx="2909455" cy="1433568"/>
          </a:xfrm>
          <a:custGeom>
            <a:avLst/>
            <a:gdLst/>
            <a:ahLst/>
            <a:cxnLst/>
            <a:rect r="r" b="b" t="t" l="l"/>
            <a:pathLst>
              <a:path h="1433568" w="2909455">
                <a:moveTo>
                  <a:pt x="0" y="0"/>
                </a:moveTo>
                <a:lnTo>
                  <a:pt x="2909454" y="0"/>
                </a:lnTo>
                <a:lnTo>
                  <a:pt x="2909454" y="1433568"/>
                </a:lnTo>
                <a:lnTo>
                  <a:pt x="0" y="1433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5400000">
            <a:off x="13869895" y="6157860"/>
            <a:ext cx="6493940" cy="6529555"/>
          </a:xfrm>
          <a:custGeom>
            <a:avLst/>
            <a:gdLst/>
            <a:ahLst/>
            <a:cxnLst/>
            <a:rect r="r" b="b" t="t" l="l"/>
            <a:pathLst>
              <a:path h="6529555" w="6493940">
                <a:moveTo>
                  <a:pt x="0" y="0"/>
                </a:moveTo>
                <a:lnTo>
                  <a:pt x="6493939" y="0"/>
                </a:lnTo>
                <a:lnTo>
                  <a:pt x="6493939"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31629">
            <a:off x="14076378" y="6833542"/>
            <a:ext cx="4700392" cy="1649410"/>
          </a:xfrm>
          <a:custGeom>
            <a:avLst/>
            <a:gdLst/>
            <a:ahLst/>
            <a:cxnLst/>
            <a:rect r="r" b="b" t="t" l="l"/>
            <a:pathLst>
              <a:path h="1649410" w="4700392">
                <a:moveTo>
                  <a:pt x="0" y="0"/>
                </a:moveTo>
                <a:lnTo>
                  <a:pt x="4700392" y="0"/>
                </a:lnTo>
                <a:lnTo>
                  <a:pt x="4700392" y="1649411"/>
                </a:lnTo>
                <a:lnTo>
                  <a:pt x="0" y="16494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true" rot="2909932">
            <a:off x="16777063" y="7194684"/>
            <a:ext cx="2450438" cy="4185866"/>
          </a:xfrm>
          <a:custGeom>
            <a:avLst/>
            <a:gdLst/>
            <a:ahLst/>
            <a:cxnLst/>
            <a:rect r="r" b="b" t="t" l="l"/>
            <a:pathLst>
              <a:path h="4185866" w="2450438">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277720">
            <a:off x="16398988" y="-143677"/>
            <a:ext cx="3637262" cy="7928637"/>
          </a:xfrm>
          <a:custGeom>
            <a:avLst/>
            <a:gdLst/>
            <a:ahLst/>
            <a:cxnLst/>
            <a:rect r="r" b="b" t="t" l="l"/>
            <a:pathLst>
              <a:path h="7928637" w="3637262">
                <a:moveTo>
                  <a:pt x="0" y="0"/>
                </a:moveTo>
                <a:lnTo>
                  <a:pt x="3637262" y="0"/>
                </a:lnTo>
                <a:lnTo>
                  <a:pt x="3637262" y="7928637"/>
                </a:lnTo>
                <a:lnTo>
                  <a:pt x="0" y="7928637"/>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5693122" y="380327"/>
            <a:ext cx="7095887" cy="1566544"/>
          </a:xfrm>
          <a:prstGeom prst="rect">
            <a:avLst/>
          </a:prstGeom>
        </p:spPr>
        <p:txBody>
          <a:bodyPr anchor="t" rtlCol="false" tIns="0" lIns="0" bIns="0" rIns="0">
            <a:spAutoFit/>
          </a:bodyPr>
          <a:lstStyle/>
          <a:p>
            <a:pPr algn="ctr">
              <a:lnSpc>
                <a:spcPts val="12880"/>
              </a:lnSpc>
            </a:pPr>
            <a:r>
              <a:rPr lang="en-US" b="true" sz="9200">
                <a:solidFill>
                  <a:srgbClr val="000000"/>
                </a:solidFill>
                <a:latin typeface="Canva Sans Bold"/>
                <a:ea typeface="Canva Sans Bold"/>
                <a:cs typeface="Canva Sans Bold"/>
                <a:sym typeface="Canva Sans Bold"/>
              </a:rPr>
              <a:t>RESILIENCE </a:t>
            </a:r>
          </a:p>
        </p:txBody>
      </p:sp>
      <p:sp>
        <p:nvSpPr>
          <p:cNvPr name="TextBox 11" id="11"/>
          <p:cNvSpPr txBox="true"/>
          <p:nvPr/>
        </p:nvSpPr>
        <p:spPr>
          <a:xfrm rot="0">
            <a:off x="1950905" y="2231795"/>
            <a:ext cx="14580321" cy="658114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"Resilience is the process of adapting well in the face of adversity, trauma, tragedy, threats or even significant sources of stress."</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The American Psychological Association (2014)</a:t>
            </a:r>
          </a:p>
          <a:p>
            <a:pPr algn="ctr">
              <a:lnSpc>
                <a:spcPts val="4759"/>
              </a:lnSpc>
            </a:pPr>
            <a:r>
              <a:rPr lang="en-US" sz="3399">
                <a:solidFill>
                  <a:srgbClr val="000000"/>
                </a:solidFill>
                <a:latin typeface="Canva Sans"/>
                <a:ea typeface="Canva Sans"/>
                <a:cs typeface="Canva Sans"/>
                <a:sym typeface="Canva Sans"/>
              </a:rPr>
              <a:t>• Resilience though viewed as a   personality trait.it can be learnt and developed as a skill over a period of time</a:t>
            </a:r>
          </a:p>
          <a:p>
            <a:pPr algn="ctr">
              <a:lnSpc>
                <a:spcPts val="4759"/>
              </a:lnSpc>
            </a:pPr>
            <a:r>
              <a:rPr lang="en-US" sz="3399">
                <a:solidFill>
                  <a:srgbClr val="000000"/>
                </a:solidFill>
                <a:latin typeface="Canva Sans"/>
                <a:ea typeface="Canva Sans"/>
                <a:cs typeface="Canva Sans"/>
                <a:sym typeface="Canva Sans"/>
              </a:rPr>
              <a:t>- It doesn’t eliminate problems but it gave ability to see beyond them.  </a:t>
            </a:r>
          </a:p>
          <a:p>
            <a:pPr algn="ctr">
              <a:lnSpc>
                <a:spcPts val="4759"/>
              </a:lnSpc>
            </a:pPr>
            <a:r>
              <a:rPr lang="en-US" sz="3399">
                <a:solidFill>
                  <a:srgbClr val="000000"/>
                </a:solidFill>
                <a:latin typeface="Canva Sans"/>
                <a:ea typeface="Canva Sans"/>
                <a:cs typeface="Canva Sans"/>
                <a:sym typeface="Canva Sans"/>
              </a:rPr>
              <a:t>- It help to overcome mental health challenges like anxiety and depression.  </a:t>
            </a:r>
          </a:p>
          <a:p>
            <a:pPr algn="ctr">
              <a:lnSpc>
                <a:spcPts val="4759"/>
              </a:lnSpc>
            </a:pPr>
            <a:r>
              <a:rPr lang="en-US" sz="3399">
                <a:solidFill>
                  <a:srgbClr val="000000"/>
                </a:solidFill>
                <a:latin typeface="Canva Sans"/>
                <a:ea typeface="Canva Sans"/>
                <a:cs typeface="Canva Sans"/>
                <a:sym typeface="Canva Sans"/>
              </a:rPr>
              <a:t>- It enables both personal recovery and support for others in similar situations.</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340738" y="962025"/>
            <a:ext cx="20121123" cy="3580765"/>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FACTORS CONTRIBUTING TO RESILIENCE</a:t>
            </a:r>
          </a:p>
          <a:p>
            <a:pPr algn="l">
              <a:lnSpc>
                <a:spcPts val="4759"/>
              </a:lnSpc>
            </a:pPr>
          </a:p>
          <a:p>
            <a:pPr algn="l">
              <a:lnSpc>
                <a:spcPts val="4759"/>
              </a:lnSpc>
            </a:pPr>
            <a:r>
              <a:rPr lang="en-US" sz="3399">
                <a:solidFill>
                  <a:srgbClr val="000000"/>
                </a:solidFill>
                <a:latin typeface="Canva Sans"/>
                <a:ea typeface="Canva Sans"/>
                <a:cs typeface="Canva Sans"/>
                <a:sym typeface="Canva Sans"/>
              </a:rPr>
              <a:t> 1]</a:t>
            </a:r>
            <a:r>
              <a:rPr lang="en-US" sz="3399" b="true">
                <a:solidFill>
                  <a:srgbClr val="000000"/>
                </a:solidFill>
                <a:latin typeface="Canva Sans Bold"/>
                <a:ea typeface="Canva Sans Bold"/>
                <a:cs typeface="Canva Sans Bold"/>
                <a:sym typeface="Canva Sans Bold"/>
              </a:rPr>
              <a:t>Biological factors:</a:t>
            </a:r>
          </a:p>
          <a:p>
            <a:pPr algn="l">
              <a:lnSpc>
                <a:spcPts val="4759"/>
              </a:lnSpc>
            </a:pPr>
            <a:r>
              <a:rPr lang="en-US" sz="3399">
                <a:solidFill>
                  <a:srgbClr val="000000"/>
                </a:solidFill>
                <a:latin typeface="Canva Sans"/>
                <a:ea typeface="Canva Sans"/>
                <a:cs typeface="Canva Sans"/>
                <a:sym typeface="Canva Sans"/>
              </a:rPr>
              <a:t>•Good physical and mental health</a:t>
            </a:r>
          </a:p>
          <a:p>
            <a:pPr algn="l">
              <a:lnSpc>
                <a:spcPts val="4759"/>
              </a:lnSpc>
            </a:pPr>
            <a:r>
              <a:rPr lang="en-US" sz="3399">
                <a:solidFill>
                  <a:srgbClr val="000000"/>
                </a:solidFill>
                <a:latin typeface="Canva Sans"/>
                <a:ea typeface="Canva Sans"/>
                <a:cs typeface="Canva Sans"/>
                <a:sym typeface="Canva Sans"/>
              </a:rPr>
              <a:t>•Balanced diet</a:t>
            </a:r>
          </a:p>
          <a:p>
            <a:pPr algn="l">
              <a:lnSpc>
                <a:spcPts val="4759"/>
              </a:lnSpc>
            </a:pPr>
            <a:r>
              <a:rPr lang="en-US" sz="3399">
                <a:solidFill>
                  <a:srgbClr val="000000"/>
                </a:solidFill>
                <a:latin typeface="Canva Sans"/>
                <a:ea typeface="Canva Sans"/>
                <a:cs typeface="Canva Sans"/>
                <a:sym typeface="Canva Sans"/>
              </a:rPr>
              <a:t>•Healthy life style practices</a:t>
            </a:r>
          </a:p>
        </p:txBody>
      </p:sp>
      <p:sp>
        <p:nvSpPr>
          <p:cNvPr name="TextBox 3" id="3"/>
          <p:cNvSpPr txBox="true"/>
          <p:nvPr/>
        </p:nvSpPr>
        <p:spPr>
          <a:xfrm rot="0">
            <a:off x="1340738" y="5076825"/>
            <a:ext cx="10377488" cy="3580765"/>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2]</a:t>
            </a:r>
            <a:r>
              <a:rPr lang="en-US" sz="3399" b="true">
                <a:solidFill>
                  <a:srgbClr val="000000"/>
                </a:solidFill>
                <a:latin typeface="Canva Sans Bold"/>
                <a:ea typeface="Canva Sans Bold"/>
                <a:cs typeface="Canva Sans Bold"/>
                <a:sym typeface="Canva Sans Bold"/>
              </a:rPr>
              <a:t>Psychological Factors:</a:t>
            </a:r>
          </a:p>
          <a:p>
            <a:pPr algn="l">
              <a:lnSpc>
                <a:spcPts val="4759"/>
              </a:lnSpc>
            </a:pPr>
            <a:r>
              <a:rPr lang="en-US" sz="3399">
                <a:solidFill>
                  <a:srgbClr val="000000"/>
                </a:solidFill>
                <a:latin typeface="Canva Sans"/>
                <a:ea typeface="Canva Sans"/>
                <a:cs typeface="Canva Sans"/>
                <a:sym typeface="Canva Sans"/>
              </a:rPr>
              <a:t>- Setting and achieving realistic goals  </a:t>
            </a:r>
          </a:p>
          <a:p>
            <a:pPr algn="l">
              <a:lnSpc>
                <a:spcPts val="4759"/>
              </a:lnSpc>
            </a:pPr>
            <a:r>
              <a:rPr lang="en-US" sz="3399">
                <a:solidFill>
                  <a:srgbClr val="000000"/>
                </a:solidFill>
                <a:latin typeface="Canva Sans"/>
                <a:ea typeface="Canva Sans"/>
                <a:cs typeface="Canva Sans"/>
                <a:sym typeface="Canva Sans"/>
              </a:rPr>
              <a:t>- Confidence and high self-esteem  </a:t>
            </a:r>
          </a:p>
          <a:p>
            <a:pPr algn="l">
              <a:lnSpc>
                <a:spcPts val="4759"/>
              </a:lnSpc>
            </a:pPr>
            <a:r>
              <a:rPr lang="en-US" sz="3399">
                <a:solidFill>
                  <a:srgbClr val="000000"/>
                </a:solidFill>
                <a:latin typeface="Canva Sans"/>
                <a:ea typeface="Canva Sans"/>
                <a:cs typeface="Canva Sans"/>
                <a:sym typeface="Canva Sans"/>
              </a:rPr>
              <a:t>- optimistic outlook and ability to adapt to change</a:t>
            </a:r>
          </a:p>
          <a:p>
            <a:pPr algn="l">
              <a:lnSpc>
                <a:spcPts val="4759"/>
              </a:lnSpc>
            </a:pPr>
            <a:r>
              <a:rPr lang="en-US" sz="3399">
                <a:solidFill>
                  <a:srgbClr val="000000"/>
                </a:solidFill>
                <a:latin typeface="Canva Sans"/>
                <a:ea typeface="Canva Sans"/>
                <a:cs typeface="Canva Sans"/>
                <a:sym typeface="Canva Sans"/>
              </a:rPr>
              <a:t>- ⁠adequate problem solving skills</a:t>
            </a:r>
          </a:p>
          <a:p>
            <a:pPr algn="l">
              <a:lnSpc>
                <a:spcPts val="4759"/>
              </a:lnSpc>
            </a:pPr>
            <a:r>
              <a:rPr lang="en-US" sz="3399">
                <a:solidFill>
                  <a:srgbClr val="000000"/>
                </a:solidFill>
                <a:latin typeface="Canva Sans"/>
                <a:ea typeface="Canva Sans"/>
                <a:cs typeface="Canva Sans"/>
                <a:sym typeface="Canva Sans"/>
              </a:rPr>
              <a:t>- Learning from past experiences</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0" y="887839"/>
            <a:ext cx="15142071" cy="6891068"/>
          </a:xfrm>
          <a:prstGeom prst="rect">
            <a:avLst/>
          </a:prstGeom>
        </p:spPr>
        <p:txBody>
          <a:bodyPr anchor="t" rtlCol="false" tIns="0" lIns="0" bIns="0" rIns="0">
            <a:spAutoFit/>
          </a:bodyPr>
          <a:lstStyle/>
          <a:p>
            <a:pPr algn="l">
              <a:lnSpc>
                <a:spcPts val="5002"/>
              </a:lnSpc>
            </a:pPr>
            <a:r>
              <a:rPr lang="en-US" sz="3573">
                <a:solidFill>
                  <a:srgbClr val="000000"/>
                </a:solidFill>
                <a:latin typeface="Canva Sans"/>
                <a:ea typeface="Canva Sans"/>
                <a:cs typeface="Canva Sans"/>
                <a:sym typeface="Canva Sans"/>
              </a:rPr>
              <a:t>3]</a:t>
            </a:r>
            <a:r>
              <a:rPr lang="en-US" sz="3573" b="true">
                <a:solidFill>
                  <a:srgbClr val="000000"/>
                </a:solidFill>
                <a:latin typeface="Canva Sans Bold"/>
                <a:ea typeface="Canva Sans Bold"/>
                <a:cs typeface="Canva Sans Bold"/>
                <a:sym typeface="Canva Sans Bold"/>
              </a:rPr>
              <a:t>Social factors</a:t>
            </a:r>
          </a:p>
          <a:p>
            <a:pPr algn="l">
              <a:lnSpc>
                <a:spcPts val="5002"/>
              </a:lnSpc>
            </a:pPr>
            <a:r>
              <a:rPr lang="en-US" sz="3573">
                <a:solidFill>
                  <a:srgbClr val="000000"/>
                </a:solidFill>
                <a:latin typeface="Canva Sans"/>
                <a:ea typeface="Canva Sans"/>
                <a:cs typeface="Canva Sans"/>
                <a:sym typeface="Canva Sans"/>
              </a:rPr>
              <a:t>- Strong relationships within and outside the family</a:t>
            </a:r>
          </a:p>
          <a:p>
            <a:pPr algn="l">
              <a:lnSpc>
                <a:spcPts val="5002"/>
              </a:lnSpc>
            </a:pPr>
            <a:r>
              <a:rPr lang="en-US" sz="3573">
                <a:solidFill>
                  <a:srgbClr val="000000"/>
                </a:solidFill>
                <a:latin typeface="Canva Sans"/>
                <a:ea typeface="Canva Sans"/>
                <a:cs typeface="Canva Sans"/>
                <a:sym typeface="Canva Sans"/>
              </a:rPr>
              <a:t>- Access to community resources</a:t>
            </a:r>
          </a:p>
          <a:p>
            <a:pPr algn="l">
              <a:lnSpc>
                <a:spcPts val="5002"/>
              </a:lnSpc>
            </a:pPr>
            <a:r>
              <a:rPr lang="en-US" sz="3573">
                <a:solidFill>
                  <a:srgbClr val="000000"/>
                </a:solidFill>
                <a:latin typeface="Canva Sans"/>
                <a:ea typeface="Canva Sans"/>
                <a:cs typeface="Canva Sans"/>
                <a:sym typeface="Canva Sans"/>
              </a:rPr>
              <a:t>- Supportive government policies and programs</a:t>
            </a:r>
          </a:p>
          <a:p>
            <a:pPr algn="l">
              <a:lnSpc>
                <a:spcPts val="5002"/>
              </a:lnSpc>
            </a:pPr>
            <a:r>
              <a:rPr lang="en-US" sz="3573">
                <a:solidFill>
                  <a:srgbClr val="000000"/>
                </a:solidFill>
                <a:latin typeface="Canva Sans"/>
                <a:ea typeface="Canva Sans"/>
                <a:cs typeface="Canva Sans"/>
                <a:sym typeface="Canva Sans"/>
              </a:rPr>
              <a:t>- Role models and mentors</a:t>
            </a:r>
          </a:p>
          <a:p>
            <a:pPr algn="l">
              <a:lnSpc>
                <a:spcPts val="5002"/>
              </a:lnSpc>
            </a:pPr>
            <a:r>
              <a:rPr lang="en-US" sz="3573">
                <a:solidFill>
                  <a:srgbClr val="000000"/>
                </a:solidFill>
                <a:latin typeface="Canva Sans"/>
                <a:ea typeface="Canva Sans"/>
                <a:cs typeface="Canva Sans"/>
                <a:sym typeface="Canva Sans"/>
              </a:rPr>
              <a:t>4]</a:t>
            </a:r>
            <a:r>
              <a:rPr lang="en-US" sz="3573" b="true">
                <a:solidFill>
                  <a:srgbClr val="000000"/>
                </a:solidFill>
                <a:latin typeface="Canva Sans Bold"/>
                <a:ea typeface="Canva Sans Bold"/>
                <a:cs typeface="Canva Sans Bold"/>
                <a:sym typeface="Canva Sans Bold"/>
              </a:rPr>
              <a:t>Cultural factors</a:t>
            </a:r>
          </a:p>
          <a:p>
            <a:pPr algn="l">
              <a:lnSpc>
                <a:spcPts val="5002"/>
              </a:lnSpc>
            </a:pPr>
            <a:r>
              <a:rPr lang="en-US" sz="3573">
                <a:solidFill>
                  <a:srgbClr val="000000"/>
                </a:solidFill>
                <a:latin typeface="Canva Sans"/>
                <a:ea typeface="Canva Sans"/>
                <a:cs typeface="Canva Sans"/>
                <a:sym typeface="Canva Sans"/>
              </a:rPr>
              <a:t>Cultural factors help people handle tough situations.</a:t>
            </a:r>
          </a:p>
          <a:p>
            <a:pPr algn="l">
              <a:lnSpc>
                <a:spcPts val="5002"/>
              </a:lnSpc>
            </a:pPr>
            <a:r>
              <a:rPr lang="en-US" sz="3573">
                <a:solidFill>
                  <a:srgbClr val="000000"/>
                </a:solidFill>
                <a:latin typeface="Canva Sans"/>
                <a:ea typeface="Canva Sans"/>
                <a:cs typeface="Canva Sans"/>
                <a:sym typeface="Canva Sans"/>
              </a:rPr>
              <a:t>•Belief systems</a:t>
            </a:r>
          </a:p>
          <a:p>
            <a:pPr algn="l">
              <a:lnSpc>
                <a:spcPts val="5002"/>
              </a:lnSpc>
            </a:pPr>
            <a:r>
              <a:rPr lang="en-US" sz="3573">
                <a:solidFill>
                  <a:srgbClr val="000000"/>
                </a:solidFill>
                <a:latin typeface="Canva Sans"/>
                <a:ea typeface="Canva Sans"/>
                <a:cs typeface="Canva Sans"/>
                <a:sym typeface="Canva Sans"/>
              </a:rPr>
              <a:t>•Cultural practices</a:t>
            </a:r>
          </a:p>
          <a:p>
            <a:pPr algn="l">
              <a:lnSpc>
                <a:spcPts val="5002"/>
              </a:lnSpc>
            </a:pPr>
            <a:r>
              <a:rPr lang="en-US" sz="3573">
                <a:solidFill>
                  <a:srgbClr val="000000"/>
                </a:solidFill>
                <a:latin typeface="Canva Sans"/>
                <a:ea typeface="Canva Sans"/>
                <a:cs typeface="Canva Sans"/>
                <a:sym typeface="Canva Sans"/>
              </a:rPr>
              <a:t>•social class status</a:t>
            </a:r>
          </a:p>
          <a:p>
            <a:pPr algn="l">
              <a:lnSpc>
                <a:spcPts val="5002"/>
              </a:lnSpc>
            </a:pPr>
            <a:r>
              <a:rPr lang="en-US" sz="3573">
                <a:solidFill>
                  <a:srgbClr val="000000"/>
                </a:solidFill>
                <a:latin typeface="Canva Sans"/>
                <a:ea typeface="Canva Sans"/>
                <a:cs typeface="Canva Sans"/>
                <a:sym typeface="Canva Sans"/>
              </a:rPr>
              <a:t>•cultural background( tradition, values,language, customs and norms)</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972901" y="-133350"/>
            <a:ext cx="12342198" cy="1259840"/>
          </a:xfrm>
          <a:prstGeom prst="rect">
            <a:avLst/>
          </a:prstGeom>
        </p:spPr>
        <p:txBody>
          <a:bodyPr anchor="t" rtlCol="false" tIns="0" lIns="0" bIns="0" rIns="0">
            <a:spAutoFit/>
          </a:bodyPr>
          <a:lstStyle/>
          <a:p>
            <a:pPr algn="ctr">
              <a:lnSpc>
                <a:spcPts val="10360"/>
              </a:lnSpc>
            </a:pPr>
            <a:r>
              <a:rPr lang="en-US" sz="7400" b="true">
                <a:solidFill>
                  <a:srgbClr val="000000"/>
                </a:solidFill>
                <a:latin typeface="Canva Sans Bold"/>
                <a:ea typeface="Canva Sans Bold"/>
                <a:cs typeface="Canva Sans Bold"/>
                <a:sym typeface="Canva Sans Bold"/>
              </a:rPr>
              <a:t>Development of resilience </a:t>
            </a:r>
          </a:p>
        </p:txBody>
      </p:sp>
      <p:sp>
        <p:nvSpPr>
          <p:cNvPr name="TextBox 3" id="3"/>
          <p:cNvSpPr txBox="true"/>
          <p:nvPr/>
        </p:nvSpPr>
        <p:spPr>
          <a:xfrm rot="0">
            <a:off x="786348" y="1752014"/>
            <a:ext cx="17501652" cy="10440995"/>
          </a:xfrm>
          <a:prstGeom prst="rect">
            <a:avLst/>
          </a:prstGeom>
        </p:spPr>
        <p:txBody>
          <a:bodyPr anchor="t" rtlCol="false" tIns="0" lIns="0" bIns="0" rIns="0">
            <a:spAutoFit/>
          </a:bodyPr>
          <a:lstStyle/>
          <a:p>
            <a:pPr algn="l">
              <a:lnSpc>
                <a:spcPts val="4637"/>
              </a:lnSpc>
            </a:pPr>
          </a:p>
          <a:p>
            <a:pPr algn="l">
              <a:lnSpc>
                <a:spcPts val="4637"/>
              </a:lnSpc>
            </a:pPr>
            <a:r>
              <a:rPr lang="en-US" sz="3312">
                <a:solidFill>
                  <a:srgbClr val="000000"/>
                </a:solidFill>
                <a:latin typeface="Canva Sans"/>
                <a:ea typeface="Canva Sans"/>
                <a:cs typeface="Canva Sans"/>
                <a:sym typeface="Canva Sans"/>
              </a:rPr>
              <a:t>•Build a Perception:See obstacles as challenges to overcome, not barriers to stop you</a:t>
            </a:r>
          </a:p>
          <a:p>
            <a:pPr algn="l">
              <a:lnSpc>
                <a:spcPts val="4637"/>
              </a:lnSpc>
            </a:pPr>
            <a:r>
              <a:rPr lang="en-US" sz="3312">
                <a:solidFill>
                  <a:srgbClr val="000000"/>
                </a:solidFill>
                <a:latin typeface="Canva Sans"/>
                <a:ea typeface="Canva Sans"/>
                <a:cs typeface="Canva Sans"/>
                <a:sym typeface="Canva Sans"/>
              </a:rPr>
              <a:t>•Leverage Strengths: Know your strengths or seek help to identify them for guidance in tough times.  </a:t>
            </a:r>
          </a:p>
          <a:p>
            <a:pPr algn="l">
              <a:lnSpc>
                <a:spcPts val="4637"/>
              </a:lnSpc>
            </a:pPr>
            <a:r>
              <a:rPr lang="en-US" sz="3312">
                <a:solidFill>
                  <a:srgbClr val="000000"/>
                </a:solidFill>
                <a:latin typeface="Canva Sans"/>
                <a:ea typeface="Canva Sans"/>
                <a:cs typeface="Canva Sans"/>
                <a:sym typeface="Canva Sans"/>
              </a:rPr>
              <a:t>•Stay Positive:Believe in yourself and your abilities to overcome challenges</a:t>
            </a:r>
          </a:p>
          <a:p>
            <a:pPr algn="l">
              <a:lnSpc>
                <a:spcPts val="4637"/>
              </a:lnSpc>
            </a:pPr>
          </a:p>
          <a:p>
            <a:pPr algn="l">
              <a:lnSpc>
                <a:spcPts val="4637"/>
              </a:lnSpc>
            </a:pPr>
            <a:r>
              <a:rPr lang="en-US" sz="3312">
                <a:solidFill>
                  <a:srgbClr val="000000"/>
                </a:solidFill>
                <a:latin typeface="Canva Sans"/>
                <a:ea typeface="Canva Sans"/>
                <a:cs typeface="Canva Sans"/>
                <a:sym typeface="Canva Sans"/>
              </a:rPr>
              <a:t>•Stay connected :</a:t>
            </a:r>
          </a:p>
          <a:p>
            <a:pPr algn="l">
              <a:lnSpc>
                <a:spcPts val="4637"/>
              </a:lnSpc>
            </a:pPr>
            <a:r>
              <a:rPr lang="en-US" sz="3312">
                <a:solidFill>
                  <a:srgbClr val="000000"/>
                </a:solidFill>
                <a:latin typeface="Canva Sans"/>
                <a:ea typeface="Canva Sans"/>
                <a:cs typeface="Canva Sans"/>
                <a:sym typeface="Canva Sans"/>
              </a:rPr>
              <a:t>Building strong relationships which  gives you support and acceptance during both good and tough times.</a:t>
            </a:r>
          </a:p>
          <a:p>
            <a:pPr algn="l">
              <a:lnSpc>
                <a:spcPts val="4637"/>
              </a:lnSpc>
            </a:pPr>
          </a:p>
          <a:p>
            <a:pPr algn="l">
              <a:lnSpc>
                <a:spcPts val="4637"/>
              </a:lnSpc>
            </a:pPr>
            <a:r>
              <a:rPr lang="en-US" sz="3312">
                <a:solidFill>
                  <a:srgbClr val="000000"/>
                </a:solidFill>
                <a:latin typeface="Canva Sans"/>
                <a:ea typeface="Canva Sans"/>
                <a:cs typeface="Canva Sans"/>
                <a:sym typeface="Canva Sans"/>
              </a:rPr>
              <a:t>•Care for Self: Take care of your needs, enjoy activities, eat healthy, exercise, sleep well, and reduce stress.</a:t>
            </a:r>
          </a:p>
          <a:p>
            <a:pPr algn="l">
              <a:lnSpc>
                <a:spcPts val="4637"/>
              </a:lnSpc>
            </a:pPr>
          </a:p>
          <a:p>
            <a:pPr algn="l">
              <a:lnSpc>
                <a:spcPts val="4637"/>
              </a:lnSpc>
            </a:pPr>
          </a:p>
          <a:p>
            <a:pPr algn="l">
              <a:lnSpc>
                <a:spcPts val="4637"/>
              </a:lnSpc>
            </a:pPr>
          </a:p>
          <a:p>
            <a:pPr algn="l">
              <a:lnSpc>
                <a:spcPts val="4637"/>
              </a:lnSpc>
            </a:pPr>
          </a:p>
          <a:p>
            <a:pPr algn="l">
              <a:lnSpc>
                <a:spcPts val="4637"/>
              </a:lnSpc>
            </a:pPr>
          </a:p>
          <a:p>
            <a:pPr algn="l">
              <a:lnSpc>
                <a:spcPts val="4637"/>
              </a:lnSpc>
            </a:pP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20332" y="2822057"/>
            <a:ext cx="13489365" cy="1780540"/>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•Be Hopeful: Accept the past and stay positive about the future.  </a:t>
            </a:r>
          </a:p>
          <a:p>
            <a:pPr algn="l">
              <a:lnSpc>
                <a:spcPts val="4759"/>
              </a:lnSpc>
            </a:pPr>
          </a:p>
          <a:p>
            <a:pPr algn="l">
              <a:lnSpc>
                <a:spcPts val="4759"/>
              </a:lnSpc>
            </a:pPr>
            <a:r>
              <a:rPr lang="en-US" sz="3399">
                <a:solidFill>
                  <a:srgbClr val="000000"/>
                </a:solidFill>
                <a:latin typeface="Canva Sans"/>
                <a:ea typeface="Canva Sans"/>
                <a:cs typeface="Canva Sans"/>
                <a:sym typeface="Canva Sans"/>
              </a:rPr>
              <a:t>•Be Realistic:Set achievable goals and take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DAGeT8kd-R0</dc:identifier>
  <dcterms:modified xsi:type="dcterms:W3CDTF">2011-08-01T06:04:30Z</dcterms:modified>
  <cp:revision>1</cp:revision>
  <dc:title>Strategies to overcome barriers</dc:title>
</cp:coreProperties>
</file>