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embeddedFontLst>
    <p:embeddedFont>
      <p:font typeface="Overpass Light"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01"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30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58365"/>
            <a:ext cx="7556421" cy="3912870"/>
          </a:xfrm>
          <a:prstGeom prst="rect">
            <a:avLst/>
          </a:prstGeom>
          <a:noFill/>
          <a:ln/>
        </p:spPr>
        <p:txBody>
          <a:bodyPr wrap="square" lIns="0" tIns="0" rIns="0" bIns="0" rtlCol="0" anchor="t"/>
          <a:lstStyle/>
          <a:p>
            <a:pPr marL="0" indent="0">
              <a:lnSpc>
                <a:spcPts val="7700"/>
              </a:lnSpc>
              <a:buNone/>
            </a:pPr>
            <a:r>
              <a:rPr lang="en-US" sz="6150" b="1" dirty="0">
                <a:solidFill>
                  <a:srgbClr val="233939"/>
                </a:solidFill>
                <a:latin typeface="Syne Bold" pitchFamily="34" charset="0"/>
                <a:ea typeface="Syne Bold" pitchFamily="34" charset="-122"/>
                <a:cs typeface="Syne Bold" pitchFamily="34" charset="-120"/>
              </a:rPr>
              <a:t>MOTIVATION AND EMOTIONAL PROCESS</a:t>
            </a:r>
            <a:endParaRPr lang="en-US" sz="6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72220"/>
            <a:ext cx="5670590" cy="708779"/>
          </a:xfrm>
          <a:prstGeom prst="rect">
            <a:avLst/>
          </a:prstGeom>
          <a:noFill/>
          <a:ln/>
        </p:spPr>
        <p:txBody>
          <a:bodyPr wrap="none" lIns="0" tIns="0" rIns="0" bIns="0" rtlCol="0" anchor="t"/>
          <a:lstStyle/>
          <a:p>
            <a:pPr marL="0" indent="0">
              <a:lnSpc>
                <a:spcPts val="5550"/>
              </a:lnSpc>
              <a:buNone/>
            </a:pPr>
            <a:endParaRPr lang="en-US" sz="4450" dirty="0"/>
          </a:p>
        </p:txBody>
      </p:sp>
      <p:sp>
        <p:nvSpPr>
          <p:cNvPr id="4" name="Text 1"/>
          <p:cNvSpPr/>
          <p:nvPr/>
        </p:nvSpPr>
        <p:spPr>
          <a:xfrm>
            <a:off x="793790" y="2825234"/>
            <a:ext cx="3501509" cy="3628072"/>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A motive maybe considered as an energetic force or tendency working within the individual to compare or inspire him to act for the satisfaction of his basic needs or attainment of some specific purpose.</a:t>
            </a:r>
            <a:endParaRPr lang="en-US" sz="2200" dirty="0"/>
          </a:p>
        </p:txBody>
      </p:sp>
      <p:sp>
        <p:nvSpPr>
          <p:cNvPr id="5" name="Text 2"/>
          <p:cNvSpPr/>
          <p:nvPr/>
        </p:nvSpPr>
        <p:spPr>
          <a:xfrm>
            <a:off x="4856321" y="2825234"/>
            <a:ext cx="3501509" cy="3174563"/>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 According to Rosen, fox and Gregory  'a motive maybe defined as a readiness or disposition to respond in some ways and not others to a variety of situations.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75328"/>
            <a:ext cx="7323653" cy="708779"/>
          </a:xfrm>
          <a:prstGeom prst="rect">
            <a:avLst/>
          </a:prstGeom>
          <a:noFill/>
          <a:ln/>
        </p:spPr>
        <p:txBody>
          <a:bodyPr wrap="non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Concepts of Motivation</a:t>
            </a:r>
            <a:endParaRPr lang="en-US" sz="4450" dirty="0"/>
          </a:p>
        </p:txBody>
      </p:sp>
      <p:sp>
        <p:nvSpPr>
          <p:cNvPr id="3" name="Shape 1"/>
          <p:cNvSpPr/>
          <p:nvPr/>
        </p:nvSpPr>
        <p:spPr>
          <a:xfrm>
            <a:off x="793790" y="3092887"/>
            <a:ext cx="396835" cy="396835"/>
          </a:xfrm>
          <a:prstGeom prst="roundRect">
            <a:avLst>
              <a:gd name="adj" fmla="val 24007"/>
            </a:avLst>
          </a:prstGeom>
          <a:solidFill>
            <a:srgbClr val="DDEEE6"/>
          </a:solidFill>
          <a:ln w="7620">
            <a:solidFill>
              <a:srgbClr val="C3D4CC"/>
            </a:solidFill>
            <a:prstDash val="solid"/>
          </a:ln>
        </p:spPr>
      </p:sp>
      <p:sp>
        <p:nvSpPr>
          <p:cNvPr id="4" name="Text 2"/>
          <p:cNvSpPr/>
          <p:nvPr/>
        </p:nvSpPr>
        <p:spPr>
          <a:xfrm>
            <a:off x="1417439" y="3092887"/>
            <a:ext cx="3572708" cy="141732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It compels an individual to respond by creating a kind of tension or urge act.</a:t>
            </a:r>
            <a:endParaRPr lang="en-US" sz="2200" dirty="0"/>
          </a:p>
        </p:txBody>
      </p:sp>
      <p:sp>
        <p:nvSpPr>
          <p:cNvPr id="5" name="Shape 3"/>
          <p:cNvSpPr/>
          <p:nvPr/>
        </p:nvSpPr>
        <p:spPr>
          <a:xfrm>
            <a:off x="5216962" y="3092887"/>
            <a:ext cx="396835" cy="396835"/>
          </a:xfrm>
          <a:prstGeom prst="roundRect">
            <a:avLst>
              <a:gd name="adj" fmla="val 24007"/>
            </a:avLst>
          </a:prstGeom>
          <a:solidFill>
            <a:srgbClr val="DDEEE6"/>
          </a:solidFill>
          <a:ln w="7620">
            <a:solidFill>
              <a:srgbClr val="C3D4CC"/>
            </a:solidFill>
            <a:prstDash val="solid"/>
          </a:ln>
        </p:spPr>
      </p:sp>
      <p:sp>
        <p:nvSpPr>
          <p:cNvPr id="6" name="Text 4"/>
          <p:cNvSpPr/>
          <p:nvPr/>
        </p:nvSpPr>
        <p:spPr>
          <a:xfrm>
            <a:off x="5840611" y="3092887"/>
            <a:ext cx="3572708" cy="106299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It is a goal directed activity pursued till the attainment of the goal.</a:t>
            </a:r>
            <a:endParaRPr lang="en-US" sz="2200" dirty="0"/>
          </a:p>
        </p:txBody>
      </p:sp>
      <p:sp>
        <p:nvSpPr>
          <p:cNvPr id="7" name="Shape 5"/>
          <p:cNvSpPr/>
          <p:nvPr/>
        </p:nvSpPr>
        <p:spPr>
          <a:xfrm>
            <a:off x="9640133" y="3092887"/>
            <a:ext cx="396835" cy="396835"/>
          </a:xfrm>
          <a:prstGeom prst="roundRect">
            <a:avLst>
              <a:gd name="adj" fmla="val 24007"/>
            </a:avLst>
          </a:prstGeom>
          <a:solidFill>
            <a:srgbClr val="DDEEE6"/>
          </a:solidFill>
          <a:ln w="7620">
            <a:solidFill>
              <a:srgbClr val="C3D4CC"/>
            </a:solidFill>
            <a:prstDash val="solid"/>
          </a:ln>
        </p:spPr>
      </p:sp>
      <p:sp>
        <p:nvSpPr>
          <p:cNvPr id="8" name="Text 6"/>
          <p:cNvSpPr/>
          <p:nvPr/>
        </p:nvSpPr>
        <p:spPr>
          <a:xfrm>
            <a:off x="10263783" y="3092887"/>
            <a:ext cx="3572708" cy="141732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Attainment of a Goal helps in the release of tension aroused by a specific motive.</a:t>
            </a:r>
            <a:endParaRPr lang="en-US" sz="2200" dirty="0"/>
          </a:p>
        </p:txBody>
      </p:sp>
      <p:sp>
        <p:nvSpPr>
          <p:cNvPr id="9" name="Shape 7"/>
          <p:cNvSpPr/>
          <p:nvPr/>
        </p:nvSpPr>
        <p:spPr>
          <a:xfrm>
            <a:off x="793790" y="4992172"/>
            <a:ext cx="396835" cy="396835"/>
          </a:xfrm>
          <a:prstGeom prst="roundRect">
            <a:avLst>
              <a:gd name="adj" fmla="val 24007"/>
            </a:avLst>
          </a:prstGeom>
          <a:solidFill>
            <a:srgbClr val="DDEEE6"/>
          </a:solidFill>
          <a:ln w="7620">
            <a:solidFill>
              <a:srgbClr val="C3D4CC"/>
            </a:solidFill>
            <a:prstDash val="solid"/>
          </a:ln>
        </p:spPr>
      </p:sp>
      <p:sp>
        <p:nvSpPr>
          <p:cNvPr id="10" name="Text 8"/>
          <p:cNvSpPr/>
          <p:nvPr/>
        </p:nvSpPr>
        <p:spPr>
          <a:xfrm>
            <a:off x="1417439" y="4992172"/>
            <a:ext cx="3572708" cy="106299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Motivation is an inner state or an aroused feeling.</a:t>
            </a:r>
            <a:endParaRPr lang="en-US" sz="2200" dirty="0"/>
          </a:p>
        </p:txBody>
      </p:sp>
      <p:sp>
        <p:nvSpPr>
          <p:cNvPr id="11" name="Shape 9"/>
          <p:cNvSpPr/>
          <p:nvPr/>
        </p:nvSpPr>
        <p:spPr>
          <a:xfrm>
            <a:off x="5216962" y="4992172"/>
            <a:ext cx="396835" cy="396835"/>
          </a:xfrm>
          <a:prstGeom prst="roundRect">
            <a:avLst>
              <a:gd name="adj" fmla="val 24007"/>
            </a:avLst>
          </a:prstGeom>
          <a:solidFill>
            <a:srgbClr val="DDEEE6"/>
          </a:solidFill>
          <a:ln w="7620">
            <a:solidFill>
              <a:srgbClr val="C3D4CC"/>
            </a:solidFill>
            <a:prstDash val="solid"/>
          </a:ln>
        </p:spPr>
      </p:sp>
      <p:sp>
        <p:nvSpPr>
          <p:cNvPr id="12" name="Text 10"/>
          <p:cNvSpPr/>
          <p:nvPr/>
        </p:nvSpPr>
        <p:spPr>
          <a:xfrm>
            <a:off x="5840611" y="4992172"/>
            <a:ext cx="3572708" cy="141732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We cannot see motives directly but must infer them from the behaviour.</a:t>
            </a:r>
            <a:endParaRPr lang="en-US" sz="2200" dirty="0"/>
          </a:p>
        </p:txBody>
      </p:sp>
      <p:sp>
        <p:nvSpPr>
          <p:cNvPr id="13" name="Shape 11"/>
          <p:cNvSpPr/>
          <p:nvPr/>
        </p:nvSpPr>
        <p:spPr>
          <a:xfrm>
            <a:off x="9640133" y="4992172"/>
            <a:ext cx="396835" cy="396835"/>
          </a:xfrm>
          <a:prstGeom prst="roundRect">
            <a:avLst>
              <a:gd name="adj" fmla="val 24007"/>
            </a:avLst>
          </a:prstGeom>
          <a:solidFill>
            <a:srgbClr val="DDEEE6"/>
          </a:solidFill>
          <a:ln w="7620">
            <a:solidFill>
              <a:srgbClr val="C3D4CC"/>
            </a:solidFill>
            <a:prstDash val="solid"/>
          </a:ln>
        </p:spPr>
      </p:sp>
      <p:sp>
        <p:nvSpPr>
          <p:cNvPr id="14" name="Text 12"/>
          <p:cNvSpPr/>
          <p:nvPr/>
        </p:nvSpPr>
        <p:spPr>
          <a:xfrm>
            <a:off x="10263783" y="4992172"/>
            <a:ext cx="3572708" cy="1062990"/>
          </a:xfrm>
          <a:prstGeom prst="rect">
            <a:avLst/>
          </a:prstGeom>
          <a:noFill/>
          <a:ln/>
        </p:spPr>
        <p:txBody>
          <a:bodyPr wrap="square" lIns="0" tIns="0" rIns="0" bIns="0" rtlCol="0" anchor="t"/>
          <a:lstStyle/>
          <a:p>
            <a:pPr marL="0" indent="0">
              <a:lnSpc>
                <a:spcPts val="2750"/>
              </a:lnSpc>
              <a:buNone/>
            </a:pPr>
            <a:r>
              <a:rPr lang="en-US" sz="2200" b="1" dirty="0">
                <a:solidFill>
                  <a:srgbClr val="3B4E4E"/>
                </a:solidFill>
                <a:latin typeface="Syne Bold" pitchFamily="34" charset="0"/>
                <a:ea typeface="Syne Bold" pitchFamily="34" charset="-122"/>
                <a:cs typeface="Syne Bold" pitchFamily="34" charset="-120"/>
              </a:rPr>
              <a:t>Motivation is generated through basic needs or urges.</a:t>
            </a:r>
            <a:endParaRPr lang="en-US" sz="2200" dirty="0"/>
          </a:p>
        </p:txBody>
      </p:sp>
      <p:sp>
        <p:nvSpPr>
          <p:cNvPr id="15" name="Text 13"/>
          <p:cNvSpPr/>
          <p:nvPr/>
        </p:nvSpPr>
        <p:spPr>
          <a:xfrm>
            <a:off x="10263783" y="6191250"/>
            <a:ext cx="3572708" cy="362903"/>
          </a:xfrm>
          <a:prstGeom prst="rect">
            <a:avLst/>
          </a:prstGeom>
          <a:noFill/>
          <a:ln/>
        </p:spPr>
        <p:txBody>
          <a:bodyPr wrap="none" lIns="0" tIns="0" rIns="0" bIns="0" rtlCol="0" anchor="t"/>
          <a:lstStyle/>
          <a:p>
            <a:pPr marL="0" indent="0">
              <a:lnSpc>
                <a:spcPts val="2850"/>
              </a:lnSpc>
              <a:buNone/>
            </a:pP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73073" y="608648"/>
            <a:ext cx="6158865" cy="690205"/>
          </a:xfrm>
          <a:prstGeom prst="rect">
            <a:avLst/>
          </a:prstGeom>
          <a:noFill/>
          <a:ln/>
        </p:spPr>
        <p:txBody>
          <a:bodyPr wrap="none" lIns="0" tIns="0" rIns="0" bIns="0" rtlCol="0" anchor="t"/>
          <a:lstStyle/>
          <a:p>
            <a:pPr marL="0" indent="0">
              <a:lnSpc>
                <a:spcPts val="5400"/>
              </a:lnSpc>
              <a:buNone/>
            </a:pPr>
            <a:r>
              <a:rPr lang="en-US" sz="4300" b="1" dirty="0">
                <a:solidFill>
                  <a:srgbClr val="233939"/>
                </a:solidFill>
                <a:latin typeface="Syne Bold" pitchFamily="34" charset="0"/>
                <a:ea typeface="Syne Bold" pitchFamily="34" charset="-122"/>
                <a:cs typeface="Syne Bold" pitchFamily="34" charset="-120"/>
              </a:rPr>
              <a:t>TYPES OF MOTIVES</a:t>
            </a:r>
            <a:endParaRPr lang="en-US" sz="4300" dirty="0"/>
          </a:p>
        </p:txBody>
      </p:sp>
      <p:sp>
        <p:nvSpPr>
          <p:cNvPr id="4" name="Text 1"/>
          <p:cNvSpPr/>
          <p:nvPr/>
        </p:nvSpPr>
        <p:spPr>
          <a:xfrm>
            <a:off x="773073" y="1630085"/>
            <a:ext cx="7597854" cy="883444"/>
          </a:xfrm>
          <a:prstGeom prst="rect">
            <a:avLst/>
          </a:prstGeom>
          <a:noFill/>
          <a:ln/>
        </p:spPr>
        <p:txBody>
          <a:bodyPr wrap="square" lIns="0" tIns="0" rIns="0" bIns="0" rtlCol="0" anchor="t"/>
          <a:lstStyle/>
          <a:p>
            <a:pPr marL="0" indent="0">
              <a:lnSpc>
                <a:spcPts val="3450"/>
              </a:lnSpc>
              <a:buNone/>
            </a:pPr>
            <a:r>
              <a:rPr lang="en-US" sz="2150" dirty="0">
                <a:solidFill>
                  <a:srgbClr val="3B4E4E"/>
                </a:solidFill>
                <a:latin typeface="Overpass Light" pitchFamily="34" charset="0"/>
                <a:ea typeface="Overpass Light" pitchFamily="34" charset="-122"/>
                <a:cs typeface="Overpass Light" pitchFamily="34" charset="-120"/>
              </a:rPr>
              <a:t>Some psychologists divided motives into two main groups :-Innate or unlearned Acquired or learned.</a:t>
            </a:r>
            <a:endParaRPr lang="en-US" sz="2150" dirty="0"/>
          </a:p>
        </p:txBody>
      </p:sp>
      <p:sp>
        <p:nvSpPr>
          <p:cNvPr id="5" name="Text 2"/>
          <p:cNvSpPr/>
          <p:nvPr/>
        </p:nvSpPr>
        <p:spPr>
          <a:xfrm>
            <a:off x="773073" y="2762012"/>
            <a:ext cx="7597854" cy="1325166"/>
          </a:xfrm>
          <a:prstGeom prst="rect">
            <a:avLst/>
          </a:prstGeom>
          <a:noFill/>
          <a:ln/>
        </p:spPr>
        <p:txBody>
          <a:bodyPr wrap="square" lIns="0" tIns="0" rIns="0" bIns="0" rtlCol="0" anchor="t"/>
          <a:lstStyle/>
          <a:p>
            <a:pPr marL="0" indent="0">
              <a:lnSpc>
                <a:spcPts val="3450"/>
              </a:lnSpc>
              <a:buNone/>
            </a:pPr>
            <a:r>
              <a:rPr lang="en-US" sz="2150" dirty="0">
                <a:solidFill>
                  <a:srgbClr val="3B4E4E"/>
                </a:solidFill>
                <a:latin typeface="Overpass Light" pitchFamily="34" charset="0"/>
                <a:ea typeface="Overpass Light" pitchFamily="34" charset="-122"/>
                <a:cs typeface="Overpass Light" pitchFamily="34" charset="-120"/>
              </a:rPr>
              <a:t>Motivation can also be classified as </a:t>
            </a:r>
            <a:r>
              <a:rPr lang="en-US" sz="2150" b="1" dirty="0">
                <a:solidFill>
                  <a:srgbClr val="3B4E4E"/>
                </a:solidFill>
                <a:latin typeface="Overpass Light" pitchFamily="34" charset="0"/>
                <a:ea typeface="Overpass Light" pitchFamily="34" charset="-122"/>
                <a:cs typeface="Overpass Light" pitchFamily="34" charset="-120"/>
              </a:rPr>
              <a:t>Physiological or Primary motives, or social or secondary motives, personal motives and unconscious motives.</a:t>
            </a:r>
            <a:endParaRPr lang="en-US" sz="2150" dirty="0"/>
          </a:p>
        </p:txBody>
      </p:sp>
      <p:sp>
        <p:nvSpPr>
          <p:cNvPr id="6" name="Text 3"/>
          <p:cNvSpPr/>
          <p:nvPr/>
        </p:nvSpPr>
        <p:spPr>
          <a:xfrm>
            <a:off x="773073" y="4418409"/>
            <a:ext cx="4978479" cy="414099"/>
          </a:xfrm>
          <a:prstGeom prst="rect">
            <a:avLst/>
          </a:prstGeom>
          <a:noFill/>
          <a:ln/>
        </p:spPr>
        <p:txBody>
          <a:bodyPr wrap="none" lIns="0" tIns="0" rIns="0" bIns="0" rtlCol="0" anchor="t"/>
          <a:lstStyle/>
          <a:p>
            <a:pPr marL="0" indent="0">
              <a:lnSpc>
                <a:spcPts val="3250"/>
              </a:lnSpc>
              <a:buNone/>
            </a:pPr>
            <a:r>
              <a:rPr lang="en-US" sz="2600" b="1" dirty="0">
                <a:solidFill>
                  <a:srgbClr val="B05EF1"/>
                </a:solidFill>
                <a:latin typeface="Syne Bold" pitchFamily="34" charset="0"/>
                <a:ea typeface="Syne Bold" pitchFamily="34" charset="-122"/>
                <a:cs typeface="Syne Bold" pitchFamily="34" charset="-120"/>
              </a:rPr>
              <a:t>PHYSIOLOGICAL MOTIVES</a:t>
            </a:r>
            <a:endParaRPr lang="en-US" sz="2600" dirty="0"/>
          </a:p>
        </p:txBody>
      </p:sp>
      <p:sp>
        <p:nvSpPr>
          <p:cNvPr id="7" name="Text 4"/>
          <p:cNvSpPr/>
          <p:nvPr/>
        </p:nvSpPr>
        <p:spPr>
          <a:xfrm>
            <a:off x="773073" y="5163741"/>
            <a:ext cx="7597854" cy="1325166"/>
          </a:xfrm>
          <a:prstGeom prst="rect">
            <a:avLst/>
          </a:prstGeom>
          <a:noFill/>
          <a:ln/>
        </p:spPr>
        <p:txBody>
          <a:bodyPr wrap="square" lIns="0" tIns="0" rIns="0" bIns="0" rtlCol="0" anchor="t"/>
          <a:lstStyle/>
          <a:p>
            <a:pPr marL="0" indent="0">
              <a:lnSpc>
                <a:spcPts val="3450"/>
              </a:lnSpc>
              <a:buNone/>
            </a:pPr>
            <a:r>
              <a:rPr lang="en-US" sz="2150" b="1" dirty="0">
                <a:solidFill>
                  <a:srgbClr val="3B4E4E"/>
                </a:solidFill>
                <a:latin typeface="Overpass Light" pitchFamily="34" charset="0"/>
                <a:ea typeface="Overpass Light" pitchFamily="34" charset="-122"/>
                <a:cs typeface="Overpass Light" pitchFamily="34" charset="-120"/>
              </a:rPr>
              <a:t>Hunger Motive-</a:t>
            </a:r>
            <a:r>
              <a:rPr lang="en-US" sz="2150" dirty="0">
                <a:solidFill>
                  <a:srgbClr val="3B4E4E"/>
                </a:solidFill>
                <a:latin typeface="Overpass Light" pitchFamily="34" charset="0"/>
                <a:ea typeface="Overpass Light" pitchFamily="34" charset="-122"/>
                <a:cs typeface="Overpass Light" pitchFamily="34" charset="-120"/>
              </a:rPr>
              <a:t> the body's need for food is the basis of this motive. when we are hungry the need for food dominate everything else.</a:t>
            </a:r>
            <a:endParaRPr lang="en-US" sz="2150" dirty="0"/>
          </a:p>
        </p:txBody>
      </p:sp>
      <p:sp>
        <p:nvSpPr>
          <p:cNvPr id="8" name="Text 5"/>
          <p:cNvSpPr/>
          <p:nvPr/>
        </p:nvSpPr>
        <p:spPr>
          <a:xfrm>
            <a:off x="773073" y="6737390"/>
            <a:ext cx="7597854" cy="883444"/>
          </a:xfrm>
          <a:prstGeom prst="rect">
            <a:avLst/>
          </a:prstGeom>
          <a:noFill/>
          <a:ln/>
        </p:spPr>
        <p:txBody>
          <a:bodyPr wrap="square" lIns="0" tIns="0" rIns="0" bIns="0" rtlCol="0" anchor="t"/>
          <a:lstStyle/>
          <a:p>
            <a:pPr marL="0" indent="0">
              <a:lnSpc>
                <a:spcPts val="3450"/>
              </a:lnSpc>
              <a:buNone/>
            </a:pPr>
            <a:r>
              <a:rPr lang="en-US" sz="2150" b="1" dirty="0">
                <a:solidFill>
                  <a:srgbClr val="3B4E4E"/>
                </a:solidFill>
                <a:latin typeface="Overpass Light" pitchFamily="34" charset="0"/>
                <a:ea typeface="Overpass Light" pitchFamily="34" charset="-122"/>
                <a:cs typeface="Overpass Light" pitchFamily="34" charset="-120"/>
              </a:rPr>
              <a:t>Thirst Motive-</a:t>
            </a:r>
            <a:r>
              <a:rPr lang="en-US" sz="2150" dirty="0">
                <a:solidFill>
                  <a:srgbClr val="3B4E4E"/>
                </a:solidFill>
                <a:latin typeface="Overpass Light" pitchFamily="34" charset="0"/>
                <a:ea typeface="Overpass Light" pitchFamily="34" charset="-122"/>
                <a:cs typeface="Overpass Light" pitchFamily="34" charset="-120"/>
              </a:rPr>
              <a:t> arises out of the need for quenching one's Thirst. it is found to be stronger than the hunger motive.</a:t>
            </a:r>
            <a:endParaRPr lang="en-US" sz="2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70184"/>
            <a:ext cx="5670590" cy="708779"/>
          </a:xfrm>
          <a:prstGeom prst="rect">
            <a:avLst/>
          </a:prstGeom>
          <a:noFill/>
          <a:ln/>
        </p:spPr>
        <p:txBody>
          <a:bodyPr wrap="none" lIns="0" tIns="0" rIns="0" bIns="0" rtlCol="0" anchor="t"/>
          <a:lstStyle/>
          <a:p>
            <a:pPr marL="0" indent="0">
              <a:lnSpc>
                <a:spcPts val="5550"/>
              </a:lnSpc>
              <a:buNone/>
            </a:pPr>
            <a:endParaRPr lang="en-US" sz="4450" dirty="0"/>
          </a:p>
        </p:txBody>
      </p:sp>
      <p:sp>
        <p:nvSpPr>
          <p:cNvPr id="4" name="Text 1"/>
          <p:cNvSpPr/>
          <p:nvPr/>
        </p:nvSpPr>
        <p:spPr>
          <a:xfrm>
            <a:off x="793790" y="2723198"/>
            <a:ext cx="3502223" cy="1814036"/>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Sex motive-</a:t>
            </a:r>
            <a:r>
              <a:rPr lang="en-US" sz="2200" dirty="0">
                <a:solidFill>
                  <a:srgbClr val="3B4E4E"/>
                </a:solidFill>
                <a:latin typeface="Overpass Light" pitchFamily="34" charset="0"/>
                <a:ea typeface="Overpass Light" pitchFamily="34" charset="-122"/>
                <a:cs typeface="Overpass Light" pitchFamily="34" charset="-120"/>
              </a:rPr>
              <a:t> motivation to engage in sexual activity is a very strong factor influencing behaviour.</a:t>
            </a:r>
            <a:endParaRPr lang="en-US" sz="2200" dirty="0"/>
          </a:p>
        </p:txBody>
      </p:sp>
      <p:sp>
        <p:nvSpPr>
          <p:cNvPr id="5" name="Text 2"/>
          <p:cNvSpPr/>
          <p:nvPr/>
        </p:nvSpPr>
        <p:spPr>
          <a:xfrm>
            <a:off x="793790" y="4741307"/>
            <a:ext cx="3502223" cy="1814036"/>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 It is a medium of survival of the species and provide an individual a high level of satisfaction. </a:t>
            </a:r>
            <a:endParaRPr lang="en-US" sz="2200" dirty="0"/>
          </a:p>
        </p:txBody>
      </p:sp>
      <p:sp>
        <p:nvSpPr>
          <p:cNvPr id="6" name="Text 3"/>
          <p:cNvSpPr/>
          <p:nvPr/>
        </p:nvSpPr>
        <p:spPr>
          <a:xfrm>
            <a:off x="4857036" y="2723198"/>
            <a:ext cx="3500676" cy="2267545"/>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Respiratory motive-</a:t>
            </a:r>
            <a:r>
              <a:rPr lang="en-US" sz="2200" dirty="0">
                <a:solidFill>
                  <a:srgbClr val="3B4E4E"/>
                </a:solidFill>
                <a:latin typeface="Overpass Light" pitchFamily="34" charset="0"/>
                <a:ea typeface="Overpass Light" pitchFamily="34" charset="-122"/>
                <a:cs typeface="Overpass Light" pitchFamily="34" charset="-120"/>
              </a:rPr>
              <a:t> it is the drive for air and oxygen. one cannot survive for long without a regular supply of oxygen.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15735"/>
            <a:ext cx="7556421" cy="1417558"/>
          </a:xfrm>
          <a:prstGeom prst="rect">
            <a:avLst/>
          </a:prstGeom>
          <a:noFill/>
          <a:ln/>
        </p:spPr>
        <p:txBody>
          <a:bodyPr wrap="square" lIns="0" tIns="0" rIns="0" bIns="0" rtlCol="0" anchor="t"/>
          <a:lstStyle/>
          <a:p>
            <a:pPr marL="0" indent="0">
              <a:lnSpc>
                <a:spcPts val="5550"/>
              </a:lnSpc>
              <a:buNone/>
            </a:pPr>
            <a:endParaRPr lang="en-US" sz="4450" dirty="0"/>
          </a:p>
        </p:txBody>
      </p:sp>
      <p:sp>
        <p:nvSpPr>
          <p:cNvPr id="4" name="Text 1"/>
          <p:cNvSpPr/>
          <p:nvPr/>
        </p:nvSpPr>
        <p:spPr>
          <a:xfrm>
            <a:off x="793790" y="3077528"/>
            <a:ext cx="3502223" cy="3628072"/>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Need for elimination of waste-</a:t>
            </a:r>
            <a:r>
              <a:rPr lang="en-US" sz="2200" dirty="0">
                <a:solidFill>
                  <a:srgbClr val="3B4E4E"/>
                </a:solidFill>
                <a:latin typeface="Overpass Light" pitchFamily="34" charset="0"/>
                <a:ea typeface="Overpass Light" pitchFamily="34" charset="-122"/>
                <a:cs typeface="Overpass Light" pitchFamily="34" charset="-120"/>
              </a:rPr>
              <a:t> when bladder or intestine becomes filled with waste material ,they cause pressure and discomfort. And people have a motive to remove the waste.</a:t>
            </a:r>
            <a:endParaRPr lang="en-US" sz="2200" dirty="0"/>
          </a:p>
        </p:txBody>
      </p:sp>
      <p:sp>
        <p:nvSpPr>
          <p:cNvPr id="5" name="Text 2"/>
          <p:cNvSpPr/>
          <p:nvPr/>
        </p:nvSpPr>
        <p:spPr>
          <a:xfrm>
            <a:off x="4857036" y="3077528"/>
            <a:ext cx="3500676" cy="2721054"/>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Need for rest and sleep-</a:t>
            </a:r>
            <a:r>
              <a:rPr lang="en-US" sz="2200" dirty="0">
                <a:solidFill>
                  <a:srgbClr val="3B4E4E"/>
                </a:solidFill>
                <a:latin typeface="Overpass Light" pitchFamily="34" charset="0"/>
                <a:ea typeface="Overpass Light" pitchFamily="34" charset="-122"/>
                <a:cs typeface="Overpass Light" pitchFamily="34" charset="-120"/>
              </a:rPr>
              <a:t>when body continues activities without sleep or rest for a long time ,it is possible to experience confusion and discomfort.</a:t>
            </a:r>
            <a:endParaRPr lang="en-US" sz="2200" dirty="0"/>
          </a:p>
        </p:txBody>
      </p:sp>
      <p:sp>
        <p:nvSpPr>
          <p:cNvPr id="6" name="Text 3"/>
          <p:cNvSpPr/>
          <p:nvPr/>
        </p:nvSpPr>
        <p:spPr>
          <a:xfrm>
            <a:off x="4857036" y="6002655"/>
            <a:ext cx="3500676" cy="907018"/>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So we have a need and motive to take rest.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54373"/>
            <a:ext cx="6605349" cy="425291"/>
          </a:xfrm>
          <a:prstGeom prst="rect">
            <a:avLst/>
          </a:prstGeom>
          <a:noFill/>
          <a:ln/>
        </p:spPr>
        <p:txBody>
          <a:bodyPr wrap="none" lIns="0" tIns="0" rIns="0" bIns="0" rtlCol="0" anchor="t"/>
          <a:lstStyle/>
          <a:p>
            <a:pPr marL="0" indent="0">
              <a:lnSpc>
                <a:spcPts val="3300"/>
              </a:lnSpc>
              <a:buNone/>
            </a:pPr>
            <a:r>
              <a:rPr lang="en-US" sz="2650" b="1" dirty="0">
                <a:solidFill>
                  <a:srgbClr val="233939"/>
                </a:solidFill>
                <a:latin typeface="Syne Bold" pitchFamily="34" charset="0"/>
                <a:ea typeface="Syne Bold" pitchFamily="34" charset="-122"/>
                <a:cs typeface="Syne Bold" pitchFamily="34" charset="-120"/>
              </a:rPr>
              <a:t>SOCIAL OR SECONDARY MOTIVES</a:t>
            </a:r>
            <a:endParaRPr lang="en-US" sz="2650" dirty="0"/>
          </a:p>
        </p:txBody>
      </p:sp>
      <p:sp>
        <p:nvSpPr>
          <p:cNvPr id="3" name="Text 1"/>
          <p:cNvSpPr/>
          <p:nvPr/>
        </p:nvSpPr>
        <p:spPr>
          <a:xfrm>
            <a:off x="793790" y="2538889"/>
            <a:ext cx="3979545" cy="2267545"/>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Need for status-</a:t>
            </a:r>
            <a:r>
              <a:rPr lang="en-US" sz="2200" dirty="0">
                <a:solidFill>
                  <a:srgbClr val="3B4E4E"/>
                </a:solidFill>
                <a:latin typeface="Overpass Light" pitchFamily="34" charset="0"/>
                <a:ea typeface="Overpass Light" pitchFamily="34" charset="-122"/>
                <a:cs typeface="Overpass Light" pitchFamily="34" charset="-120"/>
              </a:rPr>
              <a:t> almost all individuals have a desire to have some standing or position among the people of his society or group.</a:t>
            </a:r>
            <a:endParaRPr lang="en-US" sz="2200" dirty="0"/>
          </a:p>
        </p:txBody>
      </p:sp>
      <p:sp>
        <p:nvSpPr>
          <p:cNvPr id="4" name="Text 2"/>
          <p:cNvSpPr/>
          <p:nvPr/>
        </p:nvSpPr>
        <p:spPr>
          <a:xfrm>
            <a:off x="5334357" y="2538889"/>
            <a:ext cx="3978116" cy="1360527"/>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Affiliation motive- </a:t>
            </a:r>
            <a:r>
              <a:rPr lang="en-US" sz="2200" dirty="0">
                <a:solidFill>
                  <a:srgbClr val="3B4E4E"/>
                </a:solidFill>
                <a:latin typeface="Overpass Light" pitchFamily="34" charset="0"/>
                <a:ea typeface="Overpass Light" pitchFamily="34" charset="-122"/>
                <a:cs typeface="Overpass Light" pitchFamily="34" charset="-120"/>
              </a:rPr>
              <a:t>this directly springs from the need to be with other people.</a:t>
            </a:r>
            <a:endParaRPr lang="en-US" sz="2200" dirty="0"/>
          </a:p>
        </p:txBody>
      </p:sp>
      <p:sp>
        <p:nvSpPr>
          <p:cNvPr id="5" name="Text 3"/>
          <p:cNvSpPr/>
          <p:nvPr/>
        </p:nvSpPr>
        <p:spPr>
          <a:xfrm>
            <a:off x="5334357" y="4103489"/>
            <a:ext cx="3978116" cy="2267545"/>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 Seeking other fellow beings and wanting to be close to them both physically and psychologically is called affiliation.</a:t>
            </a:r>
            <a:endParaRPr lang="en-US" sz="2200" dirty="0"/>
          </a:p>
        </p:txBody>
      </p:sp>
      <p:sp>
        <p:nvSpPr>
          <p:cNvPr id="6" name="Text 4"/>
          <p:cNvSpPr/>
          <p:nvPr/>
        </p:nvSpPr>
        <p:spPr>
          <a:xfrm>
            <a:off x="9873496" y="2538889"/>
            <a:ext cx="3978116" cy="1814036"/>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Power Motive- </a:t>
            </a:r>
            <a:r>
              <a:rPr lang="en-US" sz="2200" dirty="0">
                <a:solidFill>
                  <a:srgbClr val="3B4E4E"/>
                </a:solidFill>
                <a:latin typeface="Overpass Light" pitchFamily="34" charset="0"/>
                <a:ea typeface="Overpass Light" pitchFamily="34" charset="-122"/>
                <a:cs typeface="Overpass Light" pitchFamily="34" charset="-120"/>
              </a:rPr>
              <a:t>The desire to be in a position of control, to be the boss, to give orders is called the power motive.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81188"/>
            <a:ext cx="4048601" cy="425291"/>
          </a:xfrm>
          <a:prstGeom prst="rect">
            <a:avLst/>
          </a:prstGeom>
          <a:noFill/>
          <a:ln/>
        </p:spPr>
        <p:txBody>
          <a:bodyPr wrap="none" lIns="0" tIns="0" rIns="0" bIns="0" rtlCol="0" anchor="t"/>
          <a:lstStyle/>
          <a:p>
            <a:pPr marL="0" indent="0">
              <a:lnSpc>
                <a:spcPts val="3300"/>
              </a:lnSpc>
              <a:buNone/>
            </a:pPr>
            <a:r>
              <a:rPr lang="en-US" sz="2650" b="1" dirty="0">
                <a:solidFill>
                  <a:srgbClr val="233939"/>
                </a:solidFill>
                <a:latin typeface="Syne Bold" pitchFamily="34" charset="0"/>
                <a:ea typeface="Syne Bold" pitchFamily="34" charset="-122"/>
                <a:cs typeface="Syne Bold" pitchFamily="34" charset="-120"/>
              </a:rPr>
              <a:t>PERSONAL MOTIVES</a:t>
            </a:r>
            <a:endParaRPr lang="en-US" sz="2650" dirty="0"/>
          </a:p>
        </p:txBody>
      </p:sp>
      <p:sp>
        <p:nvSpPr>
          <p:cNvPr id="3" name="Text 1"/>
          <p:cNvSpPr/>
          <p:nvPr/>
        </p:nvSpPr>
        <p:spPr>
          <a:xfrm>
            <a:off x="793790" y="2765703"/>
            <a:ext cx="3979545" cy="1360527"/>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Need for achievement- </a:t>
            </a:r>
            <a:r>
              <a:rPr lang="en-US" sz="2200" dirty="0">
                <a:solidFill>
                  <a:srgbClr val="3B4E4E"/>
                </a:solidFill>
                <a:latin typeface="Overpass Light" pitchFamily="34" charset="0"/>
                <a:ea typeface="Overpass Light" pitchFamily="34" charset="-122"/>
                <a:cs typeface="Overpass Light" pitchFamily="34" charset="-120"/>
              </a:rPr>
              <a:t>it refers to a drive towards some standard of excellence.</a:t>
            </a:r>
            <a:endParaRPr lang="en-US" sz="2200" dirty="0"/>
          </a:p>
        </p:txBody>
      </p:sp>
      <p:sp>
        <p:nvSpPr>
          <p:cNvPr id="4" name="Text 2"/>
          <p:cNvSpPr/>
          <p:nvPr/>
        </p:nvSpPr>
        <p:spPr>
          <a:xfrm>
            <a:off x="793790" y="4330303"/>
            <a:ext cx="3979545" cy="1814036"/>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People with high need for achievement prefer task which would promise success and that are moderately difficult.</a:t>
            </a:r>
            <a:endParaRPr lang="en-US" sz="2200" dirty="0"/>
          </a:p>
        </p:txBody>
      </p:sp>
      <p:sp>
        <p:nvSpPr>
          <p:cNvPr id="5" name="Text 3"/>
          <p:cNvSpPr/>
          <p:nvPr/>
        </p:nvSpPr>
        <p:spPr>
          <a:xfrm>
            <a:off x="5334357" y="2765703"/>
            <a:ext cx="3978116" cy="1814036"/>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Levels of aspiration- </a:t>
            </a:r>
            <a:r>
              <a:rPr lang="en-US" sz="2200" dirty="0">
                <a:solidFill>
                  <a:srgbClr val="3B4E4E"/>
                </a:solidFill>
                <a:latin typeface="Overpass Light" pitchFamily="34" charset="0"/>
                <a:ea typeface="Overpass Light" pitchFamily="34" charset="-122"/>
                <a:cs typeface="Overpass Light" pitchFamily="34" charset="-120"/>
              </a:rPr>
              <a:t>it imply the degree of expectation which a person has how much he expects to accomplish.</a:t>
            </a:r>
            <a:endParaRPr lang="en-US" sz="2200" dirty="0"/>
          </a:p>
        </p:txBody>
      </p:sp>
      <p:sp>
        <p:nvSpPr>
          <p:cNvPr id="6" name="Text 4"/>
          <p:cNvSpPr/>
          <p:nvPr/>
        </p:nvSpPr>
        <p:spPr>
          <a:xfrm>
            <a:off x="5334357" y="4783812"/>
            <a:ext cx="3978116" cy="453509"/>
          </a:xfrm>
          <a:prstGeom prst="rect">
            <a:avLst/>
          </a:prstGeom>
          <a:noFill/>
          <a:ln/>
        </p:spPr>
        <p:txBody>
          <a:bodyPr wrap="none" lIns="0" tIns="0" rIns="0" bIns="0" rtlCol="0" anchor="t"/>
          <a:lstStyle/>
          <a:p>
            <a:pPr marL="0" indent="0">
              <a:lnSpc>
                <a:spcPts val="3550"/>
              </a:lnSpc>
              <a:buNone/>
            </a:pPr>
            <a:endParaRPr lang="en-US" sz="2200" dirty="0"/>
          </a:p>
        </p:txBody>
      </p:sp>
      <p:sp>
        <p:nvSpPr>
          <p:cNvPr id="7" name="Text 5"/>
          <p:cNvSpPr/>
          <p:nvPr/>
        </p:nvSpPr>
        <p:spPr>
          <a:xfrm>
            <a:off x="9873496" y="2765703"/>
            <a:ext cx="3978116" cy="2267545"/>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Vocational ambition- </a:t>
            </a:r>
            <a:r>
              <a:rPr lang="en-US" sz="2200" dirty="0">
                <a:solidFill>
                  <a:srgbClr val="3B4E4E"/>
                </a:solidFill>
                <a:latin typeface="Overpass Light" pitchFamily="34" charset="0"/>
                <a:ea typeface="Overpass Light" pitchFamily="34" charset="-122"/>
                <a:cs typeface="Overpass Light" pitchFamily="34" charset="-120"/>
              </a:rPr>
              <a:t>this desires are common to many others, but there is something unique about each one’s desires.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00864"/>
            <a:ext cx="3402330" cy="425291"/>
          </a:xfrm>
          <a:prstGeom prst="rect">
            <a:avLst/>
          </a:prstGeom>
          <a:noFill/>
          <a:ln/>
        </p:spPr>
        <p:txBody>
          <a:bodyPr wrap="none" lIns="0" tIns="0" rIns="0" bIns="0" rtlCol="0" anchor="t"/>
          <a:lstStyle/>
          <a:p>
            <a:pPr marL="0" indent="0">
              <a:lnSpc>
                <a:spcPts val="3300"/>
              </a:lnSpc>
              <a:buNone/>
            </a:pPr>
            <a:endParaRPr lang="en-US" sz="2650" dirty="0"/>
          </a:p>
        </p:txBody>
      </p:sp>
      <p:sp>
        <p:nvSpPr>
          <p:cNvPr id="4" name="Text 1"/>
          <p:cNvSpPr/>
          <p:nvPr/>
        </p:nvSpPr>
        <p:spPr>
          <a:xfrm>
            <a:off x="793790" y="2085380"/>
            <a:ext cx="3502223" cy="2267545"/>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Force of habit- </a:t>
            </a:r>
            <a:r>
              <a:rPr lang="en-US" sz="2200" dirty="0">
                <a:solidFill>
                  <a:srgbClr val="3B4E4E"/>
                </a:solidFill>
                <a:latin typeface="Overpass Light" pitchFamily="34" charset="0"/>
                <a:ea typeface="Overpass Light" pitchFamily="34" charset="-122"/>
                <a:cs typeface="Overpass Light" pitchFamily="34" charset="-120"/>
              </a:rPr>
              <a:t>a habit which has been formed as a drive and compels us to continue the accustomed ways of doing things.</a:t>
            </a:r>
            <a:endParaRPr lang="en-US" sz="2200" dirty="0"/>
          </a:p>
        </p:txBody>
      </p:sp>
      <p:sp>
        <p:nvSpPr>
          <p:cNvPr id="5" name="Text 2"/>
          <p:cNvSpPr/>
          <p:nvPr/>
        </p:nvSpPr>
        <p:spPr>
          <a:xfrm>
            <a:off x="793790" y="4556998"/>
            <a:ext cx="3502223" cy="2267545"/>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People with high need for achievement prefer task which would promise success and that are moderately difficult.</a:t>
            </a:r>
            <a:endParaRPr lang="en-US" sz="2200" dirty="0"/>
          </a:p>
        </p:txBody>
      </p:sp>
      <p:sp>
        <p:nvSpPr>
          <p:cNvPr id="6" name="Text 3"/>
          <p:cNvSpPr/>
          <p:nvPr/>
        </p:nvSpPr>
        <p:spPr>
          <a:xfrm>
            <a:off x="4857036" y="2085380"/>
            <a:ext cx="3500676" cy="2267545"/>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Interest and attitude- </a:t>
            </a:r>
            <a:r>
              <a:rPr lang="en-US" sz="2200" dirty="0">
                <a:solidFill>
                  <a:srgbClr val="3B4E4E"/>
                </a:solidFill>
                <a:latin typeface="Overpass Light" pitchFamily="34" charset="0"/>
                <a:ea typeface="Overpass Light" pitchFamily="34" charset="-122"/>
                <a:cs typeface="Overpass Light" pitchFamily="34" charset="-120"/>
              </a:rPr>
              <a:t>the interest we have developed and attitude we have formed colour our everyday behaviour in many ways.</a:t>
            </a:r>
            <a:endParaRPr lang="en-US" sz="2200" dirty="0"/>
          </a:p>
        </p:txBody>
      </p:sp>
      <p:sp>
        <p:nvSpPr>
          <p:cNvPr id="7" name="Text 4"/>
          <p:cNvSpPr/>
          <p:nvPr/>
        </p:nvSpPr>
        <p:spPr>
          <a:xfrm>
            <a:off x="4857036" y="4556998"/>
            <a:ext cx="3500676" cy="453509"/>
          </a:xfrm>
          <a:prstGeom prst="rect">
            <a:avLst/>
          </a:prstGeom>
          <a:noFill/>
          <a:ln/>
        </p:spPr>
        <p:txBody>
          <a:bodyPr wrap="none" lIns="0" tIns="0" rIns="0" bIns="0" rtlCol="0" anchor="t"/>
          <a:lstStyle/>
          <a:p>
            <a:pPr marL="0" indent="0">
              <a:lnSpc>
                <a:spcPts val="3550"/>
              </a:lnSpc>
              <a:buNone/>
            </a:pP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65083"/>
            <a:ext cx="4905851" cy="425291"/>
          </a:xfrm>
          <a:prstGeom prst="rect">
            <a:avLst/>
          </a:prstGeom>
          <a:noFill/>
          <a:ln/>
        </p:spPr>
        <p:txBody>
          <a:bodyPr wrap="none" lIns="0" tIns="0" rIns="0" bIns="0" rtlCol="0" anchor="t"/>
          <a:lstStyle/>
          <a:p>
            <a:pPr marL="0" indent="0">
              <a:lnSpc>
                <a:spcPts val="3300"/>
              </a:lnSpc>
              <a:buNone/>
            </a:pPr>
            <a:r>
              <a:rPr lang="en-US" sz="2650" b="1" dirty="0">
                <a:solidFill>
                  <a:srgbClr val="233939"/>
                </a:solidFill>
                <a:latin typeface="Syne Bold" pitchFamily="34" charset="0"/>
                <a:ea typeface="Syne Bold" pitchFamily="34" charset="-122"/>
                <a:cs typeface="Syne Bold" pitchFamily="34" charset="-120"/>
              </a:rPr>
              <a:t>UNCONSCIOUS MOTIVES</a:t>
            </a:r>
            <a:endParaRPr lang="en-US" sz="2650" dirty="0"/>
          </a:p>
        </p:txBody>
      </p:sp>
      <p:sp>
        <p:nvSpPr>
          <p:cNvPr id="4" name="Shape 1"/>
          <p:cNvSpPr/>
          <p:nvPr/>
        </p:nvSpPr>
        <p:spPr>
          <a:xfrm>
            <a:off x="793790" y="3245525"/>
            <a:ext cx="7556421" cy="2418993"/>
          </a:xfrm>
          <a:prstGeom prst="roundRect">
            <a:avLst>
              <a:gd name="adj" fmla="val 3938"/>
            </a:avLst>
          </a:prstGeom>
          <a:solidFill>
            <a:srgbClr val="DDEEE6"/>
          </a:solidFill>
          <a:ln w="7620">
            <a:solidFill>
              <a:srgbClr val="C3D4CC"/>
            </a:solidFill>
            <a:prstDash val="solid"/>
          </a:ln>
        </p:spPr>
      </p:sp>
      <p:sp>
        <p:nvSpPr>
          <p:cNvPr id="5" name="Text 2"/>
          <p:cNvSpPr/>
          <p:nvPr/>
        </p:nvSpPr>
        <p:spPr>
          <a:xfrm>
            <a:off x="1028224" y="3479959"/>
            <a:ext cx="7087553" cy="907018"/>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These motives are those of which we are not aware of. they may be in the form of our repressed desires.</a:t>
            </a:r>
            <a:endParaRPr lang="en-US" sz="2200" dirty="0"/>
          </a:p>
        </p:txBody>
      </p:sp>
      <p:sp>
        <p:nvSpPr>
          <p:cNvPr id="6" name="Text 3"/>
          <p:cNvSpPr/>
          <p:nvPr/>
        </p:nvSpPr>
        <p:spPr>
          <a:xfrm>
            <a:off x="1028224" y="4523065"/>
            <a:ext cx="7087553" cy="907018"/>
          </a:xfrm>
          <a:prstGeom prst="rect">
            <a:avLst/>
          </a:prstGeom>
          <a:noFill/>
          <a:ln/>
        </p:spPr>
        <p:txBody>
          <a:bodyPr wrap="square" lIns="0" tIns="0" rIns="0" bIns="0" rtlCol="0" anchor="t"/>
          <a:lstStyle/>
          <a:p>
            <a:pPr marL="0" indent="0" algn="l">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they determine our irrational fears or phobias, likes and dislikes etc.</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124545"/>
            <a:ext cx="8723471" cy="708779"/>
          </a:xfrm>
          <a:prstGeom prst="rect">
            <a:avLst/>
          </a:prstGeom>
          <a:noFill/>
          <a:ln/>
        </p:spPr>
        <p:txBody>
          <a:bodyPr wrap="non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THEORIES OF MOTIVATION</a:t>
            </a:r>
            <a:endParaRPr lang="en-US" sz="4450" dirty="0"/>
          </a:p>
        </p:txBody>
      </p:sp>
      <p:sp>
        <p:nvSpPr>
          <p:cNvPr id="3" name="Text 1"/>
          <p:cNvSpPr/>
          <p:nvPr/>
        </p:nvSpPr>
        <p:spPr>
          <a:xfrm>
            <a:off x="793790" y="2400300"/>
            <a:ext cx="6244709" cy="1133951"/>
          </a:xfrm>
          <a:prstGeom prst="rect">
            <a:avLst/>
          </a:prstGeom>
          <a:noFill/>
          <a:ln/>
        </p:spPr>
        <p:txBody>
          <a:bodyPr wrap="square" lIns="0" tIns="0" rIns="0" bIns="0" rtlCol="0" anchor="t"/>
          <a:lstStyle/>
          <a:p>
            <a:pPr marL="0" indent="0">
              <a:lnSpc>
                <a:spcPts val="4450"/>
              </a:lnSpc>
              <a:buNone/>
            </a:pPr>
            <a:r>
              <a:rPr lang="en-US" sz="3550" b="1" dirty="0">
                <a:solidFill>
                  <a:srgbClr val="233939"/>
                </a:solidFill>
                <a:latin typeface="Syne Bold" pitchFamily="34" charset="0"/>
                <a:ea typeface="Syne Bold" pitchFamily="34" charset="-122"/>
                <a:cs typeface="Syne Bold" pitchFamily="34" charset="-120"/>
              </a:rPr>
              <a:t>Instinct theory of motivation</a:t>
            </a:r>
            <a:endParaRPr lang="en-US" sz="3550" dirty="0"/>
          </a:p>
        </p:txBody>
      </p:sp>
      <p:sp>
        <p:nvSpPr>
          <p:cNvPr id="4" name="Text 2"/>
          <p:cNvSpPr/>
          <p:nvPr/>
        </p:nvSpPr>
        <p:spPr>
          <a:xfrm>
            <a:off x="793790" y="3761065"/>
            <a:ext cx="6244709"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According to Instinct theories, people are motivated to behave in certain ways because they are evolutionarily programmed to do so.</a:t>
            </a:r>
            <a:endParaRPr lang="en-US" sz="1750" dirty="0"/>
          </a:p>
        </p:txBody>
      </p:sp>
      <p:sp>
        <p:nvSpPr>
          <p:cNvPr id="5" name="Text 3"/>
          <p:cNvSpPr/>
          <p:nvPr/>
        </p:nvSpPr>
        <p:spPr>
          <a:xfrm>
            <a:off x="793790" y="5200888"/>
            <a:ext cx="6244709"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example:- in animal world, seasonal migration. this animals do not learn to do this. it is instead an inborn pattern of behaviour.</a:t>
            </a:r>
            <a:endParaRPr lang="en-US" sz="1750" dirty="0"/>
          </a:p>
        </p:txBody>
      </p:sp>
      <p:sp>
        <p:nvSpPr>
          <p:cNvPr id="6" name="Text 4"/>
          <p:cNvSpPr/>
          <p:nvPr/>
        </p:nvSpPr>
        <p:spPr>
          <a:xfrm>
            <a:off x="7599521" y="2252782"/>
            <a:ext cx="6244709"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William James and McDougall used the principles of instincts to explain human motivation. </a:t>
            </a:r>
            <a:endParaRPr lang="en-US" sz="1750" dirty="0"/>
          </a:p>
        </p:txBody>
      </p:sp>
      <p:sp>
        <p:nvSpPr>
          <p:cNvPr id="7" name="Text 5"/>
          <p:cNvSpPr/>
          <p:nvPr/>
        </p:nvSpPr>
        <p:spPr>
          <a:xfrm>
            <a:off x="7599521" y="3692604"/>
            <a:ext cx="6244709"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Later, this instinctual theory was restructured by Sigmund Freud.</a:t>
            </a:r>
            <a:endParaRPr lang="en-US" sz="1750" dirty="0"/>
          </a:p>
        </p:txBody>
      </p:sp>
      <p:sp>
        <p:nvSpPr>
          <p:cNvPr id="8" name="Text 6"/>
          <p:cNvSpPr/>
          <p:nvPr/>
        </p:nvSpPr>
        <p:spPr>
          <a:xfrm>
            <a:off x="7599521" y="4678918"/>
            <a:ext cx="6244709"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William James claimed that instincts are of two kinds-those aroused within the individual and those aroused in the outer world.</a:t>
            </a:r>
            <a:endParaRPr lang="en-US" sz="1750" dirty="0"/>
          </a:p>
        </p:txBody>
      </p:sp>
      <p:sp>
        <p:nvSpPr>
          <p:cNvPr id="9" name="Text 7"/>
          <p:cNvSpPr/>
          <p:nvPr/>
        </p:nvSpPr>
        <p:spPr>
          <a:xfrm>
            <a:off x="7599521" y="6118741"/>
            <a:ext cx="6244709"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McDougall makes a similar claim that all human behaviours are motivated by instincts.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0081" y="511493"/>
            <a:ext cx="3715107" cy="464344"/>
          </a:xfrm>
          <a:prstGeom prst="rect">
            <a:avLst/>
          </a:prstGeom>
          <a:noFill/>
          <a:ln/>
        </p:spPr>
        <p:txBody>
          <a:bodyPr wrap="none" lIns="0" tIns="0" rIns="0" bIns="0" rtlCol="0" anchor="t"/>
          <a:lstStyle/>
          <a:p>
            <a:pPr marL="0" indent="0">
              <a:lnSpc>
                <a:spcPts val="3650"/>
              </a:lnSpc>
              <a:buNone/>
            </a:pPr>
            <a:r>
              <a:rPr lang="en-US" sz="2900" b="1" dirty="0">
                <a:solidFill>
                  <a:srgbClr val="233939"/>
                </a:solidFill>
                <a:latin typeface="Syne Bold" pitchFamily="34" charset="0"/>
                <a:ea typeface="Syne Bold" pitchFamily="34" charset="-122"/>
                <a:cs typeface="Syne Bold" pitchFamily="34" charset="-120"/>
              </a:rPr>
              <a:t>DRIVE THEORY</a:t>
            </a:r>
            <a:endParaRPr lang="en-US" sz="2900" dirty="0"/>
          </a:p>
        </p:txBody>
      </p:sp>
      <p:sp>
        <p:nvSpPr>
          <p:cNvPr id="4" name="Text 1"/>
          <p:cNvSpPr/>
          <p:nvPr/>
        </p:nvSpPr>
        <p:spPr>
          <a:xfrm>
            <a:off x="650081" y="1184791"/>
            <a:ext cx="7843838" cy="297180"/>
          </a:xfrm>
          <a:prstGeom prst="rect">
            <a:avLst/>
          </a:prstGeom>
          <a:noFill/>
          <a:ln/>
        </p:spPr>
        <p:txBody>
          <a:bodyPr wrap="none" lIns="0" tIns="0" rIns="0" bIns="0" rtlCol="0" anchor="t"/>
          <a:lstStyle/>
          <a:p>
            <a:pPr marL="0" indent="0">
              <a:lnSpc>
                <a:spcPts val="2300"/>
              </a:lnSpc>
              <a:buNone/>
            </a:pPr>
            <a:endParaRPr lang="en-US" sz="1450" dirty="0"/>
          </a:p>
        </p:txBody>
      </p:sp>
      <p:sp>
        <p:nvSpPr>
          <p:cNvPr id="5" name="Text 2"/>
          <p:cNvSpPr/>
          <p:nvPr/>
        </p:nvSpPr>
        <p:spPr>
          <a:xfrm>
            <a:off x="650081" y="1690926"/>
            <a:ext cx="7843838" cy="371475"/>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Drive theory was developed by</a:t>
            </a:r>
            <a:r>
              <a:rPr lang="en-US" sz="1450" b="1" dirty="0">
                <a:solidFill>
                  <a:srgbClr val="3B4E4E"/>
                </a:solidFill>
                <a:latin typeface="Overpass Light" pitchFamily="34" charset="0"/>
                <a:ea typeface="Overpass Light" pitchFamily="34" charset="-122"/>
                <a:cs typeface="Overpass Light" pitchFamily="34" charset="-120"/>
              </a:rPr>
              <a:t> Clark Leonard </a:t>
            </a:r>
            <a:r>
              <a:rPr lang="en-US" sz="1450" dirty="0">
                <a:solidFill>
                  <a:srgbClr val="3B4E4E"/>
                </a:solidFill>
                <a:latin typeface="Overpass Light" pitchFamily="34" charset="0"/>
                <a:ea typeface="Overpass Light" pitchFamily="34" charset="-122"/>
                <a:cs typeface="Overpass Light" pitchFamily="34" charset="-120"/>
              </a:rPr>
              <a:t>in 1943.</a:t>
            </a:r>
            <a:endParaRPr lang="en-US" sz="1450" dirty="0"/>
          </a:p>
        </p:txBody>
      </p:sp>
      <p:sp>
        <p:nvSpPr>
          <p:cNvPr id="6" name="Text 3"/>
          <p:cNvSpPr/>
          <p:nvPr/>
        </p:nvSpPr>
        <p:spPr>
          <a:xfrm>
            <a:off x="650081" y="2127409"/>
            <a:ext cx="7843838" cy="1114425"/>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According to drive theory of motivation, people are motivated to take certain actions in order to reduce the internal tension that is caused by unmet needs.</a:t>
            </a:r>
            <a:endParaRPr lang="en-US" sz="1450" dirty="0"/>
          </a:p>
        </p:txBody>
      </p:sp>
      <p:sp>
        <p:nvSpPr>
          <p:cNvPr id="7" name="Text 4"/>
          <p:cNvSpPr/>
          <p:nvPr/>
        </p:nvSpPr>
        <p:spPr>
          <a:xfrm>
            <a:off x="650081" y="3306842"/>
            <a:ext cx="7843838" cy="74295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example:- a person might be motivated to drink a glass of water in order to reduce the internal state of thirst .</a:t>
            </a:r>
            <a:endParaRPr lang="en-US" sz="1450" dirty="0"/>
          </a:p>
        </p:txBody>
      </p:sp>
      <p:sp>
        <p:nvSpPr>
          <p:cNvPr id="8" name="Text 5"/>
          <p:cNvSpPr/>
          <p:nvPr/>
        </p:nvSpPr>
        <p:spPr>
          <a:xfrm>
            <a:off x="650081" y="4114800"/>
            <a:ext cx="7843838" cy="371475"/>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Four drives- hunger ,thirst, sex and avoidance of pain.</a:t>
            </a:r>
            <a:endParaRPr lang="en-US" sz="1450" dirty="0"/>
          </a:p>
        </p:txBody>
      </p:sp>
      <p:sp>
        <p:nvSpPr>
          <p:cNvPr id="9" name="Text 6"/>
          <p:cNvSpPr/>
          <p:nvPr/>
        </p:nvSpPr>
        <p:spPr>
          <a:xfrm>
            <a:off x="650081" y="4551283"/>
            <a:ext cx="7843838" cy="74295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The theory is based on the idea that the body is constantly trying to maintain homeostasis, or balance. </a:t>
            </a:r>
            <a:endParaRPr lang="en-US" sz="1450" dirty="0"/>
          </a:p>
        </p:txBody>
      </p:sp>
      <p:sp>
        <p:nvSpPr>
          <p:cNvPr id="10" name="Text 7"/>
          <p:cNvSpPr/>
          <p:nvPr/>
        </p:nvSpPr>
        <p:spPr>
          <a:xfrm>
            <a:off x="650081" y="5359241"/>
            <a:ext cx="7843838" cy="74295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When a need is not met, the body experiences internal tension, or a "drive".</a:t>
            </a:r>
            <a:endParaRPr lang="en-US" sz="1450" dirty="0"/>
          </a:p>
        </p:txBody>
      </p:sp>
      <p:sp>
        <p:nvSpPr>
          <p:cNvPr id="11" name="Text 8"/>
          <p:cNvSpPr/>
          <p:nvPr/>
        </p:nvSpPr>
        <p:spPr>
          <a:xfrm>
            <a:off x="650081" y="6167199"/>
            <a:ext cx="7843838" cy="74295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To reduce this tension, the body is motivated to act in a way that meets the need.</a:t>
            </a:r>
            <a:endParaRPr lang="en-US" sz="1450" dirty="0"/>
          </a:p>
        </p:txBody>
      </p:sp>
      <p:sp>
        <p:nvSpPr>
          <p:cNvPr id="12" name="Text 9"/>
          <p:cNvSpPr/>
          <p:nvPr/>
        </p:nvSpPr>
        <p:spPr>
          <a:xfrm>
            <a:off x="650081" y="6975157"/>
            <a:ext cx="7843838" cy="74295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Once the need is met, the tension subsides and the drive is no longer present.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49511"/>
            <a:ext cx="6032063" cy="708779"/>
          </a:xfrm>
          <a:prstGeom prst="rect">
            <a:avLst/>
          </a:prstGeom>
          <a:noFill/>
          <a:ln/>
        </p:spPr>
        <p:txBody>
          <a:bodyPr wrap="non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AROUSAL THEORY</a:t>
            </a:r>
            <a:endParaRPr lang="en-US" sz="4450" dirty="0"/>
          </a:p>
        </p:txBody>
      </p:sp>
      <p:sp>
        <p:nvSpPr>
          <p:cNvPr id="4" name="Text 1"/>
          <p:cNvSpPr/>
          <p:nvPr/>
        </p:nvSpPr>
        <p:spPr>
          <a:xfrm>
            <a:off x="793790" y="1898452"/>
            <a:ext cx="7556421"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Arousal is the level of alertness, wakefulness and activation caused by activity in the central nervous system.</a:t>
            </a:r>
            <a:endParaRPr lang="en-US" sz="1750" dirty="0"/>
          </a:p>
        </p:txBody>
      </p:sp>
      <p:sp>
        <p:nvSpPr>
          <p:cNvPr id="5" name="Text 2"/>
          <p:cNvSpPr/>
          <p:nvPr/>
        </p:nvSpPr>
        <p:spPr>
          <a:xfrm>
            <a:off x="793790" y="3338274"/>
            <a:ext cx="7556421"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The arousal theory of motivation suggests that people takes certain actions to either decrease or increase levels of arousal.</a:t>
            </a:r>
            <a:endParaRPr lang="en-US" sz="1750" dirty="0"/>
          </a:p>
        </p:txBody>
      </p:sp>
      <p:sp>
        <p:nvSpPr>
          <p:cNvPr id="6" name="Text 3"/>
          <p:cNvSpPr/>
          <p:nvPr/>
        </p:nvSpPr>
        <p:spPr>
          <a:xfrm>
            <a:off x="793790" y="4778097"/>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When arousal levels are too low , a person might watch an exciting movie or go for a jog.</a:t>
            </a:r>
            <a:endParaRPr lang="en-US" sz="1750" dirty="0"/>
          </a:p>
        </p:txBody>
      </p:sp>
      <p:sp>
        <p:nvSpPr>
          <p:cNvPr id="7" name="Text 4"/>
          <p:cNvSpPr/>
          <p:nvPr/>
        </p:nvSpPr>
        <p:spPr>
          <a:xfrm>
            <a:off x="793790" y="5764411"/>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When arousal levels get too High, a person look for ways to relax such as meditating or reading a book.</a:t>
            </a:r>
            <a:endParaRPr lang="en-US" sz="1750" dirty="0"/>
          </a:p>
        </p:txBody>
      </p:sp>
      <p:sp>
        <p:nvSpPr>
          <p:cNvPr id="8" name="Text 5"/>
          <p:cNvSpPr/>
          <p:nvPr/>
        </p:nvSpPr>
        <p:spPr>
          <a:xfrm>
            <a:off x="793790" y="6926580"/>
            <a:ext cx="7556421" cy="453509"/>
          </a:xfrm>
          <a:prstGeom prst="rect">
            <a:avLst/>
          </a:prstGeom>
          <a:noFill/>
          <a:ln/>
        </p:spPr>
        <p:txBody>
          <a:bodyPr wrap="none" lIns="0" tIns="0" rIns="0" bIns="0" rtlCol="0" anchor="t"/>
          <a:lstStyle/>
          <a:p>
            <a:pPr marL="0" indent="0">
              <a:lnSpc>
                <a:spcPts val="3550"/>
              </a:lnSpc>
              <a:buNone/>
            </a:pP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23674"/>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INCENTIVE THEORY(PULL THEORY)</a:t>
            </a:r>
            <a:endParaRPr lang="en-US" sz="4450" dirty="0"/>
          </a:p>
        </p:txBody>
      </p:sp>
      <p:sp>
        <p:nvSpPr>
          <p:cNvPr id="4" name="Text 1"/>
          <p:cNvSpPr/>
          <p:nvPr/>
        </p:nvSpPr>
        <p:spPr>
          <a:xfrm>
            <a:off x="793790" y="3290173"/>
            <a:ext cx="7556421"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5" name="Text 2"/>
          <p:cNvSpPr/>
          <p:nvPr/>
        </p:nvSpPr>
        <p:spPr>
          <a:xfrm>
            <a:off x="793790" y="3908227"/>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It is based on behaviourists learning theories proposed by Thorndike, Watson and Skinner.</a:t>
            </a:r>
            <a:endParaRPr lang="en-US" sz="1750" dirty="0"/>
          </a:p>
        </p:txBody>
      </p:sp>
      <p:sp>
        <p:nvSpPr>
          <p:cNvPr id="6" name="Text 3"/>
          <p:cNvSpPr/>
          <p:nvPr/>
        </p:nvSpPr>
        <p:spPr>
          <a:xfrm>
            <a:off x="793790" y="4894540"/>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The incentive theory suggest that, people are motivated to do things because of external rewards.</a:t>
            </a:r>
            <a:endParaRPr lang="en-US" sz="1750" dirty="0"/>
          </a:p>
        </p:txBody>
      </p:sp>
      <p:sp>
        <p:nvSpPr>
          <p:cNvPr id="7" name="Text 4"/>
          <p:cNvSpPr/>
          <p:nvPr/>
        </p:nvSpPr>
        <p:spPr>
          <a:xfrm>
            <a:off x="793790" y="5880854"/>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Eg:- a student is motivated by the incentive of trophy for good grades.</a:t>
            </a:r>
            <a:endParaRPr lang="en-US" sz="1750" dirty="0"/>
          </a:p>
        </p:txBody>
      </p:sp>
      <p:sp>
        <p:nvSpPr>
          <p:cNvPr id="8" name="Text 5"/>
          <p:cNvSpPr/>
          <p:nvPr/>
        </p:nvSpPr>
        <p:spPr>
          <a:xfrm>
            <a:off x="793790" y="7043023"/>
            <a:ext cx="7556421" cy="362903"/>
          </a:xfrm>
          <a:prstGeom prst="rect">
            <a:avLst/>
          </a:prstGeom>
          <a:noFill/>
          <a:ln/>
        </p:spPr>
        <p:txBody>
          <a:bodyPr wrap="none" lIns="0" tIns="0" rIns="0" bIns="0" rtlCol="0" anchor="t"/>
          <a:lstStyle/>
          <a:p>
            <a:pPr marL="0" indent="0">
              <a:lnSpc>
                <a:spcPts val="2850"/>
              </a:lnSpc>
              <a:buNone/>
            </a:pP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11543"/>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MASLOW'S HIERARCHY OF NEEDS</a:t>
            </a:r>
            <a:endParaRPr lang="en-US" sz="4450" dirty="0"/>
          </a:p>
        </p:txBody>
      </p:sp>
      <p:sp>
        <p:nvSpPr>
          <p:cNvPr id="4" name="Text 1"/>
          <p:cNvSpPr/>
          <p:nvPr/>
        </p:nvSpPr>
        <p:spPr>
          <a:xfrm>
            <a:off x="793790" y="2669262"/>
            <a:ext cx="7556421" cy="453509"/>
          </a:xfrm>
          <a:prstGeom prst="rect">
            <a:avLst/>
          </a:prstGeom>
          <a:noFill/>
          <a:ln/>
        </p:spPr>
        <p:txBody>
          <a:bodyPr wrap="non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•Abraham Maslow proposed hierarchy of needs.</a:t>
            </a:r>
            <a:endParaRPr lang="en-US" sz="2200" dirty="0"/>
          </a:p>
        </p:txBody>
      </p:sp>
      <p:sp>
        <p:nvSpPr>
          <p:cNvPr id="5" name="Text 2"/>
          <p:cNvSpPr/>
          <p:nvPr/>
        </p:nvSpPr>
        <p:spPr>
          <a:xfrm>
            <a:off x="793790" y="3377922"/>
            <a:ext cx="7556421" cy="907018"/>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•His basic theme is that motivation, affects the person as a whole rather than just a part.</a:t>
            </a:r>
            <a:endParaRPr lang="en-US" sz="2200" dirty="0"/>
          </a:p>
        </p:txBody>
      </p:sp>
      <p:sp>
        <p:nvSpPr>
          <p:cNvPr id="6" name="Text 3"/>
          <p:cNvSpPr/>
          <p:nvPr/>
        </p:nvSpPr>
        <p:spPr>
          <a:xfrm>
            <a:off x="793790" y="4540091"/>
            <a:ext cx="7556421" cy="907018"/>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•He suggested 5 basic classes of needs that influence human behaviour .</a:t>
            </a:r>
            <a:endParaRPr lang="en-US" sz="2200" dirty="0"/>
          </a:p>
        </p:txBody>
      </p:sp>
      <p:sp>
        <p:nvSpPr>
          <p:cNvPr id="7" name="Text 4"/>
          <p:cNvSpPr/>
          <p:nvPr/>
        </p:nvSpPr>
        <p:spPr>
          <a:xfrm>
            <a:off x="793790" y="5702260"/>
            <a:ext cx="7556421" cy="907018"/>
          </a:xfrm>
          <a:prstGeom prst="rect">
            <a:avLst/>
          </a:prstGeom>
          <a:noFill/>
          <a:ln/>
        </p:spPr>
        <p:txBody>
          <a:bodyPr wrap="squar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•According to Maslow, needs at the lowest level of hierarchy satisfied before can be motivated by higher level goals.</a:t>
            </a:r>
            <a:endParaRPr lang="en-US" sz="2200" dirty="0"/>
          </a:p>
        </p:txBody>
      </p:sp>
      <p:sp>
        <p:nvSpPr>
          <p:cNvPr id="8" name="Text 5"/>
          <p:cNvSpPr/>
          <p:nvPr/>
        </p:nvSpPr>
        <p:spPr>
          <a:xfrm>
            <a:off x="793790" y="6864429"/>
            <a:ext cx="7556421" cy="453509"/>
          </a:xfrm>
          <a:prstGeom prst="rect">
            <a:avLst/>
          </a:prstGeom>
          <a:noFill/>
          <a:ln/>
        </p:spPr>
        <p:txBody>
          <a:bodyPr wrap="none" lIns="0" tIns="0" rIns="0" bIns="0" rtlCol="0" anchor="t"/>
          <a:lstStyle/>
          <a:p>
            <a:pPr marL="0" indent="0">
              <a:lnSpc>
                <a:spcPts val="3550"/>
              </a:lnSpc>
              <a:buNone/>
            </a:pP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04969" y="553879"/>
            <a:ext cx="5035987" cy="629483"/>
          </a:xfrm>
          <a:prstGeom prst="rect">
            <a:avLst/>
          </a:prstGeom>
          <a:noFill/>
          <a:ln/>
        </p:spPr>
        <p:txBody>
          <a:bodyPr wrap="none" lIns="0" tIns="0" rIns="0" bIns="0" rtlCol="0" anchor="t"/>
          <a:lstStyle/>
          <a:p>
            <a:pPr marL="0" indent="0">
              <a:lnSpc>
                <a:spcPts val="4950"/>
              </a:lnSpc>
              <a:buNone/>
            </a:pPr>
            <a:endParaRPr lang="en-US" sz="3950" dirty="0"/>
          </a:p>
        </p:txBody>
      </p:sp>
      <p:pic>
        <p:nvPicPr>
          <p:cNvPr id="3" name="Image 0" descr="preencoded.png"/>
          <p:cNvPicPr>
            <a:picLocks noChangeAspect="1"/>
          </p:cNvPicPr>
          <p:nvPr/>
        </p:nvPicPr>
        <p:blipFill>
          <a:blip r:embed="rId3"/>
          <a:stretch>
            <a:fillRect/>
          </a:stretch>
        </p:blipFill>
        <p:spPr>
          <a:xfrm>
            <a:off x="704969" y="1712000"/>
            <a:ext cx="3703677" cy="5238274"/>
          </a:xfrm>
          <a:prstGeom prst="rect">
            <a:avLst/>
          </a:prstGeom>
        </p:spPr>
      </p:pic>
      <p:sp>
        <p:nvSpPr>
          <p:cNvPr id="4" name="Text 1"/>
          <p:cNvSpPr/>
          <p:nvPr/>
        </p:nvSpPr>
        <p:spPr>
          <a:xfrm>
            <a:off x="5374600" y="1666637"/>
            <a:ext cx="8558332" cy="402908"/>
          </a:xfrm>
          <a:prstGeom prst="rect">
            <a:avLst/>
          </a:prstGeom>
          <a:noFill/>
          <a:ln/>
        </p:spPr>
        <p:txBody>
          <a:bodyPr wrap="none" lIns="0" tIns="0" rIns="0" bIns="0" rtlCol="0" anchor="t"/>
          <a:lstStyle/>
          <a:p>
            <a:pPr marL="0" indent="0">
              <a:lnSpc>
                <a:spcPts val="3150"/>
              </a:lnSpc>
              <a:buNone/>
            </a:pPr>
            <a:r>
              <a:rPr lang="en-US" sz="1950" b="1" dirty="0">
                <a:solidFill>
                  <a:srgbClr val="3B4E4E"/>
                </a:solidFill>
                <a:latin typeface="Overpass Light" pitchFamily="34" charset="0"/>
                <a:ea typeface="Overpass Light" pitchFamily="34" charset="-122"/>
                <a:cs typeface="Overpass Light" pitchFamily="34" charset="-120"/>
              </a:rPr>
              <a:t>Physiological needs- </a:t>
            </a:r>
            <a:r>
              <a:rPr lang="en-US" sz="1950" dirty="0">
                <a:solidFill>
                  <a:srgbClr val="3B4E4E"/>
                </a:solidFill>
                <a:latin typeface="Overpass Light" pitchFamily="34" charset="0"/>
                <a:ea typeface="Overpass Light" pitchFamily="34" charset="-122"/>
                <a:cs typeface="Overpass Light" pitchFamily="34" charset="-120"/>
              </a:rPr>
              <a:t>the most basic and urgent of all human needs.</a:t>
            </a:r>
            <a:endParaRPr lang="en-US" sz="1950" dirty="0"/>
          </a:p>
        </p:txBody>
      </p:sp>
      <p:sp>
        <p:nvSpPr>
          <p:cNvPr id="5" name="Text 2"/>
          <p:cNvSpPr/>
          <p:nvPr/>
        </p:nvSpPr>
        <p:spPr>
          <a:xfrm>
            <a:off x="5374600" y="2250758"/>
            <a:ext cx="8558332" cy="402908"/>
          </a:xfrm>
          <a:prstGeom prst="rect">
            <a:avLst/>
          </a:prstGeom>
          <a:noFill/>
          <a:ln/>
        </p:spPr>
        <p:txBody>
          <a:bodyPr wrap="none" lIns="0" tIns="0" rIns="0" bIns="0" rtlCol="0" anchor="t"/>
          <a:lstStyle/>
          <a:p>
            <a:pPr marL="0" indent="0">
              <a:lnSpc>
                <a:spcPts val="3150"/>
              </a:lnSpc>
              <a:buNone/>
            </a:pPr>
            <a:r>
              <a:rPr lang="en-US" sz="1950" dirty="0">
                <a:solidFill>
                  <a:srgbClr val="3B4E4E"/>
                </a:solidFill>
                <a:latin typeface="Overpass Light" pitchFamily="34" charset="0"/>
                <a:ea typeface="Overpass Light" pitchFamily="34" charset="-122"/>
                <a:cs typeface="Overpass Light" pitchFamily="34" charset="-120"/>
              </a:rPr>
              <a:t>Eg:- food ,water, oxygen ,sleep , sex.</a:t>
            </a:r>
            <a:endParaRPr lang="en-US" sz="1950" dirty="0"/>
          </a:p>
        </p:txBody>
      </p:sp>
      <p:sp>
        <p:nvSpPr>
          <p:cNvPr id="6" name="Text 3"/>
          <p:cNvSpPr/>
          <p:nvPr/>
        </p:nvSpPr>
        <p:spPr>
          <a:xfrm>
            <a:off x="5374600" y="2834878"/>
            <a:ext cx="8558332" cy="805815"/>
          </a:xfrm>
          <a:prstGeom prst="rect">
            <a:avLst/>
          </a:prstGeom>
          <a:noFill/>
          <a:ln/>
        </p:spPr>
        <p:txBody>
          <a:bodyPr wrap="square" lIns="0" tIns="0" rIns="0" bIns="0" rtlCol="0" anchor="t"/>
          <a:lstStyle/>
          <a:p>
            <a:pPr marL="0" indent="0">
              <a:lnSpc>
                <a:spcPts val="3150"/>
              </a:lnSpc>
              <a:buNone/>
            </a:pPr>
            <a:r>
              <a:rPr lang="en-US" sz="1950" b="1" dirty="0">
                <a:solidFill>
                  <a:srgbClr val="3B4E4E"/>
                </a:solidFill>
                <a:latin typeface="Overpass Light" pitchFamily="34" charset="0"/>
                <a:ea typeface="Overpass Light" pitchFamily="34" charset="-122"/>
                <a:cs typeface="Overpass Light" pitchFamily="34" charset="-120"/>
              </a:rPr>
              <a:t>Safety and security needs- </a:t>
            </a:r>
            <a:r>
              <a:rPr lang="en-US" sz="1950" dirty="0">
                <a:solidFill>
                  <a:srgbClr val="3B4E4E"/>
                </a:solidFill>
                <a:latin typeface="Overpass Light" pitchFamily="34" charset="0"/>
                <a:ea typeface="Overpass Light" pitchFamily="34" charset="-122"/>
                <a:cs typeface="Overpass Light" pitchFamily="34" charset="-120"/>
              </a:rPr>
              <a:t>once physiological needs are satisfied ,safety and security needs predominate.</a:t>
            </a:r>
            <a:endParaRPr lang="en-US" sz="1950" dirty="0"/>
          </a:p>
        </p:txBody>
      </p:sp>
      <p:sp>
        <p:nvSpPr>
          <p:cNvPr id="7" name="Text 4"/>
          <p:cNvSpPr/>
          <p:nvPr/>
        </p:nvSpPr>
        <p:spPr>
          <a:xfrm>
            <a:off x="5374600" y="3821906"/>
            <a:ext cx="8558332" cy="805815"/>
          </a:xfrm>
          <a:prstGeom prst="rect">
            <a:avLst/>
          </a:prstGeom>
          <a:noFill/>
          <a:ln/>
        </p:spPr>
        <p:txBody>
          <a:bodyPr wrap="square" lIns="0" tIns="0" rIns="0" bIns="0" rtlCol="0" anchor="t"/>
          <a:lstStyle/>
          <a:p>
            <a:pPr marL="0" indent="0" algn="l">
              <a:lnSpc>
                <a:spcPts val="3150"/>
              </a:lnSpc>
              <a:buNone/>
            </a:pPr>
            <a:r>
              <a:rPr lang="en-US" sz="1950" dirty="0">
                <a:solidFill>
                  <a:srgbClr val="3B4E4E"/>
                </a:solidFill>
                <a:latin typeface="Overpass Light" pitchFamily="34" charset="0"/>
                <a:ea typeface="Overpass Light" pitchFamily="34" charset="-122"/>
                <a:cs typeface="Overpass Light" pitchFamily="34" charset="-120"/>
              </a:rPr>
              <a:t>Safety needs are very important in childhood.</a:t>
            </a:r>
            <a:r>
              <a:rPr lang="en-US" sz="1950" i="1" dirty="0">
                <a:solidFill>
                  <a:srgbClr val="3B4E4E"/>
                </a:solidFill>
                <a:latin typeface="Overpass Light" pitchFamily="34" charset="0"/>
                <a:ea typeface="Overpass Light" pitchFamily="34" charset="-122"/>
                <a:cs typeface="Overpass Light" pitchFamily="34" charset="-120"/>
              </a:rPr>
              <a:t> </a:t>
            </a:r>
            <a:r>
              <a:rPr lang="en-US" sz="1950" dirty="0">
                <a:solidFill>
                  <a:srgbClr val="3B4E4E"/>
                </a:solidFill>
                <a:latin typeface="Overpass Light" pitchFamily="34" charset="0"/>
                <a:ea typeface="Overpass Light" pitchFamily="34" charset="-122"/>
                <a:cs typeface="Overpass Light" pitchFamily="34" charset="-120"/>
              </a:rPr>
              <a:t>the failure to satisfy needs of children may make the fearful and insecure adults.</a:t>
            </a:r>
            <a:endParaRPr lang="en-US" sz="1950" dirty="0"/>
          </a:p>
        </p:txBody>
      </p:sp>
      <p:sp>
        <p:nvSpPr>
          <p:cNvPr id="8" name="Text 5"/>
          <p:cNvSpPr/>
          <p:nvPr/>
        </p:nvSpPr>
        <p:spPr>
          <a:xfrm>
            <a:off x="5374600" y="4808934"/>
            <a:ext cx="8558332" cy="1208723"/>
          </a:xfrm>
          <a:prstGeom prst="rect">
            <a:avLst/>
          </a:prstGeom>
          <a:noFill/>
          <a:ln/>
        </p:spPr>
        <p:txBody>
          <a:bodyPr wrap="square" lIns="0" tIns="0" rIns="0" bIns="0" rtlCol="0" anchor="t"/>
          <a:lstStyle/>
          <a:p>
            <a:pPr marL="0" indent="0" algn="l">
              <a:lnSpc>
                <a:spcPts val="3150"/>
              </a:lnSpc>
              <a:buNone/>
            </a:pPr>
            <a:r>
              <a:rPr lang="en-US" sz="1950" b="1" dirty="0">
                <a:solidFill>
                  <a:srgbClr val="3B4E4E"/>
                </a:solidFill>
                <a:latin typeface="Overpass Light" pitchFamily="34" charset="0"/>
                <a:ea typeface="Overpass Light" pitchFamily="34" charset="-122"/>
                <a:cs typeface="Overpass Light" pitchFamily="34" charset="-120"/>
              </a:rPr>
              <a:t>Need for love and belongingness-</a:t>
            </a:r>
            <a:r>
              <a:rPr lang="en-US" sz="1950" dirty="0">
                <a:solidFill>
                  <a:srgbClr val="3B4E4E"/>
                </a:solidFill>
                <a:latin typeface="Overpass Light" pitchFamily="34" charset="0"/>
                <a:ea typeface="Overpass Light" pitchFamily="34" charset="-122"/>
                <a:cs typeface="Overpass Light" pitchFamily="34" charset="-120"/>
              </a:rPr>
              <a:t>the person at this level longs for affectionate relationship with others like family and social groups and sexual intimacy.</a:t>
            </a:r>
            <a:endParaRPr lang="en-US" sz="1950" dirty="0"/>
          </a:p>
        </p:txBody>
      </p:sp>
      <p:sp>
        <p:nvSpPr>
          <p:cNvPr id="9" name="Text 6"/>
          <p:cNvSpPr/>
          <p:nvPr/>
        </p:nvSpPr>
        <p:spPr>
          <a:xfrm>
            <a:off x="704969" y="7403425"/>
            <a:ext cx="13220462" cy="322302"/>
          </a:xfrm>
          <a:prstGeom prst="rect">
            <a:avLst/>
          </a:prstGeom>
          <a:noFill/>
          <a:ln/>
        </p:spPr>
        <p:txBody>
          <a:bodyPr wrap="none" lIns="0" tIns="0" rIns="0" bIns="0" rtlCol="0" anchor="t"/>
          <a:lstStyle/>
          <a:p>
            <a:pPr marL="0" indent="0">
              <a:lnSpc>
                <a:spcPts val="2500"/>
              </a:lnSpc>
              <a:buNone/>
            </a:pP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150620"/>
            <a:ext cx="5670590" cy="708779"/>
          </a:xfrm>
          <a:prstGeom prst="rect">
            <a:avLst/>
          </a:prstGeom>
          <a:noFill/>
          <a:ln/>
        </p:spPr>
        <p:txBody>
          <a:bodyPr wrap="none" lIns="0" tIns="0" rIns="0" bIns="0" rtlCol="0" anchor="t"/>
          <a:lstStyle/>
          <a:p>
            <a:pPr marL="0" indent="0">
              <a:lnSpc>
                <a:spcPts val="5550"/>
              </a:lnSpc>
              <a:buNone/>
            </a:pPr>
            <a:endParaRPr lang="en-US" sz="4450" dirty="0"/>
          </a:p>
        </p:txBody>
      </p:sp>
      <p:sp>
        <p:nvSpPr>
          <p:cNvPr id="3" name="Shape 1"/>
          <p:cNvSpPr/>
          <p:nvPr/>
        </p:nvSpPr>
        <p:spPr>
          <a:xfrm>
            <a:off x="793790" y="2313027"/>
            <a:ext cx="6408063" cy="4765834"/>
          </a:xfrm>
          <a:prstGeom prst="roundRect">
            <a:avLst>
              <a:gd name="adj" fmla="val 1999"/>
            </a:avLst>
          </a:prstGeom>
          <a:solidFill>
            <a:srgbClr val="DDEEE6"/>
          </a:solidFill>
          <a:ln w="7620">
            <a:solidFill>
              <a:srgbClr val="C3D4CC"/>
            </a:solidFill>
            <a:prstDash val="solid"/>
          </a:ln>
        </p:spPr>
      </p:sp>
      <p:sp>
        <p:nvSpPr>
          <p:cNvPr id="4" name="Text 2"/>
          <p:cNvSpPr/>
          <p:nvPr/>
        </p:nvSpPr>
        <p:spPr>
          <a:xfrm>
            <a:off x="1028224" y="2547461"/>
            <a:ext cx="5939195" cy="1814036"/>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Self esteem needs- </a:t>
            </a:r>
            <a:r>
              <a:rPr lang="en-US" sz="2200" dirty="0">
                <a:solidFill>
                  <a:srgbClr val="3B4E4E"/>
                </a:solidFill>
                <a:latin typeface="Overpass Light" pitchFamily="34" charset="0"/>
                <a:ea typeface="Overpass Light" pitchFamily="34" charset="-122"/>
                <a:cs typeface="Overpass Light" pitchFamily="34" charset="-120"/>
              </a:rPr>
              <a:t>once people find themselves loved and loving members, they want self respect ,confidence and admiration of others.</a:t>
            </a:r>
            <a:endParaRPr lang="en-US" sz="2200" dirty="0"/>
          </a:p>
        </p:txBody>
      </p:sp>
      <p:sp>
        <p:nvSpPr>
          <p:cNvPr id="5" name="Text 3"/>
          <p:cNvSpPr/>
          <p:nvPr/>
        </p:nvSpPr>
        <p:spPr>
          <a:xfrm>
            <a:off x="1028224" y="4497586"/>
            <a:ext cx="5939195"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Dissatisfaction of self esteem needs generates feeling of inferiority and weakness.</a:t>
            </a:r>
            <a:endParaRPr lang="en-US" sz="1750" dirty="0"/>
          </a:p>
        </p:txBody>
      </p:sp>
      <p:sp>
        <p:nvSpPr>
          <p:cNvPr id="6" name="Shape 4"/>
          <p:cNvSpPr/>
          <p:nvPr/>
        </p:nvSpPr>
        <p:spPr>
          <a:xfrm>
            <a:off x="7428667" y="2313027"/>
            <a:ext cx="6408063" cy="4765834"/>
          </a:xfrm>
          <a:prstGeom prst="roundRect">
            <a:avLst>
              <a:gd name="adj" fmla="val 1999"/>
            </a:avLst>
          </a:prstGeom>
          <a:solidFill>
            <a:srgbClr val="DDEEE6"/>
          </a:solidFill>
          <a:ln w="7620">
            <a:solidFill>
              <a:srgbClr val="C3D4CC"/>
            </a:solidFill>
            <a:prstDash val="solid"/>
          </a:ln>
        </p:spPr>
      </p:sp>
      <p:sp>
        <p:nvSpPr>
          <p:cNvPr id="7" name="Text 5"/>
          <p:cNvSpPr/>
          <p:nvPr/>
        </p:nvSpPr>
        <p:spPr>
          <a:xfrm>
            <a:off x="7663101" y="2547461"/>
            <a:ext cx="5939195" cy="907018"/>
          </a:xfrm>
          <a:prstGeom prst="rect">
            <a:avLst/>
          </a:prstGeom>
          <a:noFill/>
          <a:ln/>
        </p:spPr>
        <p:txBody>
          <a:bodyPr wrap="square" lIns="0" tIns="0" rIns="0" bIns="0" rtlCol="0" anchor="t"/>
          <a:lstStyle/>
          <a:p>
            <a:pPr marL="0" indent="0">
              <a:lnSpc>
                <a:spcPts val="3550"/>
              </a:lnSpc>
              <a:buNone/>
            </a:pPr>
            <a:r>
              <a:rPr lang="en-US" sz="2200" b="1" dirty="0">
                <a:solidFill>
                  <a:srgbClr val="3B4E4E"/>
                </a:solidFill>
                <a:latin typeface="Overpass Light" pitchFamily="34" charset="0"/>
                <a:ea typeface="Overpass Light" pitchFamily="34" charset="-122"/>
                <a:cs typeface="Overpass Light" pitchFamily="34" charset="-120"/>
              </a:rPr>
              <a:t>Self actualization- </a:t>
            </a:r>
            <a:r>
              <a:rPr lang="en-US" sz="2200" dirty="0">
                <a:solidFill>
                  <a:srgbClr val="3B4E4E"/>
                </a:solidFill>
                <a:latin typeface="Overpass Light" pitchFamily="34" charset="0"/>
                <a:ea typeface="Overpass Light" pitchFamily="34" charset="-122"/>
                <a:cs typeface="Overpass Light" pitchFamily="34" charset="-120"/>
              </a:rPr>
              <a:t>according to Maslow, self actualization is the highest human Motive.</a:t>
            </a:r>
            <a:endParaRPr lang="en-US" sz="2200" dirty="0"/>
          </a:p>
        </p:txBody>
      </p:sp>
      <p:sp>
        <p:nvSpPr>
          <p:cNvPr id="8" name="Text 6"/>
          <p:cNvSpPr/>
          <p:nvPr/>
        </p:nvSpPr>
        <p:spPr>
          <a:xfrm>
            <a:off x="7663101" y="3590568"/>
            <a:ext cx="5939195"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It is the need for self fulfilment, the sense that one is becoming everything that he is capable of being and using full potential.</a:t>
            </a:r>
            <a:endParaRPr lang="en-US" sz="1750" dirty="0"/>
          </a:p>
        </p:txBody>
      </p:sp>
      <p:sp>
        <p:nvSpPr>
          <p:cNvPr id="9" name="Text 7"/>
          <p:cNvSpPr/>
          <p:nvPr/>
        </p:nvSpPr>
        <p:spPr>
          <a:xfrm>
            <a:off x="7663101" y="5030391"/>
            <a:ext cx="5939195" cy="1814036"/>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self actualized people are realistically oriented ,problem centered, they have a need for privacy, more independent , intimate relations, good sense of humour.</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27591"/>
            <a:ext cx="6481167" cy="708779"/>
          </a:xfrm>
          <a:prstGeom prst="rect">
            <a:avLst/>
          </a:prstGeom>
          <a:noFill/>
          <a:ln/>
        </p:spPr>
        <p:txBody>
          <a:bodyPr wrap="none" lIns="0" tIns="0" rIns="0" bIns="0" rtlCol="0" anchor="t"/>
          <a:lstStyle/>
          <a:p>
            <a:pPr marL="0" indent="0">
              <a:lnSpc>
                <a:spcPts val="5550"/>
              </a:lnSpc>
              <a:buNone/>
            </a:pPr>
            <a:r>
              <a:rPr lang="en-US" sz="4450" b="1" dirty="0">
                <a:solidFill>
                  <a:srgbClr val="233939"/>
                </a:solidFill>
                <a:latin typeface="Syne Bold" pitchFamily="34" charset="0"/>
                <a:ea typeface="Syne Bold" pitchFamily="34" charset="-122"/>
                <a:cs typeface="Syne Bold" pitchFamily="34" charset="-120"/>
              </a:rPr>
              <a:t>MOTIVATION CYCLE</a:t>
            </a:r>
            <a:endParaRPr lang="en-US" sz="4450" dirty="0"/>
          </a:p>
        </p:txBody>
      </p:sp>
      <p:sp>
        <p:nvSpPr>
          <p:cNvPr id="4" name="Text 1"/>
          <p:cNvSpPr/>
          <p:nvPr/>
        </p:nvSpPr>
        <p:spPr>
          <a:xfrm>
            <a:off x="793790" y="1776532"/>
            <a:ext cx="7556421" cy="1814036"/>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Drive theories says, when an internal drive state is aroused, the individual is pushed to engage in behaviour which will lead to a goal, reducing the intensity of the drive state. Motivation consists of a :-</a:t>
            </a:r>
            <a:endParaRPr lang="en-US" sz="1750" dirty="0"/>
          </a:p>
        </p:txBody>
      </p:sp>
      <p:sp>
        <p:nvSpPr>
          <p:cNvPr id="5" name="Text 2"/>
          <p:cNvSpPr/>
          <p:nvPr/>
        </p:nvSpPr>
        <p:spPr>
          <a:xfrm>
            <a:off x="793790" y="3669863"/>
            <a:ext cx="7556421" cy="453509"/>
          </a:xfrm>
          <a:prstGeom prst="rect">
            <a:avLst/>
          </a:prstGeom>
          <a:noFill/>
          <a:ln/>
        </p:spPr>
        <p:txBody>
          <a:bodyPr wrap="none" lIns="0" tIns="0" rIns="0" bIns="0" rtlCol="0" anchor="t"/>
          <a:lstStyle/>
          <a:p>
            <a:pPr marL="342900" indent="-342900">
              <a:lnSpc>
                <a:spcPts val="2850"/>
              </a:lnSpc>
              <a:buSzPct val="100000"/>
              <a:buFont typeface="+mj-lt"/>
              <a:buAutoNum type="arabicPeriod"/>
            </a:pPr>
            <a:r>
              <a:rPr lang="en-US" sz="1750" dirty="0">
                <a:solidFill>
                  <a:srgbClr val="3B4E4E"/>
                </a:solidFill>
                <a:latin typeface="Overpass Light" pitchFamily="34" charset="0"/>
                <a:ea typeface="Overpass Light" pitchFamily="34" charset="-122"/>
                <a:cs typeface="Overpass Light" pitchFamily="34" charset="-120"/>
              </a:rPr>
              <a:t>Drive state.</a:t>
            </a:r>
            <a:endParaRPr lang="en-US" sz="1750" dirty="0"/>
          </a:p>
        </p:txBody>
      </p:sp>
      <p:sp>
        <p:nvSpPr>
          <p:cNvPr id="6" name="Text 3"/>
          <p:cNvSpPr/>
          <p:nvPr/>
        </p:nvSpPr>
        <p:spPr>
          <a:xfrm>
            <a:off x="793790" y="4202668"/>
            <a:ext cx="7556421" cy="453509"/>
          </a:xfrm>
          <a:prstGeom prst="rect">
            <a:avLst/>
          </a:prstGeom>
          <a:noFill/>
          <a:ln/>
        </p:spPr>
        <p:txBody>
          <a:bodyPr wrap="none" lIns="0" tIns="0" rIns="0" bIns="0" rtlCol="0" anchor="t"/>
          <a:lstStyle/>
          <a:p>
            <a:pPr marL="342900" indent="-342900">
              <a:lnSpc>
                <a:spcPts val="2850"/>
              </a:lnSpc>
              <a:buSzPct val="100000"/>
              <a:buFont typeface="+mj-lt"/>
              <a:buAutoNum type="arabicPeriod" startAt="2"/>
            </a:pPr>
            <a:r>
              <a:rPr lang="en-US" sz="1750" dirty="0">
                <a:solidFill>
                  <a:srgbClr val="3B4E4E"/>
                </a:solidFill>
                <a:latin typeface="Overpass Light" pitchFamily="34" charset="0"/>
                <a:ea typeface="Overpass Light" pitchFamily="34" charset="-122"/>
                <a:cs typeface="Overpass Light" pitchFamily="34" charset="-120"/>
              </a:rPr>
              <a:t>Goal directed behaviour initiated by the drive state.</a:t>
            </a:r>
            <a:endParaRPr lang="en-US" sz="1750" dirty="0"/>
          </a:p>
        </p:txBody>
      </p:sp>
      <p:sp>
        <p:nvSpPr>
          <p:cNvPr id="7" name="Text 4"/>
          <p:cNvSpPr/>
          <p:nvPr/>
        </p:nvSpPr>
        <p:spPr>
          <a:xfrm>
            <a:off x="793790" y="4735473"/>
            <a:ext cx="7556421" cy="453509"/>
          </a:xfrm>
          <a:prstGeom prst="rect">
            <a:avLst/>
          </a:prstGeom>
          <a:noFill/>
          <a:ln/>
        </p:spPr>
        <p:txBody>
          <a:bodyPr wrap="none" lIns="0" tIns="0" rIns="0" bIns="0" rtlCol="0" anchor="t"/>
          <a:lstStyle/>
          <a:p>
            <a:pPr marL="342900" indent="-342900">
              <a:lnSpc>
                <a:spcPts val="2850"/>
              </a:lnSpc>
              <a:buSzPct val="100000"/>
              <a:buFont typeface="+mj-lt"/>
              <a:buAutoNum type="arabicPeriod" startAt="3"/>
            </a:pPr>
            <a:r>
              <a:rPr lang="en-US" sz="1750" dirty="0">
                <a:solidFill>
                  <a:srgbClr val="3B4E4E"/>
                </a:solidFill>
                <a:latin typeface="Overpass Light" pitchFamily="34" charset="0"/>
                <a:ea typeface="Overpass Light" pitchFamily="34" charset="-122"/>
                <a:cs typeface="Overpass Light" pitchFamily="34" charset="-120"/>
              </a:rPr>
              <a:t>The attainment of an appropriate goal.</a:t>
            </a:r>
            <a:endParaRPr lang="en-US" sz="1750" dirty="0"/>
          </a:p>
        </p:txBody>
      </p:sp>
      <p:sp>
        <p:nvSpPr>
          <p:cNvPr id="8" name="Text 5"/>
          <p:cNvSpPr/>
          <p:nvPr/>
        </p:nvSpPr>
        <p:spPr>
          <a:xfrm>
            <a:off x="793790" y="5268278"/>
            <a:ext cx="7556421" cy="907018"/>
          </a:xfrm>
          <a:prstGeom prst="rect">
            <a:avLst/>
          </a:prstGeom>
          <a:noFill/>
          <a:ln/>
        </p:spPr>
        <p:txBody>
          <a:bodyPr wrap="square" lIns="0" tIns="0" rIns="0" bIns="0" rtlCol="0" anchor="t"/>
          <a:lstStyle/>
          <a:p>
            <a:pPr marL="342900" indent="-342900">
              <a:lnSpc>
                <a:spcPts val="2850"/>
              </a:lnSpc>
              <a:buSzPct val="100000"/>
              <a:buFont typeface="+mj-lt"/>
              <a:buAutoNum type="arabicPeriod" startAt="4"/>
            </a:pPr>
            <a:r>
              <a:rPr lang="en-US" sz="1750" dirty="0">
                <a:solidFill>
                  <a:srgbClr val="3B4E4E"/>
                </a:solidFill>
                <a:latin typeface="Overpass Light" pitchFamily="34" charset="0"/>
                <a:ea typeface="Overpass Light" pitchFamily="34" charset="-122"/>
                <a:cs typeface="Overpass Light" pitchFamily="34" charset="-120"/>
              </a:rPr>
              <a:t>The reduction of the drive state and subjective satisfaction and relief when the goal is reached.</a:t>
            </a:r>
            <a:endParaRPr lang="en-US" sz="1750" dirty="0"/>
          </a:p>
        </p:txBody>
      </p:sp>
      <p:sp>
        <p:nvSpPr>
          <p:cNvPr id="9" name="Text 6"/>
          <p:cNvSpPr/>
          <p:nvPr/>
        </p:nvSpPr>
        <p:spPr>
          <a:xfrm>
            <a:off x="793790" y="6430447"/>
            <a:ext cx="7556421" cy="453509"/>
          </a:xfrm>
          <a:prstGeom prst="rect">
            <a:avLst/>
          </a:prstGeom>
          <a:noFill/>
          <a:ln/>
        </p:spPr>
        <p:txBody>
          <a:bodyPr wrap="none" lIns="0" tIns="0" rIns="0" bIns="0" rtlCol="0" anchor="t"/>
          <a:lstStyle/>
          <a:p>
            <a:pPr marL="0" indent="0">
              <a:lnSpc>
                <a:spcPts val="3550"/>
              </a:lnSpc>
              <a:buNone/>
            </a:pPr>
            <a:r>
              <a:rPr lang="en-US" sz="2200" dirty="0">
                <a:solidFill>
                  <a:srgbClr val="3B4E4E"/>
                </a:solidFill>
                <a:latin typeface="Overpass Light" pitchFamily="34" charset="0"/>
                <a:ea typeface="Overpass Light" pitchFamily="34" charset="-122"/>
                <a:cs typeface="Overpass Light" pitchFamily="34" charset="-120"/>
              </a:rPr>
              <a:t>• The sequence of events is called </a:t>
            </a:r>
            <a:r>
              <a:rPr lang="en-US" sz="2200" b="1" dirty="0">
                <a:solidFill>
                  <a:srgbClr val="3B4E4E"/>
                </a:solidFill>
                <a:latin typeface="Overpass Light" pitchFamily="34" charset="0"/>
                <a:ea typeface="Overpass Light" pitchFamily="34" charset="-122"/>
                <a:cs typeface="Overpass Light" pitchFamily="34" charset="-120"/>
              </a:rPr>
              <a:t>motivational cycle.</a:t>
            </a:r>
            <a:endParaRPr lang="en-US" sz="2200" dirty="0"/>
          </a:p>
        </p:txBody>
      </p:sp>
      <p:sp>
        <p:nvSpPr>
          <p:cNvPr id="10" name="Text 7"/>
          <p:cNvSpPr/>
          <p:nvPr/>
        </p:nvSpPr>
        <p:spPr>
          <a:xfrm>
            <a:off x="793790" y="7139107"/>
            <a:ext cx="7556421" cy="362903"/>
          </a:xfrm>
          <a:prstGeom prst="rect">
            <a:avLst/>
          </a:prstGeom>
          <a:noFill/>
          <a:ln/>
        </p:spPr>
        <p:txBody>
          <a:bodyPr wrap="none" lIns="0" tIns="0" rIns="0" bIns="0" rtlCol="0" anchor="t"/>
          <a:lstStyle/>
          <a:p>
            <a:pPr marL="0" indent="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1398</Words>
  <Application>Microsoft Office PowerPoint</Application>
  <PresentationFormat>Custom</PresentationFormat>
  <Paragraphs>104</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Overpass Light</vt:lpstr>
      <vt:lpstr>Syne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Shirin Shahana</cp:lastModifiedBy>
  <cp:revision>2</cp:revision>
  <dcterms:created xsi:type="dcterms:W3CDTF">2025-01-26T15:21:33Z</dcterms:created>
  <dcterms:modified xsi:type="dcterms:W3CDTF">2025-01-26T03:27:37Z</dcterms:modified>
</cp:coreProperties>
</file>