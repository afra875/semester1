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93" r:id="rId3"/>
    <p:sldId id="294" r:id="rId4"/>
    <p:sldId id="295" r:id="rId5"/>
    <p:sldId id="257" r:id="rId6"/>
    <p:sldId id="258" r:id="rId7"/>
    <p:sldId id="296" r:id="rId8"/>
    <p:sldId id="259" r:id="rId9"/>
    <p:sldId id="260" r:id="rId10"/>
    <p:sldId id="261" r:id="rId11"/>
    <p:sldId id="298" r:id="rId12"/>
    <p:sldId id="297" r:id="rId13"/>
    <p:sldId id="300" r:id="rId14"/>
    <p:sldId id="262" r:id="rId15"/>
    <p:sldId id="299" r:id="rId16"/>
    <p:sldId id="276" r:id="rId17"/>
    <p:sldId id="275" r:id="rId18"/>
    <p:sldId id="307" r:id="rId19"/>
    <p:sldId id="268" r:id="rId20"/>
    <p:sldId id="269" r:id="rId21"/>
    <p:sldId id="270" r:id="rId22"/>
    <p:sldId id="306" r:id="rId23"/>
    <p:sldId id="271" r:id="rId24"/>
    <p:sldId id="272" r:id="rId25"/>
    <p:sldId id="309" r:id="rId26"/>
    <p:sldId id="277" r:id="rId27"/>
    <p:sldId id="274" r:id="rId28"/>
    <p:sldId id="310" r:id="rId29"/>
    <p:sldId id="304" r:id="rId30"/>
    <p:sldId id="305" r:id="rId31"/>
    <p:sldId id="311" r:id="rId32"/>
    <p:sldId id="319" r:id="rId33"/>
    <p:sldId id="303" r:id="rId34"/>
    <p:sldId id="314" r:id="rId35"/>
    <p:sldId id="278" r:id="rId36"/>
    <p:sldId id="315" r:id="rId37"/>
    <p:sldId id="279" r:id="rId38"/>
    <p:sldId id="317" r:id="rId39"/>
    <p:sldId id="318" r:id="rId40"/>
    <p:sldId id="316" r:id="rId41"/>
    <p:sldId id="280" r:id="rId42"/>
    <p:sldId id="282" r:id="rId43"/>
    <p:sldId id="283" r:id="rId44"/>
    <p:sldId id="284" r:id="rId45"/>
    <p:sldId id="312" r:id="rId46"/>
    <p:sldId id="313" r:id="rId47"/>
    <p:sldId id="285" r:id="rId48"/>
    <p:sldId id="286" r:id="rId49"/>
    <p:sldId id="287" r:id="rId50"/>
    <p:sldId id="288" r:id="rId51"/>
    <p:sldId id="320" r:id="rId52"/>
    <p:sldId id="290" r:id="rId53"/>
    <p:sldId id="291" r:id="rId54"/>
    <p:sldId id="292"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842" autoAdjust="0"/>
  </p:normalViewPr>
  <p:slideViewPr>
    <p:cSldViewPr>
      <p:cViewPr varScale="1">
        <p:scale>
          <a:sx n="62" d="100"/>
          <a:sy n="62" d="100"/>
        </p:scale>
        <p:origin x="1596"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3/7/2021</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3/7/2021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3/7/2021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3/7/2021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3/7/2021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3/7/2021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3/7/2021</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3/7/2021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3/7/2021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3/7/2021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3/7/2021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3/7/2021</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ideo" Target="file:///C:\Users\Admin\Downloads\Lungs%20and%20Breathing%20-%203D%20Medical%20Animation%20__%20ABP%20_copyright_%20(%20480%20X%20640%20).mp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400" b="1" dirty="0" smtClean="0">
                <a:solidFill>
                  <a:srgbClr val="C00000"/>
                </a:solidFill>
              </a:rPr>
              <a:t>RESPIRATIONS</a:t>
            </a:r>
            <a:endParaRPr lang="en-US" sz="5400" b="1" dirty="0">
              <a:solidFill>
                <a:srgbClr val="C00000"/>
              </a:solidFill>
            </a:endParaRPr>
          </a:p>
        </p:txBody>
      </p:sp>
      <p:sp>
        <p:nvSpPr>
          <p:cNvPr id="3" name="Subtitle 2"/>
          <p:cNvSpPr>
            <a:spLocks noGrp="1"/>
          </p:cNvSpPr>
          <p:nvPr>
            <p:ph type="subTitle" idx="1"/>
          </p:nvPr>
        </p:nvSpPr>
        <p:spPr/>
        <p:txBody>
          <a:bodyPr/>
          <a:lstStyle/>
          <a:p>
            <a:endParaRPr lang="en-US"/>
          </a:p>
        </p:txBody>
      </p:sp>
      <p:pic>
        <p:nvPicPr>
          <p:cNvPr id="1027" name="Picture 3" descr="C:\Users\Admin\Desktop\68780705-happy-smiling-lungs-logotype-cheerful-cartoon-character-logo-in-flat-line-style-positive-respiratory.jpg"/>
          <p:cNvPicPr>
            <a:picLocks noChangeAspect="1" noChangeArrowheads="1"/>
          </p:cNvPicPr>
          <p:nvPr/>
        </p:nvPicPr>
        <p:blipFill>
          <a:blip r:embed="rId2" cstate="print"/>
          <a:srcRect/>
          <a:stretch>
            <a:fillRect/>
          </a:stretch>
        </p:blipFill>
        <p:spPr bwMode="auto">
          <a:xfrm>
            <a:off x="5181600" y="2895600"/>
            <a:ext cx="3962400" cy="396240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descr="C:\Users\Admin\Desktop\Respiration-2.jpg"/>
          <p:cNvPicPr>
            <a:picLocks noChangeAspect="1" noChangeArrowheads="1"/>
          </p:cNvPicPr>
          <p:nvPr/>
        </p:nvPicPr>
        <p:blipFill>
          <a:blip r:embed="rId2"/>
          <a:srcRect/>
          <a:stretch>
            <a:fillRect/>
          </a:stretch>
        </p:blipFill>
        <p:spPr bwMode="auto">
          <a:xfrm>
            <a:off x="285750" y="95250"/>
            <a:ext cx="8572500" cy="666750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descr="C:\Users\Admin\Desktop\Respiration-.jpg"/>
          <p:cNvPicPr>
            <a:picLocks noChangeAspect="1" noChangeArrowheads="1"/>
          </p:cNvPicPr>
          <p:nvPr/>
        </p:nvPicPr>
        <p:blipFill>
          <a:blip r:embed="rId2"/>
          <a:srcRect/>
          <a:stretch>
            <a:fillRect/>
          </a:stretch>
        </p:blipFill>
        <p:spPr bwMode="auto">
          <a:xfrm>
            <a:off x="0" y="0"/>
            <a:ext cx="9311878" cy="68580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Lungs and Breathing - 3D Medical Animation __ ABP _copyright_ ( 480 X 640 ).mp4">
            <a:hlinkClick r:id="" action="ppaction://media"/>
          </p:cNvPr>
          <p:cNvPicPr>
            <a:picLocks noGrp="1" noRot="1" noChangeAspect="1"/>
          </p:cNvPicPr>
          <p:nvPr>
            <p:ph idx="1"/>
            <a:videoFile r:link="rId1"/>
          </p:nvPr>
        </p:nvPicPr>
        <p:blipFill>
          <a:blip r:embed="rId3"/>
          <a:stretch>
            <a:fillRect/>
          </a:stretch>
        </p:blipFill>
        <p:spPr>
          <a:xfrm>
            <a:off x="2590800" y="2362200"/>
            <a:ext cx="3810000" cy="285750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p:cTn id="7" fill="hold" display="0">
                  <p:stCondLst>
                    <p:cond delay="indefinite"/>
                  </p:stCondLst>
                  <p:endCondLst>
                    <p:cond evt="onNext" delay="0">
                      <p:tgtEl>
                        <p:sldTgt/>
                      </p:tgtEl>
                    </p:cond>
                    <p:cond evt="onPrev" delay="0">
                      <p:tgtEl>
                        <p:sldTgt/>
                      </p:tgtEl>
                    </p:cond>
                  </p:endCondLst>
                </p:cTn>
                <p:tgtEl>
                  <p:spTgt spid="5"/>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172200"/>
          </a:xfrm>
        </p:spPr>
        <p:txBody>
          <a:bodyPr>
            <a:noAutofit/>
          </a:bodyPr>
          <a:lstStyle/>
          <a:p>
            <a:pPr algn="just"/>
            <a:r>
              <a:rPr lang="en-US" sz="4000" dirty="0" smtClean="0">
                <a:latin typeface="Times New Roman" pitchFamily="18" charset="0"/>
                <a:cs typeface="Times New Roman" pitchFamily="18" charset="0"/>
              </a:rPr>
              <a:t>Respiration is the </a:t>
            </a:r>
            <a:r>
              <a:rPr lang="en-US" sz="4000" dirty="0" smtClean="0">
                <a:solidFill>
                  <a:srgbClr val="00B050"/>
                </a:solidFill>
                <a:latin typeface="Times New Roman" pitchFamily="18" charset="0"/>
                <a:cs typeface="Times New Roman" pitchFamily="18" charset="0"/>
              </a:rPr>
              <a:t>act of breathing</a:t>
            </a:r>
            <a:r>
              <a:rPr lang="en-US" sz="4000" dirty="0" smtClean="0">
                <a:latin typeface="Times New Roman" pitchFamily="18" charset="0"/>
                <a:cs typeface="Times New Roman" pitchFamily="18" charset="0"/>
              </a:rPr>
              <a:t>.</a:t>
            </a:r>
          </a:p>
          <a:p>
            <a:pPr algn="just"/>
            <a:r>
              <a:rPr lang="en-US" sz="4000" dirty="0" smtClean="0">
                <a:solidFill>
                  <a:srgbClr val="00B050"/>
                </a:solidFill>
                <a:latin typeface="Times New Roman" pitchFamily="18" charset="0"/>
                <a:cs typeface="Times New Roman" pitchFamily="18" charset="0"/>
              </a:rPr>
              <a:t>Inhalation or inspiration </a:t>
            </a:r>
            <a:r>
              <a:rPr lang="en-US" sz="4000" dirty="0" smtClean="0">
                <a:latin typeface="Times New Roman" pitchFamily="18" charset="0"/>
                <a:cs typeface="Times New Roman" pitchFamily="18" charset="0"/>
              </a:rPr>
              <a:t>refers to the intake of air into the lungs. </a:t>
            </a:r>
          </a:p>
          <a:p>
            <a:pPr algn="just"/>
            <a:r>
              <a:rPr lang="en-US" sz="4000" dirty="0" smtClean="0">
                <a:solidFill>
                  <a:srgbClr val="00B050"/>
                </a:solidFill>
                <a:latin typeface="Times New Roman" pitchFamily="18" charset="0"/>
                <a:cs typeface="Times New Roman" pitchFamily="18" charset="0"/>
              </a:rPr>
              <a:t>Exhalation or expiration </a:t>
            </a:r>
            <a:r>
              <a:rPr lang="en-US" sz="4000" dirty="0" smtClean="0">
                <a:latin typeface="Times New Roman" pitchFamily="18" charset="0"/>
                <a:cs typeface="Times New Roman" pitchFamily="18" charset="0"/>
              </a:rPr>
              <a:t>refers to breathing out or the movement of gases from the lungs to the atmosphere. </a:t>
            </a:r>
          </a:p>
          <a:p>
            <a:pPr algn="just"/>
            <a:r>
              <a:rPr lang="en-US" sz="4000" dirty="0" smtClean="0">
                <a:solidFill>
                  <a:srgbClr val="00B050"/>
                </a:solidFill>
                <a:latin typeface="Times New Roman" pitchFamily="18" charset="0"/>
                <a:cs typeface="Times New Roman" pitchFamily="18" charset="0"/>
              </a:rPr>
              <a:t>Ventilation</a:t>
            </a:r>
            <a:r>
              <a:rPr lang="en-US" sz="4000" dirty="0" smtClean="0">
                <a:latin typeface="Times New Roman" pitchFamily="18" charset="0"/>
                <a:cs typeface="Times New Roman" pitchFamily="18" charset="0"/>
              </a:rPr>
              <a:t> is also used to refer to the movement of air in and out of the lungs.</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686800" cy="6400800"/>
          </a:xfrm>
        </p:spPr>
        <p:txBody>
          <a:bodyPr>
            <a:normAutofit/>
          </a:bodyPr>
          <a:lstStyle/>
          <a:p>
            <a:pPr algn="just">
              <a:buNone/>
            </a:pPr>
            <a:r>
              <a:rPr lang="en-US" sz="3600" dirty="0" smtClean="0"/>
              <a:t>There are basically two types of breathing: </a:t>
            </a:r>
          </a:p>
          <a:p>
            <a:pPr algn="just"/>
            <a:endParaRPr lang="en-US" sz="3600" dirty="0" smtClean="0"/>
          </a:p>
          <a:p>
            <a:pPr algn="just"/>
            <a:r>
              <a:rPr lang="en-US" sz="3600" dirty="0" smtClean="0"/>
              <a:t>costal (thoracic) breathing and </a:t>
            </a:r>
          </a:p>
          <a:p>
            <a:pPr algn="just"/>
            <a:endParaRPr lang="en-US" sz="3600" dirty="0" smtClean="0"/>
          </a:p>
          <a:p>
            <a:pPr algn="just"/>
            <a:r>
              <a:rPr lang="en-US" sz="3600" dirty="0" smtClean="0"/>
              <a:t>diaphragmatic (abdominal) breathing.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628888" cy="6324600"/>
          </a:xfrm>
        </p:spPr>
        <p:txBody>
          <a:bodyPr/>
          <a:lstStyle/>
          <a:p>
            <a:r>
              <a:rPr lang="en-US" dirty="0" smtClean="0">
                <a:latin typeface="Times New Roman" pitchFamily="18" charset="0"/>
                <a:cs typeface="Times New Roman" pitchFamily="18" charset="0"/>
              </a:rPr>
              <a:t>Costal breathing involves the external </a:t>
            </a:r>
            <a:r>
              <a:rPr lang="en-US" dirty="0" err="1" smtClean="0">
                <a:latin typeface="Times New Roman" pitchFamily="18" charset="0"/>
                <a:cs typeface="Times New Roman" pitchFamily="18" charset="0"/>
              </a:rPr>
              <a:t>intercostal</a:t>
            </a:r>
            <a:r>
              <a:rPr lang="en-US" dirty="0" smtClean="0">
                <a:latin typeface="Times New Roman" pitchFamily="18" charset="0"/>
                <a:cs typeface="Times New Roman" pitchFamily="18" charset="0"/>
              </a:rPr>
              <a:t> muscles and other accessory muscles, such as the </a:t>
            </a:r>
            <a:r>
              <a:rPr lang="en-US" dirty="0" err="1" smtClean="0">
                <a:latin typeface="Times New Roman" pitchFamily="18" charset="0"/>
                <a:cs typeface="Times New Roman" pitchFamily="18" charset="0"/>
              </a:rPr>
              <a:t>sterno-cleidomastoid</a:t>
            </a:r>
            <a:r>
              <a:rPr lang="en-US" dirty="0" smtClean="0">
                <a:latin typeface="Times New Roman" pitchFamily="18" charset="0"/>
                <a:cs typeface="Times New Roman" pitchFamily="18" charset="0"/>
              </a:rPr>
              <a:t> muscles. </a:t>
            </a:r>
          </a:p>
          <a:p>
            <a:endParaRPr lang="en-US" dirty="0" smtClean="0"/>
          </a:p>
          <a:p>
            <a:endParaRPr lang="en-US" dirty="0" smtClean="0"/>
          </a:p>
          <a:p>
            <a:endParaRPr lang="en-US" dirty="0" smtClean="0"/>
          </a:p>
          <a:p>
            <a:endParaRPr lang="en-US" dirty="0" smtClean="0"/>
          </a:p>
          <a:p>
            <a:r>
              <a:rPr lang="en-US" dirty="0" smtClean="0">
                <a:latin typeface="Times New Roman" pitchFamily="18" charset="0"/>
                <a:cs typeface="Times New Roman" pitchFamily="18" charset="0"/>
              </a:rPr>
              <a:t>It can be observed by the movement of the chest upward and outward</a:t>
            </a:r>
          </a:p>
          <a:p>
            <a:endParaRPr lang="en-US" dirty="0"/>
          </a:p>
        </p:txBody>
      </p:sp>
      <p:pic>
        <p:nvPicPr>
          <p:cNvPr id="2050" name="Picture 2" descr="C:\Users\Admin\Desktop\cb.jpg"/>
          <p:cNvPicPr>
            <a:picLocks noChangeAspect="1" noChangeArrowheads="1"/>
          </p:cNvPicPr>
          <p:nvPr/>
        </p:nvPicPr>
        <p:blipFill>
          <a:blip r:embed="rId2"/>
          <a:srcRect/>
          <a:stretch>
            <a:fillRect/>
          </a:stretch>
        </p:blipFill>
        <p:spPr bwMode="auto">
          <a:xfrm>
            <a:off x="533400" y="1981200"/>
            <a:ext cx="4343400" cy="2057400"/>
          </a:xfrm>
          <a:prstGeom prst="rect">
            <a:avLst/>
          </a:prstGeom>
          <a:noFill/>
        </p:spPr>
      </p:pic>
      <p:pic>
        <p:nvPicPr>
          <p:cNvPr id="2051" name="Picture 3" descr="C:\Users\Admin\Desktop\scm.jpg"/>
          <p:cNvPicPr>
            <a:picLocks noChangeAspect="1" noChangeArrowheads="1"/>
          </p:cNvPicPr>
          <p:nvPr/>
        </p:nvPicPr>
        <p:blipFill>
          <a:blip r:embed="rId3"/>
          <a:srcRect/>
          <a:stretch>
            <a:fillRect/>
          </a:stretch>
        </p:blipFill>
        <p:spPr bwMode="auto">
          <a:xfrm>
            <a:off x="5257800" y="1905000"/>
            <a:ext cx="3505200" cy="2133600"/>
          </a:xfrm>
          <a:prstGeom prst="rect">
            <a:avLst/>
          </a:prstGeom>
          <a:noFill/>
        </p:spPr>
      </p:pic>
      <p:pic>
        <p:nvPicPr>
          <p:cNvPr id="2052" name="Picture 4" descr="C:\Users\Admin\Desktop\mechanics-of-breathing.jpg"/>
          <p:cNvPicPr>
            <a:picLocks noChangeAspect="1" noChangeArrowheads="1"/>
          </p:cNvPicPr>
          <p:nvPr/>
        </p:nvPicPr>
        <p:blipFill>
          <a:blip r:embed="rId4"/>
          <a:srcRect/>
          <a:stretch>
            <a:fillRect/>
          </a:stretch>
        </p:blipFill>
        <p:spPr bwMode="auto">
          <a:xfrm>
            <a:off x="5410200" y="4800600"/>
            <a:ext cx="3733800" cy="2083346"/>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457200"/>
            <a:ext cx="8458200" cy="6096000"/>
          </a:xfrm>
        </p:spPr>
        <p:txBody>
          <a:bodyPr>
            <a:normAutofit/>
          </a:bodyPr>
          <a:lstStyle/>
          <a:p>
            <a:pPr algn="just"/>
            <a:r>
              <a:rPr lang="en-US" dirty="0" smtClean="0">
                <a:latin typeface="Times New Roman" pitchFamily="18" charset="0"/>
                <a:cs typeface="Times New Roman" pitchFamily="18" charset="0"/>
              </a:rPr>
              <a:t>D</a:t>
            </a:r>
            <a:r>
              <a:rPr lang="en-US" sz="3200" dirty="0" smtClean="0">
                <a:latin typeface="Times New Roman" pitchFamily="18" charset="0"/>
                <a:cs typeface="Times New Roman" pitchFamily="18" charset="0"/>
              </a:rPr>
              <a:t>iaphragmatic breathing involves the contraction and relaxation of the diaphragm, and it is observed by the movement of the abdomen, which occurs as a result of the diaphragm’s contraction and downward movement.</a:t>
            </a:r>
          </a:p>
          <a:p>
            <a:endParaRPr lang="en-US" dirty="0"/>
          </a:p>
        </p:txBody>
      </p:sp>
      <p:pic>
        <p:nvPicPr>
          <p:cNvPr id="3074" name="Picture 2" descr="C:\Users\Admin\Desktop\db.jpg"/>
          <p:cNvPicPr>
            <a:picLocks noChangeAspect="1" noChangeArrowheads="1"/>
          </p:cNvPicPr>
          <p:nvPr/>
        </p:nvPicPr>
        <p:blipFill>
          <a:blip r:embed="rId2"/>
          <a:srcRect/>
          <a:stretch>
            <a:fillRect/>
          </a:stretch>
        </p:blipFill>
        <p:spPr bwMode="auto">
          <a:xfrm>
            <a:off x="3200400" y="3320518"/>
            <a:ext cx="5943600" cy="3537482"/>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pPr algn="ctr"/>
            <a:r>
              <a:rPr lang="en-US" sz="4400" dirty="0" smtClean="0">
                <a:solidFill>
                  <a:srgbClr val="C00000"/>
                </a:solidFill>
              </a:rPr>
              <a:t>Mechanics and Regulation of Breathing</a:t>
            </a:r>
            <a:endParaRPr lang="en-US" sz="4400" dirty="0">
              <a:solidFill>
                <a:srgbClr val="C00000"/>
              </a:solidFill>
            </a:endParaRPr>
          </a:p>
        </p:txBody>
      </p:sp>
      <p:sp>
        <p:nvSpPr>
          <p:cNvPr id="2" name="Content Placeholder 1"/>
          <p:cNvSpPr>
            <a:spLocks noGrp="1"/>
          </p:cNvSpPr>
          <p:nvPr>
            <p:ph idx="1"/>
          </p:nvPr>
        </p:nvSpPr>
        <p:spPr>
          <a:xfrm>
            <a:off x="228600" y="1676400"/>
            <a:ext cx="8686800" cy="4800600"/>
          </a:xfrm>
        </p:spPr>
        <p:txBody>
          <a:bodyPr>
            <a:normAutofit/>
          </a:bodyPr>
          <a:lstStyle/>
          <a:p>
            <a:pPr algn="just">
              <a:buNone/>
            </a:pPr>
            <a:r>
              <a:rPr lang="en-US" sz="3600" dirty="0" smtClean="0"/>
              <a:t>During inhalation,</a:t>
            </a:r>
          </a:p>
          <a:p>
            <a:pPr algn="just"/>
            <a:r>
              <a:rPr lang="en-US" sz="3600" dirty="0" smtClean="0"/>
              <a:t>The diaphragm contracts (flattens), the ribs move upward and outward, and the sternum moves outward, thus enlarging the thorax and permitting the lungs to expand. </a:t>
            </a:r>
          </a:p>
        </p:txBody>
      </p:sp>
      <p:pic>
        <p:nvPicPr>
          <p:cNvPr id="5123" name="Picture 3" descr="C:\Users\Admin\Desktop\unnamed.gif"/>
          <p:cNvPicPr>
            <a:picLocks noChangeAspect="1" noChangeArrowheads="1" noCrop="1"/>
          </p:cNvPicPr>
          <p:nvPr/>
        </p:nvPicPr>
        <p:blipFill>
          <a:blip r:embed="rId2"/>
          <a:srcRect/>
          <a:stretch>
            <a:fillRect/>
          </a:stretch>
        </p:blipFill>
        <p:spPr bwMode="auto">
          <a:xfrm>
            <a:off x="6477000" y="4648200"/>
            <a:ext cx="2409825" cy="204787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228600"/>
            <a:ext cx="8610600" cy="6400800"/>
          </a:xfrm>
        </p:spPr>
        <p:txBody>
          <a:bodyPr/>
          <a:lstStyle/>
          <a:p>
            <a:pPr algn="just">
              <a:buNone/>
            </a:pPr>
            <a:r>
              <a:rPr lang="en-US" sz="3600" dirty="0" smtClean="0"/>
              <a:t>During exhalation</a:t>
            </a:r>
          </a:p>
          <a:p>
            <a:pPr algn="just"/>
            <a:r>
              <a:rPr lang="en-US" sz="3600" dirty="0" smtClean="0"/>
              <a:t>the diaphragm relaxes, the ribs move downward and inward, and the sternum moves inward, thus decreasing the size of the thorax as the lungs are compressed.</a:t>
            </a:r>
          </a:p>
          <a:p>
            <a:endParaRPr lang="en-US" dirty="0"/>
          </a:p>
        </p:txBody>
      </p:sp>
      <p:pic>
        <p:nvPicPr>
          <p:cNvPr id="6147" name="Picture 3" descr="C:\Users\Admin\Desktop\6e1B.txt"/>
          <p:cNvPicPr>
            <a:picLocks noChangeAspect="1" noChangeArrowheads="1" noCrop="1"/>
          </p:cNvPicPr>
          <p:nvPr/>
        </p:nvPicPr>
        <p:blipFill>
          <a:blip r:embed="rId2"/>
          <a:srcRect/>
          <a:stretch>
            <a:fillRect/>
          </a:stretch>
        </p:blipFill>
        <p:spPr bwMode="auto">
          <a:xfrm>
            <a:off x="6248400" y="3352799"/>
            <a:ext cx="2438400" cy="344200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descr="C:\Users\Admin\Desktop\mechanics-of-breathing.jpg"/>
          <p:cNvPicPr>
            <a:picLocks noChangeAspect="1" noChangeArrowheads="1"/>
          </p:cNvPicPr>
          <p:nvPr/>
        </p:nvPicPr>
        <p:blipFill>
          <a:blip r:embed="rId2"/>
          <a:srcRect/>
          <a:stretch>
            <a:fillRect/>
          </a:stretch>
        </p:blipFill>
        <p:spPr bwMode="auto">
          <a:xfrm>
            <a:off x="1066800" y="1295400"/>
            <a:ext cx="7696200" cy="4875312"/>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latin typeface="Times New Roman" pitchFamily="18" charset="0"/>
                <a:cs typeface="Times New Roman" pitchFamily="18" charset="0"/>
              </a:rPr>
              <a:t>Normal breathing is automatic and effortless. </a:t>
            </a:r>
          </a:p>
          <a:p>
            <a:pPr algn="just"/>
            <a:r>
              <a:rPr lang="en-US" dirty="0" smtClean="0">
                <a:latin typeface="Times New Roman" pitchFamily="18" charset="0"/>
                <a:cs typeface="Times New Roman" pitchFamily="18" charset="0"/>
              </a:rPr>
              <a:t>A normal adult inspiration lasts 1 to 1.5 seconds, and an expiration lasts 2 to 3 seconds</a:t>
            </a:r>
            <a:endParaRPr lang="en-US" dirty="0">
              <a:latin typeface="Times New Roman" pitchFamily="18" charset="0"/>
              <a:cs typeface="Times New Roman" pitchFamily="18" charset="0"/>
            </a:endParaRPr>
          </a:p>
        </p:txBody>
      </p:sp>
      <p:sp>
        <p:nvSpPr>
          <p:cNvPr id="4" name="Rectangle 3"/>
          <p:cNvSpPr/>
          <p:nvPr/>
        </p:nvSpPr>
        <p:spPr>
          <a:xfrm>
            <a:off x="2057400" y="1600200"/>
            <a:ext cx="4572000" cy="369332"/>
          </a:xfrm>
          <a:prstGeom prst="rect">
            <a:avLst/>
          </a:prstGeom>
        </p:spPr>
        <p:txBody>
          <a:bodyPr>
            <a:spAutoFit/>
          </a:bodyPr>
          <a:lstStyle/>
          <a:p>
            <a:pPr algn="just"/>
            <a:r>
              <a:rPr lang="en-US" dirty="0" smtClean="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descr="C:\Users\Admin\Desktop\7.129_107519.jpg"/>
          <p:cNvPicPr>
            <a:picLocks noChangeAspect="1" noChangeArrowheads="1"/>
          </p:cNvPicPr>
          <p:nvPr/>
        </p:nvPicPr>
        <p:blipFill>
          <a:blip r:embed="rId2"/>
          <a:srcRect t="6667" r="-350" b="12222"/>
          <a:stretch>
            <a:fillRect/>
          </a:stretch>
        </p:blipFill>
        <p:spPr bwMode="auto">
          <a:xfrm>
            <a:off x="31750" y="0"/>
            <a:ext cx="9112250" cy="68580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304800"/>
            <a:ext cx="8534400" cy="6172200"/>
          </a:xfrm>
        </p:spPr>
        <p:txBody>
          <a:bodyPr>
            <a:normAutofit/>
          </a:bodyPr>
          <a:lstStyle/>
          <a:p>
            <a:pPr algn="just">
              <a:buNone/>
            </a:pPr>
            <a:r>
              <a:rPr lang="en-US" sz="3200" dirty="0" smtClean="0"/>
              <a:t>Respiration is controlled by </a:t>
            </a:r>
          </a:p>
          <a:p>
            <a:pPr algn="just"/>
            <a:r>
              <a:rPr lang="en-US" sz="3200" dirty="0" smtClean="0"/>
              <a:t>(a) respiratory centers in the medulla oblongata and the </a:t>
            </a:r>
            <a:r>
              <a:rPr lang="en-US" sz="3200" dirty="0" err="1" smtClean="0"/>
              <a:t>pons</a:t>
            </a:r>
            <a:r>
              <a:rPr lang="en-US" sz="3200" dirty="0" smtClean="0"/>
              <a:t> of the brain and </a:t>
            </a:r>
          </a:p>
          <a:p>
            <a:pPr algn="just"/>
            <a:r>
              <a:rPr lang="en-US" sz="3200" dirty="0" smtClean="0"/>
              <a:t>(b) </a:t>
            </a:r>
            <a:r>
              <a:rPr lang="en-US" sz="3200" dirty="0" err="1" smtClean="0"/>
              <a:t>chemoreceptors</a:t>
            </a:r>
            <a:r>
              <a:rPr lang="en-US" sz="3200" dirty="0" smtClean="0"/>
              <a:t> located centrally in the medulla and peripherally in the carotid and aortic bodies. </a:t>
            </a:r>
          </a:p>
        </p:txBody>
      </p:sp>
      <p:pic>
        <p:nvPicPr>
          <p:cNvPr id="7170" name="Picture 2" descr="C:\Users\Admin\Desktop\unnamed (1).gif"/>
          <p:cNvPicPr>
            <a:picLocks noChangeAspect="1" noChangeArrowheads="1" noCrop="1"/>
          </p:cNvPicPr>
          <p:nvPr/>
        </p:nvPicPr>
        <p:blipFill>
          <a:blip r:embed="rId2"/>
          <a:srcRect/>
          <a:stretch>
            <a:fillRect/>
          </a:stretch>
        </p:blipFill>
        <p:spPr bwMode="auto">
          <a:xfrm>
            <a:off x="5791200" y="3581400"/>
            <a:ext cx="3352800" cy="3276600"/>
          </a:xfrm>
          <a:prstGeom prst="rect">
            <a:avLst/>
          </a:prstGeom>
          <a:noFill/>
        </p:spPr>
      </p:pic>
      <p:pic>
        <p:nvPicPr>
          <p:cNvPr id="7171" name="Picture 3" descr="C:\Users\Admin\Desktop\img004.gif"/>
          <p:cNvPicPr>
            <a:picLocks noChangeAspect="1" noChangeArrowheads="1"/>
          </p:cNvPicPr>
          <p:nvPr/>
        </p:nvPicPr>
        <p:blipFill>
          <a:blip r:embed="rId3"/>
          <a:srcRect/>
          <a:stretch>
            <a:fillRect/>
          </a:stretch>
        </p:blipFill>
        <p:spPr bwMode="auto">
          <a:xfrm>
            <a:off x="0" y="3601961"/>
            <a:ext cx="5638800" cy="325603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These centers and receptors respond to changes in the concentrations of oxygen (O2), carbon dioxide (CO2), and hydrogen (H+) in the arterial blood.</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solidFill>
                  <a:srgbClr val="7030A0"/>
                </a:solidFill>
              </a:rPr>
              <a:t>Characteristics of respirations</a:t>
            </a:r>
            <a:endParaRPr lang="en-US" dirty="0"/>
          </a:p>
        </p:txBody>
      </p:sp>
      <p:sp>
        <p:nvSpPr>
          <p:cNvPr id="2" name="Content Placeholder 1"/>
          <p:cNvSpPr>
            <a:spLocks noGrp="1"/>
          </p:cNvSpPr>
          <p:nvPr>
            <p:ph idx="1"/>
          </p:nvPr>
        </p:nvSpPr>
        <p:spPr>
          <a:xfrm>
            <a:off x="304800" y="1481328"/>
            <a:ext cx="8610600" cy="4690872"/>
          </a:xfrm>
        </p:spPr>
        <p:txBody>
          <a:bodyPr>
            <a:normAutofit/>
          </a:bodyPr>
          <a:lstStyle/>
          <a:p>
            <a:pPr>
              <a:buNone/>
            </a:pPr>
            <a:r>
              <a:rPr lang="en-US" sz="4000" b="1" dirty="0" smtClean="0">
                <a:solidFill>
                  <a:srgbClr val="C00000"/>
                </a:solidFill>
              </a:rPr>
              <a:t>1) Rate</a:t>
            </a:r>
          </a:p>
          <a:p>
            <a:pPr>
              <a:buNone/>
            </a:pPr>
            <a:r>
              <a:rPr lang="en-US" sz="3600" b="1" dirty="0" smtClean="0">
                <a:solidFill>
                  <a:srgbClr val="C00000"/>
                </a:solidFill>
              </a:rPr>
              <a:t>  	</a:t>
            </a:r>
            <a:r>
              <a:rPr lang="en-US" sz="4400" dirty="0" smtClean="0"/>
              <a:t>The number of breaths  per minute.</a:t>
            </a:r>
          </a:p>
          <a:p>
            <a:r>
              <a:rPr lang="en-US" sz="4400" dirty="0" smtClean="0"/>
              <a:t>NL-12 to 20 breath per minute</a:t>
            </a:r>
            <a:endParaRPr lang="en-US" sz="3600" dirty="0"/>
          </a:p>
        </p:txBody>
      </p:sp>
      <p:pic>
        <p:nvPicPr>
          <p:cNvPr id="3074" name="Picture 2" descr="C:\Users\Admin\Desktop\rr.jpg"/>
          <p:cNvPicPr>
            <a:picLocks noChangeAspect="1" noChangeArrowheads="1"/>
          </p:cNvPicPr>
          <p:nvPr/>
        </p:nvPicPr>
        <p:blipFill>
          <a:blip r:embed="rId2"/>
          <a:srcRect/>
          <a:stretch>
            <a:fillRect/>
          </a:stretch>
        </p:blipFill>
        <p:spPr bwMode="auto">
          <a:xfrm>
            <a:off x="4291012" y="4495800"/>
            <a:ext cx="4852988" cy="2362200"/>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763000" cy="5334000"/>
          </a:xfrm>
        </p:spPr>
        <p:txBody>
          <a:bodyPr>
            <a:normAutofit/>
          </a:bodyPr>
          <a:lstStyle/>
          <a:p>
            <a:pPr algn="just">
              <a:buNone/>
            </a:pPr>
            <a:r>
              <a:rPr lang="en-US" sz="4000" b="1" dirty="0" smtClean="0">
                <a:solidFill>
                  <a:srgbClr val="C00000"/>
                </a:solidFill>
              </a:rPr>
              <a:t>2) Depth / Volume</a:t>
            </a:r>
          </a:p>
          <a:p>
            <a:pPr algn="just"/>
            <a:r>
              <a:rPr lang="en-US" sz="4000" dirty="0" smtClean="0"/>
              <a:t>The depth of a person’s respirations can be established by watching the movement of the chest. </a:t>
            </a:r>
          </a:p>
          <a:p>
            <a:pPr algn="just"/>
            <a:r>
              <a:rPr lang="en-US" sz="4000" dirty="0" smtClean="0"/>
              <a:t>Respiratory depth is generally described as normal, deep, or shallow. </a:t>
            </a:r>
          </a:p>
          <a:p>
            <a:endParaRPr lang="en-US" sz="3600" dirty="0"/>
          </a:p>
        </p:txBody>
      </p:sp>
      <p:pic>
        <p:nvPicPr>
          <p:cNvPr id="4100" name="Picture 4" descr="C:\Users\Admin\Desktop\gif.gif"/>
          <p:cNvPicPr>
            <a:picLocks noChangeAspect="1" noChangeArrowheads="1" noCrop="1"/>
          </p:cNvPicPr>
          <p:nvPr/>
        </p:nvPicPr>
        <p:blipFill>
          <a:blip r:embed="rId2"/>
          <a:srcRect/>
          <a:stretch>
            <a:fillRect/>
          </a:stretch>
        </p:blipFill>
        <p:spPr bwMode="auto">
          <a:xfrm>
            <a:off x="4648200" y="4038600"/>
            <a:ext cx="4495800" cy="28194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Hyperventilation refers to very deep, rapid respirations;</a:t>
            </a:r>
          </a:p>
          <a:p>
            <a:r>
              <a:rPr lang="en-US" dirty="0" smtClean="0"/>
              <a:t>hypoventilation refers to very shallow respirations.</a:t>
            </a:r>
          </a:p>
          <a:p>
            <a:endParaRPr lang="en-US" dirty="0"/>
          </a:p>
        </p:txBody>
      </p:sp>
      <p:pic>
        <p:nvPicPr>
          <p:cNvPr id="9219" name="Picture 3" descr="C:\Users\Admin\Desktop\ni.jpg"/>
          <p:cNvPicPr>
            <a:picLocks noChangeAspect="1" noChangeArrowheads="1"/>
          </p:cNvPicPr>
          <p:nvPr/>
        </p:nvPicPr>
        <p:blipFill>
          <a:blip r:embed="rId2"/>
          <a:srcRect/>
          <a:stretch>
            <a:fillRect/>
          </a:stretch>
        </p:blipFill>
        <p:spPr bwMode="auto">
          <a:xfrm>
            <a:off x="6324600" y="5029200"/>
            <a:ext cx="2819400" cy="18288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228600"/>
            <a:ext cx="8915400" cy="6400800"/>
          </a:xfrm>
        </p:spPr>
        <p:txBody>
          <a:bodyPr>
            <a:noAutofit/>
          </a:bodyPr>
          <a:lstStyle/>
          <a:p>
            <a:pPr algn="just"/>
            <a:r>
              <a:rPr lang="en-US" sz="4000" dirty="0" smtClean="0"/>
              <a:t>Deep respirations are those in which a large volume of air is inhaled and exhaled, inflating most of the lungs. </a:t>
            </a:r>
          </a:p>
          <a:p>
            <a:pPr algn="just"/>
            <a:r>
              <a:rPr lang="en-US" sz="4000" dirty="0" smtClean="0"/>
              <a:t>Shallow respirations involve the exchange of a small volume of air and often the minimal use of lung tissue.</a:t>
            </a:r>
            <a:endParaRPr lang="en-US" sz="4000" dirty="0"/>
          </a:p>
        </p:txBody>
      </p:sp>
      <p:pic>
        <p:nvPicPr>
          <p:cNvPr id="5122" name="Picture 2" descr="C:\Users\Admin\Desktop\sha.png"/>
          <p:cNvPicPr>
            <a:picLocks noChangeAspect="1" noChangeArrowheads="1"/>
          </p:cNvPicPr>
          <p:nvPr/>
        </p:nvPicPr>
        <p:blipFill>
          <a:blip r:embed="rId2"/>
          <a:srcRect/>
          <a:stretch>
            <a:fillRect/>
          </a:stretch>
        </p:blipFill>
        <p:spPr bwMode="auto">
          <a:xfrm>
            <a:off x="4648200" y="4191000"/>
            <a:ext cx="4495800" cy="26670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457200"/>
            <a:ext cx="8458200" cy="5550091"/>
          </a:xfrm>
        </p:spPr>
        <p:txBody>
          <a:bodyPr>
            <a:normAutofit/>
          </a:bodyPr>
          <a:lstStyle/>
          <a:p>
            <a:pPr algn="just"/>
            <a:r>
              <a:rPr lang="en-US" sz="3600" dirty="0" smtClean="0"/>
              <a:t>During a normal inspiration and expiration, an adult takes in about 500 </a:t>
            </a:r>
            <a:r>
              <a:rPr lang="en-US" sz="3600" dirty="0" err="1" smtClean="0"/>
              <a:t>mL</a:t>
            </a:r>
            <a:r>
              <a:rPr lang="en-US" sz="3600" dirty="0" smtClean="0"/>
              <a:t> of air. </a:t>
            </a:r>
          </a:p>
          <a:p>
            <a:pPr algn="just"/>
            <a:r>
              <a:rPr lang="en-US" sz="3600" dirty="0" smtClean="0"/>
              <a:t>This volume is called the tidal volume.</a:t>
            </a:r>
            <a:endParaRPr lang="en-US" sz="3600" dirty="0"/>
          </a:p>
        </p:txBody>
      </p:sp>
      <p:pic>
        <p:nvPicPr>
          <p:cNvPr id="6146" name="Picture 2" descr="C:\Users\Admin\Desktop\tidal-volume.png"/>
          <p:cNvPicPr>
            <a:picLocks noChangeAspect="1" noChangeArrowheads="1"/>
          </p:cNvPicPr>
          <p:nvPr/>
        </p:nvPicPr>
        <p:blipFill>
          <a:blip r:embed="rId2"/>
          <a:srcRect/>
          <a:stretch>
            <a:fillRect/>
          </a:stretch>
        </p:blipFill>
        <p:spPr bwMode="auto">
          <a:xfrm>
            <a:off x="1055687" y="3429000"/>
            <a:ext cx="7906393" cy="26670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228600"/>
            <a:ext cx="8763000" cy="6400800"/>
          </a:xfrm>
        </p:spPr>
        <p:txBody>
          <a:bodyPr>
            <a:noAutofit/>
          </a:bodyPr>
          <a:lstStyle/>
          <a:p>
            <a:pPr algn="ctr">
              <a:buNone/>
            </a:pPr>
            <a:r>
              <a:rPr lang="en-US" sz="3200" dirty="0" smtClean="0"/>
              <a:t>Body Position Also Affects The Amount Of Air That Can Be Inhaled.</a:t>
            </a:r>
          </a:p>
          <a:p>
            <a:pPr algn="just"/>
            <a:r>
              <a:rPr lang="en-US" sz="3200" dirty="0" smtClean="0"/>
              <a:t>People in a supine position experience two physiological processes that suppress respiration: </a:t>
            </a:r>
          </a:p>
          <a:p>
            <a:pPr algn="just">
              <a:buNone/>
            </a:pPr>
            <a:r>
              <a:rPr lang="en-US" dirty="0" smtClean="0"/>
              <a:t>  </a:t>
            </a:r>
            <a:r>
              <a:rPr lang="en-US" sz="3200" dirty="0" smtClean="0"/>
              <a:t>-an increase in the volume of blood inside the thoracic cavity </a:t>
            </a:r>
          </a:p>
          <a:p>
            <a:pPr algn="just">
              <a:buNone/>
            </a:pPr>
            <a:r>
              <a:rPr lang="en-US" dirty="0" smtClean="0"/>
              <a:t>   -</a:t>
            </a:r>
            <a:r>
              <a:rPr lang="en-US" sz="3200" dirty="0" smtClean="0"/>
              <a:t>and compression of the chest. </a:t>
            </a:r>
          </a:p>
          <a:p>
            <a:pPr algn="just">
              <a:buNone/>
            </a:pPr>
            <a:endParaRPr lang="en-US" sz="3200" dirty="0" smtClean="0"/>
          </a:p>
        </p:txBody>
      </p:sp>
      <p:pic>
        <p:nvPicPr>
          <p:cNvPr id="7170" name="Picture 2" descr="C:\Users\Admin\Desktop\Anim-breathing_large.gif"/>
          <p:cNvPicPr>
            <a:picLocks noChangeAspect="1" noChangeArrowheads="1" noCrop="1"/>
          </p:cNvPicPr>
          <p:nvPr/>
        </p:nvPicPr>
        <p:blipFill>
          <a:blip r:embed="rId2"/>
          <a:srcRect/>
          <a:stretch>
            <a:fillRect/>
          </a:stretch>
        </p:blipFill>
        <p:spPr bwMode="auto">
          <a:xfrm>
            <a:off x="3276600" y="4029075"/>
            <a:ext cx="5867400" cy="28289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Consequently, clients lying on their back have poorer lung aeration, which predisposes them to the stasis of fluids and subsequent infection. </a:t>
            </a:r>
          </a:p>
          <a:p>
            <a:endParaRPr lang="en-US" dirty="0"/>
          </a:p>
        </p:txBody>
      </p:sp>
      <p:pic>
        <p:nvPicPr>
          <p:cNvPr id="8194" name="Picture 2" descr="C:\Users\Admin\Desktop\download.jpg"/>
          <p:cNvPicPr>
            <a:picLocks noChangeAspect="1" noChangeArrowheads="1"/>
          </p:cNvPicPr>
          <p:nvPr/>
        </p:nvPicPr>
        <p:blipFill>
          <a:blip r:embed="rId2"/>
          <a:srcRect/>
          <a:stretch>
            <a:fillRect/>
          </a:stretch>
        </p:blipFill>
        <p:spPr bwMode="auto">
          <a:xfrm>
            <a:off x="5334000" y="4495799"/>
            <a:ext cx="3810000" cy="2331331"/>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304800"/>
            <a:ext cx="8763000" cy="5702491"/>
          </a:xfrm>
        </p:spPr>
        <p:txBody>
          <a:bodyPr>
            <a:noAutofit/>
          </a:bodyPr>
          <a:lstStyle/>
          <a:p>
            <a:pPr algn="just"/>
            <a:r>
              <a:rPr lang="en-US" sz="3600" dirty="0" smtClean="0"/>
              <a:t>Certain medications also affect the respiratory depth. </a:t>
            </a:r>
          </a:p>
          <a:p>
            <a:pPr algn="just">
              <a:buNone/>
            </a:pPr>
            <a:r>
              <a:rPr lang="en-US" sz="3600" dirty="0" smtClean="0"/>
              <a:t>For example, </a:t>
            </a:r>
            <a:r>
              <a:rPr lang="en-US" sz="3600" dirty="0" smtClean="0">
                <a:solidFill>
                  <a:srgbClr val="00B050"/>
                </a:solidFill>
              </a:rPr>
              <a:t>narcotics</a:t>
            </a:r>
            <a:r>
              <a:rPr lang="en-US" sz="3600" dirty="0" smtClean="0"/>
              <a:t> such as </a:t>
            </a:r>
            <a:r>
              <a:rPr lang="en-US" sz="3600" dirty="0" smtClean="0">
                <a:solidFill>
                  <a:srgbClr val="00B050"/>
                </a:solidFill>
              </a:rPr>
              <a:t>morphine</a:t>
            </a:r>
            <a:r>
              <a:rPr lang="en-US" sz="3600" dirty="0" smtClean="0"/>
              <a:t> and large doses of </a:t>
            </a:r>
            <a:r>
              <a:rPr lang="en-US" sz="3600" dirty="0" smtClean="0">
                <a:solidFill>
                  <a:srgbClr val="00B050"/>
                </a:solidFill>
              </a:rPr>
              <a:t>barbiturates</a:t>
            </a:r>
            <a:r>
              <a:rPr lang="en-US" sz="3600" dirty="0" smtClean="0"/>
              <a:t> such as </a:t>
            </a:r>
            <a:r>
              <a:rPr lang="en-US" sz="3600" dirty="0" smtClean="0">
                <a:solidFill>
                  <a:srgbClr val="00B050"/>
                </a:solidFill>
              </a:rPr>
              <a:t>pentobarbital</a:t>
            </a:r>
            <a:r>
              <a:rPr lang="en-US" sz="3600" dirty="0" smtClean="0"/>
              <a:t> depress the respiratory centers in the brain, thereby depressing the respiratory rate and depth.</a:t>
            </a:r>
          </a:p>
          <a:p>
            <a:pPr algn="just"/>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66800" y="-152400"/>
            <a:ext cx="7498080" cy="1143000"/>
          </a:xfrm>
        </p:spPr>
        <p:txBody>
          <a:bodyPr/>
          <a:lstStyle/>
          <a:p>
            <a:r>
              <a:rPr lang="en-US" dirty="0" smtClean="0">
                <a:solidFill>
                  <a:srgbClr val="C00000"/>
                </a:solidFill>
              </a:rPr>
              <a:t>3) Rhythm </a:t>
            </a:r>
            <a:endParaRPr lang="en-US" dirty="0">
              <a:solidFill>
                <a:srgbClr val="C00000"/>
              </a:solidFill>
            </a:endParaRPr>
          </a:p>
        </p:txBody>
      </p:sp>
      <p:sp>
        <p:nvSpPr>
          <p:cNvPr id="2" name="Content Placeholder 1"/>
          <p:cNvSpPr>
            <a:spLocks noGrp="1"/>
          </p:cNvSpPr>
          <p:nvPr>
            <p:ph idx="1"/>
          </p:nvPr>
        </p:nvSpPr>
        <p:spPr>
          <a:xfrm>
            <a:off x="228600" y="838200"/>
            <a:ext cx="8686800" cy="5181600"/>
          </a:xfrm>
        </p:spPr>
        <p:txBody>
          <a:bodyPr>
            <a:noAutofit/>
          </a:bodyPr>
          <a:lstStyle/>
          <a:p>
            <a:pPr algn="just"/>
            <a:r>
              <a:rPr lang="en-US" sz="3600" dirty="0" smtClean="0"/>
              <a:t>Respiratory rhythm refers to the regularity of the expirations and the inspirations. Normally, respirations are evenly spaced.</a:t>
            </a:r>
          </a:p>
        </p:txBody>
      </p:sp>
      <p:pic>
        <p:nvPicPr>
          <p:cNvPr id="4" name="Picture 3" descr="C:\Users\Admin\Desktop\rr.png"/>
          <p:cNvPicPr>
            <a:picLocks noChangeAspect="1" noChangeArrowheads="1"/>
          </p:cNvPicPr>
          <p:nvPr/>
        </p:nvPicPr>
        <p:blipFill>
          <a:blip r:embed="rId2"/>
          <a:srcRect l="4483" r="3103" b="27189"/>
          <a:stretch>
            <a:fillRect/>
          </a:stretch>
        </p:blipFill>
        <p:spPr bwMode="auto">
          <a:xfrm>
            <a:off x="1752600" y="2971800"/>
            <a:ext cx="5029200" cy="25908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Respiratory rhythm can be described as regular or irregular. </a:t>
            </a:r>
          </a:p>
          <a:p>
            <a:pPr algn="just"/>
            <a:r>
              <a:rPr lang="en-US" dirty="0" smtClean="0"/>
              <a:t>An infant’s respiratory rhythm may be less regular than an adult’s.</a:t>
            </a:r>
          </a:p>
          <a:p>
            <a:pPr>
              <a:buNone/>
            </a:pPr>
            <a:endParaRPr lang="en-US" dirty="0"/>
          </a:p>
        </p:txBody>
      </p:sp>
      <p:pic>
        <p:nvPicPr>
          <p:cNvPr id="10242" name="Picture 2" descr="C:\Users\Admin\Desktop\maxresdefault.jpg"/>
          <p:cNvPicPr>
            <a:picLocks noChangeAspect="1" noChangeArrowheads="1"/>
          </p:cNvPicPr>
          <p:nvPr/>
        </p:nvPicPr>
        <p:blipFill>
          <a:blip r:embed="rId2" cstate="print"/>
          <a:srcRect/>
          <a:stretch>
            <a:fillRect/>
          </a:stretch>
        </p:blipFill>
        <p:spPr bwMode="auto">
          <a:xfrm rot="10800000" flipV="1">
            <a:off x="6056313" y="5121176"/>
            <a:ext cx="3087687" cy="1736824"/>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400" dirty="0" smtClean="0">
                <a:solidFill>
                  <a:srgbClr val="C00000"/>
                </a:solidFill>
              </a:rPr>
              <a:t>4) Ease or effort</a:t>
            </a:r>
            <a:endParaRPr lang="en-US" sz="4400" dirty="0">
              <a:solidFill>
                <a:srgbClr val="C00000"/>
              </a:solidFill>
            </a:endParaRPr>
          </a:p>
        </p:txBody>
      </p:sp>
      <p:sp>
        <p:nvSpPr>
          <p:cNvPr id="2" name="Content Placeholder 1"/>
          <p:cNvSpPr>
            <a:spLocks noGrp="1"/>
          </p:cNvSpPr>
          <p:nvPr>
            <p:ph idx="1"/>
          </p:nvPr>
        </p:nvSpPr>
        <p:spPr>
          <a:xfrm>
            <a:off x="228600" y="1524000"/>
            <a:ext cx="8763000" cy="5105400"/>
          </a:xfrm>
        </p:spPr>
        <p:txBody>
          <a:bodyPr/>
          <a:lstStyle/>
          <a:p>
            <a:pPr algn="just"/>
            <a:r>
              <a:rPr lang="en-US" sz="3200" dirty="0" smtClean="0"/>
              <a:t>It includes the amount of effort a client must exert to breathe and the sound of breathing. </a:t>
            </a:r>
          </a:p>
          <a:p>
            <a:pPr algn="just"/>
            <a:r>
              <a:rPr lang="en-US" sz="3200" dirty="0" smtClean="0"/>
              <a:t>Usually, breathing does not require noticeable effort. </a:t>
            </a:r>
          </a:p>
          <a:p>
            <a:pPr algn="just"/>
            <a:r>
              <a:rPr lang="en-US" sz="3200" dirty="0" smtClean="0"/>
              <a:t>Sometimes, however, clients can breathe only with substantial effort—this is referred to as labored breathing.</a:t>
            </a:r>
          </a:p>
          <a:p>
            <a:endParaRPr lang="en-US" dirty="0"/>
          </a:p>
        </p:txBody>
      </p:sp>
      <p:pic>
        <p:nvPicPr>
          <p:cNvPr id="11266" name="Picture 2" descr="C:\Users\Admin\Desktop\ni.jpg"/>
          <p:cNvPicPr>
            <a:picLocks noChangeAspect="1" noChangeArrowheads="1"/>
          </p:cNvPicPr>
          <p:nvPr/>
        </p:nvPicPr>
        <p:blipFill>
          <a:blip r:embed="rId2"/>
          <a:srcRect/>
          <a:stretch>
            <a:fillRect/>
          </a:stretch>
        </p:blipFill>
        <p:spPr bwMode="auto">
          <a:xfrm>
            <a:off x="6705600" y="5029200"/>
            <a:ext cx="2438400" cy="18288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381000"/>
            <a:ext cx="8610600" cy="5334000"/>
          </a:xfrm>
        </p:spPr>
        <p:txBody>
          <a:bodyPr>
            <a:normAutofit/>
          </a:bodyPr>
          <a:lstStyle/>
          <a:p>
            <a:pPr algn="just"/>
            <a:r>
              <a:rPr lang="en-US" sz="3600" dirty="0" smtClean="0"/>
              <a:t>The sound of breathing is also significant.</a:t>
            </a:r>
          </a:p>
          <a:p>
            <a:pPr algn="just"/>
            <a:r>
              <a:rPr lang="en-US" sz="3600" dirty="0" smtClean="0"/>
              <a:t>Normal breathing is silent, but a number of abnormal sounds such as a wheeze are obvious to the nurse’s ear. </a:t>
            </a:r>
          </a:p>
          <a:p>
            <a:pPr algn="just"/>
            <a:r>
              <a:rPr lang="en-US" sz="3600" dirty="0" smtClean="0"/>
              <a:t>Many sounds occur as a result of the presence of fluid in the lungs and are most clearly heard with a stethoscope.</a:t>
            </a:r>
            <a:endParaRPr lang="en-US" sz="3600" dirty="0"/>
          </a:p>
        </p:txBody>
      </p:sp>
      <p:pic>
        <p:nvPicPr>
          <p:cNvPr id="12290" name="Picture 2" descr="C:\Users\Admin\Desktop\download (1).jpg"/>
          <p:cNvPicPr>
            <a:picLocks noChangeAspect="1" noChangeArrowheads="1"/>
          </p:cNvPicPr>
          <p:nvPr/>
        </p:nvPicPr>
        <p:blipFill>
          <a:blip r:embed="rId2"/>
          <a:srcRect/>
          <a:stretch>
            <a:fillRect/>
          </a:stretch>
        </p:blipFill>
        <p:spPr bwMode="auto">
          <a:xfrm>
            <a:off x="6934200" y="4343400"/>
            <a:ext cx="1952625" cy="234315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82296" indent="0" algn="ctr">
              <a:buNone/>
            </a:pPr>
            <a:r>
              <a:rPr lang="en-US" sz="5400" dirty="0"/>
              <a:t>Factors Affecting Respirations</a:t>
            </a:r>
            <a:endParaRPr lang="en-IN" sz="5400" dirty="0"/>
          </a:p>
        </p:txBody>
      </p:sp>
      <p:pic>
        <p:nvPicPr>
          <p:cNvPr id="4" name="Picture 2" descr="C:\Users\Admin\Desktop\ni.jpg"/>
          <p:cNvPicPr>
            <a:picLocks noChangeAspect="1" noChangeArrowheads="1"/>
          </p:cNvPicPr>
          <p:nvPr/>
        </p:nvPicPr>
        <p:blipFill>
          <a:blip r:embed="rId2"/>
          <a:srcRect/>
          <a:stretch>
            <a:fillRect/>
          </a:stretch>
        </p:blipFill>
        <p:spPr bwMode="auto">
          <a:xfrm>
            <a:off x="6705600" y="5029200"/>
            <a:ext cx="2438400" cy="1828800"/>
          </a:xfrm>
          <a:prstGeom prst="rect">
            <a:avLst/>
          </a:prstGeom>
          <a:noFill/>
        </p:spPr>
      </p:pic>
    </p:spTree>
    <p:extLst>
      <p:ext uri="{BB962C8B-B14F-4D97-AF65-F5344CB8AC3E}">
        <p14:creationId xmlns:p14="http://schemas.microsoft.com/office/powerpoint/2010/main" val="20069641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endParaRPr lang="en-US" dirty="0"/>
          </a:p>
        </p:txBody>
      </p:sp>
      <p:sp>
        <p:nvSpPr>
          <p:cNvPr id="2" name="Content Placeholder 1"/>
          <p:cNvSpPr>
            <a:spLocks noGrp="1"/>
          </p:cNvSpPr>
          <p:nvPr>
            <p:ph idx="1"/>
          </p:nvPr>
        </p:nvSpPr>
        <p:spPr>
          <a:xfrm>
            <a:off x="228600" y="1371600"/>
            <a:ext cx="8915400" cy="5181600"/>
          </a:xfrm>
        </p:spPr>
        <p:txBody>
          <a:bodyPr>
            <a:normAutofit/>
          </a:bodyPr>
          <a:lstStyle/>
          <a:p>
            <a:pPr algn="just">
              <a:buNone/>
            </a:pPr>
            <a:r>
              <a:rPr lang="en-US" sz="3600" dirty="0" smtClean="0"/>
              <a:t>Factors that increase the rate include</a:t>
            </a:r>
          </a:p>
          <a:p>
            <a:pPr algn="just"/>
            <a:r>
              <a:rPr lang="en-US" sz="3600" dirty="0" smtClean="0"/>
              <a:t> </a:t>
            </a:r>
            <a:r>
              <a:rPr lang="en-US" sz="3600" b="1" dirty="0" smtClean="0">
                <a:solidFill>
                  <a:srgbClr val="00B050"/>
                </a:solidFill>
              </a:rPr>
              <a:t>exercise</a:t>
            </a:r>
            <a:r>
              <a:rPr lang="en-US" sz="3600" dirty="0" smtClean="0"/>
              <a:t> (increases metabolism)</a:t>
            </a:r>
          </a:p>
          <a:p>
            <a:pPr algn="just"/>
            <a:r>
              <a:rPr lang="en-US" sz="3600" b="1" dirty="0" smtClean="0">
                <a:solidFill>
                  <a:srgbClr val="00B050"/>
                </a:solidFill>
              </a:rPr>
              <a:t>stress</a:t>
            </a:r>
            <a:r>
              <a:rPr lang="en-US" sz="3600" dirty="0" smtClean="0"/>
              <a:t> (readies the body for “fight or flight”)</a:t>
            </a:r>
          </a:p>
          <a:p>
            <a:pPr algn="just"/>
            <a:r>
              <a:rPr lang="en-US" sz="3600" b="1" dirty="0" smtClean="0">
                <a:solidFill>
                  <a:srgbClr val="00B050"/>
                </a:solidFill>
              </a:rPr>
              <a:t>Increased environmental temperature</a:t>
            </a:r>
          </a:p>
          <a:p>
            <a:pPr algn="just"/>
            <a:r>
              <a:rPr lang="en-US" sz="3600" b="1" dirty="0" smtClean="0">
                <a:solidFill>
                  <a:srgbClr val="00B050"/>
                </a:solidFill>
              </a:rPr>
              <a:t>lowered oxygen concentration at increased altitudes</a:t>
            </a:r>
            <a:r>
              <a:rPr lang="en-US" sz="3600" dirty="0" smtClean="0"/>
              <a:t>.</a:t>
            </a:r>
          </a:p>
          <a:p>
            <a:pPr algn="just"/>
            <a:r>
              <a:rPr lang="en-US" sz="3600" dirty="0" smtClean="0">
                <a:solidFill>
                  <a:srgbClr val="00B050"/>
                </a:solidFill>
              </a:rPr>
              <a:t>Pain</a:t>
            </a:r>
            <a:endParaRPr lang="en-US" sz="3600" dirty="0" smtClean="0">
              <a:solidFill>
                <a:srgbClr val="00B050"/>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a:xfrm>
            <a:off x="304800" y="1066800"/>
            <a:ext cx="8610600" cy="5562600"/>
          </a:xfrm>
        </p:spPr>
        <p:txBody>
          <a:bodyPr/>
          <a:lstStyle/>
          <a:p>
            <a:pPr algn="just">
              <a:buNone/>
            </a:pPr>
            <a:r>
              <a:rPr lang="en-US" sz="3600" dirty="0" smtClean="0"/>
              <a:t>Factors that may decrease the respiratory rate include</a:t>
            </a:r>
          </a:p>
          <a:p>
            <a:pPr algn="just"/>
            <a:r>
              <a:rPr lang="en-US" sz="3600" dirty="0" smtClean="0"/>
              <a:t> </a:t>
            </a:r>
            <a:r>
              <a:rPr lang="en-US" sz="3600" b="1" dirty="0" smtClean="0">
                <a:solidFill>
                  <a:srgbClr val="00B050"/>
                </a:solidFill>
              </a:rPr>
              <a:t>decreased environmental </a:t>
            </a:r>
          </a:p>
          <a:p>
            <a:pPr algn="just">
              <a:buNone/>
            </a:pPr>
            <a:r>
              <a:rPr lang="en-US" sz="3600" b="1" dirty="0" smtClean="0">
                <a:solidFill>
                  <a:srgbClr val="00B050"/>
                </a:solidFill>
              </a:rPr>
              <a:t>         temperature </a:t>
            </a:r>
          </a:p>
          <a:p>
            <a:pPr algn="just"/>
            <a:r>
              <a:rPr lang="en-US" sz="3600" b="1" dirty="0" smtClean="0">
                <a:solidFill>
                  <a:srgbClr val="00B050"/>
                </a:solidFill>
              </a:rPr>
              <a:t>certain medications (e.g., narcotics)</a:t>
            </a:r>
          </a:p>
          <a:p>
            <a:pPr algn="just"/>
            <a:r>
              <a:rPr lang="en-US" sz="3600" b="1" smtClean="0">
                <a:solidFill>
                  <a:srgbClr val="00B050"/>
                </a:solidFill>
              </a:rPr>
              <a:t> increased </a:t>
            </a:r>
            <a:r>
              <a:rPr lang="en-US" sz="3600" b="1" dirty="0" smtClean="0">
                <a:solidFill>
                  <a:srgbClr val="00B050"/>
                </a:solidFill>
              </a:rPr>
              <a:t>intracranial pressure</a:t>
            </a:r>
            <a:r>
              <a:rPr lang="en-US" sz="3600" dirty="0" smtClean="0"/>
              <a:t>.</a:t>
            </a:r>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lgn="ctr"/>
            <a:r>
              <a:rPr lang="en-US" dirty="0" smtClean="0">
                <a:solidFill>
                  <a:srgbClr val="C00000"/>
                </a:solidFill>
              </a:rPr>
              <a:t>Normal respiratory rates in different age group</a:t>
            </a:r>
            <a:endParaRPr lang="en-US" dirty="0">
              <a:solidFill>
                <a:srgbClr val="C00000"/>
              </a:solidFill>
            </a:endParaRPr>
          </a:p>
        </p:txBody>
      </p:sp>
      <p:sp>
        <p:nvSpPr>
          <p:cNvPr id="2" name="Content Placeholder 1"/>
          <p:cNvSpPr>
            <a:spLocks noGrp="1"/>
          </p:cNvSpPr>
          <p:nvPr>
            <p:ph idx="1"/>
          </p:nvPr>
        </p:nvSpPr>
        <p:spPr>
          <a:xfrm>
            <a:off x="228600" y="1447800"/>
            <a:ext cx="8686800" cy="5105400"/>
          </a:xfrm>
        </p:spPr>
        <p:txBody>
          <a:bodyPr>
            <a:normAutofit/>
          </a:bodyPr>
          <a:lstStyle/>
          <a:p>
            <a:r>
              <a:rPr lang="en-US" sz="3200" dirty="0" smtClean="0"/>
              <a:t>Newborn                            (30–60)</a:t>
            </a:r>
          </a:p>
          <a:p>
            <a:r>
              <a:rPr lang="en-US" sz="3200" dirty="0" smtClean="0"/>
              <a:t>1 year                                 (20–40)</a:t>
            </a:r>
          </a:p>
          <a:p>
            <a:r>
              <a:rPr lang="en-US" sz="3200" dirty="0" smtClean="0"/>
              <a:t>5–8 years                            (15–25)</a:t>
            </a:r>
          </a:p>
          <a:p>
            <a:r>
              <a:rPr lang="en-US" sz="3200" dirty="0" smtClean="0"/>
              <a:t>10 years                              (15–25)</a:t>
            </a:r>
          </a:p>
          <a:p>
            <a:r>
              <a:rPr lang="fi-FI" sz="3200" dirty="0" smtClean="0"/>
              <a:t>Teen                                   (15–20)</a:t>
            </a:r>
          </a:p>
          <a:p>
            <a:r>
              <a:rPr lang="en-US" sz="3200" dirty="0" smtClean="0"/>
              <a:t>Adult                                   (12–20)</a:t>
            </a:r>
          </a:p>
          <a:p>
            <a:r>
              <a:rPr lang="en-US" sz="3200" dirty="0" smtClean="0"/>
              <a:t>Older adult                          (15–20)</a:t>
            </a:r>
            <a:endParaRPr lang="en-US" sz="3200" dirty="0"/>
          </a:p>
        </p:txBody>
      </p:sp>
    </p:spTree>
    <p:extLst>
      <p:ext uri="{BB962C8B-B14F-4D97-AF65-F5344CB8AC3E}">
        <p14:creationId xmlns:p14="http://schemas.microsoft.com/office/powerpoint/2010/main" val="5377081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5607" y="2209800"/>
            <a:ext cx="6564923" cy="2667000"/>
          </a:xfrm>
        </p:spPr>
      </p:pic>
    </p:spTree>
    <p:extLst>
      <p:ext uri="{BB962C8B-B14F-4D97-AF65-F5344CB8AC3E}">
        <p14:creationId xmlns:p14="http://schemas.microsoft.com/office/powerpoint/2010/main" val="244412224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304800"/>
            <a:ext cx="8534400" cy="6324600"/>
          </a:xfrm>
        </p:spPr>
        <p:txBody>
          <a:bodyPr>
            <a:normAutofit/>
          </a:bodyPr>
          <a:lstStyle/>
          <a:p>
            <a:pPr algn="just"/>
            <a:r>
              <a:rPr lang="en-US" sz="3200" dirty="0" smtClean="0"/>
              <a:t>The rate, depth, rhythm, quality, and effectiveness of respirations should be assessed. </a:t>
            </a:r>
          </a:p>
          <a:p>
            <a:pPr algn="just"/>
            <a:r>
              <a:rPr lang="en-US" sz="3200" dirty="0" smtClean="0"/>
              <a:t>The respiratory rate is normally described in breaths per minute. </a:t>
            </a:r>
          </a:p>
          <a:p>
            <a:pPr algn="just"/>
            <a:r>
              <a:rPr lang="en-US" sz="3200" dirty="0" smtClean="0"/>
              <a:t>Breathing that is normal in rate and depth is called </a:t>
            </a:r>
            <a:r>
              <a:rPr lang="en-US" sz="3200" i="1" dirty="0" err="1" smtClean="0">
                <a:solidFill>
                  <a:srgbClr val="C00000"/>
                </a:solidFill>
              </a:rPr>
              <a:t>eupnea</a:t>
            </a:r>
            <a:r>
              <a:rPr lang="en-US" sz="3200" i="1" dirty="0" smtClean="0">
                <a:solidFill>
                  <a:srgbClr val="C00000"/>
                </a:solidFill>
              </a:rPr>
              <a:t>.</a:t>
            </a:r>
          </a:p>
          <a:p>
            <a:pPr algn="just"/>
            <a:r>
              <a:rPr lang="en-US" sz="3200" i="1" dirty="0" smtClean="0"/>
              <a:t> Abnormally slow respirations are referred to as </a:t>
            </a:r>
            <a:r>
              <a:rPr lang="en-US" sz="3200" i="1" dirty="0" err="1" smtClean="0">
                <a:solidFill>
                  <a:srgbClr val="C00000"/>
                </a:solidFill>
              </a:rPr>
              <a:t>bradypnea</a:t>
            </a:r>
            <a:r>
              <a:rPr lang="en-US" sz="3200" i="1" dirty="0" smtClean="0"/>
              <a:t>, </a:t>
            </a:r>
            <a:r>
              <a:rPr lang="en-US" sz="3200" dirty="0" smtClean="0"/>
              <a:t>and abnormally fast respirations are called </a:t>
            </a:r>
            <a:r>
              <a:rPr lang="en-US" sz="3200" dirty="0" err="1" smtClean="0">
                <a:solidFill>
                  <a:srgbClr val="C00000"/>
                </a:solidFill>
              </a:rPr>
              <a:t>tachypnea</a:t>
            </a:r>
            <a:r>
              <a:rPr lang="en-US" sz="3200" dirty="0" smtClean="0">
                <a:solidFill>
                  <a:srgbClr val="C00000"/>
                </a:solidFill>
              </a:rPr>
              <a:t> or </a:t>
            </a:r>
            <a:r>
              <a:rPr lang="en-US" sz="3200" i="1" dirty="0" err="1" smtClean="0">
                <a:solidFill>
                  <a:srgbClr val="C00000"/>
                </a:solidFill>
              </a:rPr>
              <a:t>polypnea</a:t>
            </a:r>
            <a:r>
              <a:rPr lang="en-US" sz="3200" i="1" dirty="0" smtClean="0">
                <a:solidFill>
                  <a:srgbClr val="C00000"/>
                </a:solidFill>
              </a:rPr>
              <a:t>.</a:t>
            </a:r>
          </a:p>
          <a:p>
            <a:pPr algn="just"/>
            <a:r>
              <a:rPr lang="en-US" sz="3200" dirty="0" smtClean="0">
                <a:solidFill>
                  <a:srgbClr val="C00000"/>
                </a:solidFill>
              </a:rPr>
              <a:t>Apnea </a:t>
            </a:r>
            <a:r>
              <a:rPr lang="en-US" sz="3200" dirty="0" smtClean="0"/>
              <a:t>is the absence of breathing.</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82296" indent="0" algn="ctr">
              <a:buNone/>
            </a:pPr>
            <a:r>
              <a:rPr lang="en-US" sz="4000" dirty="0">
                <a:solidFill>
                  <a:srgbClr val="C00000"/>
                </a:solidFill>
                <a:latin typeface="Times New Roman" panose="02020603050405020304" pitchFamily="18" charset="0"/>
                <a:cs typeface="Times New Roman" panose="02020603050405020304" pitchFamily="18" charset="0"/>
              </a:rPr>
              <a:t>Altered Breathing Patterns and Sounds</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68908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304800"/>
            <a:ext cx="8839200" cy="6324600"/>
          </a:xfrm>
        </p:spPr>
        <p:txBody>
          <a:bodyPr>
            <a:noAutofit/>
          </a:bodyPr>
          <a:lstStyle/>
          <a:p>
            <a:pPr algn="ctr">
              <a:buNone/>
            </a:pPr>
            <a:r>
              <a:rPr lang="en-US" sz="2800" b="1" i="1" dirty="0" smtClean="0">
                <a:solidFill>
                  <a:srgbClr val="00B0F0"/>
                </a:solidFill>
              </a:rPr>
              <a:t>1</a:t>
            </a:r>
            <a:r>
              <a:rPr lang="en-US" sz="2800" b="1" i="1" dirty="0" smtClean="0">
                <a:solidFill>
                  <a:srgbClr val="00B0F0"/>
                </a:solidFill>
              </a:rPr>
              <a:t>) Rate</a:t>
            </a:r>
          </a:p>
          <a:p>
            <a:pPr algn="just">
              <a:buNone/>
            </a:pPr>
            <a:r>
              <a:rPr lang="en-US" sz="2800" dirty="0" smtClean="0"/>
              <a:t>• </a:t>
            </a:r>
            <a:r>
              <a:rPr lang="en-US" sz="2800" i="1" dirty="0" err="1" smtClean="0"/>
              <a:t>Tachypnea</a:t>
            </a:r>
            <a:r>
              <a:rPr lang="en-US" sz="2800" i="1" dirty="0" smtClean="0"/>
              <a:t>—quick, shallow breaths</a:t>
            </a:r>
          </a:p>
          <a:p>
            <a:pPr algn="just">
              <a:buNone/>
            </a:pPr>
            <a:r>
              <a:rPr lang="en-US" sz="2800" dirty="0" smtClean="0"/>
              <a:t>• </a:t>
            </a:r>
            <a:r>
              <a:rPr lang="en-US" sz="2800" i="1" dirty="0" err="1" smtClean="0"/>
              <a:t>Bradypnea</a:t>
            </a:r>
            <a:r>
              <a:rPr lang="en-US" sz="2800" i="1" dirty="0" smtClean="0"/>
              <a:t>—abnormally slow breathing</a:t>
            </a:r>
          </a:p>
          <a:p>
            <a:pPr algn="just">
              <a:buNone/>
            </a:pPr>
            <a:r>
              <a:rPr lang="en-US" sz="2800" dirty="0" smtClean="0"/>
              <a:t>• </a:t>
            </a:r>
            <a:r>
              <a:rPr lang="en-US" sz="2800" i="1" dirty="0" smtClean="0"/>
              <a:t>Apnea—cessation of </a:t>
            </a:r>
            <a:r>
              <a:rPr lang="en-US" sz="2800" i="1" dirty="0" smtClean="0"/>
              <a:t>breathing</a:t>
            </a:r>
            <a:endParaRPr lang="en-US" sz="2800" i="1" dirty="0" smtClean="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866" y="2895600"/>
            <a:ext cx="5263134" cy="185928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298" y="4996218"/>
            <a:ext cx="5234701" cy="1633182"/>
          </a:xfrm>
          <a:prstGeom prst="rect">
            <a:avLst/>
          </a:prstGeom>
        </p:spPr>
      </p:pic>
      <p:sp>
        <p:nvSpPr>
          <p:cNvPr id="7" name="TextBox 6"/>
          <p:cNvSpPr txBox="1"/>
          <p:nvPr/>
        </p:nvSpPr>
        <p:spPr>
          <a:xfrm>
            <a:off x="6477000" y="5431809"/>
            <a:ext cx="2209800" cy="762000"/>
          </a:xfrm>
          <a:prstGeom prst="rect">
            <a:avLst/>
          </a:prstGeom>
          <a:noFill/>
        </p:spPr>
        <p:txBody>
          <a:bodyPr wrap="square" rtlCol="0">
            <a:spAutoFit/>
          </a:bodyPr>
          <a:lstStyle/>
          <a:p>
            <a:endParaRPr lang="en-IN" dirty="0"/>
          </a:p>
        </p:txBody>
      </p:sp>
      <p:sp>
        <p:nvSpPr>
          <p:cNvPr id="8" name="TextBox 7"/>
          <p:cNvSpPr txBox="1"/>
          <p:nvPr/>
        </p:nvSpPr>
        <p:spPr>
          <a:xfrm>
            <a:off x="6248400" y="5431809"/>
            <a:ext cx="1981200" cy="646331"/>
          </a:xfrm>
          <a:prstGeom prst="rect">
            <a:avLst/>
          </a:prstGeom>
          <a:noFill/>
        </p:spPr>
        <p:txBody>
          <a:bodyPr wrap="square" rtlCol="0">
            <a:spAutoFit/>
          </a:bodyPr>
          <a:lstStyle/>
          <a:p>
            <a:r>
              <a:rPr lang="en-US" dirty="0" smtClean="0"/>
              <a:t>Less than 12 breath per min</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324600"/>
          </a:xfrm>
        </p:spPr>
        <p:txBody>
          <a:bodyPr/>
          <a:lstStyle/>
          <a:p>
            <a:pPr algn="ctr">
              <a:buNone/>
            </a:pPr>
            <a:r>
              <a:rPr lang="en-US" b="1" i="1" dirty="0">
                <a:solidFill>
                  <a:srgbClr val="00B0F0"/>
                </a:solidFill>
              </a:rPr>
              <a:t>2) Volume</a:t>
            </a:r>
          </a:p>
          <a:p>
            <a:pPr algn="just">
              <a:buNone/>
            </a:pPr>
            <a:r>
              <a:rPr lang="en-US" dirty="0"/>
              <a:t>• </a:t>
            </a:r>
            <a:r>
              <a:rPr lang="en-US" i="1" dirty="0"/>
              <a:t>Hyperventilation—overexpansion of the lungs characterized by </a:t>
            </a:r>
            <a:r>
              <a:rPr lang="en-US" dirty="0"/>
              <a:t>rapid and deep breaths</a:t>
            </a:r>
          </a:p>
          <a:p>
            <a:pPr algn="just"/>
            <a:r>
              <a:rPr lang="en-US" dirty="0"/>
              <a:t>• </a:t>
            </a:r>
            <a:r>
              <a:rPr lang="en-US" i="1" dirty="0"/>
              <a:t>Hypoventilation—</a:t>
            </a:r>
            <a:r>
              <a:rPr lang="en-US" i="1" dirty="0" err="1"/>
              <a:t>underexpansion</a:t>
            </a:r>
            <a:r>
              <a:rPr lang="en-US" i="1" dirty="0"/>
              <a:t> of the lungs, characterized by </a:t>
            </a:r>
            <a:r>
              <a:rPr lang="en-US" dirty="0"/>
              <a:t>shallow respirations</a:t>
            </a:r>
            <a:endParaRPr lang="en-US" b="1" dirty="0">
              <a:solidFill>
                <a:srgbClr val="7030A0"/>
              </a:solidFill>
            </a:endParaRP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3314700"/>
            <a:ext cx="2000250" cy="200977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600" y="2819400"/>
            <a:ext cx="5105400" cy="3000375"/>
          </a:xfrm>
          <a:prstGeom prst="rect">
            <a:avLst/>
          </a:prstGeom>
        </p:spPr>
      </p:pic>
      <p:sp>
        <p:nvSpPr>
          <p:cNvPr id="6" name="TextBox 5"/>
          <p:cNvSpPr txBox="1"/>
          <p:nvPr/>
        </p:nvSpPr>
        <p:spPr>
          <a:xfrm>
            <a:off x="685800" y="5819775"/>
            <a:ext cx="8077200" cy="369332"/>
          </a:xfrm>
          <a:prstGeom prst="rect">
            <a:avLst/>
          </a:prstGeom>
          <a:noFill/>
        </p:spPr>
        <p:txBody>
          <a:bodyPr wrap="square" rtlCol="0">
            <a:spAutoFit/>
          </a:bodyPr>
          <a:lstStyle/>
          <a:p>
            <a:r>
              <a:rPr lang="en-US" dirty="0" smtClean="0"/>
              <a:t>Hyperventilation                                                           hypoventilation</a:t>
            </a:r>
            <a:endParaRPr lang="en-IN" dirty="0"/>
          </a:p>
        </p:txBody>
      </p:sp>
    </p:spTree>
    <p:extLst>
      <p:ext uri="{BB962C8B-B14F-4D97-AF65-F5344CB8AC3E}">
        <p14:creationId xmlns:p14="http://schemas.microsoft.com/office/powerpoint/2010/main" val="984138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52400"/>
            <a:ext cx="8763000" cy="6477000"/>
          </a:xfrm>
        </p:spPr>
        <p:txBody>
          <a:bodyPr>
            <a:normAutofit/>
          </a:bodyPr>
          <a:lstStyle/>
          <a:p>
            <a:pPr algn="just">
              <a:buNone/>
            </a:pPr>
            <a:r>
              <a:rPr lang="en-US" sz="3200" b="1" i="1" dirty="0" smtClean="0">
                <a:solidFill>
                  <a:srgbClr val="00B0F0"/>
                </a:solidFill>
              </a:rPr>
              <a:t>3) Rhythm</a:t>
            </a:r>
            <a:endParaRPr lang="en-US" sz="3200" b="1" dirty="0" smtClean="0">
              <a:solidFill>
                <a:srgbClr val="00B0F0"/>
              </a:solidFill>
            </a:endParaRPr>
          </a:p>
          <a:p>
            <a:pPr algn="just">
              <a:buNone/>
            </a:pPr>
            <a:r>
              <a:rPr lang="en-US" sz="3200" dirty="0" smtClean="0"/>
              <a:t>• </a:t>
            </a:r>
            <a:r>
              <a:rPr lang="en-US" sz="3200" b="1" i="1" dirty="0" err="1" smtClean="0"/>
              <a:t>Cheyne</a:t>
            </a:r>
            <a:r>
              <a:rPr lang="en-US" sz="3200" b="1" i="1" dirty="0" smtClean="0"/>
              <a:t>-Stokes breathing</a:t>
            </a:r>
            <a:r>
              <a:rPr lang="en-US" sz="3200" i="1" dirty="0" smtClean="0"/>
              <a:t>—rhythmic waxing and waning of </a:t>
            </a:r>
            <a:r>
              <a:rPr lang="en-US" sz="3200" dirty="0" smtClean="0"/>
              <a:t>respirations, from very deep to very shallow breathing and temporary </a:t>
            </a:r>
            <a:r>
              <a:rPr lang="en-US" sz="3200" dirty="0" smtClean="0"/>
              <a:t>apnea</a:t>
            </a:r>
          </a:p>
          <a:p>
            <a:pPr algn="just"/>
            <a:r>
              <a:rPr lang="en-US" dirty="0" smtClean="0"/>
              <a:t>Seen in head trauma</a:t>
            </a:r>
            <a:endParaRPr lang="en-US" sz="3200" dirty="0" smtClean="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3047999"/>
            <a:ext cx="6172200" cy="24835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228600"/>
            <a:ext cx="7498080" cy="6019800"/>
          </a:xfrm>
        </p:spPr>
        <p:txBody>
          <a:bodyPr/>
          <a:lstStyle/>
          <a:p>
            <a:pPr marL="82296" indent="0">
              <a:buNone/>
            </a:pPr>
            <a:r>
              <a:rPr lang="en-US" b="1" dirty="0" err="1" smtClean="0"/>
              <a:t>Kussmaul’s</a:t>
            </a:r>
            <a:r>
              <a:rPr lang="en-US" b="1" dirty="0" smtClean="0"/>
              <a:t> respiration</a:t>
            </a:r>
          </a:p>
          <a:p>
            <a:pPr>
              <a:buFont typeface="Wingdings" panose="05000000000000000000" pitchFamily="2" charset="2"/>
              <a:buChar char="Ø"/>
            </a:pPr>
            <a:r>
              <a:rPr lang="en-US" dirty="0" smtClean="0"/>
              <a:t>Seen in diabetic patients</a:t>
            </a:r>
          </a:p>
          <a:p>
            <a:pPr>
              <a:buFont typeface="Wingdings" panose="05000000000000000000" pitchFamily="2" charset="2"/>
              <a:buChar char="Ø"/>
            </a:pPr>
            <a:r>
              <a:rPr lang="en-US" dirty="0" smtClean="0"/>
              <a:t>Breathing pattern very deep and rapid </a:t>
            </a:r>
          </a:p>
          <a:p>
            <a:pPr>
              <a:buFont typeface="Wingdings" panose="05000000000000000000" pitchFamily="2" charset="2"/>
              <a:buChar char="Ø"/>
            </a:pPr>
            <a:r>
              <a:rPr lang="en-US" dirty="0" smtClean="0"/>
              <a:t>Without any pauses</a:t>
            </a:r>
            <a:endParaRPr lang="en-IN" dirty="0"/>
          </a:p>
        </p:txBody>
      </p:sp>
      <p:pic>
        <p:nvPicPr>
          <p:cNvPr id="1026" name="Picture 2" descr="Natalies Casebook | Ta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688" y="3267075"/>
            <a:ext cx="8382000" cy="2981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5734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304800"/>
            <a:ext cx="7498080" cy="5943600"/>
          </a:xfrm>
        </p:spPr>
        <p:txBody>
          <a:bodyPr/>
          <a:lstStyle/>
          <a:p>
            <a:pPr marL="82296" indent="0">
              <a:buNone/>
            </a:pPr>
            <a:r>
              <a:rPr lang="en-US" dirty="0" err="1" smtClean="0"/>
              <a:t>Biot’s</a:t>
            </a:r>
            <a:r>
              <a:rPr lang="en-US" dirty="0" smtClean="0"/>
              <a:t> respiration</a:t>
            </a:r>
          </a:p>
          <a:p>
            <a:pPr>
              <a:buFont typeface="Wingdings" panose="05000000000000000000" pitchFamily="2" charset="2"/>
              <a:buChar char="Ø"/>
            </a:pPr>
            <a:r>
              <a:rPr lang="en-US" dirty="0" smtClean="0"/>
              <a:t>Faster and deeper respirations than normal</a:t>
            </a:r>
          </a:p>
          <a:p>
            <a:pPr>
              <a:buFont typeface="Wingdings" panose="05000000000000000000" pitchFamily="2" charset="2"/>
              <a:buChar char="Ø"/>
            </a:pPr>
            <a:r>
              <a:rPr lang="en-US" dirty="0" smtClean="0"/>
              <a:t>With abrupt pauses between them</a:t>
            </a:r>
          </a:p>
          <a:p>
            <a:pPr>
              <a:buFont typeface="Wingdings" panose="05000000000000000000" pitchFamily="2" charset="2"/>
              <a:buChar char="Ø"/>
            </a:pPr>
            <a:r>
              <a:rPr lang="en-US" dirty="0" smtClean="0"/>
              <a:t>Breath have equal depth</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3340" y="4419600"/>
            <a:ext cx="4808460" cy="1524000"/>
          </a:xfrm>
          <a:prstGeom prst="rect">
            <a:avLst/>
          </a:prstGeom>
        </p:spPr>
      </p:pic>
    </p:spTree>
    <p:extLst>
      <p:ext uri="{BB962C8B-B14F-4D97-AF65-F5344CB8AC3E}">
        <p14:creationId xmlns:p14="http://schemas.microsoft.com/office/powerpoint/2010/main" val="279228372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00B0F0"/>
                </a:solidFill>
              </a:rPr>
              <a:t>4) Ease or Effort</a:t>
            </a:r>
            <a:endParaRPr lang="en-US" b="1" i="1" dirty="0">
              <a:solidFill>
                <a:srgbClr val="00B0F0"/>
              </a:solidFill>
            </a:endParaRPr>
          </a:p>
        </p:txBody>
      </p:sp>
      <p:sp>
        <p:nvSpPr>
          <p:cNvPr id="3" name="Content Placeholder 2"/>
          <p:cNvSpPr>
            <a:spLocks noGrp="1"/>
          </p:cNvSpPr>
          <p:nvPr>
            <p:ph idx="1"/>
          </p:nvPr>
        </p:nvSpPr>
        <p:spPr>
          <a:xfrm>
            <a:off x="381000" y="1447800"/>
            <a:ext cx="8552688" cy="4800600"/>
          </a:xfrm>
        </p:spPr>
        <p:txBody>
          <a:bodyPr/>
          <a:lstStyle/>
          <a:p>
            <a:pPr algn="just">
              <a:buNone/>
            </a:pPr>
            <a:r>
              <a:rPr lang="en-US" sz="3600" dirty="0" smtClean="0">
                <a:latin typeface="Times New Roman" panose="02020603050405020304" pitchFamily="18" charset="0"/>
                <a:cs typeface="Times New Roman" panose="02020603050405020304" pitchFamily="18" charset="0"/>
              </a:rPr>
              <a:t>• </a:t>
            </a:r>
            <a:r>
              <a:rPr lang="en-US" sz="3600" b="1" i="1" dirty="0">
                <a:latin typeface="Times New Roman" panose="02020603050405020304" pitchFamily="18" charset="0"/>
                <a:cs typeface="Times New Roman" panose="02020603050405020304" pitchFamily="18" charset="0"/>
              </a:rPr>
              <a:t>Dyspnea</a:t>
            </a:r>
            <a:r>
              <a:rPr lang="en-US" sz="3600" i="1" dirty="0">
                <a:latin typeface="Times New Roman" panose="02020603050405020304" pitchFamily="18" charset="0"/>
                <a:cs typeface="Times New Roman" panose="02020603050405020304" pitchFamily="18" charset="0"/>
              </a:rPr>
              <a:t>—difficult and labored breathing during which the </a:t>
            </a:r>
            <a:r>
              <a:rPr lang="en-US" sz="3600" dirty="0">
                <a:latin typeface="Times New Roman" panose="02020603050405020304" pitchFamily="18" charset="0"/>
                <a:cs typeface="Times New Roman" panose="02020603050405020304" pitchFamily="18" charset="0"/>
              </a:rPr>
              <a:t>individual has a persistent, unsatisfied need for air and feels distressed</a:t>
            </a:r>
          </a:p>
          <a:p>
            <a:pPr algn="just">
              <a:buNone/>
            </a:pPr>
            <a:r>
              <a:rPr lang="en-US" sz="3600" dirty="0">
                <a:latin typeface="Times New Roman" panose="02020603050405020304" pitchFamily="18" charset="0"/>
                <a:cs typeface="Times New Roman" panose="02020603050405020304" pitchFamily="18" charset="0"/>
              </a:rPr>
              <a:t>• </a:t>
            </a:r>
            <a:r>
              <a:rPr lang="en-US" sz="3600" b="1" i="1" dirty="0">
                <a:latin typeface="Times New Roman" panose="02020603050405020304" pitchFamily="18" charset="0"/>
                <a:cs typeface="Times New Roman" panose="02020603050405020304" pitchFamily="18" charset="0"/>
              </a:rPr>
              <a:t>Orthopnea</a:t>
            </a:r>
            <a:r>
              <a:rPr lang="en-US" sz="3600" i="1" dirty="0">
                <a:latin typeface="Times New Roman" panose="02020603050405020304" pitchFamily="18" charset="0"/>
                <a:cs typeface="Times New Roman" panose="02020603050405020304" pitchFamily="18" charset="0"/>
              </a:rPr>
              <a:t>—ability to breathe only in upright sitting or standing </a:t>
            </a:r>
            <a:r>
              <a:rPr lang="en-US" sz="3600" dirty="0" smtClean="0">
                <a:latin typeface="Times New Roman" panose="02020603050405020304" pitchFamily="18" charset="0"/>
                <a:cs typeface="Times New Roman" panose="02020603050405020304" pitchFamily="18" charset="0"/>
              </a:rPr>
              <a:t>positions</a:t>
            </a:r>
          </a:p>
          <a:p>
            <a:pPr algn="just"/>
            <a:r>
              <a:rPr lang="en-US" sz="3600" b="1" dirty="0" smtClean="0">
                <a:latin typeface="Times New Roman" panose="02020603050405020304" pitchFamily="18" charset="0"/>
                <a:cs typeface="Times New Roman" panose="02020603050405020304" pitchFamily="18" charset="0"/>
              </a:rPr>
              <a:t>Apnea</a:t>
            </a:r>
            <a:r>
              <a:rPr lang="en-US" sz="3600" dirty="0" smtClean="0">
                <a:latin typeface="Times New Roman" panose="02020603050405020304" pitchFamily="18" charset="0"/>
                <a:cs typeface="Times New Roman" panose="02020603050405020304" pitchFamily="18" charset="0"/>
              </a:rPr>
              <a:t> :-Absence of respiration</a:t>
            </a:r>
          </a:p>
          <a:p>
            <a:pPr algn="just">
              <a:buNone/>
            </a:pPr>
            <a:endParaRPr lang="en-US" dirty="0"/>
          </a:p>
          <a:p>
            <a:endParaRPr lang="en-IN" dirty="0"/>
          </a:p>
        </p:txBody>
      </p:sp>
    </p:spTree>
    <p:extLst>
      <p:ext uri="{BB962C8B-B14F-4D97-AF65-F5344CB8AC3E}">
        <p14:creationId xmlns:p14="http://schemas.microsoft.com/office/powerpoint/2010/main" val="271775345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Altered </a:t>
            </a:r>
            <a:r>
              <a:rPr lang="en-US" smtClean="0"/>
              <a:t>Breathing Sounds</a:t>
            </a:r>
            <a:endParaRPr lang="en-US" dirty="0"/>
          </a:p>
        </p:txBody>
      </p:sp>
      <p:sp>
        <p:nvSpPr>
          <p:cNvPr id="2" name="Content Placeholder 1"/>
          <p:cNvSpPr>
            <a:spLocks noGrp="1"/>
          </p:cNvSpPr>
          <p:nvPr>
            <p:ph idx="1"/>
          </p:nvPr>
        </p:nvSpPr>
        <p:spPr>
          <a:xfrm>
            <a:off x="152400" y="1447800"/>
            <a:ext cx="8763000" cy="5257800"/>
          </a:xfrm>
        </p:spPr>
        <p:txBody>
          <a:bodyPr>
            <a:normAutofit/>
          </a:bodyPr>
          <a:lstStyle/>
          <a:p>
            <a:pPr algn="just">
              <a:lnSpc>
                <a:spcPct val="150000"/>
              </a:lnSpc>
              <a:buNone/>
            </a:pPr>
            <a:r>
              <a:rPr lang="en-US" dirty="0" smtClean="0"/>
              <a:t>• </a:t>
            </a:r>
            <a:r>
              <a:rPr lang="en-US" sz="3600" b="1" i="1" dirty="0" err="1" smtClean="0">
                <a:latin typeface="Times New Roman" panose="02020603050405020304" pitchFamily="18" charset="0"/>
                <a:cs typeface="Times New Roman" panose="02020603050405020304" pitchFamily="18" charset="0"/>
              </a:rPr>
              <a:t>Stridor</a:t>
            </a:r>
            <a:r>
              <a:rPr lang="en-US" sz="3600" i="1" dirty="0" smtClean="0">
                <a:latin typeface="Times New Roman" panose="02020603050405020304" pitchFamily="18" charset="0"/>
                <a:cs typeface="Times New Roman" panose="02020603050405020304" pitchFamily="18" charset="0"/>
              </a:rPr>
              <a:t>—a shrill, harsh sound heard during inspiration with </a:t>
            </a:r>
            <a:r>
              <a:rPr lang="en-US" sz="3600" dirty="0" smtClean="0">
                <a:latin typeface="Times New Roman" panose="02020603050405020304" pitchFamily="18" charset="0"/>
                <a:cs typeface="Times New Roman" panose="02020603050405020304" pitchFamily="18" charset="0"/>
              </a:rPr>
              <a:t>laryngeal obstruction</a:t>
            </a:r>
          </a:p>
          <a:p>
            <a:pPr algn="just">
              <a:lnSpc>
                <a:spcPct val="150000"/>
              </a:lnSpc>
              <a:buNone/>
            </a:pPr>
            <a:r>
              <a:rPr lang="en-US" sz="3600" dirty="0" smtClean="0">
                <a:latin typeface="Times New Roman" panose="02020603050405020304" pitchFamily="18" charset="0"/>
                <a:cs typeface="Times New Roman" panose="02020603050405020304" pitchFamily="18" charset="0"/>
              </a:rPr>
              <a:t>•</a:t>
            </a:r>
            <a:r>
              <a:rPr lang="en-US" sz="3600" b="1" i="1" dirty="0" err="1" smtClean="0">
                <a:latin typeface="Times New Roman" panose="02020603050405020304" pitchFamily="18" charset="0"/>
                <a:cs typeface="Times New Roman" panose="02020603050405020304" pitchFamily="18" charset="0"/>
              </a:rPr>
              <a:t>Stertor</a:t>
            </a:r>
            <a:r>
              <a:rPr lang="en-US" sz="3600" i="1" dirty="0" smtClean="0">
                <a:latin typeface="Times New Roman" panose="02020603050405020304" pitchFamily="18" charset="0"/>
                <a:cs typeface="Times New Roman" panose="02020603050405020304" pitchFamily="18" charset="0"/>
              </a:rPr>
              <a:t>—snoring </a:t>
            </a:r>
            <a:r>
              <a:rPr lang="en-US" sz="3600" i="1" dirty="0" smtClean="0">
                <a:latin typeface="Times New Roman" panose="02020603050405020304" pitchFamily="18" charset="0"/>
                <a:cs typeface="Times New Roman" panose="02020603050405020304" pitchFamily="18" charset="0"/>
              </a:rPr>
              <a:t>or sonorous respiration, usually due to a partial </a:t>
            </a:r>
            <a:r>
              <a:rPr lang="en-US" sz="3600" dirty="0" smtClean="0">
                <a:latin typeface="Times New Roman" panose="02020603050405020304" pitchFamily="18" charset="0"/>
                <a:cs typeface="Times New Roman" panose="02020603050405020304" pitchFamily="18" charset="0"/>
              </a:rPr>
              <a:t>obstruction of the upper airway</a:t>
            </a:r>
          </a:p>
          <a:p>
            <a:pPr>
              <a:lnSpc>
                <a:spcPct val="150000"/>
              </a:lnSpc>
              <a:buNone/>
            </a:pP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0"/>
            <a:ext cx="8763000" cy="6477000"/>
          </a:xfrm>
        </p:spPr>
        <p:txBody>
          <a:bodyPr>
            <a:noAutofit/>
          </a:bodyPr>
          <a:lstStyle/>
          <a:p>
            <a:pPr algn="just">
              <a:lnSpc>
                <a:spcPct val="150000"/>
              </a:lnSpc>
              <a:buFont typeface="Arial" pitchFamily="34" charset="0"/>
              <a:buChar char="•"/>
            </a:pPr>
            <a:r>
              <a:rPr lang="en-US" sz="3600" b="1" i="1" dirty="0" smtClean="0">
                <a:latin typeface="Times New Roman" panose="02020603050405020304" pitchFamily="18" charset="0"/>
                <a:cs typeface="Times New Roman" panose="02020603050405020304" pitchFamily="18" charset="0"/>
              </a:rPr>
              <a:t>Wheeze</a:t>
            </a:r>
            <a:r>
              <a:rPr lang="en-US" sz="3600" i="1" dirty="0" smtClean="0">
                <a:latin typeface="Times New Roman" panose="02020603050405020304" pitchFamily="18" charset="0"/>
                <a:cs typeface="Times New Roman" panose="02020603050405020304" pitchFamily="18" charset="0"/>
              </a:rPr>
              <a:t>—continuous, high-pitched musical squeak or whistling </a:t>
            </a:r>
            <a:r>
              <a:rPr lang="en-US" sz="3600" dirty="0" smtClean="0">
                <a:latin typeface="Times New Roman" panose="02020603050405020304" pitchFamily="18" charset="0"/>
                <a:cs typeface="Times New Roman" panose="02020603050405020304" pitchFamily="18" charset="0"/>
              </a:rPr>
              <a:t>sound occurring on expiration and sometimes on inspiration when air moves through a narrowed or partially obstructed airway</a:t>
            </a:r>
          </a:p>
          <a:p>
            <a:pPr algn="just">
              <a:lnSpc>
                <a:spcPct val="150000"/>
              </a:lnSpc>
              <a:buNone/>
            </a:pPr>
            <a:r>
              <a:rPr lang="en-US" sz="3600" dirty="0" smtClean="0">
                <a:latin typeface="Times New Roman" panose="02020603050405020304" pitchFamily="18" charset="0"/>
                <a:cs typeface="Times New Roman" panose="02020603050405020304" pitchFamily="18" charset="0"/>
              </a:rPr>
              <a:t>• </a:t>
            </a:r>
            <a:r>
              <a:rPr lang="en-US" sz="3600" b="1" i="1" dirty="0" smtClean="0">
                <a:latin typeface="Times New Roman" panose="02020603050405020304" pitchFamily="18" charset="0"/>
                <a:cs typeface="Times New Roman" panose="02020603050405020304" pitchFamily="18" charset="0"/>
              </a:rPr>
              <a:t>Bubbling</a:t>
            </a:r>
            <a:r>
              <a:rPr lang="en-US" sz="3600" i="1" dirty="0" smtClean="0">
                <a:latin typeface="Times New Roman" panose="02020603050405020304" pitchFamily="18" charset="0"/>
                <a:cs typeface="Times New Roman" panose="02020603050405020304" pitchFamily="18" charset="0"/>
              </a:rPr>
              <a:t>—gurgling sounds heard as air passes through moist </a:t>
            </a:r>
            <a:r>
              <a:rPr lang="en-US" sz="3600" dirty="0" smtClean="0">
                <a:latin typeface="Times New Roman" panose="02020603050405020304" pitchFamily="18" charset="0"/>
                <a:cs typeface="Times New Roman" panose="02020603050405020304" pitchFamily="18" charset="0"/>
              </a:rPr>
              <a:t>secretions in the respiratory tract</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CHEST MOVEMENTS</a:t>
            </a:r>
            <a:br>
              <a:rPr lang="en-US" dirty="0" smtClean="0"/>
            </a:br>
            <a:endParaRPr lang="en-US" dirty="0"/>
          </a:p>
        </p:txBody>
      </p:sp>
      <p:sp>
        <p:nvSpPr>
          <p:cNvPr id="2" name="Content Placeholder 1"/>
          <p:cNvSpPr>
            <a:spLocks noGrp="1"/>
          </p:cNvSpPr>
          <p:nvPr>
            <p:ph idx="1"/>
          </p:nvPr>
        </p:nvSpPr>
        <p:spPr>
          <a:xfrm>
            <a:off x="533400" y="1219200"/>
            <a:ext cx="8305800" cy="5257800"/>
          </a:xfrm>
        </p:spPr>
        <p:txBody>
          <a:bodyPr>
            <a:normAutofit/>
          </a:bodyPr>
          <a:lstStyle/>
          <a:p>
            <a:pPr algn="just">
              <a:buNone/>
            </a:pPr>
            <a:r>
              <a:rPr lang="en-US" sz="3600" b="1" i="1" dirty="0" smtClean="0">
                <a:latin typeface="Times New Roman" panose="02020603050405020304" pitchFamily="18" charset="0"/>
                <a:cs typeface="Times New Roman" panose="02020603050405020304" pitchFamily="18" charset="0"/>
              </a:rPr>
              <a:t>Intercostal retraction</a:t>
            </a:r>
            <a:r>
              <a:rPr lang="en-US" sz="3600" i="1" dirty="0" smtClean="0">
                <a:latin typeface="Times New Roman" panose="02020603050405020304" pitchFamily="18" charset="0"/>
                <a:cs typeface="Times New Roman" panose="02020603050405020304" pitchFamily="18" charset="0"/>
              </a:rPr>
              <a:t>—</a:t>
            </a:r>
            <a:r>
              <a:rPr lang="en-US" sz="3600" i="1" dirty="0" err="1" smtClean="0">
                <a:latin typeface="Times New Roman" panose="02020603050405020304" pitchFamily="18" charset="0"/>
                <a:cs typeface="Times New Roman" panose="02020603050405020304" pitchFamily="18" charset="0"/>
              </a:rPr>
              <a:t>indrawing</a:t>
            </a:r>
            <a:r>
              <a:rPr lang="en-US" sz="3600" i="1" dirty="0" smtClean="0">
                <a:latin typeface="Times New Roman" panose="02020603050405020304" pitchFamily="18" charset="0"/>
                <a:cs typeface="Times New Roman" panose="02020603050405020304" pitchFamily="18" charset="0"/>
              </a:rPr>
              <a:t> </a:t>
            </a:r>
            <a:r>
              <a:rPr lang="en-US" sz="3600" i="1" dirty="0" smtClean="0">
                <a:latin typeface="Times New Roman" panose="02020603050405020304" pitchFamily="18" charset="0"/>
                <a:cs typeface="Times New Roman" panose="02020603050405020304" pitchFamily="18" charset="0"/>
              </a:rPr>
              <a:t>between the ribs</a:t>
            </a:r>
          </a:p>
          <a:p>
            <a:pPr algn="just">
              <a:buNone/>
            </a:pPr>
            <a:r>
              <a:rPr lang="en-US" sz="3600" b="1" i="1" dirty="0" err="1" smtClean="0">
                <a:latin typeface="Times New Roman" panose="02020603050405020304" pitchFamily="18" charset="0"/>
                <a:cs typeface="Times New Roman" panose="02020603050405020304" pitchFamily="18" charset="0"/>
              </a:rPr>
              <a:t>Substernal</a:t>
            </a:r>
            <a:r>
              <a:rPr lang="en-US" sz="3600" b="1" i="1" dirty="0" smtClean="0">
                <a:latin typeface="Times New Roman" panose="02020603050405020304" pitchFamily="18" charset="0"/>
                <a:cs typeface="Times New Roman" panose="02020603050405020304" pitchFamily="18" charset="0"/>
              </a:rPr>
              <a:t> </a:t>
            </a:r>
            <a:r>
              <a:rPr lang="en-US" sz="3600" b="1" i="1" dirty="0" smtClean="0">
                <a:latin typeface="Times New Roman" panose="02020603050405020304" pitchFamily="18" charset="0"/>
                <a:cs typeface="Times New Roman" panose="02020603050405020304" pitchFamily="18" charset="0"/>
              </a:rPr>
              <a:t>retraction</a:t>
            </a:r>
            <a:r>
              <a:rPr lang="en-US" sz="3600" i="1" dirty="0" smtClean="0">
                <a:latin typeface="Times New Roman" panose="02020603050405020304" pitchFamily="18" charset="0"/>
                <a:cs typeface="Times New Roman" panose="02020603050405020304" pitchFamily="18" charset="0"/>
              </a:rPr>
              <a:t>—</a:t>
            </a:r>
            <a:r>
              <a:rPr lang="en-US" sz="3600" i="1" dirty="0" err="1" smtClean="0">
                <a:latin typeface="Times New Roman" panose="02020603050405020304" pitchFamily="18" charset="0"/>
                <a:cs typeface="Times New Roman" panose="02020603050405020304" pitchFamily="18" charset="0"/>
              </a:rPr>
              <a:t>indrawing</a:t>
            </a:r>
            <a:r>
              <a:rPr lang="en-US" sz="3600" i="1" dirty="0" smtClean="0">
                <a:latin typeface="Times New Roman" panose="02020603050405020304" pitchFamily="18" charset="0"/>
                <a:cs typeface="Times New Roman" panose="02020603050405020304" pitchFamily="18" charset="0"/>
              </a:rPr>
              <a:t> beneath the breastbone</a:t>
            </a:r>
          </a:p>
          <a:p>
            <a:pPr algn="just">
              <a:buNone/>
            </a:pPr>
            <a:r>
              <a:rPr lang="en-US" sz="3600" b="1" i="1" dirty="0" smtClean="0">
                <a:latin typeface="Times New Roman" panose="02020603050405020304" pitchFamily="18" charset="0"/>
                <a:cs typeface="Times New Roman" panose="02020603050405020304" pitchFamily="18" charset="0"/>
              </a:rPr>
              <a:t>Suprasternal </a:t>
            </a:r>
            <a:r>
              <a:rPr lang="en-US" sz="3600" b="1" i="1" dirty="0" smtClean="0">
                <a:latin typeface="Times New Roman" panose="02020603050405020304" pitchFamily="18" charset="0"/>
                <a:cs typeface="Times New Roman" panose="02020603050405020304" pitchFamily="18" charset="0"/>
              </a:rPr>
              <a:t>retraction</a:t>
            </a:r>
            <a:r>
              <a:rPr lang="en-US" sz="3600" i="1" dirty="0" smtClean="0">
                <a:latin typeface="Times New Roman" panose="02020603050405020304" pitchFamily="18" charset="0"/>
                <a:cs typeface="Times New Roman" panose="02020603050405020304" pitchFamily="18" charset="0"/>
              </a:rPr>
              <a:t>—</a:t>
            </a:r>
            <a:r>
              <a:rPr lang="en-US" sz="3600" i="1" dirty="0" err="1" smtClean="0">
                <a:latin typeface="Times New Roman" panose="02020603050405020304" pitchFamily="18" charset="0"/>
                <a:cs typeface="Times New Roman" panose="02020603050405020304" pitchFamily="18" charset="0"/>
              </a:rPr>
              <a:t>indrawing</a:t>
            </a:r>
            <a:r>
              <a:rPr lang="en-US" sz="3600" i="1" dirty="0" smtClean="0">
                <a:latin typeface="Times New Roman" panose="02020603050405020304" pitchFamily="18" charset="0"/>
                <a:cs typeface="Times New Roman" panose="02020603050405020304" pitchFamily="18" charset="0"/>
              </a:rPr>
              <a:t> above the clavicles</a:t>
            </a:r>
            <a:endParaRPr lang="en-US" sz="3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4800600"/>
            <a:ext cx="4724400" cy="205740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SECRETIONS AND COUGHING</a:t>
            </a:r>
            <a:br>
              <a:rPr lang="en-US" dirty="0" smtClean="0"/>
            </a:br>
            <a:endParaRPr lang="en-US" dirty="0"/>
          </a:p>
        </p:txBody>
      </p:sp>
      <p:sp>
        <p:nvSpPr>
          <p:cNvPr id="2" name="Content Placeholder 1"/>
          <p:cNvSpPr>
            <a:spLocks noGrp="1"/>
          </p:cNvSpPr>
          <p:nvPr>
            <p:ph idx="1"/>
          </p:nvPr>
        </p:nvSpPr>
        <p:spPr>
          <a:xfrm>
            <a:off x="381000" y="1143000"/>
            <a:ext cx="8305800" cy="4864291"/>
          </a:xfrm>
        </p:spPr>
        <p:txBody>
          <a:bodyPr/>
          <a:lstStyle/>
          <a:p>
            <a:pPr algn="just">
              <a:buNone/>
            </a:pPr>
            <a:r>
              <a:rPr lang="en-US" dirty="0" smtClean="0"/>
              <a:t>• </a:t>
            </a:r>
            <a:r>
              <a:rPr lang="en-US" sz="3600" b="1" i="1" dirty="0" err="1" smtClean="0"/>
              <a:t>Hemoptysis</a:t>
            </a:r>
            <a:r>
              <a:rPr lang="en-US" sz="3600" i="1" dirty="0" smtClean="0"/>
              <a:t>—the presence of blood in the sputum</a:t>
            </a:r>
          </a:p>
          <a:p>
            <a:pPr algn="just">
              <a:buNone/>
            </a:pPr>
            <a:r>
              <a:rPr lang="en-US" sz="3600" dirty="0" smtClean="0"/>
              <a:t>• </a:t>
            </a:r>
            <a:r>
              <a:rPr lang="en-US" sz="3600" b="1" i="1" dirty="0" smtClean="0"/>
              <a:t>Productive cough</a:t>
            </a:r>
            <a:r>
              <a:rPr lang="en-US" sz="3600" i="1" dirty="0" smtClean="0"/>
              <a:t>—a cough accompanied by expectorated </a:t>
            </a:r>
            <a:r>
              <a:rPr lang="en-US" sz="3600" dirty="0" smtClean="0"/>
              <a:t>secretions</a:t>
            </a:r>
          </a:p>
          <a:p>
            <a:pPr algn="just">
              <a:buNone/>
            </a:pPr>
            <a:r>
              <a:rPr lang="en-US" sz="3600" dirty="0" smtClean="0"/>
              <a:t>•</a:t>
            </a:r>
            <a:r>
              <a:rPr lang="en-US" sz="3600" b="1" i="1" dirty="0" smtClean="0"/>
              <a:t>Nonproductive </a:t>
            </a:r>
            <a:r>
              <a:rPr lang="en-US" sz="3600" b="1" i="1" dirty="0" smtClean="0"/>
              <a:t>cough</a:t>
            </a:r>
            <a:r>
              <a:rPr lang="en-US" sz="3600" i="1" dirty="0" smtClean="0"/>
              <a:t>—a dry, harsh cough without secretions</a:t>
            </a:r>
            <a:endParaRPr lang="en-US" sz="36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1020762"/>
          </a:xfrm>
        </p:spPr>
        <p:txBody>
          <a:bodyPr>
            <a:normAutofit/>
          </a:bodyPr>
          <a:lstStyle/>
          <a:p>
            <a:pPr algn="ctr"/>
            <a:r>
              <a:rPr lang="en-US" dirty="0" smtClean="0">
                <a:solidFill>
                  <a:srgbClr val="C00000"/>
                </a:solidFill>
              </a:rPr>
              <a:t>Assessing Respirations</a:t>
            </a:r>
            <a:endParaRPr lang="en-US" dirty="0">
              <a:solidFill>
                <a:srgbClr val="C00000"/>
              </a:solidFill>
            </a:endParaRPr>
          </a:p>
        </p:txBody>
      </p:sp>
      <p:sp>
        <p:nvSpPr>
          <p:cNvPr id="2" name="Content Placeholder 1"/>
          <p:cNvSpPr>
            <a:spLocks noGrp="1"/>
          </p:cNvSpPr>
          <p:nvPr>
            <p:ph idx="1"/>
          </p:nvPr>
        </p:nvSpPr>
        <p:spPr>
          <a:xfrm>
            <a:off x="152400" y="1371600"/>
            <a:ext cx="8839200" cy="5257800"/>
          </a:xfrm>
        </p:spPr>
        <p:txBody>
          <a:bodyPr>
            <a:normAutofit/>
          </a:bodyPr>
          <a:lstStyle/>
          <a:p>
            <a:pPr algn="just"/>
            <a:r>
              <a:rPr lang="en-US" sz="3200" dirty="0" smtClean="0"/>
              <a:t>Resting respirations should be assessed when the client is relaxed because exercise affects respirations, increasing their rate and depth.</a:t>
            </a:r>
          </a:p>
          <a:p>
            <a:pPr algn="just"/>
            <a:r>
              <a:rPr lang="en-US" sz="3200" dirty="0" smtClean="0"/>
              <a:t>Anxiety is likely to affect respiratory rate and depth as well. </a:t>
            </a:r>
          </a:p>
          <a:p>
            <a:pPr algn="just"/>
            <a:r>
              <a:rPr lang="en-US" sz="3200" dirty="0" smtClean="0"/>
              <a:t>Respirations may also need to be assessed after exercise to identify the client’s tolerance to activity.</a:t>
            </a:r>
            <a:endParaRPr lang="en-US" sz="3200" dirty="0"/>
          </a:p>
        </p:txBody>
      </p:sp>
      <p:pic>
        <p:nvPicPr>
          <p:cNvPr id="1027" name="Picture 3" descr="C:\Users\Admin\Desktop\ni.jpg"/>
          <p:cNvPicPr>
            <a:picLocks noChangeAspect="1" noChangeArrowheads="1"/>
          </p:cNvPicPr>
          <p:nvPr/>
        </p:nvPicPr>
        <p:blipFill>
          <a:blip r:embed="rId2"/>
          <a:srcRect/>
          <a:stretch>
            <a:fillRect/>
          </a:stretch>
        </p:blipFill>
        <p:spPr bwMode="auto">
          <a:xfrm>
            <a:off x="5029200" y="5029200"/>
            <a:ext cx="4114800" cy="1828800"/>
          </a:xfrm>
          <a:prstGeom prst="rect">
            <a:avLst/>
          </a:prstGeom>
          <a:noFill/>
        </p:spPr>
      </p:pic>
    </p:spTree>
    <p:extLst>
      <p:ext uri="{BB962C8B-B14F-4D97-AF65-F5344CB8AC3E}">
        <p14:creationId xmlns:p14="http://schemas.microsoft.com/office/powerpoint/2010/main" val="34579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274638"/>
            <a:ext cx="8610600" cy="1143000"/>
          </a:xfrm>
        </p:spPr>
        <p:txBody>
          <a:bodyPr>
            <a:noAutofit/>
          </a:bodyPr>
          <a:lstStyle/>
          <a:p>
            <a:pPr algn="ctr"/>
            <a:r>
              <a:rPr lang="en-US" sz="2800" dirty="0" smtClean="0">
                <a:solidFill>
                  <a:srgbClr val="C00000"/>
                </a:solidFill>
              </a:rPr>
              <a:t>Before assessing a client’s respirations, a nurse should be aware of the following:</a:t>
            </a:r>
            <a:br>
              <a:rPr lang="en-US" sz="2800" dirty="0" smtClean="0">
                <a:solidFill>
                  <a:srgbClr val="C00000"/>
                </a:solidFill>
              </a:rPr>
            </a:br>
            <a:endParaRPr lang="en-US" sz="2800" dirty="0">
              <a:solidFill>
                <a:srgbClr val="C00000"/>
              </a:solidFill>
            </a:endParaRPr>
          </a:p>
        </p:txBody>
      </p:sp>
      <p:sp>
        <p:nvSpPr>
          <p:cNvPr id="2" name="Content Placeholder 1"/>
          <p:cNvSpPr>
            <a:spLocks noGrp="1"/>
          </p:cNvSpPr>
          <p:nvPr>
            <p:ph idx="1"/>
          </p:nvPr>
        </p:nvSpPr>
        <p:spPr>
          <a:xfrm>
            <a:off x="228600" y="1371600"/>
            <a:ext cx="8686800" cy="5257800"/>
          </a:xfrm>
        </p:spPr>
        <p:txBody>
          <a:bodyPr>
            <a:normAutofit/>
          </a:bodyPr>
          <a:lstStyle/>
          <a:p>
            <a:pPr algn="just"/>
            <a:r>
              <a:rPr lang="en-US" sz="3600" dirty="0" smtClean="0"/>
              <a:t>The client’s normal breathing pattern</a:t>
            </a:r>
          </a:p>
          <a:p>
            <a:pPr algn="just"/>
            <a:r>
              <a:rPr lang="en-US" sz="3600" dirty="0" smtClean="0"/>
              <a:t>The influence of the client’s health problems on respirations</a:t>
            </a:r>
          </a:p>
          <a:p>
            <a:pPr algn="just"/>
            <a:r>
              <a:rPr lang="en-US" sz="3600" dirty="0" smtClean="0"/>
              <a:t>Any medications or therapies that might affect respirations</a:t>
            </a:r>
          </a:p>
          <a:p>
            <a:pPr algn="just"/>
            <a:r>
              <a:rPr lang="en-US" sz="3600" dirty="0" smtClean="0"/>
              <a:t>The relationship of the client’s respirations to cardiovascular function.</a:t>
            </a:r>
            <a:endParaRPr lang="en-US" sz="3600" dirty="0"/>
          </a:p>
        </p:txBody>
      </p:sp>
      <p:pic>
        <p:nvPicPr>
          <p:cNvPr id="2050" name="Picture 2" descr="C:\Users\Admin\Desktop\images.jpg"/>
          <p:cNvPicPr>
            <a:picLocks noChangeAspect="1" noChangeArrowheads="1"/>
          </p:cNvPicPr>
          <p:nvPr/>
        </p:nvPicPr>
        <p:blipFill>
          <a:blip r:embed="rId2"/>
          <a:srcRect/>
          <a:stretch>
            <a:fillRect/>
          </a:stretch>
        </p:blipFill>
        <p:spPr bwMode="auto">
          <a:xfrm>
            <a:off x="6019801" y="5257800"/>
            <a:ext cx="3124200" cy="1600200"/>
          </a:xfrm>
          <a:prstGeom prst="rect">
            <a:avLst/>
          </a:prstGeom>
          <a:noFill/>
        </p:spPr>
      </p:pic>
    </p:spTree>
    <p:extLst>
      <p:ext uri="{BB962C8B-B14F-4D97-AF65-F5344CB8AC3E}">
        <p14:creationId xmlns:p14="http://schemas.microsoft.com/office/powerpoint/2010/main" val="280524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868362"/>
          </a:xfrm>
        </p:spPr>
        <p:txBody>
          <a:bodyPr/>
          <a:lstStyle/>
          <a:p>
            <a:r>
              <a:rPr lang="en-US" dirty="0" smtClean="0">
                <a:solidFill>
                  <a:srgbClr val="7030A0"/>
                </a:solidFill>
              </a:rPr>
              <a:t>Assessing Respirations</a:t>
            </a:r>
            <a:endParaRPr lang="en-US" dirty="0">
              <a:solidFill>
                <a:srgbClr val="7030A0"/>
              </a:solidFill>
            </a:endParaRPr>
          </a:p>
        </p:txBody>
      </p:sp>
      <p:sp>
        <p:nvSpPr>
          <p:cNvPr id="2" name="Content Placeholder 1"/>
          <p:cNvSpPr>
            <a:spLocks noGrp="1"/>
          </p:cNvSpPr>
          <p:nvPr>
            <p:ph idx="1"/>
          </p:nvPr>
        </p:nvSpPr>
        <p:spPr>
          <a:xfrm>
            <a:off x="228600" y="1295400"/>
            <a:ext cx="8686800" cy="5410200"/>
          </a:xfrm>
        </p:spPr>
        <p:txBody>
          <a:bodyPr>
            <a:normAutofit/>
          </a:bodyPr>
          <a:lstStyle/>
          <a:p>
            <a:pPr>
              <a:buNone/>
            </a:pPr>
            <a:r>
              <a:rPr lang="en-US" sz="2800" b="1" dirty="0" smtClean="0"/>
              <a:t>PURPOSES</a:t>
            </a:r>
          </a:p>
          <a:p>
            <a:pPr algn="just"/>
            <a:r>
              <a:rPr lang="en-US" sz="3200" dirty="0" smtClean="0"/>
              <a:t>To acquire baseline data against which future measurements can be compared</a:t>
            </a:r>
          </a:p>
          <a:p>
            <a:pPr algn="just"/>
            <a:r>
              <a:rPr lang="en-US" sz="3200" dirty="0" smtClean="0"/>
              <a:t>To monitor abnormal respirations and respiratory patterns and identify changes</a:t>
            </a:r>
          </a:p>
          <a:p>
            <a:pPr algn="just"/>
            <a:r>
              <a:rPr lang="en-US" sz="3200" dirty="0" smtClean="0"/>
              <a:t>To monitor respirations before or after the administration of a general anesthetic or any medication that influences respirations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219200"/>
            <a:ext cx="8763000" cy="5410200"/>
          </a:xfrm>
        </p:spPr>
        <p:txBody>
          <a:bodyPr>
            <a:normAutofit/>
          </a:bodyPr>
          <a:lstStyle/>
          <a:p>
            <a:pPr algn="just"/>
            <a:r>
              <a:rPr lang="en-US" sz="3200" dirty="0" smtClean="0"/>
              <a:t>To monitor clients at risk for respiratory alterations (e.g., those with fever, pain, acute anxiety, chronic obstructive pulmonary disease, asthma, respiratory infection, pulmonary edema or emboli, chest trauma or constriction, brainstem injury)</a:t>
            </a:r>
            <a:endParaRPr lang="en-US" sz="32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609600"/>
            <a:ext cx="8229600" cy="457200"/>
          </a:xfrm>
        </p:spPr>
        <p:txBody>
          <a:bodyPr>
            <a:normAutofit fontScale="90000"/>
          </a:bodyPr>
          <a:lstStyle/>
          <a:p>
            <a:r>
              <a:rPr lang="en-US" dirty="0" smtClean="0"/>
              <a:t>ASSESSMENT</a:t>
            </a:r>
            <a:br>
              <a:rPr lang="en-US" dirty="0" smtClean="0"/>
            </a:br>
            <a:endParaRPr lang="en-US" dirty="0"/>
          </a:p>
        </p:txBody>
      </p:sp>
      <p:sp>
        <p:nvSpPr>
          <p:cNvPr id="2" name="Content Placeholder 1"/>
          <p:cNvSpPr>
            <a:spLocks noGrp="1"/>
          </p:cNvSpPr>
          <p:nvPr>
            <p:ph idx="1"/>
          </p:nvPr>
        </p:nvSpPr>
        <p:spPr>
          <a:xfrm>
            <a:off x="152400" y="838200"/>
            <a:ext cx="8839200" cy="5715000"/>
          </a:xfrm>
        </p:spPr>
        <p:txBody>
          <a:bodyPr>
            <a:normAutofit fontScale="92500" lnSpcReduction="10000"/>
          </a:bodyPr>
          <a:lstStyle/>
          <a:p>
            <a:pPr>
              <a:buNone/>
            </a:pPr>
            <a:r>
              <a:rPr lang="en-US" sz="2800" b="1" dirty="0" smtClean="0"/>
              <a:t>Assess</a:t>
            </a:r>
          </a:p>
          <a:p>
            <a:pPr algn="just"/>
            <a:r>
              <a:rPr lang="en-US" dirty="0" smtClean="0"/>
              <a:t>Skin and mucous membrane color (</a:t>
            </a:r>
            <a:r>
              <a:rPr lang="en-US" dirty="0" err="1" smtClean="0"/>
              <a:t>eg:cyanosis</a:t>
            </a:r>
            <a:r>
              <a:rPr lang="en-US" dirty="0" smtClean="0"/>
              <a:t>)</a:t>
            </a:r>
          </a:p>
          <a:p>
            <a:pPr algn="just"/>
            <a:r>
              <a:rPr lang="en-US" dirty="0" smtClean="0"/>
              <a:t>Position assumed for breathing (</a:t>
            </a:r>
            <a:r>
              <a:rPr lang="en-US" dirty="0" err="1" smtClean="0"/>
              <a:t>eg:use</a:t>
            </a:r>
            <a:r>
              <a:rPr lang="en-US" dirty="0" smtClean="0"/>
              <a:t> of </a:t>
            </a:r>
            <a:r>
              <a:rPr lang="en-US" dirty="0" err="1" smtClean="0"/>
              <a:t>orthopneic</a:t>
            </a:r>
            <a:r>
              <a:rPr lang="en-US" dirty="0" smtClean="0"/>
              <a:t> position)</a:t>
            </a:r>
          </a:p>
          <a:p>
            <a:pPr algn="just"/>
            <a:r>
              <a:rPr lang="en-US" dirty="0" smtClean="0"/>
              <a:t>Signs of lack of oxygen to the brain (</a:t>
            </a:r>
            <a:r>
              <a:rPr lang="en-US" dirty="0" err="1" smtClean="0"/>
              <a:t>eg:irritability</a:t>
            </a:r>
            <a:r>
              <a:rPr lang="en-US" dirty="0" smtClean="0"/>
              <a:t>, restlessness, drowsiness, or loss of consciousness)</a:t>
            </a:r>
          </a:p>
          <a:p>
            <a:pPr algn="just"/>
            <a:r>
              <a:rPr lang="en-US" dirty="0" smtClean="0"/>
              <a:t>Chest movements (e.g., retractions between the ribs or above or below the sternum) </a:t>
            </a:r>
          </a:p>
          <a:p>
            <a:pPr algn="just"/>
            <a:r>
              <a:rPr lang="en-US" dirty="0" smtClean="0"/>
              <a:t>Activity tolerance</a:t>
            </a:r>
          </a:p>
          <a:p>
            <a:pPr algn="just"/>
            <a:r>
              <a:rPr lang="en-US" dirty="0" smtClean="0"/>
              <a:t>Chest pain</a:t>
            </a:r>
          </a:p>
          <a:p>
            <a:pPr algn="just"/>
            <a:r>
              <a:rPr lang="en-US" dirty="0" err="1" smtClean="0"/>
              <a:t>Dyspnea</a:t>
            </a:r>
            <a:endParaRPr lang="en-US" dirty="0" smtClean="0"/>
          </a:p>
          <a:p>
            <a:pPr algn="just"/>
            <a:r>
              <a:rPr lang="en-US" dirty="0" smtClean="0"/>
              <a:t>Medications affecting respiratory rate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 calcmode="lin" valueType="num">
                                      <p:cBhvr additive="base">
                                        <p:cTn id="5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52400"/>
            <a:ext cx="8686800" cy="6477000"/>
          </a:xfrm>
        </p:spPr>
        <p:txBody>
          <a:bodyPr>
            <a:noAutofit/>
          </a:bodyPr>
          <a:lstStyle/>
          <a:p>
            <a:pPr algn="just">
              <a:buNone/>
            </a:pPr>
            <a:r>
              <a:rPr lang="en-US" sz="3200" b="1" dirty="0" smtClean="0">
                <a:solidFill>
                  <a:srgbClr val="7030A0"/>
                </a:solidFill>
              </a:rPr>
              <a:t>Equipment</a:t>
            </a:r>
          </a:p>
          <a:p>
            <a:pPr algn="just"/>
            <a:r>
              <a:rPr lang="en-US" sz="3200" dirty="0" smtClean="0"/>
              <a:t>Clock or watch with a sweep second hand or digital seconds indicator</a:t>
            </a:r>
          </a:p>
          <a:p>
            <a:pPr algn="just">
              <a:buNone/>
            </a:pPr>
            <a:r>
              <a:rPr lang="en-US" sz="3200" b="1" dirty="0" smtClean="0">
                <a:solidFill>
                  <a:srgbClr val="7030A0"/>
                </a:solidFill>
              </a:rPr>
              <a:t>IMPLEMENTATION</a:t>
            </a:r>
          </a:p>
          <a:p>
            <a:pPr algn="just">
              <a:buNone/>
            </a:pPr>
            <a:r>
              <a:rPr lang="en-US" sz="3200" b="1" dirty="0" smtClean="0"/>
              <a:t>Preparation</a:t>
            </a:r>
          </a:p>
          <a:p>
            <a:pPr algn="just"/>
            <a:r>
              <a:rPr lang="en-US" sz="3200" dirty="0" smtClean="0"/>
              <a:t>For a routine assessment of respirations, determine the client’s activity schedule and choose a suitable time to monitor the respirations.</a:t>
            </a:r>
          </a:p>
          <a:p>
            <a:pPr algn="just"/>
            <a:r>
              <a:rPr lang="en-US" sz="3200" dirty="0" smtClean="0"/>
              <a:t>A client who has been exercising will need to rest for a few minutes to permit the accelerated respiratory rate to return to normal.</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533400"/>
          </a:xfrm>
        </p:spPr>
        <p:txBody>
          <a:bodyPr>
            <a:normAutofit fontScale="90000"/>
          </a:bodyPr>
          <a:lstStyle/>
          <a:p>
            <a:r>
              <a:rPr lang="en-US" dirty="0" smtClean="0"/>
              <a:t>PROCEDURE</a:t>
            </a:r>
            <a:endParaRPr lang="en-IN" dirty="0"/>
          </a:p>
        </p:txBody>
      </p:sp>
      <p:graphicFrame>
        <p:nvGraphicFramePr>
          <p:cNvPr id="4" name="Content Placeholder 3"/>
          <p:cNvGraphicFramePr>
            <a:graphicFrameLocks noGrp="1"/>
          </p:cNvGraphicFramePr>
          <p:nvPr>
            <p:ph idx="1"/>
            <p:extLst/>
          </p:nvPr>
        </p:nvGraphicFramePr>
        <p:xfrm>
          <a:off x="152400" y="838200"/>
          <a:ext cx="8839200" cy="5867400"/>
        </p:xfrm>
        <a:graphic>
          <a:graphicData uri="http://schemas.openxmlformats.org/drawingml/2006/table">
            <a:tbl>
              <a:tblPr firstRow="1" bandRow="1">
                <a:tableStyleId>{5C22544A-7EE6-4342-B048-85BDC9FD1C3A}</a:tableStyleId>
              </a:tblPr>
              <a:tblGrid>
                <a:gridCol w="5715000"/>
                <a:gridCol w="3124200"/>
              </a:tblGrid>
              <a:tr h="381000">
                <a:tc>
                  <a:txBody>
                    <a:bodyPr/>
                    <a:lstStyle/>
                    <a:p>
                      <a:pPr algn="ctr"/>
                      <a:r>
                        <a:rPr lang="en-US" dirty="0" smtClean="0"/>
                        <a:t>STEPS</a:t>
                      </a:r>
                      <a:endParaRPr lang="en-IN" dirty="0"/>
                    </a:p>
                  </a:txBody>
                  <a:tcPr/>
                </a:tc>
                <a:tc>
                  <a:txBody>
                    <a:bodyPr/>
                    <a:lstStyle/>
                    <a:p>
                      <a:pPr algn="ctr"/>
                      <a:r>
                        <a:rPr lang="en-US" dirty="0" smtClean="0"/>
                        <a:t>RATIONALE</a:t>
                      </a:r>
                      <a:endParaRPr lang="en-IN" dirty="0"/>
                    </a:p>
                  </a:txBody>
                  <a:tcPr/>
                </a:tc>
              </a:tr>
              <a:tr h="381000">
                <a:tc>
                  <a:txBody>
                    <a:bodyPr/>
                    <a:lstStyle/>
                    <a:p>
                      <a:pPr algn="l"/>
                      <a:r>
                        <a:rPr lang="en-US" sz="2400" dirty="0" smtClean="0">
                          <a:latin typeface="Times New Roman" panose="02020603050405020304" pitchFamily="18" charset="0"/>
                          <a:cs typeface="Times New Roman" panose="02020603050405020304" pitchFamily="18" charset="0"/>
                        </a:rPr>
                        <a:t>1. Prior to performing the procedure, introduce self and verify the client’s identity using agency protocol</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To avoid  errors</a:t>
                      </a:r>
                      <a:endParaRPr lang="en-IN" sz="2400" dirty="0">
                        <a:latin typeface="Times New Roman" panose="02020603050405020304" pitchFamily="18" charset="0"/>
                        <a:cs typeface="Times New Roman" panose="02020603050405020304" pitchFamily="18" charset="0"/>
                      </a:endParaRPr>
                    </a:p>
                  </a:txBody>
                  <a:tcPr/>
                </a:tc>
              </a:tr>
              <a:tr h="381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latin typeface="Times New Roman" panose="02020603050405020304" pitchFamily="18" charset="0"/>
                          <a:cs typeface="Times New Roman" panose="02020603050405020304" pitchFamily="18" charset="0"/>
                        </a:rPr>
                        <a:t>2. Explain to the client what you are going to do, why it is necessary, and how he or she can participate. Discuss how the results will be used in planning further care or treatments.</a:t>
                      </a:r>
                    </a:p>
                    <a:p>
                      <a:pPr algn="l"/>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To</a:t>
                      </a:r>
                      <a:r>
                        <a:rPr lang="en-US" sz="2400" baseline="0" dirty="0" smtClean="0">
                          <a:latin typeface="Times New Roman" panose="02020603050405020304" pitchFamily="18" charset="0"/>
                          <a:cs typeface="Times New Roman" panose="02020603050405020304" pitchFamily="18" charset="0"/>
                        </a:rPr>
                        <a:t> reduce the anxiety of the client</a:t>
                      </a:r>
                      <a:endParaRPr lang="en-IN" sz="2400" dirty="0">
                        <a:latin typeface="Times New Roman" panose="02020603050405020304" pitchFamily="18" charset="0"/>
                        <a:cs typeface="Times New Roman" panose="02020603050405020304" pitchFamily="18" charset="0"/>
                      </a:endParaRPr>
                    </a:p>
                  </a:txBody>
                  <a:tcPr/>
                </a:tc>
              </a:tr>
              <a:tr h="381000">
                <a:tc>
                  <a:txBody>
                    <a:bodyPr/>
                    <a:lstStyle/>
                    <a:p>
                      <a:pPr algn="l"/>
                      <a:r>
                        <a:rPr lang="en-US" sz="2400" dirty="0" smtClean="0">
                          <a:latin typeface="Times New Roman" panose="02020603050405020304" pitchFamily="18" charset="0"/>
                          <a:cs typeface="Times New Roman" panose="02020603050405020304" pitchFamily="18" charset="0"/>
                        </a:rPr>
                        <a:t>3. Perform hand hygiene and observe appropriate infection prevention procedures.</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To prevent cross</a:t>
                      </a:r>
                      <a:r>
                        <a:rPr lang="en-US" sz="2400" baseline="0" dirty="0" smtClean="0">
                          <a:latin typeface="Times New Roman" panose="02020603050405020304" pitchFamily="18" charset="0"/>
                          <a:cs typeface="Times New Roman" panose="02020603050405020304" pitchFamily="18" charset="0"/>
                        </a:rPr>
                        <a:t> infection</a:t>
                      </a:r>
                      <a:endParaRPr lang="en-IN" sz="2400" dirty="0">
                        <a:latin typeface="Times New Roman" panose="02020603050405020304" pitchFamily="18" charset="0"/>
                        <a:cs typeface="Times New Roman" panose="02020603050405020304" pitchFamily="18" charset="0"/>
                      </a:endParaRPr>
                    </a:p>
                  </a:txBody>
                  <a:tcPr/>
                </a:tc>
              </a:tr>
              <a:tr h="381000">
                <a:tc>
                  <a:txBody>
                    <a:bodyPr/>
                    <a:lstStyle/>
                    <a:p>
                      <a:pPr algn="l"/>
                      <a:r>
                        <a:rPr lang="en-US" sz="2400" dirty="0" smtClean="0">
                          <a:latin typeface="Times New Roman" panose="02020603050405020304" pitchFamily="18" charset="0"/>
                          <a:cs typeface="Times New Roman" panose="02020603050405020304" pitchFamily="18" charset="0"/>
                        </a:rPr>
                        <a:t>4.</a:t>
                      </a:r>
                      <a:r>
                        <a:rPr lang="en-US" sz="2400" dirty="0" smtClean="0"/>
                        <a:t> Provide for client privacy</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To increase the confidence and reduce</a:t>
                      </a:r>
                      <a:r>
                        <a:rPr lang="en-US" sz="2400" baseline="0" dirty="0" smtClean="0">
                          <a:latin typeface="Times New Roman" panose="02020603050405020304" pitchFamily="18" charset="0"/>
                          <a:cs typeface="Times New Roman" panose="02020603050405020304" pitchFamily="18" charset="0"/>
                        </a:rPr>
                        <a:t> anxiety</a:t>
                      </a:r>
                      <a:endParaRPr lang="en-IN" sz="2400"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264285373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304800"/>
            <a:ext cx="5943600" cy="6324600"/>
          </a:xfrm>
        </p:spPr>
        <p:txBody>
          <a:bodyPr>
            <a:noAutofit/>
          </a:bodyPr>
          <a:lstStyle/>
          <a:p>
            <a:pPr algn="just">
              <a:buNone/>
            </a:pPr>
            <a:r>
              <a:rPr lang="en-US" sz="2800" dirty="0" smtClean="0">
                <a:latin typeface="Times New Roman" panose="02020603050405020304" pitchFamily="18" charset="0"/>
                <a:cs typeface="Times New Roman" panose="02020603050405020304" pitchFamily="18" charset="0"/>
              </a:rPr>
              <a:t>4. Observe or palpate and count the respiratory rate.</a:t>
            </a:r>
          </a:p>
          <a:p>
            <a:pPr algn="just"/>
            <a:r>
              <a:rPr lang="en-US" sz="2800" dirty="0" smtClean="0">
                <a:latin typeface="Times New Roman" panose="02020603050405020304" pitchFamily="18" charset="0"/>
                <a:cs typeface="Times New Roman" panose="02020603050405020304" pitchFamily="18" charset="0"/>
              </a:rPr>
              <a:t>The client’s awareness that the nurse is counting the respiratory rate could cause the client to purposefully alter the respiratory pattern. </a:t>
            </a:r>
          </a:p>
          <a:p>
            <a:pPr algn="just"/>
            <a:r>
              <a:rPr lang="en-US" sz="2800" dirty="0" smtClean="0">
                <a:latin typeface="Times New Roman" panose="02020603050405020304" pitchFamily="18" charset="0"/>
                <a:cs typeface="Times New Roman" panose="02020603050405020304" pitchFamily="18" charset="0"/>
              </a:rPr>
              <a:t>If you anticipate this, place a hand against the client’s chest to feel the chest movements with breathing, or place the client’s arm across the chest and observe the chest movements while supposedly taking the radial pulse.</a:t>
            </a:r>
            <a:endParaRPr lang="en-US"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1725" y="1192530"/>
            <a:ext cx="2962275" cy="22745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228600"/>
            <a:ext cx="8763000" cy="6400800"/>
          </a:xfrm>
        </p:spPr>
        <p:txBody>
          <a:bodyPr>
            <a:normAutofit lnSpcReduction="10000"/>
          </a:bodyPr>
          <a:lstStyle/>
          <a:p>
            <a:pPr algn="just"/>
            <a:r>
              <a:rPr lang="en-US" sz="3500" dirty="0" smtClean="0"/>
              <a:t>Count the respiratory rate for 30 seconds if the respirations are regular. Count for 60 seconds if they are irregular. </a:t>
            </a:r>
          </a:p>
          <a:p>
            <a:pPr algn="just"/>
            <a:r>
              <a:rPr lang="en-US" sz="3500" dirty="0" smtClean="0"/>
              <a:t>An inhalation </a:t>
            </a:r>
            <a:r>
              <a:rPr lang="en-US" sz="3500" dirty="0" smtClean="0"/>
              <a:t>and an exhalation count as one respiration.</a:t>
            </a:r>
          </a:p>
          <a:p>
            <a:pPr algn="just">
              <a:buNone/>
            </a:pPr>
            <a:r>
              <a:rPr lang="en-US" sz="3500" dirty="0" smtClean="0"/>
              <a:t>5. Observe the depth, rhythm, and character of respirations.</a:t>
            </a:r>
          </a:p>
          <a:p>
            <a:pPr algn="just"/>
            <a:r>
              <a:rPr lang="en-US" sz="3500" dirty="0" smtClean="0"/>
              <a:t>Observe the respirations for depth by watching the movement of the chest. </a:t>
            </a:r>
          </a:p>
          <a:p>
            <a:pPr algn="just">
              <a:buNone/>
            </a:pPr>
            <a:r>
              <a:rPr lang="en-US" sz="3500" dirty="0" smtClean="0"/>
              <a:t>6. Document the respiratory rate, depth, rhythm, and character on the appropriate record</a:t>
            </a:r>
            <a:endParaRPr lang="en-US" sz="36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685800"/>
            <a:ext cx="8229600" cy="152400"/>
          </a:xfrm>
        </p:spPr>
        <p:txBody>
          <a:bodyPr>
            <a:normAutofit fontScale="90000"/>
          </a:bodyPr>
          <a:lstStyle/>
          <a:p>
            <a:r>
              <a:rPr lang="en-US" dirty="0" smtClean="0"/>
              <a:t>EVALUATION</a:t>
            </a:r>
            <a:br>
              <a:rPr lang="en-US" dirty="0" smtClean="0"/>
            </a:br>
            <a:endParaRPr lang="en-US" dirty="0"/>
          </a:p>
        </p:txBody>
      </p:sp>
      <p:sp>
        <p:nvSpPr>
          <p:cNvPr id="2" name="Content Placeholder 1"/>
          <p:cNvSpPr>
            <a:spLocks noGrp="1"/>
          </p:cNvSpPr>
          <p:nvPr>
            <p:ph idx="1"/>
          </p:nvPr>
        </p:nvSpPr>
        <p:spPr>
          <a:xfrm>
            <a:off x="152400" y="838200"/>
            <a:ext cx="8763000" cy="5867400"/>
          </a:xfrm>
        </p:spPr>
        <p:txBody>
          <a:bodyPr>
            <a:noAutofit/>
          </a:bodyPr>
          <a:lstStyle/>
          <a:p>
            <a:pPr algn="just"/>
            <a:r>
              <a:rPr lang="en-US" sz="3200" dirty="0" smtClean="0"/>
              <a:t>Relate respiratory rate to other vital signs, in particular pulse rate; relate respiratory rhythm and depth to baseline data and health status.</a:t>
            </a:r>
          </a:p>
          <a:p>
            <a:pPr algn="just"/>
            <a:r>
              <a:rPr lang="en-US" sz="3200" dirty="0" smtClean="0"/>
              <a:t>Report to the primary care provider a respiratory rate significantly above or below the normal range and any notable change in respirations from previous assessments; irregular rhythm; inadequate depth; abnormal character of breathing—</a:t>
            </a:r>
            <a:r>
              <a:rPr lang="en-US" sz="3200" dirty="0" err="1" smtClean="0"/>
              <a:t>orthopnea</a:t>
            </a:r>
            <a:r>
              <a:rPr lang="en-US" sz="3200" dirty="0" smtClean="0"/>
              <a:t>, wheezing, etc and any complaints of </a:t>
            </a:r>
            <a:r>
              <a:rPr lang="en-US" sz="3200" dirty="0" err="1" smtClean="0"/>
              <a:t>dyspnea</a:t>
            </a:r>
            <a:r>
              <a:rPr lang="en-US" sz="3200" dirty="0" smtClean="0"/>
              <a:t>.</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640</TotalTime>
  <Words>1757</Words>
  <Application>Microsoft Office PowerPoint</Application>
  <PresentationFormat>On-screen Show (4:3)</PresentationFormat>
  <Paragraphs>176</Paragraphs>
  <Slides>54</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Gill Sans MT</vt:lpstr>
      <vt:lpstr>Times New Roman</vt:lpstr>
      <vt:lpstr>Verdana</vt:lpstr>
      <vt:lpstr>Wingdings</vt:lpstr>
      <vt:lpstr>Wingdings 2</vt:lpstr>
      <vt:lpstr>Solstice</vt:lpstr>
      <vt:lpstr>RESPIRATIONS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Mechanics and Regulation of Breathing</vt:lpstr>
      <vt:lpstr>PowerPoint Presentation</vt:lpstr>
      <vt:lpstr>PowerPoint Presentation</vt:lpstr>
      <vt:lpstr>PowerPoint Presentation</vt:lpstr>
      <vt:lpstr>PowerPoint Presentation</vt:lpstr>
      <vt:lpstr>PowerPoint Presentation</vt:lpstr>
      <vt:lpstr>PowerPoint Presentation</vt:lpstr>
      <vt:lpstr>Characteristics of respirations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Rhythm </vt:lpstr>
      <vt:lpstr>PowerPoint Presentation</vt:lpstr>
      <vt:lpstr>4) Ease or effort</vt:lpstr>
      <vt:lpstr>PowerPoint Presentation</vt:lpstr>
      <vt:lpstr>PowerPoint Presentation</vt:lpstr>
      <vt:lpstr>PowerPoint Presentation</vt:lpstr>
      <vt:lpstr>PowerPoint Presentation</vt:lpstr>
      <vt:lpstr>Normal respiratory rates in different age group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Ease or Effort</vt:lpstr>
      <vt:lpstr>Altered Breathing Sounds</vt:lpstr>
      <vt:lpstr>PowerPoint Presentation</vt:lpstr>
      <vt:lpstr>CHEST MOVEMENTS </vt:lpstr>
      <vt:lpstr>SECRETIONS AND COUGHING </vt:lpstr>
      <vt:lpstr>Assessing Respirations</vt:lpstr>
      <vt:lpstr>Before assessing a client’s respirations, a nurse should be aware of the following: </vt:lpstr>
      <vt:lpstr>Assessing Respirations</vt:lpstr>
      <vt:lpstr>PowerPoint Presentation</vt:lpstr>
      <vt:lpstr>ASSESSMENT </vt:lpstr>
      <vt:lpstr>PowerPoint Presentation</vt:lpstr>
      <vt:lpstr>PROCEDURE</vt:lpstr>
      <vt:lpstr>PowerPoint Presentation</vt:lpstr>
      <vt:lpstr>PowerPoint Presentation</vt:lpstr>
      <vt:lpstr>EVALUATION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RESPIRATIONS</dc:title>
  <dc:creator>Compaq</dc:creator>
  <cp:lastModifiedBy>vaishnav</cp:lastModifiedBy>
  <cp:revision>51</cp:revision>
  <dcterms:created xsi:type="dcterms:W3CDTF">2006-08-16T00:00:00Z</dcterms:created>
  <dcterms:modified xsi:type="dcterms:W3CDTF">2021-03-07T12:07:51Z</dcterms:modified>
</cp:coreProperties>
</file>