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font" Target="fonts/font1.fntdata"/><Relationship Id="rId33" Type="http://schemas.openxmlformats.org/officeDocument/2006/relationships/font" Target="fonts/font2.fntdata"/><Relationship Id="rId34" Type="http://schemas.openxmlformats.org/officeDocument/2006/relationships/font" Target="fonts/font3.fntdata"/><Relationship Id="rId35" Type="http://schemas.openxmlformats.org/officeDocument/2006/relationships/font" Target="fonts/font4.fntdata"/><Relationship Id="rId36" Type="http://schemas.openxmlformats.org/officeDocument/2006/relationships/font" Target="fonts/font5.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pn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3-1.png"/><Relationship Id="rId2" Type="http://schemas.openxmlformats.org/officeDocument/2006/relationships/image" Target="../media/image-1013-2.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4-1.png"/><Relationship Id="rId2" Type="http://schemas.openxmlformats.org/officeDocument/2006/relationships/image" Target="../media/image-1014-2.png"/><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5-1.png"/><Relationship Id="rId2" Type="http://schemas.openxmlformats.org/officeDocument/2006/relationships/image" Target="../media/image-1015-2.png"/><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6-1.png"/><Relationship Id="rId2" Type="http://schemas.openxmlformats.org/officeDocument/2006/relationships/image" Target="../media/image-1016-2.png"/><Relationship Id="rId4"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7-1.png"/><Relationship Id="rId2" Type="http://schemas.openxmlformats.org/officeDocument/2006/relationships/image" Target="../media/image-1017-2.png"/><Relationship Id="rId4"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8-1.png"/><Relationship Id="rId2" Type="http://schemas.openxmlformats.org/officeDocument/2006/relationships/image" Target="../media/image-1018-2.png"/><Relationship Id="rId4"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9-1.png"/><Relationship Id="rId2" Type="http://schemas.openxmlformats.org/officeDocument/2006/relationships/image" Target="../media/image-1019-2.png"/><Relationship Id="rId4"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0-1.png"/><Relationship Id="rId2" Type="http://schemas.openxmlformats.org/officeDocument/2006/relationships/image" Target="../media/image-1020-2.png"/><Relationship Id="rId4"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1-1.png"/><Relationship Id="rId2" Type="http://schemas.openxmlformats.org/officeDocument/2006/relationships/image" Target="../media/image-1021-2.png"/><Relationship Id="rId4"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2-1.png"/><Relationship Id="rId2" Type="http://schemas.openxmlformats.org/officeDocument/2006/relationships/image" Target="../media/image-1022-2.png"/><Relationship Id="rId4"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3-1.png"/><Relationship Id="rId2" Type="http://schemas.openxmlformats.org/officeDocument/2006/relationships/image" Target="../media/image-1023-2.png"/><Relationship Id="rId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4-1.png"/><Relationship Id="rId2" Type="http://schemas.openxmlformats.org/officeDocument/2006/relationships/image" Target="../media/image-1024-2.png"/><Relationship Id="rId4"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5-1.png"/><Relationship Id="rId2" Type="http://schemas.openxmlformats.org/officeDocument/2006/relationships/image" Target="../media/image-1025-2.png"/><Relationship Id="rId4"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6-1.png"/><Relationship Id="rId2" Type="http://schemas.openxmlformats.org/officeDocument/2006/relationships/image" Target="../media/image-1026-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6.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7.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8.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9.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0.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5.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6.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14613" y="759738"/>
            <a:ext cx="7512963" cy="880586"/>
          </a:xfrm>
          <a:prstGeom prst="rect">
            <a:avLst/>
          </a:prstGeom>
          <a:noFill/>
          <a:ln/>
        </p:spPr>
        <p:txBody>
          <a:bodyPr wrap="none" lIns="0" tIns="0" rIns="0" bIns="0" rtlCol="0" anchor="t"/>
          <a:lstStyle/>
          <a:p>
            <a:pPr indent="0" marL="0">
              <a:lnSpc>
                <a:spcPts val="6900"/>
              </a:lnSpc>
              <a:buNone/>
            </a:pPr>
            <a:r>
              <a:rPr lang="en-US" sz="5500" b="1" dirty="0">
                <a:solidFill>
                  <a:srgbClr val="231971"/>
                </a:solidFill>
                <a:latin typeface="Outfit Extra Bold" pitchFamily="34" charset="0"/>
                <a:ea typeface="Outfit Extra Bold" pitchFamily="34" charset="-122"/>
                <a:cs typeface="Outfit Extra Bold" pitchFamily="34" charset="-120"/>
              </a:rPr>
              <a:t>SELF EMPOWERMENT</a:t>
            </a:r>
            <a:endParaRPr lang="en-US" sz="5500" dirty="0"/>
          </a:p>
        </p:txBody>
      </p:sp>
      <p:sp>
        <p:nvSpPr>
          <p:cNvPr id="4" name="Text 1"/>
          <p:cNvSpPr/>
          <p:nvPr/>
        </p:nvSpPr>
        <p:spPr>
          <a:xfrm>
            <a:off x="714613" y="1946553"/>
            <a:ext cx="7714774" cy="1225153"/>
          </a:xfrm>
          <a:prstGeom prst="rect">
            <a:avLst/>
          </a:prstGeom>
          <a:noFill/>
          <a:ln/>
        </p:spPr>
        <p:txBody>
          <a:bodyPr wrap="square" lIns="0" tIns="0" rIns="0" bIns="0" rtlCol="0" anchor="t"/>
          <a:lstStyle/>
          <a:p>
            <a:pPr marL="342900" indent="-342900">
              <a:lnSpc>
                <a:spcPts val="2550"/>
              </a:lnSpc>
              <a:buSzPct val="100000"/>
              <a:buChar char="•"/>
            </a:pPr>
            <a:r>
              <a:rPr lang="en-US" sz="1600" dirty="0">
                <a:solidFill>
                  <a:srgbClr val="2A2742"/>
                </a:solidFill>
                <a:latin typeface="Arimo" pitchFamily="34" charset="0"/>
                <a:ea typeface="Arimo" pitchFamily="34" charset="-122"/>
                <a:cs typeface="Arimo" pitchFamily="34" charset="-120"/>
              </a:rPr>
              <a:t>Empowerment is a process through which individuals in disadvantaged positions augment their access to knowledge, resources and decision making power. </a:t>
            </a:r>
            <a:endParaRPr lang="en-US" sz="1600" dirty="0"/>
          </a:p>
        </p:txBody>
      </p:sp>
      <p:sp>
        <p:nvSpPr>
          <p:cNvPr id="5" name="Text 2"/>
          <p:cNvSpPr/>
          <p:nvPr/>
        </p:nvSpPr>
        <p:spPr>
          <a:xfrm>
            <a:off x="714613" y="3243143"/>
            <a:ext cx="7714774" cy="1225153"/>
          </a:xfrm>
          <a:prstGeom prst="rect">
            <a:avLst/>
          </a:prstGeom>
          <a:noFill/>
          <a:ln/>
        </p:spPr>
        <p:txBody>
          <a:bodyPr wrap="square" lIns="0" tIns="0" rIns="0" bIns="0" rtlCol="0" anchor="t"/>
          <a:lstStyle/>
          <a:p>
            <a:pPr marL="342900" indent="-342900">
              <a:lnSpc>
                <a:spcPts val="2550"/>
              </a:lnSpc>
              <a:buSzPct val="100000"/>
              <a:buChar char="•"/>
            </a:pPr>
            <a:r>
              <a:rPr lang="en-US" sz="1600" dirty="0">
                <a:solidFill>
                  <a:srgbClr val="2A2742"/>
                </a:solidFill>
                <a:latin typeface="Arimo" pitchFamily="34" charset="0"/>
                <a:ea typeface="Arimo" pitchFamily="34" charset="-122"/>
                <a:cs typeface="Arimo" pitchFamily="34" charset="-120"/>
              </a:rPr>
              <a:t>It raises their level of awareness and ability to participate in community activities thus attaining a level of control over their own environment.</a:t>
            </a:r>
            <a:endParaRPr lang="en-US" sz="1600" dirty="0"/>
          </a:p>
        </p:txBody>
      </p:sp>
      <p:sp>
        <p:nvSpPr>
          <p:cNvPr id="6" name="Text 3"/>
          <p:cNvSpPr/>
          <p:nvPr/>
        </p:nvSpPr>
        <p:spPr>
          <a:xfrm>
            <a:off x="714613" y="4539734"/>
            <a:ext cx="7714774" cy="1225153"/>
          </a:xfrm>
          <a:prstGeom prst="rect">
            <a:avLst/>
          </a:prstGeom>
          <a:noFill/>
          <a:ln/>
        </p:spPr>
        <p:txBody>
          <a:bodyPr wrap="square" lIns="0" tIns="0" rIns="0" bIns="0" rtlCol="0" anchor="t"/>
          <a:lstStyle/>
          <a:p>
            <a:pPr marL="342900" indent="-342900">
              <a:lnSpc>
                <a:spcPts val="2550"/>
              </a:lnSpc>
              <a:buSzPct val="100000"/>
              <a:buChar char="•"/>
            </a:pPr>
            <a:r>
              <a:rPr lang="en-US" sz="1600" dirty="0">
                <a:solidFill>
                  <a:srgbClr val="2A2742"/>
                </a:solidFill>
                <a:latin typeface="Arimo" pitchFamily="34" charset="0"/>
                <a:ea typeface="Arimo" pitchFamily="34" charset="-122"/>
                <a:cs typeface="Arimo" pitchFamily="34" charset="-120"/>
              </a:rPr>
              <a:t>According to Bandura 1986, empowerment is the process through which an individual gains efficiency and skills to control one's own environment.</a:t>
            </a:r>
            <a:endParaRPr lang="en-US" sz="1600" dirty="0"/>
          </a:p>
        </p:txBody>
      </p:sp>
      <p:sp>
        <p:nvSpPr>
          <p:cNvPr id="7" name="Text 4"/>
          <p:cNvSpPr/>
          <p:nvPr/>
        </p:nvSpPr>
        <p:spPr>
          <a:xfrm>
            <a:off x="714613" y="5836325"/>
            <a:ext cx="7714774" cy="1633538"/>
          </a:xfrm>
          <a:prstGeom prst="rect">
            <a:avLst/>
          </a:prstGeom>
          <a:noFill/>
          <a:ln/>
        </p:spPr>
        <p:txBody>
          <a:bodyPr wrap="square" lIns="0" tIns="0" rIns="0" bIns="0" rtlCol="0" anchor="t"/>
          <a:lstStyle/>
          <a:p>
            <a:pPr marL="342900" indent="-342900">
              <a:lnSpc>
                <a:spcPts val="2550"/>
              </a:lnSpc>
              <a:buSzPct val="100000"/>
              <a:buChar char="•"/>
            </a:pPr>
            <a:r>
              <a:rPr lang="en-US" sz="1600" dirty="0">
                <a:solidFill>
                  <a:srgbClr val="2A2742"/>
                </a:solidFill>
                <a:latin typeface="Arimo" pitchFamily="34" charset="0"/>
                <a:ea typeface="Arimo" pitchFamily="34" charset="-122"/>
                <a:cs typeface="Arimo" pitchFamily="34" charset="-120"/>
              </a:rPr>
              <a:t>According to Masi et al. 2003 self-empowerment is an individual's ability to make decisions, have control over his or her personal life and characterize it by a sense of perceived control, competence and goal internalization. </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100376"/>
            <a:ext cx="9080183"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Dimensions of Self-Empowerment</a:t>
            </a:r>
            <a:endParaRPr lang="en-US" sz="4450" dirty="0"/>
          </a:p>
        </p:txBody>
      </p:sp>
      <p:sp>
        <p:nvSpPr>
          <p:cNvPr id="3" name="Shape 1"/>
          <p:cNvSpPr/>
          <p:nvPr/>
        </p:nvSpPr>
        <p:spPr>
          <a:xfrm>
            <a:off x="793790" y="2262783"/>
            <a:ext cx="4196358" cy="2319814"/>
          </a:xfrm>
          <a:prstGeom prst="roundRect">
            <a:avLst>
              <a:gd name="adj" fmla="val 4107"/>
            </a:avLst>
          </a:prstGeom>
          <a:solidFill>
            <a:srgbClr val="E9E6FA"/>
          </a:solidFill>
          <a:ln w="7620">
            <a:solidFill>
              <a:srgbClr val="BDB8DF"/>
            </a:solidFill>
            <a:prstDash val="solid"/>
          </a:ln>
        </p:spPr>
      </p:sp>
      <p:sp>
        <p:nvSpPr>
          <p:cNvPr id="4" name="Text 2"/>
          <p:cNvSpPr/>
          <p:nvPr/>
        </p:nvSpPr>
        <p:spPr>
          <a:xfrm>
            <a:off x="1028224" y="2497217"/>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Physical dimension</a:t>
            </a:r>
            <a:endParaRPr lang="en-US" sz="2200" dirty="0"/>
          </a:p>
        </p:txBody>
      </p:sp>
      <p:sp>
        <p:nvSpPr>
          <p:cNvPr id="5" name="Text 3"/>
          <p:cNvSpPr/>
          <p:nvPr/>
        </p:nvSpPr>
        <p:spPr>
          <a:xfrm>
            <a:off x="1028224" y="2987635"/>
            <a:ext cx="3727490" cy="1360527"/>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Control over one's own mobility and physical condition including health.</a:t>
            </a:r>
            <a:endParaRPr lang="en-US" sz="2200" dirty="0"/>
          </a:p>
        </p:txBody>
      </p:sp>
      <p:sp>
        <p:nvSpPr>
          <p:cNvPr id="6" name="Shape 4"/>
          <p:cNvSpPr/>
          <p:nvPr/>
        </p:nvSpPr>
        <p:spPr>
          <a:xfrm>
            <a:off x="5216962" y="2262783"/>
            <a:ext cx="4196358" cy="2319814"/>
          </a:xfrm>
          <a:prstGeom prst="roundRect">
            <a:avLst>
              <a:gd name="adj" fmla="val 4107"/>
            </a:avLst>
          </a:prstGeom>
          <a:solidFill>
            <a:srgbClr val="E9E6FA"/>
          </a:solidFill>
          <a:ln w="7620">
            <a:solidFill>
              <a:srgbClr val="BDB8DF"/>
            </a:solidFill>
            <a:prstDash val="solid"/>
          </a:ln>
        </p:spPr>
      </p:sp>
      <p:sp>
        <p:nvSpPr>
          <p:cNvPr id="7" name="Text 5"/>
          <p:cNvSpPr/>
          <p:nvPr/>
        </p:nvSpPr>
        <p:spPr>
          <a:xfrm>
            <a:off x="5451396" y="2497217"/>
            <a:ext cx="3222308" cy="354330"/>
          </a:xfrm>
          <a:prstGeom prst="rect">
            <a:avLst/>
          </a:prstGeom>
          <a:noFill/>
          <a:ln/>
        </p:spPr>
        <p:txBody>
          <a:bodyPr wrap="none" lIns="0" tIns="0" rIns="0" bIns="0" rtlCol="0" anchor="t"/>
          <a:lstStyle/>
          <a:p>
            <a:pPr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Psychological dimension</a:t>
            </a:r>
            <a:endParaRPr lang="en-US" sz="2200" dirty="0"/>
          </a:p>
        </p:txBody>
      </p:sp>
      <p:sp>
        <p:nvSpPr>
          <p:cNvPr id="8" name="Text 6"/>
          <p:cNvSpPr/>
          <p:nvPr/>
        </p:nvSpPr>
        <p:spPr>
          <a:xfrm>
            <a:off x="5451396" y="2987635"/>
            <a:ext cx="3727490" cy="907018"/>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Level of self-confidence and self-esteem.</a:t>
            </a:r>
            <a:endParaRPr lang="en-US" sz="2200" dirty="0"/>
          </a:p>
        </p:txBody>
      </p:sp>
      <p:sp>
        <p:nvSpPr>
          <p:cNvPr id="9" name="Shape 7"/>
          <p:cNvSpPr/>
          <p:nvPr/>
        </p:nvSpPr>
        <p:spPr>
          <a:xfrm>
            <a:off x="9640133" y="2262783"/>
            <a:ext cx="4196358" cy="2319814"/>
          </a:xfrm>
          <a:prstGeom prst="roundRect">
            <a:avLst>
              <a:gd name="adj" fmla="val 4107"/>
            </a:avLst>
          </a:prstGeom>
          <a:solidFill>
            <a:srgbClr val="E9E6FA"/>
          </a:solidFill>
          <a:ln w="7620">
            <a:solidFill>
              <a:srgbClr val="BDB8DF"/>
            </a:solidFill>
            <a:prstDash val="solid"/>
          </a:ln>
        </p:spPr>
      </p:sp>
      <p:sp>
        <p:nvSpPr>
          <p:cNvPr id="10" name="Text 8"/>
          <p:cNvSpPr/>
          <p:nvPr/>
        </p:nvSpPr>
        <p:spPr>
          <a:xfrm>
            <a:off x="9874568" y="2497217"/>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Cognitive dimension</a:t>
            </a:r>
            <a:endParaRPr lang="en-US" sz="2200" dirty="0"/>
          </a:p>
        </p:txBody>
      </p:sp>
      <p:sp>
        <p:nvSpPr>
          <p:cNvPr id="11" name="Text 9"/>
          <p:cNvSpPr/>
          <p:nvPr/>
        </p:nvSpPr>
        <p:spPr>
          <a:xfrm>
            <a:off x="9874568" y="2987635"/>
            <a:ext cx="3727490" cy="1360527"/>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Awareness and understanding of one's own condition.</a:t>
            </a:r>
            <a:endParaRPr lang="en-US" sz="2200" dirty="0"/>
          </a:p>
        </p:txBody>
      </p:sp>
      <p:sp>
        <p:nvSpPr>
          <p:cNvPr id="12" name="Shape 10"/>
          <p:cNvSpPr/>
          <p:nvPr/>
        </p:nvSpPr>
        <p:spPr>
          <a:xfrm>
            <a:off x="793790" y="4809411"/>
            <a:ext cx="6408063" cy="2319814"/>
          </a:xfrm>
          <a:prstGeom prst="roundRect">
            <a:avLst>
              <a:gd name="adj" fmla="val 4107"/>
            </a:avLst>
          </a:prstGeom>
          <a:solidFill>
            <a:srgbClr val="E9E6FA"/>
          </a:solidFill>
          <a:ln w="7620">
            <a:solidFill>
              <a:srgbClr val="BDB8DF"/>
            </a:solidFill>
            <a:prstDash val="solid"/>
          </a:ln>
        </p:spPr>
      </p:sp>
      <p:sp>
        <p:nvSpPr>
          <p:cNvPr id="13" name="Text 11"/>
          <p:cNvSpPr/>
          <p:nvPr/>
        </p:nvSpPr>
        <p:spPr>
          <a:xfrm>
            <a:off x="1028224" y="5043845"/>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Economic dimension</a:t>
            </a:r>
            <a:endParaRPr lang="en-US" sz="2200" dirty="0"/>
          </a:p>
        </p:txBody>
      </p:sp>
      <p:sp>
        <p:nvSpPr>
          <p:cNvPr id="14" name="Text 12"/>
          <p:cNvSpPr/>
          <p:nvPr/>
        </p:nvSpPr>
        <p:spPr>
          <a:xfrm>
            <a:off x="1028224" y="5534263"/>
            <a:ext cx="5939195" cy="1360527"/>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Ability to access resources, engage in productive activities and take independent decisions.</a:t>
            </a:r>
            <a:endParaRPr lang="en-US" sz="2200" dirty="0"/>
          </a:p>
        </p:txBody>
      </p:sp>
      <p:sp>
        <p:nvSpPr>
          <p:cNvPr id="15" name="Shape 13"/>
          <p:cNvSpPr/>
          <p:nvPr/>
        </p:nvSpPr>
        <p:spPr>
          <a:xfrm>
            <a:off x="7428667" y="4809411"/>
            <a:ext cx="6408063" cy="2319814"/>
          </a:xfrm>
          <a:prstGeom prst="roundRect">
            <a:avLst>
              <a:gd name="adj" fmla="val 4107"/>
            </a:avLst>
          </a:prstGeom>
          <a:solidFill>
            <a:srgbClr val="E9E6FA"/>
          </a:solidFill>
          <a:ln w="7620">
            <a:solidFill>
              <a:srgbClr val="BDB8DF"/>
            </a:solidFill>
            <a:prstDash val="solid"/>
          </a:ln>
        </p:spPr>
      </p:sp>
      <p:sp>
        <p:nvSpPr>
          <p:cNvPr id="16" name="Text 14"/>
          <p:cNvSpPr/>
          <p:nvPr/>
        </p:nvSpPr>
        <p:spPr>
          <a:xfrm>
            <a:off x="7663101" y="5043845"/>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Political dimension</a:t>
            </a:r>
            <a:endParaRPr lang="en-US" sz="2200" dirty="0"/>
          </a:p>
        </p:txBody>
      </p:sp>
      <p:sp>
        <p:nvSpPr>
          <p:cNvPr id="17" name="Text 15"/>
          <p:cNvSpPr/>
          <p:nvPr/>
        </p:nvSpPr>
        <p:spPr>
          <a:xfrm>
            <a:off x="7663101" y="5534263"/>
            <a:ext cx="5939195" cy="907018"/>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Ability to set their own agenda, negotiate, lead and organize for altering the conditions.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19257" y="750927"/>
            <a:ext cx="8110180" cy="642342"/>
          </a:xfrm>
          <a:prstGeom prst="rect">
            <a:avLst/>
          </a:prstGeom>
          <a:noFill/>
          <a:ln/>
        </p:spPr>
        <p:txBody>
          <a:bodyPr wrap="none" lIns="0" tIns="0" rIns="0" bIns="0" rtlCol="0" anchor="t"/>
          <a:lstStyle/>
          <a:p>
            <a:pPr indent="0" marL="0">
              <a:lnSpc>
                <a:spcPts val="5050"/>
              </a:lnSpc>
              <a:buNone/>
            </a:pPr>
            <a:r>
              <a:rPr lang="en-US" sz="4000" b="1" dirty="0">
                <a:solidFill>
                  <a:srgbClr val="231971"/>
                </a:solidFill>
                <a:latin typeface="Outfit Extra Bold" pitchFamily="34" charset="0"/>
                <a:ea typeface="Outfit Extra Bold" pitchFamily="34" charset="-122"/>
                <a:cs typeface="Outfit Extra Bold" pitchFamily="34" charset="-120"/>
              </a:rPr>
              <a:t>Self-empowerment Development </a:t>
            </a:r>
            <a:endParaRPr lang="en-US" sz="4000" dirty="0"/>
          </a:p>
        </p:txBody>
      </p:sp>
      <p:sp>
        <p:nvSpPr>
          <p:cNvPr id="3" name="Text 1"/>
          <p:cNvSpPr/>
          <p:nvPr/>
        </p:nvSpPr>
        <p:spPr>
          <a:xfrm>
            <a:off x="719257" y="1804273"/>
            <a:ext cx="13191887" cy="822008"/>
          </a:xfrm>
          <a:prstGeom prst="rect">
            <a:avLst/>
          </a:prstGeom>
          <a:noFill/>
          <a:ln/>
        </p:spPr>
        <p:txBody>
          <a:bodyPr wrap="square" lIns="0" tIns="0" rIns="0" bIns="0" rtlCol="0" anchor="t"/>
          <a:lstStyle/>
          <a:p>
            <a:pPr indent="0" marL="0">
              <a:lnSpc>
                <a:spcPts val="3200"/>
              </a:lnSpc>
              <a:buNone/>
            </a:pPr>
            <a:r>
              <a:rPr lang="en-US" sz="2000" dirty="0">
                <a:solidFill>
                  <a:srgbClr val="2A2742"/>
                </a:solidFill>
                <a:latin typeface="Arimo" pitchFamily="34" charset="0"/>
                <a:ea typeface="Arimo" pitchFamily="34" charset="-122"/>
                <a:cs typeface="Arimo" pitchFamily="34" charset="-120"/>
              </a:rPr>
              <a:t>Empowerment can be achieved through education, organization, entrepreneurship, science and technology, information technology, microfinance institutions and law.</a:t>
            </a:r>
            <a:endParaRPr lang="en-US" sz="2000" dirty="0"/>
          </a:p>
        </p:txBody>
      </p:sp>
      <p:pic>
        <p:nvPicPr>
          <p:cNvPr id="4" name="Image 0" descr="preencoded.png">    </p:cNvPr>
          <p:cNvPicPr>
            <a:picLocks noChangeAspect="1"/>
          </p:cNvPicPr>
          <p:nvPr/>
        </p:nvPicPr>
        <p:blipFill>
          <a:blip r:embed="rId1"/>
          <a:stretch>
            <a:fillRect/>
          </a:stretch>
        </p:blipFill>
        <p:spPr>
          <a:xfrm>
            <a:off x="719257" y="2857500"/>
            <a:ext cx="1027628" cy="1266349"/>
          </a:xfrm>
          <a:prstGeom prst="rect">
            <a:avLst/>
          </a:prstGeom>
        </p:spPr>
      </p:pic>
      <p:sp>
        <p:nvSpPr>
          <p:cNvPr id="5" name="Text 2"/>
          <p:cNvSpPr/>
          <p:nvPr/>
        </p:nvSpPr>
        <p:spPr>
          <a:xfrm>
            <a:off x="2055138" y="3063002"/>
            <a:ext cx="2569131" cy="321112"/>
          </a:xfrm>
          <a:prstGeom prst="rect">
            <a:avLst/>
          </a:prstGeom>
          <a:noFill/>
          <a:ln/>
        </p:spPr>
        <p:txBody>
          <a:bodyPr wrap="none" lIns="0" tIns="0" rIns="0" bIns="0" rtlCol="0" anchor="t"/>
          <a:lstStyle/>
          <a:p>
            <a:pPr algn="l" indent="0" marL="0">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Development Phases</a:t>
            </a:r>
            <a:endParaRPr lang="en-US" sz="2000" dirty="0"/>
          </a:p>
        </p:txBody>
      </p:sp>
      <p:sp>
        <p:nvSpPr>
          <p:cNvPr id="6" name="Text 3"/>
          <p:cNvSpPr/>
          <p:nvPr/>
        </p:nvSpPr>
        <p:spPr>
          <a:xfrm>
            <a:off x="2055138" y="3507343"/>
            <a:ext cx="11856006" cy="411004"/>
          </a:xfrm>
          <a:prstGeom prst="rect">
            <a:avLst/>
          </a:prstGeom>
          <a:noFill/>
          <a:ln/>
        </p:spPr>
        <p:txBody>
          <a:bodyPr wrap="none" lIns="0" tIns="0" rIns="0" bIns="0" rtlCol="0" anchor="t"/>
          <a:lstStyle/>
          <a:p>
            <a:pPr algn="l" indent="0" marL="0">
              <a:lnSpc>
                <a:spcPts val="3200"/>
              </a:lnSpc>
              <a:buNone/>
            </a:pPr>
            <a:r>
              <a:rPr lang="en-US" sz="2000" dirty="0">
                <a:solidFill>
                  <a:srgbClr val="2A2742"/>
                </a:solidFill>
                <a:latin typeface="Arimo" pitchFamily="34" charset="0"/>
                <a:ea typeface="Arimo" pitchFamily="34" charset="-122"/>
                <a:cs typeface="Arimo" pitchFamily="34" charset="-120"/>
              </a:rPr>
              <a:t>Empowerment takes place over three phases -individual level, interpersonal level and societal level.</a:t>
            </a:r>
            <a:endParaRPr lang="en-US" sz="2000" dirty="0"/>
          </a:p>
        </p:txBody>
      </p:sp>
      <p:pic>
        <p:nvPicPr>
          <p:cNvPr id="7" name="Image 1" descr="preencoded.png">    </p:cNvPr>
          <p:cNvPicPr>
            <a:picLocks noChangeAspect="1"/>
          </p:cNvPicPr>
          <p:nvPr/>
        </p:nvPicPr>
        <p:blipFill>
          <a:blip r:embed="rId2"/>
          <a:stretch>
            <a:fillRect/>
          </a:stretch>
        </p:blipFill>
        <p:spPr>
          <a:xfrm>
            <a:off x="719257" y="4123849"/>
            <a:ext cx="1027628" cy="1677353"/>
          </a:xfrm>
          <a:prstGeom prst="rect">
            <a:avLst/>
          </a:prstGeom>
        </p:spPr>
      </p:pic>
      <p:sp>
        <p:nvSpPr>
          <p:cNvPr id="8" name="Text 4"/>
          <p:cNvSpPr/>
          <p:nvPr/>
        </p:nvSpPr>
        <p:spPr>
          <a:xfrm>
            <a:off x="2055138" y="4329351"/>
            <a:ext cx="2569131" cy="321112"/>
          </a:xfrm>
          <a:prstGeom prst="rect">
            <a:avLst/>
          </a:prstGeom>
          <a:noFill/>
          <a:ln/>
        </p:spPr>
        <p:txBody>
          <a:bodyPr wrap="none" lIns="0" tIns="0" rIns="0" bIns="0" rtlCol="0" anchor="t"/>
          <a:lstStyle/>
          <a:p>
            <a:pPr algn="l" indent="0" marL="0">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Education</a:t>
            </a:r>
            <a:endParaRPr lang="en-US" sz="2000" dirty="0"/>
          </a:p>
        </p:txBody>
      </p:sp>
      <p:sp>
        <p:nvSpPr>
          <p:cNvPr id="9" name="Text 5"/>
          <p:cNvSpPr/>
          <p:nvPr/>
        </p:nvSpPr>
        <p:spPr>
          <a:xfrm>
            <a:off x="2055138" y="4773692"/>
            <a:ext cx="11856006" cy="822008"/>
          </a:xfrm>
          <a:prstGeom prst="rect">
            <a:avLst/>
          </a:prstGeom>
          <a:noFill/>
          <a:ln/>
        </p:spPr>
        <p:txBody>
          <a:bodyPr wrap="square" lIns="0" tIns="0" rIns="0" bIns="0" rtlCol="0" anchor="t"/>
          <a:lstStyle/>
          <a:p>
            <a:pPr algn="l" indent="0" marL="0">
              <a:lnSpc>
                <a:spcPts val="3200"/>
              </a:lnSpc>
              <a:buNone/>
            </a:pPr>
            <a:r>
              <a:rPr lang="en-US" sz="2000" dirty="0">
                <a:solidFill>
                  <a:srgbClr val="2A2742"/>
                </a:solidFill>
                <a:latin typeface="Arimo" pitchFamily="34" charset="0"/>
                <a:ea typeface="Arimo" pitchFamily="34" charset="-122"/>
                <a:cs typeface="Arimo" pitchFamily="34" charset="-120"/>
              </a:rPr>
              <a:t>Education plays the most important role in empowerment. It enables development of knowledge and skills for attaining self-independence.</a:t>
            </a:r>
            <a:endParaRPr lang="en-US" sz="2000" dirty="0"/>
          </a:p>
        </p:txBody>
      </p:sp>
      <p:pic>
        <p:nvPicPr>
          <p:cNvPr id="10" name="Image 2" descr="preencoded.png">    </p:cNvPr>
          <p:cNvPicPr>
            <a:picLocks noChangeAspect="1"/>
          </p:cNvPicPr>
          <p:nvPr/>
        </p:nvPicPr>
        <p:blipFill>
          <a:blip r:embed="rId3"/>
          <a:stretch>
            <a:fillRect/>
          </a:stretch>
        </p:blipFill>
        <p:spPr>
          <a:xfrm>
            <a:off x="719257" y="5801201"/>
            <a:ext cx="1027628" cy="1677353"/>
          </a:xfrm>
          <a:prstGeom prst="rect">
            <a:avLst/>
          </a:prstGeom>
        </p:spPr>
      </p:pic>
      <p:sp>
        <p:nvSpPr>
          <p:cNvPr id="11" name="Text 6"/>
          <p:cNvSpPr/>
          <p:nvPr/>
        </p:nvSpPr>
        <p:spPr>
          <a:xfrm>
            <a:off x="2055138" y="6006703"/>
            <a:ext cx="2569131" cy="321112"/>
          </a:xfrm>
          <a:prstGeom prst="rect">
            <a:avLst/>
          </a:prstGeom>
          <a:noFill/>
          <a:ln/>
        </p:spPr>
        <p:txBody>
          <a:bodyPr wrap="none" lIns="0" tIns="0" rIns="0" bIns="0" rtlCol="0" anchor="t"/>
          <a:lstStyle/>
          <a:p>
            <a:pPr algn="l" indent="0" marL="0">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Organizations</a:t>
            </a:r>
            <a:endParaRPr lang="en-US" sz="2000" dirty="0"/>
          </a:p>
        </p:txBody>
      </p:sp>
      <p:sp>
        <p:nvSpPr>
          <p:cNvPr id="12" name="Text 7"/>
          <p:cNvSpPr/>
          <p:nvPr/>
        </p:nvSpPr>
        <p:spPr>
          <a:xfrm>
            <a:off x="2055138" y="6451044"/>
            <a:ext cx="11856006" cy="822008"/>
          </a:xfrm>
          <a:prstGeom prst="rect">
            <a:avLst/>
          </a:prstGeom>
          <a:noFill/>
          <a:ln/>
        </p:spPr>
        <p:txBody>
          <a:bodyPr wrap="square" lIns="0" tIns="0" rIns="0" bIns="0" rtlCol="0" anchor="t"/>
          <a:lstStyle/>
          <a:p>
            <a:pPr algn="l" indent="0" marL="0">
              <a:lnSpc>
                <a:spcPts val="3200"/>
              </a:lnSpc>
              <a:buNone/>
            </a:pPr>
            <a:r>
              <a:rPr lang="en-US" sz="2000" dirty="0">
                <a:solidFill>
                  <a:srgbClr val="2A2742"/>
                </a:solidFill>
                <a:latin typeface="Arimo" pitchFamily="34" charset="0"/>
                <a:ea typeface="Arimo" pitchFamily="34" charset="-122"/>
                <a:cs typeface="Arimo" pitchFamily="34" charset="-120"/>
              </a:rPr>
              <a:t>Organizations are the main source of power and strength for fighting collectively against age old practices such as dowry harassment, child marriage, domestic violence, devadasi system, etc.</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28042" y="564952"/>
            <a:ext cx="3771781" cy="471488"/>
          </a:xfrm>
          <a:prstGeom prst="rect">
            <a:avLst/>
          </a:prstGeom>
          <a:noFill/>
          <a:ln/>
        </p:spPr>
        <p:txBody>
          <a:bodyPr wrap="none" lIns="0" tIns="0" rIns="0" bIns="0" rtlCol="0" anchor="t"/>
          <a:lstStyle/>
          <a:p>
            <a:pPr indent="0" marL="0">
              <a:lnSpc>
                <a:spcPts val="3700"/>
              </a:lnSpc>
              <a:buNone/>
            </a:pPr>
            <a:endParaRPr lang="en-US" sz="2950" dirty="0"/>
          </a:p>
        </p:txBody>
      </p:sp>
      <p:sp>
        <p:nvSpPr>
          <p:cNvPr id="3" name="Text 1"/>
          <p:cNvSpPr/>
          <p:nvPr/>
        </p:nvSpPr>
        <p:spPr>
          <a:xfrm>
            <a:off x="528042" y="1338143"/>
            <a:ext cx="13574316" cy="301704"/>
          </a:xfrm>
          <a:prstGeom prst="rect">
            <a:avLst/>
          </a:prstGeom>
          <a:noFill/>
          <a:ln/>
        </p:spPr>
        <p:txBody>
          <a:bodyPr wrap="none" lIns="0" tIns="0" rIns="0" bIns="0" rtlCol="0" anchor="t"/>
          <a:lstStyle/>
          <a:p>
            <a:pPr indent="0" marL="0">
              <a:lnSpc>
                <a:spcPts val="2350"/>
              </a:lnSpc>
              <a:buNone/>
            </a:pPr>
            <a:endParaRPr lang="en-US" sz="1450" dirty="0"/>
          </a:p>
        </p:txBody>
      </p:sp>
      <p:pic>
        <p:nvPicPr>
          <p:cNvPr id="4" name="Image 0" descr="preencoded.png">    </p:cNvPr>
          <p:cNvPicPr>
            <a:picLocks noChangeAspect="1"/>
          </p:cNvPicPr>
          <p:nvPr/>
        </p:nvPicPr>
        <p:blipFill>
          <a:blip r:embed="rId1"/>
          <a:stretch>
            <a:fillRect/>
          </a:stretch>
        </p:blipFill>
        <p:spPr>
          <a:xfrm>
            <a:off x="528042" y="1809512"/>
            <a:ext cx="754261" cy="1231344"/>
          </a:xfrm>
          <a:prstGeom prst="rect">
            <a:avLst/>
          </a:prstGeom>
        </p:spPr>
      </p:pic>
      <p:sp>
        <p:nvSpPr>
          <p:cNvPr id="5" name="Text 2"/>
          <p:cNvSpPr/>
          <p:nvPr/>
        </p:nvSpPr>
        <p:spPr>
          <a:xfrm>
            <a:off x="1508522" y="1960364"/>
            <a:ext cx="1885831" cy="235744"/>
          </a:xfrm>
          <a:prstGeom prst="rect">
            <a:avLst/>
          </a:prstGeom>
          <a:noFill/>
          <a:ln/>
        </p:spPr>
        <p:txBody>
          <a:bodyPr wrap="none" lIns="0" tIns="0" rIns="0" bIns="0" rtlCol="0" anchor="t"/>
          <a:lstStyle/>
          <a:p>
            <a:pPr algn="l" indent="0" marL="0">
              <a:lnSpc>
                <a:spcPts val="1850"/>
              </a:lnSpc>
              <a:buNone/>
            </a:pPr>
            <a:r>
              <a:rPr lang="en-US" sz="1450" b="1" dirty="0">
                <a:solidFill>
                  <a:srgbClr val="2A2742"/>
                </a:solidFill>
                <a:latin typeface="Outfit Extra Bold" pitchFamily="34" charset="0"/>
                <a:ea typeface="Outfit Extra Bold" pitchFamily="34" charset="-122"/>
                <a:cs typeface="Outfit Extra Bold" pitchFamily="34" charset="-120"/>
              </a:rPr>
              <a:t>Entrepreneurship</a:t>
            </a:r>
            <a:endParaRPr lang="en-US" sz="1450" dirty="0"/>
          </a:p>
        </p:txBody>
      </p:sp>
      <p:sp>
        <p:nvSpPr>
          <p:cNvPr id="6" name="Text 3"/>
          <p:cNvSpPr/>
          <p:nvPr/>
        </p:nvSpPr>
        <p:spPr>
          <a:xfrm>
            <a:off x="1508522" y="2286595"/>
            <a:ext cx="12593836" cy="603409"/>
          </a:xfrm>
          <a:prstGeom prst="rect">
            <a:avLst/>
          </a:prstGeom>
          <a:noFill/>
          <a:ln/>
        </p:spPr>
        <p:txBody>
          <a:bodyPr wrap="square" lIns="0" tIns="0" rIns="0" bIns="0" rtlCol="0" anchor="t"/>
          <a:lstStyle/>
          <a:p>
            <a:pPr algn="l" indent="0" marL="0">
              <a:lnSpc>
                <a:spcPts val="2350"/>
              </a:lnSpc>
              <a:buNone/>
            </a:pPr>
            <a:r>
              <a:rPr lang="en-US" sz="1450" dirty="0">
                <a:solidFill>
                  <a:srgbClr val="2A2742"/>
                </a:solidFill>
                <a:latin typeface="Arimo" pitchFamily="34" charset="0"/>
                <a:ea typeface="Arimo" pitchFamily="34" charset="-122"/>
                <a:cs typeface="Arimo" pitchFamily="34" charset="-120"/>
              </a:rPr>
              <a:t>Entrepreneurship encourages individual's participation in the labor force besides augmenting his position in the society. Micro entrepreneurship on the other hand strengthens empowerment and reduces gender inequality.</a:t>
            </a:r>
            <a:endParaRPr lang="en-US" sz="1450" dirty="0"/>
          </a:p>
        </p:txBody>
      </p:sp>
      <p:pic>
        <p:nvPicPr>
          <p:cNvPr id="7" name="Image 1" descr="preencoded.png">    </p:cNvPr>
          <p:cNvPicPr>
            <a:picLocks noChangeAspect="1"/>
          </p:cNvPicPr>
          <p:nvPr/>
        </p:nvPicPr>
        <p:blipFill>
          <a:blip r:embed="rId2"/>
          <a:stretch>
            <a:fillRect/>
          </a:stretch>
        </p:blipFill>
        <p:spPr>
          <a:xfrm>
            <a:off x="528042" y="3040856"/>
            <a:ext cx="754261" cy="1231344"/>
          </a:xfrm>
          <a:prstGeom prst="rect">
            <a:avLst/>
          </a:prstGeom>
        </p:spPr>
      </p:pic>
      <p:sp>
        <p:nvSpPr>
          <p:cNvPr id="8" name="Text 4"/>
          <p:cNvSpPr/>
          <p:nvPr/>
        </p:nvSpPr>
        <p:spPr>
          <a:xfrm>
            <a:off x="1508522" y="3191708"/>
            <a:ext cx="2077045" cy="235744"/>
          </a:xfrm>
          <a:prstGeom prst="rect">
            <a:avLst/>
          </a:prstGeom>
          <a:noFill/>
          <a:ln/>
        </p:spPr>
        <p:txBody>
          <a:bodyPr wrap="none" lIns="0" tIns="0" rIns="0" bIns="0" rtlCol="0" anchor="t"/>
          <a:lstStyle/>
          <a:p>
            <a:pPr algn="l" indent="0" marL="0">
              <a:lnSpc>
                <a:spcPts val="1850"/>
              </a:lnSpc>
              <a:buNone/>
            </a:pPr>
            <a:r>
              <a:rPr lang="en-US" sz="1450" b="1" dirty="0">
                <a:solidFill>
                  <a:srgbClr val="2A2742"/>
                </a:solidFill>
                <a:latin typeface="Outfit Extra Bold" pitchFamily="34" charset="0"/>
                <a:ea typeface="Outfit Extra Bold" pitchFamily="34" charset="-122"/>
                <a:cs typeface="Outfit Extra Bold" pitchFamily="34" charset="-120"/>
              </a:rPr>
              <a:t>Science and Technology</a:t>
            </a:r>
            <a:endParaRPr lang="en-US" sz="1450" dirty="0"/>
          </a:p>
        </p:txBody>
      </p:sp>
      <p:sp>
        <p:nvSpPr>
          <p:cNvPr id="9" name="Text 5"/>
          <p:cNvSpPr/>
          <p:nvPr/>
        </p:nvSpPr>
        <p:spPr>
          <a:xfrm>
            <a:off x="1508522" y="3517940"/>
            <a:ext cx="12593836" cy="603409"/>
          </a:xfrm>
          <a:prstGeom prst="rect">
            <a:avLst/>
          </a:prstGeom>
          <a:noFill/>
          <a:ln/>
        </p:spPr>
        <p:txBody>
          <a:bodyPr wrap="square" lIns="0" tIns="0" rIns="0" bIns="0" rtlCol="0" anchor="t"/>
          <a:lstStyle/>
          <a:p>
            <a:pPr algn="l" indent="0" marL="0">
              <a:lnSpc>
                <a:spcPts val="2350"/>
              </a:lnSpc>
              <a:buNone/>
            </a:pPr>
            <a:r>
              <a:rPr lang="en-US" sz="1450" dirty="0">
                <a:solidFill>
                  <a:srgbClr val="2A2742"/>
                </a:solidFill>
                <a:latin typeface="Arimo" pitchFamily="34" charset="0"/>
                <a:ea typeface="Arimo" pitchFamily="34" charset="-122"/>
                <a:cs typeface="Arimo" pitchFamily="34" charset="-120"/>
              </a:rPr>
              <a:t>Science and technology can be effectively used to ease workload within and outside the house, involve individuals as equal partners, recognize their knowledge experience and the significant role that they can play in sustainable development.</a:t>
            </a:r>
            <a:endParaRPr lang="en-US" sz="1450" dirty="0"/>
          </a:p>
        </p:txBody>
      </p:sp>
      <p:pic>
        <p:nvPicPr>
          <p:cNvPr id="10" name="Image 2" descr="preencoded.png">    </p:cNvPr>
          <p:cNvPicPr>
            <a:picLocks noChangeAspect="1"/>
          </p:cNvPicPr>
          <p:nvPr/>
        </p:nvPicPr>
        <p:blipFill>
          <a:blip r:embed="rId3"/>
          <a:stretch>
            <a:fillRect/>
          </a:stretch>
        </p:blipFill>
        <p:spPr>
          <a:xfrm>
            <a:off x="528042" y="4272201"/>
            <a:ext cx="754261" cy="929640"/>
          </a:xfrm>
          <a:prstGeom prst="rect">
            <a:avLst/>
          </a:prstGeom>
        </p:spPr>
      </p:pic>
      <p:sp>
        <p:nvSpPr>
          <p:cNvPr id="11" name="Text 6"/>
          <p:cNvSpPr/>
          <p:nvPr/>
        </p:nvSpPr>
        <p:spPr>
          <a:xfrm>
            <a:off x="1508522" y="4423053"/>
            <a:ext cx="1885831" cy="235744"/>
          </a:xfrm>
          <a:prstGeom prst="rect">
            <a:avLst/>
          </a:prstGeom>
          <a:noFill/>
          <a:ln/>
        </p:spPr>
        <p:txBody>
          <a:bodyPr wrap="none" lIns="0" tIns="0" rIns="0" bIns="0" rtlCol="0" anchor="t"/>
          <a:lstStyle/>
          <a:p>
            <a:pPr algn="l" indent="0" marL="0">
              <a:lnSpc>
                <a:spcPts val="1850"/>
              </a:lnSpc>
              <a:buNone/>
            </a:pPr>
            <a:r>
              <a:rPr lang="en-US" sz="1450" b="1" dirty="0">
                <a:solidFill>
                  <a:srgbClr val="2A2742"/>
                </a:solidFill>
                <a:latin typeface="Outfit Extra Bold" pitchFamily="34" charset="0"/>
                <a:ea typeface="Outfit Extra Bold" pitchFamily="34" charset="-122"/>
                <a:cs typeface="Outfit Extra Bold" pitchFamily="34" charset="-120"/>
              </a:rPr>
              <a:t>Information Access</a:t>
            </a:r>
            <a:endParaRPr lang="en-US" sz="1450" dirty="0"/>
          </a:p>
        </p:txBody>
      </p:sp>
      <p:sp>
        <p:nvSpPr>
          <p:cNvPr id="12" name="Text 7"/>
          <p:cNvSpPr/>
          <p:nvPr/>
        </p:nvSpPr>
        <p:spPr>
          <a:xfrm>
            <a:off x="1508522" y="4749284"/>
            <a:ext cx="12593836" cy="301704"/>
          </a:xfrm>
          <a:prstGeom prst="rect">
            <a:avLst/>
          </a:prstGeom>
          <a:noFill/>
          <a:ln/>
        </p:spPr>
        <p:txBody>
          <a:bodyPr wrap="none" lIns="0" tIns="0" rIns="0" bIns="0" rtlCol="0" anchor="t"/>
          <a:lstStyle/>
          <a:p>
            <a:pPr algn="l" indent="0" marL="0">
              <a:lnSpc>
                <a:spcPts val="2350"/>
              </a:lnSpc>
              <a:buNone/>
            </a:pPr>
            <a:r>
              <a:rPr lang="en-US" sz="1450" dirty="0">
                <a:solidFill>
                  <a:srgbClr val="2A2742"/>
                </a:solidFill>
                <a:latin typeface="Arimo" pitchFamily="34" charset="0"/>
                <a:ea typeface="Arimo" pitchFamily="34" charset="-122"/>
                <a:cs typeface="Arimo" pitchFamily="34" charset="-120"/>
              </a:rPr>
              <a:t>Access to information is the key for empowerment as it provides various options to livelihood, education, health services and e-commerce.</a:t>
            </a:r>
            <a:endParaRPr lang="en-US" sz="1450" dirty="0"/>
          </a:p>
        </p:txBody>
      </p:sp>
      <p:pic>
        <p:nvPicPr>
          <p:cNvPr id="13" name="Image 3" descr="preencoded.png">    </p:cNvPr>
          <p:cNvPicPr>
            <a:picLocks noChangeAspect="1"/>
          </p:cNvPicPr>
          <p:nvPr/>
        </p:nvPicPr>
        <p:blipFill>
          <a:blip r:embed="rId4"/>
          <a:stretch>
            <a:fillRect/>
          </a:stretch>
        </p:blipFill>
        <p:spPr>
          <a:xfrm>
            <a:off x="528042" y="5201841"/>
            <a:ext cx="754261" cy="1231344"/>
          </a:xfrm>
          <a:prstGeom prst="rect">
            <a:avLst/>
          </a:prstGeom>
        </p:spPr>
      </p:pic>
      <p:sp>
        <p:nvSpPr>
          <p:cNvPr id="14" name="Text 8"/>
          <p:cNvSpPr/>
          <p:nvPr/>
        </p:nvSpPr>
        <p:spPr>
          <a:xfrm>
            <a:off x="1508522" y="5352693"/>
            <a:ext cx="1885831" cy="235744"/>
          </a:xfrm>
          <a:prstGeom prst="rect">
            <a:avLst/>
          </a:prstGeom>
          <a:noFill/>
          <a:ln/>
        </p:spPr>
        <p:txBody>
          <a:bodyPr wrap="none" lIns="0" tIns="0" rIns="0" bIns="0" rtlCol="0" anchor="t"/>
          <a:lstStyle/>
          <a:p>
            <a:pPr algn="l" indent="0" marL="0">
              <a:lnSpc>
                <a:spcPts val="1850"/>
              </a:lnSpc>
              <a:buNone/>
            </a:pPr>
            <a:r>
              <a:rPr lang="en-US" sz="1450" b="1" dirty="0">
                <a:solidFill>
                  <a:srgbClr val="2A2742"/>
                </a:solidFill>
                <a:latin typeface="Outfit Extra Bold" pitchFamily="34" charset="0"/>
                <a:ea typeface="Outfit Extra Bold" pitchFamily="34" charset="-122"/>
                <a:cs typeface="Outfit Extra Bold" pitchFamily="34" charset="-120"/>
              </a:rPr>
              <a:t>Microfinance</a:t>
            </a:r>
            <a:endParaRPr lang="en-US" sz="1450" dirty="0"/>
          </a:p>
        </p:txBody>
      </p:sp>
      <p:sp>
        <p:nvSpPr>
          <p:cNvPr id="15" name="Text 9"/>
          <p:cNvSpPr/>
          <p:nvPr/>
        </p:nvSpPr>
        <p:spPr>
          <a:xfrm>
            <a:off x="1508522" y="5678924"/>
            <a:ext cx="12593836" cy="603409"/>
          </a:xfrm>
          <a:prstGeom prst="rect">
            <a:avLst/>
          </a:prstGeom>
          <a:noFill/>
          <a:ln/>
        </p:spPr>
        <p:txBody>
          <a:bodyPr wrap="square" lIns="0" tIns="0" rIns="0" bIns="0" rtlCol="0" anchor="t"/>
          <a:lstStyle/>
          <a:p>
            <a:pPr algn="l" indent="0" marL="0">
              <a:lnSpc>
                <a:spcPts val="2350"/>
              </a:lnSpc>
              <a:buNone/>
            </a:pPr>
            <a:r>
              <a:rPr lang="en-US" sz="1450" dirty="0">
                <a:solidFill>
                  <a:srgbClr val="2A2742"/>
                </a:solidFill>
                <a:latin typeface="Arimo" pitchFamily="34" charset="0"/>
                <a:ea typeface="Arimo" pitchFamily="34" charset="-122"/>
                <a:cs typeface="Arimo" pitchFamily="34" charset="-120"/>
              </a:rPr>
              <a:t>Microfinance programs play a dominant role in empowerment of low-income individuals as they grant access to various saving schemes and other financial services.</a:t>
            </a:r>
            <a:endParaRPr lang="en-US" sz="1450" dirty="0"/>
          </a:p>
        </p:txBody>
      </p:sp>
      <p:pic>
        <p:nvPicPr>
          <p:cNvPr id="16" name="Image 4" descr="preencoded.png">    </p:cNvPr>
          <p:cNvPicPr>
            <a:picLocks noChangeAspect="1"/>
          </p:cNvPicPr>
          <p:nvPr/>
        </p:nvPicPr>
        <p:blipFill>
          <a:blip r:embed="rId5"/>
          <a:stretch>
            <a:fillRect/>
          </a:stretch>
        </p:blipFill>
        <p:spPr>
          <a:xfrm>
            <a:off x="528042" y="6433185"/>
            <a:ext cx="754261" cy="1231344"/>
          </a:xfrm>
          <a:prstGeom prst="rect">
            <a:avLst/>
          </a:prstGeom>
        </p:spPr>
      </p:pic>
      <p:sp>
        <p:nvSpPr>
          <p:cNvPr id="17" name="Text 10"/>
          <p:cNvSpPr/>
          <p:nvPr/>
        </p:nvSpPr>
        <p:spPr>
          <a:xfrm>
            <a:off x="1508522" y="6584037"/>
            <a:ext cx="1885831" cy="235744"/>
          </a:xfrm>
          <a:prstGeom prst="rect">
            <a:avLst/>
          </a:prstGeom>
          <a:noFill/>
          <a:ln/>
        </p:spPr>
        <p:txBody>
          <a:bodyPr wrap="none" lIns="0" tIns="0" rIns="0" bIns="0" rtlCol="0" anchor="t"/>
          <a:lstStyle/>
          <a:p>
            <a:pPr algn="l" indent="0" marL="0">
              <a:lnSpc>
                <a:spcPts val="1850"/>
              </a:lnSpc>
              <a:buNone/>
            </a:pPr>
            <a:r>
              <a:rPr lang="en-US" sz="1450" b="1" dirty="0">
                <a:solidFill>
                  <a:srgbClr val="2A2742"/>
                </a:solidFill>
                <a:latin typeface="Outfit Extra Bold" pitchFamily="34" charset="0"/>
                <a:ea typeface="Outfit Extra Bold" pitchFamily="34" charset="-122"/>
                <a:cs typeface="Outfit Extra Bold" pitchFamily="34" charset="-120"/>
              </a:rPr>
              <a:t>Law</a:t>
            </a:r>
            <a:endParaRPr lang="en-US" sz="1450" dirty="0"/>
          </a:p>
        </p:txBody>
      </p:sp>
      <p:sp>
        <p:nvSpPr>
          <p:cNvPr id="18" name="Text 11"/>
          <p:cNvSpPr/>
          <p:nvPr/>
        </p:nvSpPr>
        <p:spPr>
          <a:xfrm>
            <a:off x="1508522" y="6910268"/>
            <a:ext cx="12593836" cy="603409"/>
          </a:xfrm>
          <a:prstGeom prst="rect">
            <a:avLst/>
          </a:prstGeom>
          <a:noFill/>
          <a:ln/>
        </p:spPr>
        <p:txBody>
          <a:bodyPr wrap="square" lIns="0" tIns="0" rIns="0" bIns="0" rtlCol="0" anchor="t"/>
          <a:lstStyle/>
          <a:p>
            <a:pPr algn="l" indent="0" marL="0">
              <a:lnSpc>
                <a:spcPts val="2350"/>
              </a:lnSpc>
              <a:buNone/>
            </a:pPr>
            <a:r>
              <a:rPr lang="en-US" sz="1450" dirty="0">
                <a:solidFill>
                  <a:srgbClr val="2A2742"/>
                </a:solidFill>
                <a:latin typeface="Arimo" pitchFamily="34" charset="0"/>
                <a:ea typeface="Arimo" pitchFamily="34" charset="-122"/>
                <a:cs typeface="Arimo" pitchFamily="34" charset="-120"/>
              </a:rPr>
              <a:t>Law ensures protection of individual rights such as protection of underprivileged women from injustice, wrongful eviction, abuse and exploitation. It guarantees equal opportunities to individuals for accessing various resources.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4733" y="755452"/>
            <a:ext cx="10242113" cy="647105"/>
          </a:xfrm>
          <a:prstGeom prst="rect">
            <a:avLst/>
          </a:prstGeom>
          <a:noFill/>
          <a:ln/>
        </p:spPr>
        <p:txBody>
          <a:bodyPr wrap="none" lIns="0" tIns="0" rIns="0" bIns="0" rtlCol="0" anchor="t"/>
          <a:lstStyle/>
          <a:p>
            <a:pPr indent="0" marL="0">
              <a:lnSpc>
                <a:spcPts val="5050"/>
              </a:lnSpc>
              <a:buNone/>
            </a:pPr>
            <a:r>
              <a:rPr lang="en-US" sz="4050" b="1" dirty="0">
                <a:solidFill>
                  <a:srgbClr val="231971"/>
                </a:solidFill>
                <a:latin typeface="Outfit Extra Bold" pitchFamily="34" charset="0"/>
                <a:ea typeface="Outfit Extra Bold" pitchFamily="34" charset="-122"/>
                <a:cs typeface="Outfit Extra Bold" pitchFamily="34" charset="-120"/>
              </a:rPr>
              <a:t>Strategies to Promote Self-empowerment </a:t>
            </a:r>
            <a:endParaRPr lang="en-US" sz="4050" dirty="0"/>
          </a:p>
        </p:txBody>
      </p:sp>
      <p:sp>
        <p:nvSpPr>
          <p:cNvPr id="3" name="Shape 1"/>
          <p:cNvSpPr/>
          <p:nvPr/>
        </p:nvSpPr>
        <p:spPr>
          <a:xfrm>
            <a:off x="7303770" y="1816656"/>
            <a:ext cx="22860" cy="5657493"/>
          </a:xfrm>
          <a:prstGeom prst="roundRect">
            <a:avLst>
              <a:gd name="adj" fmla="val 380460"/>
            </a:avLst>
          </a:prstGeom>
          <a:solidFill>
            <a:srgbClr val="BDB8DF"/>
          </a:solidFill>
          <a:ln/>
        </p:spPr>
      </p:sp>
      <p:sp>
        <p:nvSpPr>
          <p:cNvPr id="4" name="Shape 2"/>
          <p:cNvSpPr/>
          <p:nvPr/>
        </p:nvSpPr>
        <p:spPr>
          <a:xfrm>
            <a:off x="6483965" y="2270998"/>
            <a:ext cx="621149" cy="22860"/>
          </a:xfrm>
          <a:prstGeom prst="roundRect">
            <a:avLst>
              <a:gd name="adj" fmla="val 380460"/>
            </a:avLst>
          </a:prstGeom>
          <a:solidFill>
            <a:srgbClr val="BDB8DF"/>
          </a:solidFill>
          <a:ln/>
        </p:spPr>
      </p:sp>
      <p:sp>
        <p:nvSpPr>
          <p:cNvPr id="5" name="Shape 3"/>
          <p:cNvSpPr/>
          <p:nvPr/>
        </p:nvSpPr>
        <p:spPr>
          <a:xfrm>
            <a:off x="7082254" y="2049542"/>
            <a:ext cx="465892" cy="465892"/>
          </a:xfrm>
          <a:prstGeom prst="roundRect">
            <a:avLst>
              <a:gd name="adj" fmla="val 18668"/>
            </a:avLst>
          </a:prstGeom>
          <a:solidFill>
            <a:srgbClr val="E9E6FA"/>
          </a:solidFill>
          <a:ln w="7620">
            <a:solidFill>
              <a:srgbClr val="BDB8DF"/>
            </a:solidFill>
            <a:prstDash val="solid"/>
          </a:ln>
        </p:spPr>
      </p:sp>
      <p:sp>
        <p:nvSpPr>
          <p:cNvPr id="6" name="Text 4"/>
          <p:cNvSpPr/>
          <p:nvPr/>
        </p:nvSpPr>
        <p:spPr>
          <a:xfrm>
            <a:off x="7159883" y="2088297"/>
            <a:ext cx="310515" cy="388263"/>
          </a:xfrm>
          <a:prstGeom prst="rect">
            <a:avLst/>
          </a:prstGeom>
          <a:noFill/>
          <a:ln/>
        </p:spPr>
        <p:txBody>
          <a:bodyPr wrap="none" lIns="0" tIns="0" rIns="0" bIns="0" rtlCol="0" anchor="t"/>
          <a:lstStyle/>
          <a:p>
            <a:pPr algn="ctr" indent="0" marL="0">
              <a:lnSpc>
                <a:spcPts val="2400"/>
              </a:lnSpc>
              <a:buNone/>
            </a:pPr>
            <a:r>
              <a:rPr lang="en-US" sz="2400" b="1" dirty="0">
                <a:solidFill>
                  <a:srgbClr val="2A2742"/>
                </a:solidFill>
                <a:latin typeface="Outfit Extra Bold" pitchFamily="34" charset="0"/>
                <a:ea typeface="Outfit Extra Bold" pitchFamily="34" charset="-122"/>
                <a:cs typeface="Outfit Extra Bold" pitchFamily="34" charset="-120"/>
              </a:rPr>
              <a:t>1</a:t>
            </a:r>
            <a:endParaRPr lang="en-US" sz="2400" dirty="0"/>
          </a:p>
        </p:txBody>
      </p:sp>
      <p:sp>
        <p:nvSpPr>
          <p:cNvPr id="7" name="Text 5"/>
          <p:cNvSpPr/>
          <p:nvPr/>
        </p:nvSpPr>
        <p:spPr>
          <a:xfrm>
            <a:off x="3691414" y="2023705"/>
            <a:ext cx="2588419" cy="323493"/>
          </a:xfrm>
          <a:prstGeom prst="rect">
            <a:avLst/>
          </a:prstGeom>
          <a:noFill/>
          <a:ln/>
        </p:spPr>
        <p:txBody>
          <a:bodyPr wrap="none" lIns="0" tIns="0" rIns="0" bIns="0" rtlCol="0" anchor="t"/>
          <a:lstStyle/>
          <a:p>
            <a:pPr algn="r" indent="0" marL="0">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1. Know yourself</a:t>
            </a:r>
            <a:endParaRPr lang="en-US" sz="2000" dirty="0"/>
          </a:p>
        </p:txBody>
      </p:sp>
      <p:sp>
        <p:nvSpPr>
          <p:cNvPr id="8" name="Text 6"/>
          <p:cNvSpPr/>
          <p:nvPr/>
        </p:nvSpPr>
        <p:spPr>
          <a:xfrm>
            <a:off x="724733" y="2471380"/>
            <a:ext cx="5555099" cy="828199"/>
          </a:xfrm>
          <a:prstGeom prst="rect">
            <a:avLst/>
          </a:prstGeom>
          <a:noFill/>
          <a:ln/>
        </p:spPr>
        <p:txBody>
          <a:bodyPr wrap="square" lIns="0" tIns="0" rIns="0" bIns="0" rtlCol="0" anchor="t"/>
          <a:lstStyle/>
          <a:p>
            <a:pPr algn="r" indent="0" marL="0">
              <a:lnSpc>
                <a:spcPts val="3250"/>
              </a:lnSpc>
              <a:buNone/>
            </a:pPr>
            <a:r>
              <a:rPr lang="en-US" sz="2000" dirty="0">
                <a:solidFill>
                  <a:srgbClr val="2A2742"/>
                </a:solidFill>
                <a:latin typeface="Arimo" pitchFamily="34" charset="0"/>
                <a:ea typeface="Arimo" pitchFamily="34" charset="-122"/>
                <a:cs typeface="Arimo" pitchFamily="34" charset="-120"/>
              </a:rPr>
              <a:t>Understand your motivations, strengths and weaknesses.</a:t>
            </a:r>
            <a:endParaRPr lang="en-US" sz="2000" dirty="0"/>
          </a:p>
        </p:txBody>
      </p:sp>
      <p:sp>
        <p:nvSpPr>
          <p:cNvPr id="9" name="Shape 7"/>
          <p:cNvSpPr/>
          <p:nvPr/>
        </p:nvSpPr>
        <p:spPr>
          <a:xfrm>
            <a:off x="7525286" y="3306247"/>
            <a:ext cx="621149" cy="22860"/>
          </a:xfrm>
          <a:prstGeom prst="roundRect">
            <a:avLst>
              <a:gd name="adj" fmla="val 380460"/>
            </a:avLst>
          </a:prstGeom>
          <a:solidFill>
            <a:srgbClr val="BDB8DF"/>
          </a:solidFill>
          <a:ln/>
        </p:spPr>
      </p:sp>
      <p:sp>
        <p:nvSpPr>
          <p:cNvPr id="10" name="Shape 8"/>
          <p:cNvSpPr/>
          <p:nvPr/>
        </p:nvSpPr>
        <p:spPr>
          <a:xfrm>
            <a:off x="7082254" y="3084790"/>
            <a:ext cx="465892" cy="465892"/>
          </a:xfrm>
          <a:prstGeom prst="roundRect">
            <a:avLst>
              <a:gd name="adj" fmla="val 18668"/>
            </a:avLst>
          </a:prstGeom>
          <a:solidFill>
            <a:srgbClr val="E9E6FA"/>
          </a:solidFill>
          <a:ln w="7620">
            <a:solidFill>
              <a:srgbClr val="BDB8DF"/>
            </a:solidFill>
            <a:prstDash val="solid"/>
          </a:ln>
        </p:spPr>
      </p:sp>
      <p:sp>
        <p:nvSpPr>
          <p:cNvPr id="11" name="Text 9"/>
          <p:cNvSpPr/>
          <p:nvPr/>
        </p:nvSpPr>
        <p:spPr>
          <a:xfrm>
            <a:off x="7159883" y="3123545"/>
            <a:ext cx="310515" cy="388263"/>
          </a:xfrm>
          <a:prstGeom prst="rect">
            <a:avLst/>
          </a:prstGeom>
          <a:noFill/>
          <a:ln/>
        </p:spPr>
        <p:txBody>
          <a:bodyPr wrap="none" lIns="0" tIns="0" rIns="0" bIns="0" rtlCol="0" anchor="t"/>
          <a:lstStyle/>
          <a:p>
            <a:pPr algn="ctr" indent="0" marL="0">
              <a:lnSpc>
                <a:spcPts val="2400"/>
              </a:lnSpc>
              <a:buNone/>
            </a:pPr>
            <a:r>
              <a:rPr lang="en-US" sz="2400" b="1" dirty="0">
                <a:solidFill>
                  <a:srgbClr val="2A2742"/>
                </a:solidFill>
                <a:latin typeface="Outfit Extra Bold" pitchFamily="34" charset="0"/>
                <a:ea typeface="Outfit Extra Bold" pitchFamily="34" charset="-122"/>
                <a:cs typeface="Outfit Extra Bold" pitchFamily="34" charset="-120"/>
              </a:rPr>
              <a:t>2</a:t>
            </a:r>
            <a:endParaRPr lang="en-US" sz="2400" dirty="0"/>
          </a:p>
        </p:txBody>
      </p:sp>
      <p:sp>
        <p:nvSpPr>
          <p:cNvPr id="12" name="Text 10"/>
          <p:cNvSpPr/>
          <p:nvPr/>
        </p:nvSpPr>
        <p:spPr>
          <a:xfrm>
            <a:off x="8350568" y="3058954"/>
            <a:ext cx="5457587" cy="323493"/>
          </a:xfrm>
          <a:prstGeom prst="rect">
            <a:avLst/>
          </a:prstGeom>
          <a:noFill/>
          <a:ln/>
        </p:spPr>
        <p:txBody>
          <a:bodyPr wrap="none" lIns="0" tIns="0" rIns="0" bIns="0" rtlCol="0" anchor="t"/>
          <a:lstStyle/>
          <a:p>
            <a:pPr algn="l" indent="0" marL="0">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2. Improve your knowledge and competencies</a:t>
            </a:r>
            <a:endParaRPr lang="en-US" sz="2000" dirty="0"/>
          </a:p>
        </p:txBody>
      </p:sp>
      <p:sp>
        <p:nvSpPr>
          <p:cNvPr id="13" name="Text 11"/>
          <p:cNvSpPr/>
          <p:nvPr/>
        </p:nvSpPr>
        <p:spPr>
          <a:xfrm>
            <a:off x="8350568" y="3506629"/>
            <a:ext cx="5555099" cy="828199"/>
          </a:xfrm>
          <a:prstGeom prst="rect">
            <a:avLst/>
          </a:prstGeom>
          <a:noFill/>
          <a:ln/>
        </p:spPr>
        <p:txBody>
          <a:bodyPr wrap="square" lIns="0" tIns="0" rIns="0" bIns="0" rtlCol="0" anchor="t"/>
          <a:lstStyle/>
          <a:p>
            <a:pPr algn="l" indent="0" marL="0">
              <a:lnSpc>
                <a:spcPts val="3250"/>
              </a:lnSpc>
              <a:buNone/>
            </a:pPr>
            <a:r>
              <a:rPr lang="en-US" sz="2000" dirty="0">
                <a:solidFill>
                  <a:srgbClr val="2A2742"/>
                </a:solidFill>
                <a:latin typeface="Arimo" pitchFamily="34" charset="0"/>
                <a:ea typeface="Arimo" pitchFamily="34" charset="-122"/>
                <a:cs typeface="Arimo" pitchFamily="34" charset="-120"/>
              </a:rPr>
              <a:t>Focus on gaining expertise and improving skills or qualities that will allow us to reach our goals.</a:t>
            </a:r>
            <a:endParaRPr lang="en-US" sz="2000" dirty="0"/>
          </a:p>
        </p:txBody>
      </p:sp>
      <p:sp>
        <p:nvSpPr>
          <p:cNvPr id="14" name="Shape 12"/>
          <p:cNvSpPr/>
          <p:nvPr/>
        </p:nvSpPr>
        <p:spPr>
          <a:xfrm>
            <a:off x="6483965" y="4254698"/>
            <a:ext cx="621149" cy="22860"/>
          </a:xfrm>
          <a:prstGeom prst="roundRect">
            <a:avLst>
              <a:gd name="adj" fmla="val 380460"/>
            </a:avLst>
          </a:prstGeom>
          <a:solidFill>
            <a:srgbClr val="BDB8DF"/>
          </a:solidFill>
          <a:ln/>
        </p:spPr>
      </p:sp>
      <p:sp>
        <p:nvSpPr>
          <p:cNvPr id="15" name="Shape 13"/>
          <p:cNvSpPr/>
          <p:nvPr/>
        </p:nvSpPr>
        <p:spPr>
          <a:xfrm>
            <a:off x="7082254" y="4033242"/>
            <a:ext cx="465892" cy="465892"/>
          </a:xfrm>
          <a:prstGeom prst="roundRect">
            <a:avLst>
              <a:gd name="adj" fmla="val 18668"/>
            </a:avLst>
          </a:prstGeom>
          <a:solidFill>
            <a:srgbClr val="E9E6FA"/>
          </a:solidFill>
          <a:ln w="7620">
            <a:solidFill>
              <a:srgbClr val="BDB8DF"/>
            </a:solidFill>
            <a:prstDash val="solid"/>
          </a:ln>
        </p:spPr>
      </p:sp>
      <p:sp>
        <p:nvSpPr>
          <p:cNvPr id="16" name="Text 14"/>
          <p:cNvSpPr/>
          <p:nvPr/>
        </p:nvSpPr>
        <p:spPr>
          <a:xfrm>
            <a:off x="7159883" y="4071997"/>
            <a:ext cx="310515" cy="388263"/>
          </a:xfrm>
          <a:prstGeom prst="rect">
            <a:avLst/>
          </a:prstGeom>
          <a:noFill/>
          <a:ln/>
        </p:spPr>
        <p:txBody>
          <a:bodyPr wrap="none" lIns="0" tIns="0" rIns="0" bIns="0" rtlCol="0" anchor="t"/>
          <a:lstStyle/>
          <a:p>
            <a:pPr algn="ctr" indent="0" marL="0">
              <a:lnSpc>
                <a:spcPts val="2400"/>
              </a:lnSpc>
              <a:buNone/>
            </a:pPr>
            <a:r>
              <a:rPr lang="en-US" sz="2400" b="1" dirty="0">
                <a:solidFill>
                  <a:srgbClr val="2A2742"/>
                </a:solidFill>
                <a:latin typeface="Outfit Extra Bold" pitchFamily="34" charset="0"/>
                <a:ea typeface="Outfit Extra Bold" pitchFamily="34" charset="-122"/>
                <a:cs typeface="Outfit Extra Bold" pitchFamily="34" charset="-120"/>
              </a:rPr>
              <a:t>3</a:t>
            </a:r>
            <a:endParaRPr lang="en-US" sz="2400" dirty="0"/>
          </a:p>
        </p:txBody>
      </p:sp>
      <p:sp>
        <p:nvSpPr>
          <p:cNvPr id="17" name="Text 15"/>
          <p:cNvSpPr/>
          <p:nvPr/>
        </p:nvSpPr>
        <p:spPr>
          <a:xfrm>
            <a:off x="3592949" y="4007406"/>
            <a:ext cx="2686883" cy="323493"/>
          </a:xfrm>
          <a:prstGeom prst="rect">
            <a:avLst/>
          </a:prstGeom>
          <a:noFill/>
          <a:ln/>
        </p:spPr>
        <p:txBody>
          <a:bodyPr wrap="none" lIns="0" tIns="0" rIns="0" bIns="0" rtlCol="0" anchor="t"/>
          <a:lstStyle/>
          <a:p>
            <a:pPr algn="r" indent="0" marL="0">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3. Create an action list</a:t>
            </a:r>
            <a:endParaRPr lang="en-US" sz="2000" dirty="0"/>
          </a:p>
        </p:txBody>
      </p:sp>
      <p:sp>
        <p:nvSpPr>
          <p:cNvPr id="18" name="Text 16"/>
          <p:cNvSpPr/>
          <p:nvPr/>
        </p:nvSpPr>
        <p:spPr>
          <a:xfrm>
            <a:off x="724733" y="4455081"/>
            <a:ext cx="5555099" cy="1656397"/>
          </a:xfrm>
          <a:prstGeom prst="rect">
            <a:avLst/>
          </a:prstGeom>
          <a:noFill/>
          <a:ln/>
        </p:spPr>
        <p:txBody>
          <a:bodyPr wrap="square" lIns="0" tIns="0" rIns="0" bIns="0" rtlCol="0" anchor="t"/>
          <a:lstStyle/>
          <a:p>
            <a:pPr algn="r" indent="0" marL="0">
              <a:lnSpc>
                <a:spcPts val="3250"/>
              </a:lnSpc>
              <a:buNone/>
            </a:pPr>
            <a:r>
              <a:rPr lang="en-US" sz="2000" dirty="0">
                <a:solidFill>
                  <a:srgbClr val="2A2742"/>
                </a:solidFill>
                <a:latin typeface="Arimo" pitchFamily="34" charset="0"/>
                <a:ea typeface="Arimo" pitchFamily="34" charset="-122"/>
                <a:cs typeface="Arimo" pitchFamily="34" charset="-120"/>
              </a:rPr>
              <a:t>List out the required to achieve that out the actions reflect on the achievements after making initial progress and adjust the approach if necessary.</a:t>
            </a:r>
            <a:endParaRPr lang="en-US" sz="2000" dirty="0"/>
          </a:p>
        </p:txBody>
      </p:sp>
      <p:sp>
        <p:nvSpPr>
          <p:cNvPr id="19" name="Shape 17"/>
          <p:cNvSpPr/>
          <p:nvPr/>
        </p:nvSpPr>
        <p:spPr>
          <a:xfrm>
            <a:off x="7525286" y="5617250"/>
            <a:ext cx="621149" cy="22860"/>
          </a:xfrm>
          <a:prstGeom prst="roundRect">
            <a:avLst>
              <a:gd name="adj" fmla="val 380460"/>
            </a:avLst>
          </a:prstGeom>
          <a:solidFill>
            <a:srgbClr val="BDB8DF"/>
          </a:solidFill>
          <a:ln/>
        </p:spPr>
      </p:sp>
      <p:sp>
        <p:nvSpPr>
          <p:cNvPr id="20" name="Shape 18"/>
          <p:cNvSpPr/>
          <p:nvPr/>
        </p:nvSpPr>
        <p:spPr>
          <a:xfrm>
            <a:off x="7082254" y="5395793"/>
            <a:ext cx="465892" cy="465892"/>
          </a:xfrm>
          <a:prstGeom prst="roundRect">
            <a:avLst>
              <a:gd name="adj" fmla="val 18668"/>
            </a:avLst>
          </a:prstGeom>
          <a:solidFill>
            <a:srgbClr val="E9E6FA"/>
          </a:solidFill>
          <a:ln w="7620">
            <a:solidFill>
              <a:srgbClr val="BDB8DF"/>
            </a:solidFill>
            <a:prstDash val="solid"/>
          </a:ln>
        </p:spPr>
      </p:sp>
      <p:sp>
        <p:nvSpPr>
          <p:cNvPr id="21" name="Text 19"/>
          <p:cNvSpPr/>
          <p:nvPr/>
        </p:nvSpPr>
        <p:spPr>
          <a:xfrm>
            <a:off x="7159883" y="5434548"/>
            <a:ext cx="310515" cy="388263"/>
          </a:xfrm>
          <a:prstGeom prst="rect">
            <a:avLst/>
          </a:prstGeom>
          <a:noFill/>
          <a:ln/>
        </p:spPr>
        <p:txBody>
          <a:bodyPr wrap="none" lIns="0" tIns="0" rIns="0" bIns="0" rtlCol="0" anchor="t"/>
          <a:lstStyle/>
          <a:p>
            <a:pPr algn="ctr" indent="0" marL="0">
              <a:lnSpc>
                <a:spcPts val="2400"/>
              </a:lnSpc>
              <a:buNone/>
            </a:pPr>
            <a:r>
              <a:rPr lang="en-US" sz="2400" b="1" dirty="0">
                <a:solidFill>
                  <a:srgbClr val="2A2742"/>
                </a:solidFill>
                <a:latin typeface="Outfit Extra Bold" pitchFamily="34" charset="0"/>
                <a:ea typeface="Outfit Extra Bold" pitchFamily="34" charset="-122"/>
                <a:cs typeface="Outfit Extra Bold" pitchFamily="34" charset="-120"/>
              </a:rPr>
              <a:t>4</a:t>
            </a:r>
            <a:endParaRPr lang="en-US" sz="2400" dirty="0"/>
          </a:p>
        </p:txBody>
      </p:sp>
      <p:sp>
        <p:nvSpPr>
          <p:cNvPr id="22" name="Text 20"/>
          <p:cNvSpPr/>
          <p:nvPr/>
        </p:nvSpPr>
        <p:spPr>
          <a:xfrm>
            <a:off x="8350568" y="5369957"/>
            <a:ext cx="3522107" cy="323493"/>
          </a:xfrm>
          <a:prstGeom prst="rect">
            <a:avLst/>
          </a:prstGeom>
          <a:noFill/>
          <a:ln/>
        </p:spPr>
        <p:txBody>
          <a:bodyPr wrap="none" lIns="0" tIns="0" rIns="0" bIns="0" rtlCol="0" anchor="t"/>
          <a:lstStyle/>
          <a:p>
            <a:pPr algn="l" indent="0" marL="0">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4. Develop a positive attitude</a:t>
            </a:r>
            <a:endParaRPr lang="en-US" sz="2000" dirty="0"/>
          </a:p>
        </p:txBody>
      </p:sp>
      <p:sp>
        <p:nvSpPr>
          <p:cNvPr id="23" name="Text 21"/>
          <p:cNvSpPr/>
          <p:nvPr/>
        </p:nvSpPr>
        <p:spPr>
          <a:xfrm>
            <a:off x="8350568" y="5817632"/>
            <a:ext cx="5555099" cy="1242298"/>
          </a:xfrm>
          <a:prstGeom prst="rect">
            <a:avLst/>
          </a:prstGeom>
          <a:noFill/>
          <a:ln/>
        </p:spPr>
        <p:txBody>
          <a:bodyPr wrap="square" lIns="0" tIns="0" rIns="0" bIns="0" rtlCol="0" anchor="t"/>
          <a:lstStyle/>
          <a:p>
            <a:pPr algn="l" indent="0" marL="0">
              <a:lnSpc>
                <a:spcPts val="3250"/>
              </a:lnSpc>
              <a:buNone/>
            </a:pPr>
            <a:r>
              <a:rPr lang="en-US" sz="2000" dirty="0">
                <a:solidFill>
                  <a:srgbClr val="2A2742"/>
                </a:solidFill>
                <a:latin typeface="Arimo" pitchFamily="34" charset="0"/>
                <a:ea typeface="Arimo" pitchFamily="34" charset="-122"/>
                <a:cs typeface="Arimo" pitchFamily="34" charset="-120"/>
              </a:rPr>
              <a:t>Cultivate a positive attitude and outlook rather than giving in to concepts such as fate, luck or circumstances.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43558"/>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Shape 1"/>
          <p:cNvSpPr/>
          <p:nvPr/>
        </p:nvSpPr>
        <p:spPr>
          <a:xfrm>
            <a:off x="793790" y="3026688"/>
            <a:ext cx="3005495" cy="226814"/>
          </a:xfrm>
          <a:prstGeom prst="roundRect">
            <a:avLst>
              <a:gd name="adj" fmla="val 42003"/>
            </a:avLst>
          </a:prstGeom>
          <a:solidFill>
            <a:srgbClr val="E9E6FA"/>
          </a:solidFill>
          <a:ln w="7620">
            <a:solidFill>
              <a:srgbClr val="BDB8DF"/>
            </a:solidFill>
            <a:prstDash val="solid"/>
          </a:ln>
        </p:spPr>
      </p:sp>
      <p:sp>
        <p:nvSpPr>
          <p:cNvPr id="4" name="Text 2"/>
          <p:cNvSpPr/>
          <p:nvPr/>
        </p:nvSpPr>
        <p:spPr>
          <a:xfrm>
            <a:off x="793790" y="3593663"/>
            <a:ext cx="3005495" cy="708660"/>
          </a:xfrm>
          <a:prstGeom prst="rect">
            <a:avLst/>
          </a:prstGeom>
          <a:noFill/>
          <a:ln/>
        </p:spPr>
        <p:txBody>
          <a:bodyPr wrap="square" lIns="0" tIns="0" rIns="0" bIns="0" rtlCol="0" anchor="t"/>
          <a:lstStyle/>
          <a:p>
            <a:pPr algn="l"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5. Use positive self-talk</a:t>
            </a:r>
            <a:endParaRPr lang="en-US" sz="2200" dirty="0"/>
          </a:p>
        </p:txBody>
      </p:sp>
      <p:sp>
        <p:nvSpPr>
          <p:cNvPr id="5" name="Text 3"/>
          <p:cNvSpPr/>
          <p:nvPr/>
        </p:nvSpPr>
        <p:spPr>
          <a:xfrm>
            <a:off x="793790" y="4438412"/>
            <a:ext cx="3005495" cy="1360527"/>
          </a:xfrm>
          <a:prstGeom prst="rect">
            <a:avLst/>
          </a:prstGeom>
          <a:noFill/>
          <a:ln/>
        </p:spPr>
        <p:txBody>
          <a:bodyPr wrap="square" lIns="0" tIns="0" rIns="0" bIns="0" rtlCol="0" anchor="t"/>
          <a:lstStyle/>
          <a:p>
            <a:pPr algn="l" indent="0" marL="0">
              <a:lnSpc>
                <a:spcPts val="3550"/>
              </a:lnSpc>
              <a:buNone/>
            </a:pPr>
            <a:r>
              <a:rPr lang="en-US" sz="2200" dirty="0">
                <a:solidFill>
                  <a:srgbClr val="2A2742"/>
                </a:solidFill>
                <a:latin typeface="Arimo" pitchFamily="34" charset="0"/>
                <a:ea typeface="Arimo" pitchFamily="34" charset="-122"/>
                <a:cs typeface="Arimo" pitchFamily="34" charset="-120"/>
              </a:rPr>
              <a:t>Focus on what you can do as opposed to what you can't. </a:t>
            </a:r>
            <a:endParaRPr lang="en-US" sz="2200" dirty="0"/>
          </a:p>
        </p:txBody>
      </p:sp>
      <p:sp>
        <p:nvSpPr>
          <p:cNvPr id="6" name="Shape 4"/>
          <p:cNvSpPr/>
          <p:nvPr/>
        </p:nvSpPr>
        <p:spPr>
          <a:xfrm>
            <a:off x="4139446" y="2686407"/>
            <a:ext cx="3005614" cy="226814"/>
          </a:xfrm>
          <a:prstGeom prst="roundRect">
            <a:avLst>
              <a:gd name="adj" fmla="val 42003"/>
            </a:avLst>
          </a:prstGeom>
          <a:solidFill>
            <a:srgbClr val="E9E6FA"/>
          </a:solidFill>
          <a:ln w="7620">
            <a:solidFill>
              <a:srgbClr val="BDB8DF"/>
            </a:solidFill>
            <a:prstDash val="solid"/>
          </a:ln>
        </p:spPr>
      </p:sp>
      <p:sp>
        <p:nvSpPr>
          <p:cNvPr id="7" name="Text 5"/>
          <p:cNvSpPr/>
          <p:nvPr/>
        </p:nvSpPr>
        <p:spPr>
          <a:xfrm>
            <a:off x="4139446" y="325338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6. Identify your goals</a:t>
            </a:r>
            <a:endParaRPr lang="en-US" sz="2200" dirty="0"/>
          </a:p>
        </p:txBody>
      </p:sp>
      <p:sp>
        <p:nvSpPr>
          <p:cNvPr id="8" name="Text 6"/>
          <p:cNvSpPr/>
          <p:nvPr/>
        </p:nvSpPr>
        <p:spPr>
          <a:xfrm>
            <a:off x="4139446" y="3743801"/>
            <a:ext cx="3005614" cy="3174563"/>
          </a:xfrm>
          <a:prstGeom prst="rect">
            <a:avLst/>
          </a:prstGeom>
          <a:noFill/>
          <a:ln/>
        </p:spPr>
        <p:txBody>
          <a:bodyPr wrap="square" lIns="0" tIns="0" rIns="0" bIns="0" rtlCol="0" anchor="t"/>
          <a:lstStyle/>
          <a:p>
            <a:pPr algn="l" indent="0" marL="0">
              <a:lnSpc>
                <a:spcPts val="3550"/>
              </a:lnSpc>
              <a:buNone/>
            </a:pPr>
            <a:r>
              <a:rPr lang="en-US" sz="2200" dirty="0">
                <a:solidFill>
                  <a:srgbClr val="2A2742"/>
                </a:solidFill>
                <a:latin typeface="Arimo" pitchFamily="34" charset="0"/>
                <a:ea typeface="Arimo" pitchFamily="34" charset="-122"/>
                <a:cs typeface="Arimo" pitchFamily="34" charset="-120"/>
              </a:rPr>
              <a:t>Identify the most important aspects of your life where you can create a meaningful change and set measurable and achievable goals.</a:t>
            </a:r>
            <a:endParaRPr lang="en-US" sz="2200" dirty="0"/>
          </a:p>
        </p:txBody>
      </p:sp>
      <p:sp>
        <p:nvSpPr>
          <p:cNvPr id="9" name="Shape 7"/>
          <p:cNvSpPr/>
          <p:nvPr/>
        </p:nvSpPr>
        <p:spPr>
          <a:xfrm>
            <a:off x="7485221" y="2346127"/>
            <a:ext cx="3005614" cy="226814"/>
          </a:xfrm>
          <a:prstGeom prst="roundRect">
            <a:avLst>
              <a:gd name="adj" fmla="val 42003"/>
            </a:avLst>
          </a:prstGeom>
          <a:solidFill>
            <a:srgbClr val="E9E6FA"/>
          </a:solidFill>
          <a:ln w="7620">
            <a:solidFill>
              <a:srgbClr val="BDB8DF"/>
            </a:solidFill>
            <a:prstDash val="solid"/>
          </a:ln>
        </p:spPr>
      </p:sp>
      <p:sp>
        <p:nvSpPr>
          <p:cNvPr id="10" name="Text 8"/>
          <p:cNvSpPr/>
          <p:nvPr/>
        </p:nvSpPr>
        <p:spPr>
          <a:xfrm>
            <a:off x="7485221" y="2913102"/>
            <a:ext cx="3005614" cy="708660"/>
          </a:xfrm>
          <a:prstGeom prst="rect">
            <a:avLst/>
          </a:prstGeom>
          <a:noFill/>
          <a:ln/>
        </p:spPr>
        <p:txBody>
          <a:bodyPr wrap="square" lIns="0" tIns="0" rIns="0" bIns="0" rtlCol="0" anchor="t"/>
          <a:lstStyle/>
          <a:p>
            <a:pPr algn="l"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7. Develop a strong community</a:t>
            </a:r>
            <a:endParaRPr lang="en-US" sz="2200" dirty="0"/>
          </a:p>
        </p:txBody>
      </p:sp>
      <p:sp>
        <p:nvSpPr>
          <p:cNvPr id="11" name="Text 9"/>
          <p:cNvSpPr/>
          <p:nvPr/>
        </p:nvSpPr>
        <p:spPr>
          <a:xfrm>
            <a:off x="7485221" y="3757851"/>
            <a:ext cx="3005614" cy="3628072"/>
          </a:xfrm>
          <a:prstGeom prst="rect">
            <a:avLst/>
          </a:prstGeom>
          <a:noFill/>
          <a:ln/>
        </p:spPr>
        <p:txBody>
          <a:bodyPr wrap="square" lIns="0" tIns="0" rIns="0" bIns="0" rtlCol="0" anchor="t"/>
          <a:lstStyle/>
          <a:p>
            <a:pPr algn="l" indent="0" marL="0">
              <a:lnSpc>
                <a:spcPts val="3550"/>
              </a:lnSpc>
              <a:buNone/>
            </a:pPr>
            <a:r>
              <a:rPr lang="en-US" sz="2200" dirty="0">
                <a:solidFill>
                  <a:srgbClr val="2A2742"/>
                </a:solidFill>
                <a:latin typeface="Arimo" pitchFamily="34" charset="0"/>
                <a:ea typeface="Arimo" pitchFamily="34" charset="-122"/>
                <a:cs typeface="Arimo" pitchFamily="34" charset="-120"/>
              </a:rPr>
              <a:t>Seek friends and partners that share our values to who appreciate, affirm and constructively challenge our ideas and contributions can boost our confidence.</a:t>
            </a:r>
            <a:endParaRPr lang="en-US" sz="2200" dirty="0"/>
          </a:p>
        </p:txBody>
      </p:sp>
      <p:sp>
        <p:nvSpPr>
          <p:cNvPr id="12" name="Shape 10"/>
          <p:cNvSpPr/>
          <p:nvPr/>
        </p:nvSpPr>
        <p:spPr>
          <a:xfrm>
            <a:off x="10830997" y="2005965"/>
            <a:ext cx="3005614" cy="226814"/>
          </a:xfrm>
          <a:prstGeom prst="roundRect">
            <a:avLst>
              <a:gd name="adj" fmla="val 42003"/>
            </a:avLst>
          </a:prstGeom>
          <a:solidFill>
            <a:srgbClr val="E9E6FA"/>
          </a:solidFill>
          <a:ln w="7620">
            <a:solidFill>
              <a:srgbClr val="BDB8DF"/>
            </a:solidFill>
            <a:prstDash val="solid"/>
          </a:ln>
        </p:spPr>
      </p:sp>
      <p:sp>
        <p:nvSpPr>
          <p:cNvPr id="13" name="Text 11"/>
          <p:cNvSpPr/>
          <p:nvPr/>
        </p:nvSpPr>
        <p:spPr>
          <a:xfrm>
            <a:off x="10830997" y="2572941"/>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8. Practice self-care</a:t>
            </a:r>
            <a:endParaRPr lang="en-US" sz="2200" dirty="0"/>
          </a:p>
        </p:txBody>
      </p:sp>
      <p:sp>
        <p:nvSpPr>
          <p:cNvPr id="14" name="Text 12"/>
          <p:cNvSpPr/>
          <p:nvPr/>
        </p:nvSpPr>
        <p:spPr>
          <a:xfrm>
            <a:off x="10830997" y="3063359"/>
            <a:ext cx="3005614" cy="3174563"/>
          </a:xfrm>
          <a:prstGeom prst="rect">
            <a:avLst/>
          </a:prstGeom>
          <a:noFill/>
          <a:ln/>
        </p:spPr>
        <p:txBody>
          <a:bodyPr wrap="square" lIns="0" tIns="0" rIns="0" bIns="0" rtlCol="0" anchor="t"/>
          <a:lstStyle/>
          <a:p>
            <a:pPr algn="l" indent="0" marL="0">
              <a:lnSpc>
                <a:spcPts val="3550"/>
              </a:lnSpc>
              <a:buNone/>
            </a:pPr>
            <a:r>
              <a:rPr lang="en-US" sz="2200" dirty="0">
                <a:solidFill>
                  <a:srgbClr val="2A2742"/>
                </a:solidFill>
                <a:latin typeface="Arimo" pitchFamily="34" charset="0"/>
                <a:ea typeface="Arimo" pitchFamily="34" charset="-122"/>
                <a:cs typeface="Arimo" pitchFamily="34" charset="-120"/>
              </a:rPr>
              <a:t>It includes all activities such as eating right and exercising, scheduling time to relax and rejuvenate so as to make ourselves more productive.</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261824"/>
            <a:ext cx="6017895"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Women Empowerment</a:t>
            </a:r>
            <a:endParaRPr lang="en-US" sz="4450" dirty="0"/>
          </a:p>
        </p:txBody>
      </p:sp>
      <p:sp>
        <p:nvSpPr>
          <p:cNvPr id="4" name="Text 1"/>
          <p:cNvSpPr/>
          <p:nvPr/>
        </p:nvSpPr>
        <p:spPr>
          <a:xfrm>
            <a:off x="793790" y="2310765"/>
            <a:ext cx="4880253" cy="354330"/>
          </a:xfrm>
          <a:prstGeom prst="rect">
            <a:avLst/>
          </a:prstGeom>
          <a:noFill/>
          <a:ln/>
        </p:spPr>
        <p:txBody>
          <a:bodyPr wrap="none" lIns="0" tIns="0" rIns="0" bIns="0" rtlCol="0" anchor="t"/>
          <a:lstStyle/>
          <a:p>
            <a:pPr indent="0" marL="0">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Definitions of Women Empowerment</a:t>
            </a:r>
            <a:endParaRPr lang="en-US" sz="2200" dirty="0"/>
          </a:p>
        </p:txBody>
      </p:sp>
      <p:sp>
        <p:nvSpPr>
          <p:cNvPr id="5" name="Text 2"/>
          <p:cNvSpPr/>
          <p:nvPr/>
        </p:nvSpPr>
        <p:spPr>
          <a:xfrm>
            <a:off x="793790" y="3005257"/>
            <a:ext cx="7556421" cy="1360527"/>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According to Pillai 1995, women empowerment is an active, multidimensional process which enables women to realize their full identity and powers in all walks of life.</a:t>
            </a:r>
            <a:endParaRPr lang="en-US" sz="1750" dirty="0"/>
          </a:p>
        </p:txBody>
      </p:sp>
      <p:sp>
        <p:nvSpPr>
          <p:cNvPr id="6" name="Text 3"/>
          <p:cNvSpPr/>
          <p:nvPr/>
        </p:nvSpPr>
        <p:spPr>
          <a:xfrm>
            <a:off x="793790" y="4445079"/>
            <a:ext cx="7556421" cy="1814036"/>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World Bank 2001. defines women em-powerment as the expansion of freedom of choices and actions which could increase women authority and control over resources and decisions pertaining to their life.</a:t>
            </a:r>
            <a:endParaRPr lang="en-US" sz="1750" dirty="0"/>
          </a:p>
        </p:txBody>
      </p:sp>
      <p:sp>
        <p:nvSpPr>
          <p:cNvPr id="7" name="Text 4"/>
          <p:cNvSpPr/>
          <p:nvPr/>
        </p:nvSpPr>
        <p:spPr>
          <a:xfrm>
            <a:off x="793790" y="6514267"/>
            <a:ext cx="7556421" cy="453509"/>
          </a:xfrm>
          <a:prstGeom prst="rect">
            <a:avLst/>
          </a:prstGeom>
          <a:noFill/>
          <a:ln/>
        </p:spPr>
        <p:txBody>
          <a:bodyPr wrap="none" lIns="0" tIns="0" rIns="0" bIns="0" rtlCol="0" anchor="t"/>
          <a:lstStyle/>
          <a:p>
            <a:pPr indent="0" marL="0">
              <a:lnSpc>
                <a:spcPts val="3550"/>
              </a:lnSpc>
              <a:buNone/>
            </a:pP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363194" y="1590794"/>
            <a:ext cx="5048012" cy="5048012"/>
          </a:xfrm>
          <a:prstGeom prst="rect">
            <a:avLst/>
          </a:prstGeom>
        </p:spPr>
      </p:pic>
      <p:sp>
        <p:nvSpPr>
          <p:cNvPr id="4" name="Text 0"/>
          <p:cNvSpPr/>
          <p:nvPr/>
        </p:nvSpPr>
        <p:spPr>
          <a:xfrm>
            <a:off x="613767" y="871180"/>
            <a:ext cx="6116598" cy="438388"/>
          </a:xfrm>
          <a:prstGeom prst="rect">
            <a:avLst/>
          </a:prstGeom>
          <a:noFill/>
          <a:ln/>
        </p:spPr>
        <p:txBody>
          <a:bodyPr wrap="none" lIns="0" tIns="0" rIns="0" bIns="0" rtlCol="0" anchor="t"/>
          <a:lstStyle/>
          <a:p>
            <a:pPr indent="0" marL="0">
              <a:lnSpc>
                <a:spcPts val="3450"/>
              </a:lnSpc>
              <a:buNone/>
            </a:pPr>
            <a:r>
              <a:rPr lang="en-US" sz="2750" b="1" dirty="0">
                <a:solidFill>
                  <a:srgbClr val="231971"/>
                </a:solidFill>
                <a:latin typeface="Outfit Extra Bold" pitchFamily="34" charset="0"/>
                <a:ea typeface="Outfit Extra Bold" pitchFamily="34" charset="-122"/>
                <a:cs typeface="Outfit Extra Bold" pitchFamily="34" charset="-120"/>
              </a:rPr>
              <a:t>Dimensions of Women Empowerment</a:t>
            </a:r>
            <a:endParaRPr lang="en-US" sz="2750" dirty="0"/>
          </a:p>
        </p:txBody>
      </p:sp>
      <p:sp>
        <p:nvSpPr>
          <p:cNvPr id="5" name="Text 1"/>
          <p:cNvSpPr/>
          <p:nvPr/>
        </p:nvSpPr>
        <p:spPr>
          <a:xfrm>
            <a:off x="613767" y="1506855"/>
            <a:ext cx="7916466" cy="1402556"/>
          </a:xfrm>
          <a:prstGeom prst="rect">
            <a:avLst/>
          </a:prstGeom>
          <a:noFill/>
          <a:ln/>
        </p:spPr>
        <p:txBody>
          <a:bodyPr wrap="square" lIns="0" tIns="0" rIns="0" bIns="0" rtlCol="0" anchor="t"/>
          <a:lstStyle/>
          <a:p>
            <a:pPr indent="0" marL="0">
              <a:lnSpc>
                <a:spcPts val="2750"/>
              </a:lnSpc>
              <a:buNone/>
            </a:pPr>
            <a:r>
              <a:rPr lang="en-US" sz="1700" dirty="0">
                <a:solidFill>
                  <a:srgbClr val="2A2742"/>
                </a:solidFill>
                <a:latin typeface="Arimo" pitchFamily="34" charset="0"/>
                <a:ea typeface="Arimo" pitchFamily="34" charset="-122"/>
                <a:cs typeface="Arimo" pitchFamily="34" charset="-120"/>
              </a:rPr>
              <a:t>Women empowerment is a multidimensional concept as it covers financial independence, social awareness and political consciousness of an individual. These elements can be categorized into social, economic and political empowerment.</a:t>
            </a:r>
            <a:endParaRPr lang="en-US" sz="1700" dirty="0"/>
          </a:p>
        </p:txBody>
      </p:sp>
      <p:sp>
        <p:nvSpPr>
          <p:cNvPr id="6" name="Text 2"/>
          <p:cNvSpPr/>
          <p:nvPr/>
        </p:nvSpPr>
        <p:spPr>
          <a:xfrm>
            <a:off x="613767" y="3106698"/>
            <a:ext cx="7916466" cy="1753195"/>
          </a:xfrm>
          <a:prstGeom prst="rect">
            <a:avLst/>
          </a:prstGeom>
          <a:noFill/>
          <a:ln/>
        </p:spPr>
        <p:txBody>
          <a:bodyPr wrap="square" lIns="0" tIns="0" rIns="0" bIns="0" rtlCol="0" anchor="t"/>
          <a:lstStyle/>
          <a:p>
            <a:pPr indent="0" marL="0">
              <a:lnSpc>
                <a:spcPts val="2750"/>
              </a:lnSpc>
              <a:buNone/>
            </a:pPr>
            <a:r>
              <a:rPr lang="en-US" sz="1700" dirty="0">
                <a:solidFill>
                  <a:srgbClr val="2A2742"/>
                </a:solidFill>
                <a:latin typeface="Arimo" pitchFamily="34" charset="0"/>
                <a:ea typeface="Arimo" pitchFamily="34" charset="-122"/>
                <a:cs typeface="Arimo" pitchFamily="34" charset="-120"/>
              </a:rPr>
              <a:t>1.</a:t>
            </a:r>
            <a:pPr indent="0" marL="0">
              <a:lnSpc>
                <a:spcPts val="2750"/>
              </a:lnSpc>
              <a:buNone/>
            </a:pPr>
            <a:r>
              <a:rPr lang="en-US" sz="1700" b="1" dirty="0">
                <a:solidFill>
                  <a:srgbClr val="2A2742"/>
                </a:solidFill>
                <a:latin typeface="Arimo" pitchFamily="34" charset="0"/>
                <a:ea typeface="Arimo" pitchFamily="34" charset="-122"/>
                <a:cs typeface="Arimo" pitchFamily="34" charset="-120"/>
              </a:rPr>
              <a:t> Social empowerment</a:t>
            </a:r>
            <a:pPr indent="0" marL="0">
              <a:lnSpc>
                <a:spcPts val="2750"/>
              </a:lnSpc>
              <a:buNone/>
            </a:pPr>
            <a:r>
              <a:rPr lang="en-US" sz="1700" dirty="0">
                <a:solidFill>
                  <a:srgbClr val="2A2742"/>
                </a:solidFill>
                <a:latin typeface="Arimo" pitchFamily="34" charset="0"/>
                <a:ea typeface="Arimo" pitchFamily="34" charset="-122"/>
                <a:cs typeface="Arimo" pitchFamily="34" charset="-120"/>
              </a:rPr>
              <a:t> means an equitable social status for the women in the society. Some of the steps taken by the government are universalization of elementary education, promoting balwadis and crèches, encouraging distance and non-formal adult education, establishing women hostels and creating multipurpose institutions.</a:t>
            </a:r>
            <a:endParaRPr lang="en-US" sz="1700" dirty="0"/>
          </a:p>
        </p:txBody>
      </p:sp>
      <p:sp>
        <p:nvSpPr>
          <p:cNvPr id="7" name="Text 3"/>
          <p:cNvSpPr/>
          <p:nvPr/>
        </p:nvSpPr>
        <p:spPr>
          <a:xfrm>
            <a:off x="613767" y="5057180"/>
            <a:ext cx="7916466" cy="1051917"/>
          </a:xfrm>
          <a:prstGeom prst="rect">
            <a:avLst/>
          </a:prstGeom>
          <a:noFill/>
          <a:ln/>
        </p:spPr>
        <p:txBody>
          <a:bodyPr wrap="square" lIns="0" tIns="0" rIns="0" bIns="0" rtlCol="0" anchor="t"/>
          <a:lstStyle/>
          <a:p>
            <a:pPr indent="0" marL="0">
              <a:lnSpc>
                <a:spcPts val="2750"/>
              </a:lnSpc>
              <a:buNone/>
            </a:pPr>
            <a:r>
              <a:rPr lang="en-US" sz="1700" dirty="0">
                <a:solidFill>
                  <a:srgbClr val="2A2742"/>
                </a:solidFill>
                <a:latin typeface="Arimo" pitchFamily="34" charset="0"/>
                <a:ea typeface="Arimo" pitchFamily="34" charset="-122"/>
                <a:cs typeface="Arimo" pitchFamily="34" charset="-120"/>
              </a:rPr>
              <a:t>2. </a:t>
            </a:r>
            <a:pPr indent="0" marL="0">
              <a:lnSpc>
                <a:spcPts val="2750"/>
              </a:lnSpc>
              <a:buNone/>
            </a:pPr>
            <a:r>
              <a:rPr lang="en-US" sz="1700" b="1" dirty="0">
                <a:solidFill>
                  <a:srgbClr val="2A2742"/>
                </a:solidFill>
                <a:latin typeface="Arimo" pitchFamily="34" charset="0"/>
                <a:ea typeface="Arimo" pitchFamily="34" charset="-122"/>
                <a:cs typeface="Arimo" pitchFamily="34" charset="-120"/>
              </a:rPr>
              <a:t>Economic empowerment</a:t>
            </a:r>
            <a:pPr indent="0" marL="0">
              <a:lnSpc>
                <a:spcPts val="2750"/>
              </a:lnSpc>
              <a:buNone/>
            </a:pPr>
            <a:r>
              <a:rPr lang="en-US" sz="1700" dirty="0">
                <a:solidFill>
                  <a:srgbClr val="2A2742"/>
                </a:solidFill>
                <a:latin typeface="Arimo" pitchFamily="34" charset="0"/>
                <a:ea typeface="Arimo" pitchFamily="34" charset="-122"/>
                <a:cs typeface="Arimo" pitchFamily="34" charset="-120"/>
              </a:rPr>
              <a:t> means providing financial independence to women and accounting their contribution by removing all gender specific barriers that prevent women from gaining access to their rightful share in every sphere of life.</a:t>
            </a:r>
            <a:endParaRPr lang="en-US" sz="1700" dirty="0"/>
          </a:p>
        </p:txBody>
      </p:sp>
      <p:sp>
        <p:nvSpPr>
          <p:cNvPr id="8" name="Text 4"/>
          <p:cNvSpPr/>
          <p:nvPr/>
        </p:nvSpPr>
        <p:spPr>
          <a:xfrm>
            <a:off x="613767" y="6306383"/>
            <a:ext cx="7916466" cy="1051917"/>
          </a:xfrm>
          <a:prstGeom prst="rect">
            <a:avLst/>
          </a:prstGeom>
          <a:noFill/>
          <a:ln/>
        </p:spPr>
        <p:txBody>
          <a:bodyPr wrap="square" lIns="0" tIns="0" rIns="0" bIns="0" rtlCol="0" anchor="t"/>
          <a:lstStyle/>
          <a:p>
            <a:pPr indent="0" marL="0">
              <a:lnSpc>
                <a:spcPts val="2750"/>
              </a:lnSpc>
              <a:buNone/>
            </a:pPr>
            <a:r>
              <a:rPr lang="en-US" sz="1700" dirty="0">
                <a:solidFill>
                  <a:srgbClr val="2A2742"/>
                </a:solidFill>
                <a:latin typeface="Arimo" pitchFamily="34" charset="0"/>
                <a:ea typeface="Arimo" pitchFamily="34" charset="-122"/>
                <a:cs typeface="Arimo" pitchFamily="34" charset="-120"/>
              </a:rPr>
              <a:t>3. </a:t>
            </a:r>
            <a:pPr indent="0" marL="0">
              <a:lnSpc>
                <a:spcPts val="2750"/>
              </a:lnSpc>
              <a:buNone/>
            </a:pPr>
            <a:r>
              <a:rPr lang="en-US" sz="1700" b="1" dirty="0">
                <a:solidFill>
                  <a:srgbClr val="2A2742"/>
                </a:solidFill>
                <a:latin typeface="Arimo" pitchFamily="34" charset="0"/>
                <a:ea typeface="Arimo" pitchFamily="34" charset="-122"/>
                <a:cs typeface="Arimo" pitchFamily="34" charset="-120"/>
              </a:rPr>
              <a:t>Political empowerment </a:t>
            </a:r>
            <a:pPr indent="0" marL="0">
              <a:lnSpc>
                <a:spcPts val="2750"/>
              </a:lnSpc>
              <a:buNone/>
            </a:pPr>
            <a:r>
              <a:rPr lang="en-US" sz="1700" dirty="0">
                <a:solidFill>
                  <a:srgbClr val="2A2742"/>
                </a:solidFill>
                <a:latin typeface="Arimo" pitchFamily="34" charset="0"/>
                <a:ea typeface="Arimo" pitchFamily="34" charset="-122"/>
                <a:cs typeface="Arimo" pitchFamily="34" charset="-120"/>
              </a:rPr>
              <a:t>for women means establishing their public presence by increasing their mobility and breaking their isolation from the decision making process. It improves their self-confidence and enhances self-image.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6399" y="563761"/>
            <a:ext cx="11321534" cy="639604"/>
          </a:xfrm>
          <a:prstGeom prst="rect">
            <a:avLst/>
          </a:prstGeom>
          <a:noFill/>
          <a:ln/>
        </p:spPr>
        <p:txBody>
          <a:bodyPr wrap="none" lIns="0" tIns="0" rIns="0" bIns="0" rtlCol="0" anchor="t"/>
          <a:lstStyle/>
          <a:p>
            <a:pPr indent="0" marL="0">
              <a:lnSpc>
                <a:spcPts val="5000"/>
              </a:lnSpc>
              <a:buNone/>
            </a:pPr>
            <a:r>
              <a:rPr lang="en-US" sz="4000" b="1" dirty="0">
                <a:solidFill>
                  <a:srgbClr val="231971"/>
                </a:solidFill>
                <a:latin typeface="Outfit Extra Bold" pitchFamily="34" charset="0"/>
                <a:ea typeface="Outfit Extra Bold" pitchFamily="34" charset="-122"/>
                <a:cs typeface="Outfit Extra Bold" pitchFamily="34" charset="-120"/>
              </a:rPr>
              <a:t>Importance of Women Empowerment in Society</a:t>
            </a:r>
            <a:endParaRPr lang="en-US" sz="4000" dirty="0"/>
          </a:p>
        </p:txBody>
      </p:sp>
      <p:sp>
        <p:nvSpPr>
          <p:cNvPr id="3" name="Shape 1"/>
          <p:cNvSpPr/>
          <p:nvPr/>
        </p:nvSpPr>
        <p:spPr>
          <a:xfrm>
            <a:off x="716399" y="1842968"/>
            <a:ext cx="460534" cy="460534"/>
          </a:xfrm>
          <a:prstGeom prst="roundRect">
            <a:avLst>
              <a:gd name="adj" fmla="val 18667"/>
            </a:avLst>
          </a:prstGeom>
          <a:solidFill>
            <a:srgbClr val="E9E6FA"/>
          </a:solidFill>
          <a:ln w="7620">
            <a:solidFill>
              <a:srgbClr val="BDB8DF"/>
            </a:solidFill>
            <a:prstDash val="solid"/>
          </a:ln>
        </p:spPr>
      </p:sp>
      <p:sp>
        <p:nvSpPr>
          <p:cNvPr id="4" name="Text 2"/>
          <p:cNvSpPr/>
          <p:nvPr/>
        </p:nvSpPr>
        <p:spPr>
          <a:xfrm>
            <a:off x="1381601" y="1842968"/>
            <a:ext cx="2558534" cy="319802"/>
          </a:xfrm>
          <a:prstGeom prst="rect">
            <a:avLst/>
          </a:prstGeom>
          <a:noFill/>
          <a:ln/>
        </p:spPr>
        <p:txBody>
          <a:bodyPr wrap="none" lIns="0" tIns="0" rIns="0" bIns="0" rtlCol="0" anchor="t"/>
          <a:lstStyle/>
          <a:p>
            <a:pPr indent="0" marL="0">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Gender equality</a:t>
            </a:r>
            <a:endParaRPr lang="en-US" sz="2000" dirty="0"/>
          </a:p>
        </p:txBody>
      </p:sp>
      <p:sp>
        <p:nvSpPr>
          <p:cNvPr id="5" name="Text 3"/>
          <p:cNvSpPr/>
          <p:nvPr/>
        </p:nvSpPr>
        <p:spPr>
          <a:xfrm>
            <a:off x="1381601" y="2285524"/>
            <a:ext cx="3597593" cy="2046684"/>
          </a:xfrm>
          <a:prstGeom prst="rect">
            <a:avLst/>
          </a:prstGeom>
          <a:noFill/>
          <a:ln/>
        </p:spPr>
        <p:txBody>
          <a:bodyPr wrap="square" lIns="0" tIns="0" rIns="0" bIns="0" rtlCol="0" anchor="t"/>
          <a:lstStyle/>
          <a:p>
            <a:pPr indent="0" marL="0">
              <a:lnSpc>
                <a:spcPts val="3200"/>
              </a:lnSpc>
              <a:buNone/>
            </a:pPr>
            <a:r>
              <a:rPr lang="en-US" sz="2000" dirty="0">
                <a:solidFill>
                  <a:srgbClr val="2A2742"/>
                </a:solidFill>
                <a:latin typeface="Arimo" pitchFamily="34" charset="0"/>
                <a:ea typeface="Arimo" pitchFamily="34" charset="-122"/>
                <a:cs typeface="Arimo" pitchFamily="34" charset="-120"/>
              </a:rPr>
              <a:t>Empowerment of women is necessary to achieve gender equality in terms of equal rights, opportunities and obligations. </a:t>
            </a:r>
            <a:endParaRPr lang="en-US" sz="2000" dirty="0"/>
          </a:p>
        </p:txBody>
      </p:sp>
      <p:sp>
        <p:nvSpPr>
          <p:cNvPr id="6" name="Shape 4"/>
          <p:cNvSpPr/>
          <p:nvPr/>
        </p:nvSpPr>
        <p:spPr>
          <a:xfrm>
            <a:off x="5183862" y="1842968"/>
            <a:ext cx="460534" cy="460534"/>
          </a:xfrm>
          <a:prstGeom prst="roundRect">
            <a:avLst>
              <a:gd name="adj" fmla="val 18667"/>
            </a:avLst>
          </a:prstGeom>
          <a:solidFill>
            <a:srgbClr val="E9E6FA"/>
          </a:solidFill>
          <a:ln w="7620">
            <a:solidFill>
              <a:srgbClr val="BDB8DF"/>
            </a:solidFill>
            <a:prstDash val="solid"/>
          </a:ln>
        </p:spPr>
      </p:sp>
      <p:sp>
        <p:nvSpPr>
          <p:cNvPr id="7" name="Text 5"/>
          <p:cNvSpPr/>
          <p:nvPr/>
        </p:nvSpPr>
        <p:spPr>
          <a:xfrm>
            <a:off x="5849064" y="1842968"/>
            <a:ext cx="2558534" cy="319802"/>
          </a:xfrm>
          <a:prstGeom prst="rect">
            <a:avLst/>
          </a:prstGeom>
          <a:noFill/>
          <a:ln/>
        </p:spPr>
        <p:txBody>
          <a:bodyPr wrap="none" lIns="0" tIns="0" rIns="0" bIns="0" rtlCol="0" anchor="t"/>
          <a:lstStyle/>
          <a:p>
            <a:pPr indent="0" marL="0">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Autonomy</a:t>
            </a:r>
            <a:endParaRPr lang="en-US" sz="2000" dirty="0"/>
          </a:p>
        </p:txBody>
      </p:sp>
      <p:sp>
        <p:nvSpPr>
          <p:cNvPr id="8" name="Text 6"/>
          <p:cNvSpPr/>
          <p:nvPr/>
        </p:nvSpPr>
        <p:spPr>
          <a:xfrm>
            <a:off x="5849064" y="2285524"/>
            <a:ext cx="3597593" cy="1637348"/>
          </a:xfrm>
          <a:prstGeom prst="rect">
            <a:avLst/>
          </a:prstGeom>
          <a:noFill/>
          <a:ln/>
        </p:spPr>
        <p:txBody>
          <a:bodyPr wrap="square" lIns="0" tIns="0" rIns="0" bIns="0" rtlCol="0" anchor="t"/>
          <a:lstStyle/>
          <a:p>
            <a:pPr indent="0" marL="0">
              <a:lnSpc>
                <a:spcPts val="3200"/>
              </a:lnSpc>
              <a:buNone/>
            </a:pPr>
            <a:r>
              <a:rPr lang="en-US" sz="2000" dirty="0">
                <a:solidFill>
                  <a:srgbClr val="2A2742"/>
                </a:solidFill>
                <a:latin typeface="Arimo" pitchFamily="34" charset="0"/>
                <a:ea typeface="Arimo" pitchFamily="34" charset="-122"/>
                <a:cs typeface="Arimo" pitchFamily="34" charset="-120"/>
              </a:rPr>
              <a:t>Empowerment enables women to acquire control over material assets, intellectual resources and ideology.</a:t>
            </a:r>
            <a:endParaRPr lang="en-US" sz="2000" dirty="0"/>
          </a:p>
        </p:txBody>
      </p:sp>
      <p:sp>
        <p:nvSpPr>
          <p:cNvPr id="9" name="Shape 7"/>
          <p:cNvSpPr/>
          <p:nvPr/>
        </p:nvSpPr>
        <p:spPr>
          <a:xfrm>
            <a:off x="9651325" y="1842968"/>
            <a:ext cx="460534" cy="460534"/>
          </a:xfrm>
          <a:prstGeom prst="roundRect">
            <a:avLst>
              <a:gd name="adj" fmla="val 18667"/>
            </a:avLst>
          </a:prstGeom>
          <a:solidFill>
            <a:srgbClr val="E9E6FA"/>
          </a:solidFill>
          <a:ln w="7620">
            <a:solidFill>
              <a:srgbClr val="BDB8DF"/>
            </a:solidFill>
            <a:prstDash val="solid"/>
          </a:ln>
        </p:spPr>
      </p:sp>
      <p:sp>
        <p:nvSpPr>
          <p:cNvPr id="10" name="Text 8"/>
          <p:cNvSpPr/>
          <p:nvPr/>
        </p:nvSpPr>
        <p:spPr>
          <a:xfrm>
            <a:off x="10316528" y="1842968"/>
            <a:ext cx="2767965" cy="319802"/>
          </a:xfrm>
          <a:prstGeom prst="rect">
            <a:avLst/>
          </a:prstGeom>
          <a:noFill/>
          <a:ln/>
        </p:spPr>
        <p:txBody>
          <a:bodyPr wrap="none" lIns="0" tIns="0" rIns="0" bIns="0" rtlCol="0" anchor="t"/>
          <a:lstStyle/>
          <a:p>
            <a:pPr indent="0" marL="0">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Economic development</a:t>
            </a:r>
            <a:endParaRPr lang="en-US" sz="2000" dirty="0"/>
          </a:p>
        </p:txBody>
      </p:sp>
      <p:sp>
        <p:nvSpPr>
          <p:cNvPr id="11" name="Text 9"/>
          <p:cNvSpPr/>
          <p:nvPr/>
        </p:nvSpPr>
        <p:spPr>
          <a:xfrm>
            <a:off x="10316528" y="2285524"/>
            <a:ext cx="3597593" cy="2046684"/>
          </a:xfrm>
          <a:prstGeom prst="rect">
            <a:avLst/>
          </a:prstGeom>
          <a:noFill/>
          <a:ln/>
        </p:spPr>
        <p:txBody>
          <a:bodyPr wrap="square" lIns="0" tIns="0" rIns="0" bIns="0" rtlCol="0" anchor="t"/>
          <a:lstStyle/>
          <a:p>
            <a:pPr indent="0" marL="0">
              <a:lnSpc>
                <a:spcPts val="3200"/>
              </a:lnSpc>
              <a:buNone/>
            </a:pPr>
            <a:r>
              <a:rPr lang="en-US" sz="2000" dirty="0">
                <a:solidFill>
                  <a:srgbClr val="2A2742"/>
                </a:solidFill>
                <a:latin typeface="Arimo" pitchFamily="34" charset="0"/>
                <a:ea typeface="Arimo" pitchFamily="34" charset="-122"/>
                <a:cs typeface="Arimo" pitchFamily="34" charset="-120"/>
              </a:rPr>
              <a:t>Economic sustainability can only be attained by providing them with equal opportunity for education, work and entrepreneurship.</a:t>
            </a:r>
            <a:endParaRPr lang="en-US" sz="2000" dirty="0"/>
          </a:p>
        </p:txBody>
      </p:sp>
      <p:sp>
        <p:nvSpPr>
          <p:cNvPr id="12" name="Shape 10"/>
          <p:cNvSpPr/>
          <p:nvPr/>
        </p:nvSpPr>
        <p:spPr>
          <a:xfrm>
            <a:off x="716399" y="4767143"/>
            <a:ext cx="460534" cy="460534"/>
          </a:xfrm>
          <a:prstGeom prst="roundRect">
            <a:avLst>
              <a:gd name="adj" fmla="val 18667"/>
            </a:avLst>
          </a:prstGeom>
          <a:solidFill>
            <a:srgbClr val="E9E6FA"/>
          </a:solidFill>
          <a:ln w="7620">
            <a:solidFill>
              <a:srgbClr val="BDB8DF"/>
            </a:solidFill>
            <a:prstDash val="solid"/>
          </a:ln>
        </p:spPr>
      </p:sp>
      <p:sp>
        <p:nvSpPr>
          <p:cNvPr id="13" name="Text 11"/>
          <p:cNvSpPr/>
          <p:nvPr/>
        </p:nvSpPr>
        <p:spPr>
          <a:xfrm>
            <a:off x="1381601" y="4767143"/>
            <a:ext cx="3057763" cy="319802"/>
          </a:xfrm>
          <a:prstGeom prst="rect">
            <a:avLst/>
          </a:prstGeom>
          <a:noFill/>
          <a:ln/>
        </p:spPr>
        <p:txBody>
          <a:bodyPr wrap="none" lIns="0" tIns="0" rIns="0" bIns="0" rtlCol="0" anchor="t"/>
          <a:lstStyle/>
          <a:p>
            <a:pPr indent="0" marL="0">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Education and knowledge</a:t>
            </a:r>
            <a:endParaRPr lang="en-US" sz="2000" dirty="0"/>
          </a:p>
        </p:txBody>
      </p:sp>
      <p:sp>
        <p:nvSpPr>
          <p:cNvPr id="14" name="Text 12"/>
          <p:cNvSpPr/>
          <p:nvPr/>
        </p:nvSpPr>
        <p:spPr>
          <a:xfrm>
            <a:off x="1381601" y="5209699"/>
            <a:ext cx="3597593" cy="2456021"/>
          </a:xfrm>
          <a:prstGeom prst="rect">
            <a:avLst/>
          </a:prstGeom>
          <a:noFill/>
          <a:ln/>
        </p:spPr>
        <p:txBody>
          <a:bodyPr wrap="square" lIns="0" tIns="0" rIns="0" bIns="0" rtlCol="0" anchor="t"/>
          <a:lstStyle/>
          <a:p>
            <a:pPr indent="0" marL="0">
              <a:lnSpc>
                <a:spcPts val="3200"/>
              </a:lnSpc>
              <a:buNone/>
            </a:pPr>
            <a:r>
              <a:rPr lang="en-US" sz="2000" dirty="0">
                <a:solidFill>
                  <a:srgbClr val="2A2742"/>
                </a:solidFill>
                <a:latin typeface="Arimo" pitchFamily="34" charset="0"/>
                <a:ea typeface="Arimo" pitchFamily="34" charset="-122"/>
                <a:cs typeface="Arimo" pitchFamily="34" charset="-120"/>
              </a:rPr>
              <a:t>Women with adequate education are more competent and self-assured which allows them to engage in social, economic and political spheres actively.</a:t>
            </a:r>
            <a:endParaRPr lang="en-US" sz="2000" dirty="0"/>
          </a:p>
        </p:txBody>
      </p:sp>
      <p:sp>
        <p:nvSpPr>
          <p:cNvPr id="15" name="Shape 13"/>
          <p:cNvSpPr/>
          <p:nvPr/>
        </p:nvSpPr>
        <p:spPr>
          <a:xfrm>
            <a:off x="5183862" y="4767143"/>
            <a:ext cx="460534" cy="460534"/>
          </a:xfrm>
          <a:prstGeom prst="roundRect">
            <a:avLst>
              <a:gd name="adj" fmla="val 18667"/>
            </a:avLst>
          </a:prstGeom>
          <a:solidFill>
            <a:srgbClr val="E9E6FA"/>
          </a:solidFill>
          <a:ln w="7620">
            <a:solidFill>
              <a:srgbClr val="BDB8DF"/>
            </a:solidFill>
            <a:prstDash val="solid"/>
          </a:ln>
        </p:spPr>
      </p:sp>
      <p:sp>
        <p:nvSpPr>
          <p:cNvPr id="16" name="Text 14"/>
          <p:cNvSpPr/>
          <p:nvPr/>
        </p:nvSpPr>
        <p:spPr>
          <a:xfrm>
            <a:off x="5849064" y="4767143"/>
            <a:ext cx="2558534" cy="319802"/>
          </a:xfrm>
          <a:prstGeom prst="rect">
            <a:avLst/>
          </a:prstGeom>
          <a:noFill/>
          <a:ln/>
        </p:spPr>
        <p:txBody>
          <a:bodyPr wrap="none" lIns="0" tIns="0" rIns="0" bIns="0" rtlCol="0" anchor="t"/>
          <a:lstStyle/>
          <a:p>
            <a:pPr indent="0" marL="0">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Health and wellbeing</a:t>
            </a:r>
            <a:endParaRPr lang="en-US" sz="2000" dirty="0"/>
          </a:p>
        </p:txBody>
      </p:sp>
      <p:sp>
        <p:nvSpPr>
          <p:cNvPr id="17" name="Text 15"/>
          <p:cNvSpPr/>
          <p:nvPr/>
        </p:nvSpPr>
        <p:spPr>
          <a:xfrm>
            <a:off x="5849064" y="5209699"/>
            <a:ext cx="3597593" cy="2046684"/>
          </a:xfrm>
          <a:prstGeom prst="rect">
            <a:avLst/>
          </a:prstGeom>
          <a:noFill/>
          <a:ln/>
        </p:spPr>
        <p:txBody>
          <a:bodyPr wrap="square" lIns="0" tIns="0" rIns="0" bIns="0" rtlCol="0" anchor="t"/>
          <a:lstStyle/>
          <a:p>
            <a:pPr indent="0" marL="0">
              <a:lnSpc>
                <a:spcPts val="3200"/>
              </a:lnSpc>
              <a:buNone/>
            </a:pPr>
            <a:r>
              <a:rPr lang="en-US" sz="2000" dirty="0">
                <a:solidFill>
                  <a:srgbClr val="2A2742"/>
                </a:solidFill>
                <a:latin typeface="Arimo" pitchFamily="34" charset="0"/>
                <a:ea typeface="Arimo" pitchFamily="34" charset="-122"/>
                <a:cs typeface="Arimo" pitchFamily="34" charset="-120"/>
              </a:rPr>
              <a:t>Being empowered puts them in a better position to take care of their health, seek medical attention when necessary and improve their wellbeing.</a:t>
            </a:r>
            <a:endParaRPr lang="en-US" sz="2000" dirty="0"/>
          </a:p>
        </p:txBody>
      </p:sp>
      <p:sp>
        <p:nvSpPr>
          <p:cNvPr id="18" name="Shape 16"/>
          <p:cNvSpPr/>
          <p:nvPr/>
        </p:nvSpPr>
        <p:spPr>
          <a:xfrm>
            <a:off x="9651325" y="4767143"/>
            <a:ext cx="460534" cy="460534"/>
          </a:xfrm>
          <a:prstGeom prst="roundRect">
            <a:avLst>
              <a:gd name="adj" fmla="val 18667"/>
            </a:avLst>
          </a:prstGeom>
          <a:solidFill>
            <a:srgbClr val="E9E6FA"/>
          </a:solidFill>
          <a:ln w="7620">
            <a:solidFill>
              <a:srgbClr val="BDB8DF"/>
            </a:solidFill>
            <a:prstDash val="solid"/>
          </a:ln>
        </p:spPr>
      </p:sp>
      <p:sp>
        <p:nvSpPr>
          <p:cNvPr id="19" name="Text 17"/>
          <p:cNvSpPr/>
          <p:nvPr/>
        </p:nvSpPr>
        <p:spPr>
          <a:xfrm>
            <a:off x="10316528" y="4767143"/>
            <a:ext cx="3310176" cy="319802"/>
          </a:xfrm>
          <a:prstGeom prst="rect">
            <a:avLst/>
          </a:prstGeom>
          <a:noFill/>
          <a:ln/>
        </p:spPr>
        <p:txBody>
          <a:bodyPr wrap="none" lIns="0" tIns="0" rIns="0" bIns="0" rtlCol="0" anchor="t"/>
          <a:lstStyle/>
          <a:p>
            <a:pPr indent="0" marL="0">
              <a:lnSpc>
                <a:spcPts val="2500"/>
              </a:lnSpc>
              <a:buNone/>
            </a:pPr>
            <a:r>
              <a:rPr lang="en-US" sz="2000" b="1" dirty="0">
                <a:solidFill>
                  <a:srgbClr val="2A2742"/>
                </a:solidFill>
                <a:latin typeface="Outfit Extra Bold" pitchFamily="34" charset="0"/>
                <a:ea typeface="Outfit Extra Bold" pitchFamily="34" charset="-122"/>
                <a:cs typeface="Outfit Extra Bold" pitchFamily="34" charset="-120"/>
              </a:rPr>
              <a:t>Violence and discrimination</a:t>
            </a:r>
            <a:endParaRPr lang="en-US" sz="2000" dirty="0"/>
          </a:p>
        </p:txBody>
      </p:sp>
      <p:sp>
        <p:nvSpPr>
          <p:cNvPr id="20" name="Text 18"/>
          <p:cNvSpPr/>
          <p:nvPr/>
        </p:nvSpPr>
        <p:spPr>
          <a:xfrm>
            <a:off x="10316528" y="5209699"/>
            <a:ext cx="3597593" cy="2456021"/>
          </a:xfrm>
          <a:prstGeom prst="rect">
            <a:avLst/>
          </a:prstGeom>
          <a:noFill/>
          <a:ln/>
        </p:spPr>
        <p:txBody>
          <a:bodyPr wrap="square" lIns="0" tIns="0" rIns="0" bIns="0" rtlCol="0" anchor="t"/>
          <a:lstStyle/>
          <a:p>
            <a:pPr indent="0" marL="0">
              <a:lnSpc>
                <a:spcPts val="3200"/>
              </a:lnSpc>
              <a:buNone/>
            </a:pPr>
            <a:r>
              <a:rPr lang="en-US" sz="2000" dirty="0">
                <a:solidFill>
                  <a:srgbClr val="2A2742"/>
                </a:solidFill>
                <a:latin typeface="Arimo" pitchFamily="34" charset="0"/>
                <a:ea typeface="Arimo" pitchFamily="34" charset="-122"/>
                <a:cs typeface="Arimo" pitchFamily="34" charset="-120"/>
              </a:rPr>
              <a:t>Challenges to harmful practices such as domestic abuse, sexual harassment, human trafficking can only be made possible by empowerment of women.</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120021"/>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3" name="Shape 1"/>
          <p:cNvSpPr/>
          <p:nvPr/>
        </p:nvSpPr>
        <p:spPr>
          <a:xfrm>
            <a:off x="793790" y="2537579"/>
            <a:ext cx="510302" cy="510302"/>
          </a:xfrm>
          <a:prstGeom prst="roundRect">
            <a:avLst>
              <a:gd name="adj" fmla="val 18669"/>
            </a:avLst>
          </a:prstGeom>
          <a:solidFill>
            <a:srgbClr val="E9E6FA"/>
          </a:solidFill>
          <a:ln w="7620">
            <a:solidFill>
              <a:srgbClr val="BDB8DF"/>
            </a:solidFill>
            <a:prstDash val="solid"/>
          </a:ln>
        </p:spPr>
      </p:sp>
      <p:sp>
        <p:nvSpPr>
          <p:cNvPr id="4" name="Text 2"/>
          <p:cNvSpPr/>
          <p:nvPr/>
        </p:nvSpPr>
        <p:spPr>
          <a:xfrm>
            <a:off x="1530906" y="2537579"/>
            <a:ext cx="3459242" cy="708660"/>
          </a:xfrm>
          <a:prstGeom prst="rect">
            <a:avLst/>
          </a:prstGeom>
          <a:noFill/>
          <a:ln/>
        </p:spPr>
        <p:txBody>
          <a:bodyPr wrap="square" lIns="0" tIns="0" rIns="0" bIns="0" rtlCol="0" anchor="t"/>
          <a:lstStyle/>
          <a:p>
            <a:pPr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Leadership and decision making</a:t>
            </a:r>
            <a:endParaRPr lang="en-US" sz="2200" dirty="0"/>
          </a:p>
        </p:txBody>
      </p:sp>
      <p:sp>
        <p:nvSpPr>
          <p:cNvPr id="5" name="Text 3"/>
          <p:cNvSpPr/>
          <p:nvPr/>
        </p:nvSpPr>
        <p:spPr>
          <a:xfrm>
            <a:off x="1530906" y="3382328"/>
            <a:ext cx="3459242" cy="1814036"/>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 It is the only way to ensure that they have an equal voice in decision making at domestic and public level.</a:t>
            </a:r>
            <a:endParaRPr lang="en-US" sz="2200" dirty="0"/>
          </a:p>
        </p:txBody>
      </p:sp>
      <p:sp>
        <p:nvSpPr>
          <p:cNvPr id="6" name="Shape 4"/>
          <p:cNvSpPr/>
          <p:nvPr/>
        </p:nvSpPr>
        <p:spPr>
          <a:xfrm>
            <a:off x="5216962" y="2537579"/>
            <a:ext cx="510302" cy="510302"/>
          </a:xfrm>
          <a:prstGeom prst="roundRect">
            <a:avLst>
              <a:gd name="adj" fmla="val 18669"/>
            </a:avLst>
          </a:prstGeom>
          <a:solidFill>
            <a:srgbClr val="E9E6FA"/>
          </a:solidFill>
          <a:ln w="7620">
            <a:solidFill>
              <a:srgbClr val="BDB8DF"/>
            </a:solidFill>
            <a:prstDash val="solid"/>
          </a:ln>
        </p:spPr>
      </p:sp>
      <p:sp>
        <p:nvSpPr>
          <p:cNvPr id="7" name="Text 5"/>
          <p:cNvSpPr/>
          <p:nvPr/>
        </p:nvSpPr>
        <p:spPr>
          <a:xfrm>
            <a:off x="5954078" y="2537579"/>
            <a:ext cx="3450669" cy="354330"/>
          </a:xfrm>
          <a:prstGeom prst="rect">
            <a:avLst/>
          </a:prstGeom>
          <a:noFill/>
          <a:ln/>
        </p:spPr>
        <p:txBody>
          <a:bodyPr wrap="none" lIns="0" tIns="0" rIns="0" bIns="0" rtlCol="0" anchor="t"/>
          <a:lstStyle/>
          <a:p>
            <a:pPr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Social and cultural change</a:t>
            </a:r>
            <a:endParaRPr lang="en-US" sz="2200" dirty="0"/>
          </a:p>
        </p:txBody>
      </p:sp>
      <p:sp>
        <p:nvSpPr>
          <p:cNvPr id="8" name="Text 6"/>
          <p:cNvSpPr/>
          <p:nvPr/>
        </p:nvSpPr>
        <p:spPr>
          <a:xfrm>
            <a:off x="5954078" y="3027998"/>
            <a:ext cx="3459242" cy="4081582"/>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Women empowerment is probably the most logical way to challenge societal and cultural conventions that support gender inequality and prejudice, and advance a culture that honors and respects women's contribution.</a:t>
            </a:r>
            <a:endParaRPr lang="en-US" sz="2200" dirty="0"/>
          </a:p>
        </p:txBody>
      </p:sp>
      <p:sp>
        <p:nvSpPr>
          <p:cNvPr id="9" name="Shape 7"/>
          <p:cNvSpPr/>
          <p:nvPr/>
        </p:nvSpPr>
        <p:spPr>
          <a:xfrm>
            <a:off x="9640133" y="2537579"/>
            <a:ext cx="510302" cy="510302"/>
          </a:xfrm>
          <a:prstGeom prst="roundRect">
            <a:avLst>
              <a:gd name="adj" fmla="val 18669"/>
            </a:avLst>
          </a:prstGeom>
          <a:solidFill>
            <a:srgbClr val="E9E6FA"/>
          </a:solidFill>
          <a:ln w="7620">
            <a:solidFill>
              <a:srgbClr val="BDB8DF"/>
            </a:solidFill>
            <a:prstDash val="solid"/>
          </a:ln>
        </p:spPr>
      </p:sp>
      <p:sp>
        <p:nvSpPr>
          <p:cNvPr id="10" name="Text 8"/>
          <p:cNvSpPr/>
          <p:nvPr/>
        </p:nvSpPr>
        <p:spPr>
          <a:xfrm>
            <a:off x="10377249" y="2537579"/>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Realize full potential</a:t>
            </a:r>
            <a:endParaRPr lang="en-US" sz="2200" dirty="0"/>
          </a:p>
        </p:txBody>
      </p:sp>
      <p:sp>
        <p:nvSpPr>
          <p:cNvPr id="11" name="Text 9"/>
          <p:cNvSpPr/>
          <p:nvPr/>
        </p:nvSpPr>
        <p:spPr>
          <a:xfrm>
            <a:off x="10377249" y="3027998"/>
            <a:ext cx="3459242" cy="3174563"/>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It enables women to inculcate a sense of self-confidence and independence thereby realizing their full potential and face challenges in various spheres of life.</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127046"/>
            <a:ext cx="8965049" cy="708779"/>
          </a:xfrm>
          <a:prstGeom prst="rect">
            <a:avLst/>
          </a:prstGeom>
          <a:noFill/>
          <a:ln/>
        </p:spPr>
        <p:txBody>
          <a:bodyPr wrap="none" lIns="0" tIns="0" rIns="0" bIns="0" rtlCol="0" anchor="t"/>
          <a:lstStyle/>
          <a:p>
            <a:pPr indent="0" marL="0">
              <a:lnSpc>
                <a:spcPts val="5550"/>
              </a:lnSpc>
              <a:buNone/>
            </a:pPr>
            <a:r>
              <a:rPr lang="en-US" sz="4450" b="1" dirty="0">
                <a:solidFill>
                  <a:srgbClr val="231971"/>
                </a:solidFill>
                <a:latin typeface="Outfit Extra Bold" pitchFamily="34" charset="0"/>
                <a:ea typeface="Outfit Extra Bold" pitchFamily="34" charset="-122"/>
                <a:cs typeface="Outfit Extra Bold" pitchFamily="34" charset="-120"/>
              </a:rPr>
              <a:t>Barriers to Women Empowerment</a:t>
            </a:r>
            <a:endParaRPr lang="en-US" sz="4450" dirty="0"/>
          </a:p>
        </p:txBody>
      </p:sp>
      <p:pic>
        <p:nvPicPr>
          <p:cNvPr id="3" name="Image 0" descr="preencoded.png">    </p:cNvPr>
          <p:cNvPicPr>
            <a:picLocks noChangeAspect="1"/>
          </p:cNvPicPr>
          <p:nvPr/>
        </p:nvPicPr>
        <p:blipFill>
          <a:blip r:embed="rId1"/>
          <a:stretch>
            <a:fillRect/>
          </a:stretch>
        </p:blipFill>
        <p:spPr>
          <a:xfrm>
            <a:off x="793790" y="2289453"/>
            <a:ext cx="566976" cy="566976"/>
          </a:xfrm>
          <a:prstGeom prst="rect">
            <a:avLst/>
          </a:prstGeom>
        </p:spPr>
      </p:pic>
      <p:sp>
        <p:nvSpPr>
          <p:cNvPr id="4" name="Text 1"/>
          <p:cNvSpPr/>
          <p:nvPr/>
        </p:nvSpPr>
        <p:spPr>
          <a:xfrm>
            <a:off x="793790" y="3083243"/>
            <a:ext cx="3005495" cy="708660"/>
          </a:xfrm>
          <a:prstGeom prst="rect">
            <a:avLst/>
          </a:prstGeom>
          <a:noFill/>
          <a:ln/>
        </p:spPr>
        <p:txBody>
          <a:bodyPr wrap="square" lIns="0" tIns="0" rIns="0" bIns="0" rtlCol="0" anchor="t"/>
          <a:lstStyle/>
          <a:p>
            <a:pPr algn="l"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Lack of access to resources</a:t>
            </a:r>
            <a:endParaRPr lang="en-US" sz="2200" dirty="0"/>
          </a:p>
        </p:txBody>
      </p:sp>
      <p:sp>
        <p:nvSpPr>
          <p:cNvPr id="5" name="Text 2"/>
          <p:cNvSpPr/>
          <p:nvPr/>
        </p:nvSpPr>
        <p:spPr>
          <a:xfrm>
            <a:off x="793790" y="3927991"/>
            <a:ext cx="3005495" cy="3174563"/>
          </a:xfrm>
          <a:prstGeom prst="rect">
            <a:avLst/>
          </a:prstGeom>
          <a:noFill/>
          <a:ln/>
        </p:spPr>
        <p:txBody>
          <a:bodyPr wrap="square" lIns="0" tIns="0" rIns="0" bIns="0" rtlCol="0" anchor="t"/>
          <a:lstStyle/>
          <a:p>
            <a:pPr algn="l" indent="0" marL="0">
              <a:lnSpc>
                <a:spcPts val="3550"/>
              </a:lnSpc>
              <a:buNone/>
            </a:pPr>
            <a:r>
              <a:rPr lang="en-US" sz="2200" dirty="0">
                <a:solidFill>
                  <a:srgbClr val="2A2742"/>
                </a:solidFill>
                <a:latin typeface="Arimo" pitchFamily="34" charset="0"/>
                <a:ea typeface="Arimo" pitchFamily="34" charset="-122"/>
                <a:cs typeface="Arimo" pitchFamily="34" charset="-120"/>
              </a:rPr>
              <a:t>Around the world, women are significantly less likely than men to have access to productive resources such as land, finance and information.</a:t>
            </a:r>
            <a:endParaRPr lang="en-US" sz="2200" dirty="0"/>
          </a:p>
        </p:txBody>
      </p:sp>
      <p:pic>
        <p:nvPicPr>
          <p:cNvPr id="6" name="Image 1" descr="preencoded.png">    </p:cNvPr>
          <p:cNvPicPr>
            <a:picLocks noChangeAspect="1"/>
          </p:cNvPicPr>
          <p:nvPr/>
        </p:nvPicPr>
        <p:blipFill>
          <a:blip r:embed="rId2"/>
          <a:stretch>
            <a:fillRect/>
          </a:stretch>
        </p:blipFill>
        <p:spPr>
          <a:xfrm>
            <a:off x="4139446" y="2289453"/>
            <a:ext cx="566976" cy="566976"/>
          </a:xfrm>
          <a:prstGeom prst="rect">
            <a:avLst/>
          </a:prstGeom>
        </p:spPr>
      </p:pic>
      <p:sp>
        <p:nvSpPr>
          <p:cNvPr id="7" name="Text 3"/>
          <p:cNvSpPr/>
          <p:nvPr/>
        </p:nvSpPr>
        <p:spPr>
          <a:xfrm>
            <a:off x="4139446" y="3083243"/>
            <a:ext cx="3005614" cy="708660"/>
          </a:xfrm>
          <a:prstGeom prst="rect">
            <a:avLst/>
          </a:prstGeom>
          <a:noFill/>
          <a:ln/>
        </p:spPr>
        <p:txBody>
          <a:bodyPr wrap="square" lIns="0" tIns="0" rIns="0" bIns="0" rtlCol="0" anchor="t"/>
          <a:lstStyle/>
          <a:p>
            <a:pPr algn="l"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Discriminatory societal norms</a:t>
            </a:r>
            <a:endParaRPr lang="en-US" sz="2200" dirty="0"/>
          </a:p>
        </p:txBody>
      </p:sp>
      <p:sp>
        <p:nvSpPr>
          <p:cNvPr id="8" name="Text 4"/>
          <p:cNvSpPr/>
          <p:nvPr/>
        </p:nvSpPr>
        <p:spPr>
          <a:xfrm>
            <a:off x="4139446" y="3927991"/>
            <a:ext cx="3005614" cy="3174563"/>
          </a:xfrm>
          <a:prstGeom prst="rect">
            <a:avLst/>
          </a:prstGeom>
          <a:noFill/>
          <a:ln/>
        </p:spPr>
        <p:txBody>
          <a:bodyPr wrap="square" lIns="0" tIns="0" rIns="0" bIns="0" rtlCol="0" anchor="t"/>
          <a:lstStyle/>
          <a:p>
            <a:pPr algn="l" indent="0" marL="0">
              <a:lnSpc>
                <a:spcPts val="3550"/>
              </a:lnSpc>
              <a:buNone/>
            </a:pPr>
            <a:r>
              <a:rPr lang="en-US" sz="2200" dirty="0">
                <a:solidFill>
                  <a:srgbClr val="2A2742"/>
                </a:solidFill>
                <a:latin typeface="Arimo" pitchFamily="34" charset="0"/>
                <a:ea typeface="Arimo" pitchFamily="34" charset="-122"/>
                <a:cs typeface="Arimo" pitchFamily="34" charset="-120"/>
              </a:rPr>
              <a:t>In most households there is a deep belief that women should not exist in many different contexts in their homes, communities and workplaces</a:t>
            </a:r>
            <a:endParaRPr lang="en-US" sz="2200" dirty="0"/>
          </a:p>
        </p:txBody>
      </p:sp>
      <p:pic>
        <p:nvPicPr>
          <p:cNvPr id="9" name="Image 2" descr="preencoded.png">    </p:cNvPr>
          <p:cNvPicPr>
            <a:picLocks noChangeAspect="1"/>
          </p:cNvPicPr>
          <p:nvPr/>
        </p:nvPicPr>
        <p:blipFill>
          <a:blip r:embed="rId3"/>
          <a:stretch>
            <a:fillRect/>
          </a:stretch>
        </p:blipFill>
        <p:spPr>
          <a:xfrm>
            <a:off x="7485221" y="2289453"/>
            <a:ext cx="566976" cy="566976"/>
          </a:xfrm>
          <a:prstGeom prst="rect">
            <a:avLst/>
          </a:prstGeom>
        </p:spPr>
      </p:pic>
      <p:sp>
        <p:nvSpPr>
          <p:cNvPr id="10" name="Text 5"/>
          <p:cNvSpPr/>
          <p:nvPr/>
        </p:nvSpPr>
        <p:spPr>
          <a:xfrm>
            <a:off x="7485221" y="3083243"/>
            <a:ext cx="3005614" cy="708660"/>
          </a:xfrm>
          <a:prstGeom prst="rect">
            <a:avLst/>
          </a:prstGeom>
          <a:noFill/>
          <a:ln/>
        </p:spPr>
        <p:txBody>
          <a:bodyPr wrap="square" lIns="0" tIns="0" rIns="0" bIns="0" rtlCol="0" anchor="t"/>
          <a:lstStyle/>
          <a:p>
            <a:pPr algn="l"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Unequal domestic responsibilities</a:t>
            </a:r>
            <a:endParaRPr lang="en-US" sz="2200" dirty="0"/>
          </a:p>
        </p:txBody>
      </p:sp>
      <p:sp>
        <p:nvSpPr>
          <p:cNvPr id="11" name="Text 6"/>
          <p:cNvSpPr/>
          <p:nvPr/>
        </p:nvSpPr>
        <p:spPr>
          <a:xfrm>
            <a:off x="7485221" y="3927991"/>
            <a:ext cx="3005614" cy="2721054"/>
          </a:xfrm>
          <a:prstGeom prst="rect">
            <a:avLst/>
          </a:prstGeom>
          <a:noFill/>
          <a:ln/>
        </p:spPr>
        <p:txBody>
          <a:bodyPr wrap="square" lIns="0" tIns="0" rIns="0" bIns="0" rtlCol="0" anchor="t"/>
          <a:lstStyle/>
          <a:p>
            <a:pPr algn="l" indent="0" marL="0">
              <a:lnSpc>
                <a:spcPts val="3550"/>
              </a:lnSpc>
              <a:buNone/>
            </a:pPr>
            <a:r>
              <a:rPr lang="en-US" sz="2200" dirty="0">
                <a:solidFill>
                  <a:srgbClr val="2A2742"/>
                </a:solidFill>
                <a:latin typeface="Arimo" pitchFamily="34" charset="0"/>
                <a:ea typeface="Arimo" pitchFamily="34" charset="-122"/>
                <a:cs typeface="Arimo" pitchFamily="34" charset="-120"/>
              </a:rPr>
              <a:t>Around the world, women shoulder disproportionate responsibility for domestic work and unpaid care.</a:t>
            </a:r>
            <a:endParaRPr lang="en-US" sz="2200" dirty="0"/>
          </a:p>
        </p:txBody>
      </p:sp>
      <p:pic>
        <p:nvPicPr>
          <p:cNvPr id="12" name="Image 3" descr="preencoded.png">    </p:cNvPr>
          <p:cNvPicPr>
            <a:picLocks noChangeAspect="1"/>
          </p:cNvPicPr>
          <p:nvPr/>
        </p:nvPicPr>
        <p:blipFill>
          <a:blip r:embed="rId4"/>
          <a:stretch>
            <a:fillRect/>
          </a:stretch>
        </p:blipFill>
        <p:spPr>
          <a:xfrm>
            <a:off x="10830997" y="2289453"/>
            <a:ext cx="566976" cy="566976"/>
          </a:xfrm>
          <a:prstGeom prst="rect">
            <a:avLst/>
          </a:prstGeom>
        </p:spPr>
      </p:pic>
      <p:sp>
        <p:nvSpPr>
          <p:cNvPr id="13" name="Text 7"/>
          <p:cNvSpPr/>
          <p:nvPr/>
        </p:nvSpPr>
        <p:spPr>
          <a:xfrm>
            <a:off x="10830997" y="3083243"/>
            <a:ext cx="2967752" cy="354330"/>
          </a:xfrm>
          <a:prstGeom prst="rect">
            <a:avLst/>
          </a:prstGeom>
          <a:noFill/>
          <a:ln/>
        </p:spPr>
        <p:txBody>
          <a:bodyPr wrap="none" lIns="0" tIns="0" rIns="0" bIns="0" rtlCol="0" anchor="t"/>
          <a:lstStyle/>
          <a:p>
            <a:pPr algn="l" indent="0" marL="0">
              <a:lnSpc>
                <a:spcPts val="2750"/>
              </a:lnSpc>
              <a:buNone/>
            </a:pPr>
            <a:r>
              <a:rPr lang="en-US" sz="2200" b="1" dirty="0">
                <a:solidFill>
                  <a:srgbClr val="2A2742"/>
                </a:solidFill>
                <a:latin typeface="Outfit Extra Bold" pitchFamily="34" charset="0"/>
                <a:ea typeface="Outfit Extra Bold" pitchFamily="34" charset="-122"/>
                <a:cs typeface="Outfit Extra Bold" pitchFamily="34" charset="-120"/>
              </a:rPr>
              <a:t>Gender discrimination</a:t>
            </a:r>
            <a:endParaRPr lang="en-US" sz="2200" dirty="0"/>
          </a:p>
        </p:txBody>
      </p:sp>
      <p:sp>
        <p:nvSpPr>
          <p:cNvPr id="14" name="Text 8"/>
          <p:cNvSpPr/>
          <p:nvPr/>
        </p:nvSpPr>
        <p:spPr>
          <a:xfrm>
            <a:off x="10830997" y="3573661"/>
            <a:ext cx="3005614" cy="2267545"/>
          </a:xfrm>
          <a:prstGeom prst="rect">
            <a:avLst/>
          </a:prstGeom>
          <a:noFill/>
          <a:ln/>
        </p:spPr>
        <p:txBody>
          <a:bodyPr wrap="square" lIns="0" tIns="0" rIns="0" bIns="0" rtlCol="0" anchor="t"/>
          <a:lstStyle/>
          <a:p>
            <a:pPr algn="l" indent="0" marL="0">
              <a:lnSpc>
                <a:spcPts val="3550"/>
              </a:lnSpc>
              <a:buNone/>
            </a:pPr>
            <a:r>
              <a:rPr lang="en-US" sz="2200" dirty="0">
                <a:solidFill>
                  <a:srgbClr val="2A2742"/>
                </a:solidFill>
                <a:latin typeface="Arimo" pitchFamily="34" charset="0"/>
                <a:ea typeface="Arimo" pitchFamily="34" charset="-122"/>
                <a:cs typeface="Arimo" pitchFamily="34" charset="-120"/>
              </a:rPr>
              <a:t>Women are considered as weaker section of the society and therefore given lesser importance. </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52713" y="804624"/>
            <a:ext cx="5376863" cy="672108"/>
          </a:xfrm>
          <a:prstGeom prst="rect">
            <a:avLst/>
          </a:prstGeom>
          <a:noFill/>
          <a:ln/>
        </p:spPr>
        <p:txBody>
          <a:bodyPr wrap="none" lIns="0" tIns="0" rIns="0" bIns="0" rtlCol="0" anchor="t"/>
          <a:lstStyle/>
          <a:p>
            <a:pPr indent="0" marL="0">
              <a:lnSpc>
                <a:spcPts val="5250"/>
              </a:lnSpc>
              <a:buNone/>
            </a:pPr>
            <a:endParaRPr lang="en-US" sz="4200" dirty="0"/>
          </a:p>
        </p:txBody>
      </p:sp>
      <p:pic>
        <p:nvPicPr>
          <p:cNvPr id="3" name="Image 0" descr="preencoded.png">    </p:cNvPr>
          <p:cNvPicPr>
            <a:picLocks noChangeAspect="1"/>
          </p:cNvPicPr>
          <p:nvPr/>
        </p:nvPicPr>
        <p:blipFill>
          <a:blip r:embed="rId1"/>
          <a:stretch>
            <a:fillRect/>
          </a:stretch>
        </p:blipFill>
        <p:spPr>
          <a:xfrm>
            <a:off x="752713" y="1906786"/>
            <a:ext cx="537686" cy="537686"/>
          </a:xfrm>
          <a:prstGeom prst="rect">
            <a:avLst/>
          </a:prstGeom>
        </p:spPr>
      </p:pic>
      <p:sp>
        <p:nvSpPr>
          <p:cNvPr id="4" name="Text 1"/>
          <p:cNvSpPr/>
          <p:nvPr/>
        </p:nvSpPr>
        <p:spPr>
          <a:xfrm>
            <a:off x="752713" y="2659499"/>
            <a:ext cx="2849642" cy="335994"/>
          </a:xfrm>
          <a:prstGeom prst="rect">
            <a:avLst/>
          </a:prstGeom>
          <a:noFill/>
          <a:ln/>
        </p:spPr>
        <p:txBody>
          <a:bodyPr wrap="none" lIns="0" tIns="0" rIns="0" bIns="0" rtlCol="0" anchor="t"/>
          <a:lstStyle/>
          <a:p>
            <a:pPr algn="l" indent="0" marL="0">
              <a:lnSpc>
                <a:spcPts val="2600"/>
              </a:lnSpc>
              <a:buNone/>
            </a:pPr>
            <a:r>
              <a:rPr lang="en-US" sz="2100" b="1" dirty="0">
                <a:solidFill>
                  <a:srgbClr val="2A2742"/>
                </a:solidFill>
                <a:latin typeface="Outfit Extra Bold" pitchFamily="34" charset="0"/>
                <a:ea typeface="Outfit Extra Bold" pitchFamily="34" charset="-122"/>
                <a:cs typeface="Outfit Extra Bold" pitchFamily="34" charset="-120"/>
              </a:rPr>
              <a:t>Gender based violence</a:t>
            </a:r>
            <a:endParaRPr lang="en-US" sz="2100" dirty="0"/>
          </a:p>
        </p:txBody>
      </p:sp>
      <p:sp>
        <p:nvSpPr>
          <p:cNvPr id="5" name="Text 2"/>
          <p:cNvSpPr/>
          <p:nvPr/>
        </p:nvSpPr>
        <p:spPr>
          <a:xfrm>
            <a:off x="752713" y="3124438"/>
            <a:ext cx="3039308" cy="4300538"/>
          </a:xfrm>
          <a:prstGeom prst="rect">
            <a:avLst/>
          </a:prstGeom>
          <a:noFill/>
          <a:ln/>
        </p:spPr>
        <p:txBody>
          <a:bodyPr wrap="square" lIns="0" tIns="0" rIns="0" bIns="0" rtlCol="0" anchor="t"/>
          <a:lstStyle/>
          <a:p>
            <a:pPr algn="l" indent="0" marL="0">
              <a:lnSpc>
                <a:spcPts val="3350"/>
              </a:lnSpc>
              <a:buNone/>
            </a:pPr>
            <a:r>
              <a:rPr lang="en-US" sz="2100" dirty="0">
                <a:solidFill>
                  <a:srgbClr val="2A2742"/>
                </a:solidFill>
                <a:latin typeface="Arimo" pitchFamily="34" charset="0"/>
                <a:ea typeface="Arimo" pitchFamily="34" charset="-122"/>
                <a:cs typeface="Arimo" pitchFamily="34" charset="-120"/>
              </a:rPr>
              <a:t>Women workers across the world are at some instance or the other subjected to intimidation, hostile or humiliating work environment which not only limits their economic opportunities but also contributes to gender job segregation.</a:t>
            </a:r>
            <a:endParaRPr lang="en-US" sz="2100" dirty="0"/>
          </a:p>
        </p:txBody>
      </p:sp>
      <p:pic>
        <p:nvPicPr>
          <p:cNvPr id="6" name="Image 1" descr="preencoded.png">    </p:cNvPr>
          <p:cNvPicPr>
            <a:picLocks noChangeAspect="1"/>
          </p:cNvPicPr>
          <p:nvPr/>
        </p:nvPicPr>
        <p:blipFill>
          <a:blip r:embed="rId2"/>
          <a:stretch>
            <a:fillRect/>
          </a:stretch>
        </p:blipFill>
        <p:spPr>
          <a:xfrm>
            <a:off x="4114562" y="1906786"/>
            <a:ext cx="537686" cy="537686"/>
          </a:xfrm>
          <a:prstGeom prst="rect">
            <a:avLst/>
          </a:prstGeom>
        </p:spPr>
      </p:pic>
      <p:sp>
        <p:nvSpPr>
          <p:cNvPr id="7" name="Text 3"/>
          <p:cNvSpPr/>
          <p:nvPr/>
        </p:nvSpPr>
        <p:spPr>
          <a:xfrm>
            <a:off x="4114562" y="2659499"/>
            <a:ext cx="2754511" cy="335994"/>
          </a:xfrm>
          <a:prstGeom prst="rect">
            <a:avLst/>
          </a:prstGeom>
          <a:noFill/>
          <a:ln/>
        </p:spPr>
        <p:txBody>
          <a:bodyPr wrap="none" lIns="0" tIns="0" rIns="0" bIns="0" rtlCol="0" anchor="t"/>
          <a:lstStyle/>
          <a:p>
            <a:pPr algn="l" indent="0" marL="0">
              <a:lnSpc>
                <a:spcPts val="2600"/>
              </a:lnSpc>
              <a:buNone/>
            </a:pPr>
            <a:r>
              <a:rPr lang="en-US" sz="2100" b="1" dirty="0">
                <a:solidFill>
                  <a:srgbClr val="2A2742"/>
                </a:solidFill>
                <a:latin typeface="Outfit Extra Bold" pitchFamily="34" charset="0"/>
                <a:ea typeface="Outfit Extra Bold" pitchFamily="34" charset="-122"/>
                <a:cs typeface="Outfit Extra Bold" pitchFamily="34" charset="-120"/>
              </a:rPr>
              <a:t>Disparity in education</a:t>
            </a:r>
            <a:endParaRPr lang="en-US" sz="2100" dirty="0"/>
          </a:p>
        </p:txBody>
      </p:sp>
      <p:sp>
        <p:nvSpPr>
          <p:cNvPr id="8" name="Text 4"/>
          <p:cNvSpPr/>
          <p:nvPr/>
        </p:nvSpPr>
        <p:spPr>
          <a:xfrm>
            <a:off x="4114562" y="3124438"/>
            <a:ext cx="3039308" cy="3010376"/>
          </a:xfrm>
          <a:prstGeom prst="rect">
            <a:avLst/>
          </a:prstGeom>
          <a:noFill/>
          <a:ln/>
        </p:spPr>
        <p:txBody>
          <a:bodyPr wrap="square" lIns="0" tIns="0" rIns="0" bIns="0" rtlCol="0" anchor="t"/>
          <a:lstStyle/>
          <a:p>
            <a:pPr algn="l" indent="0" marL="0">
              <a:lnSpc>
                <a:spcPts val="3350"/>
              </a:lnSpc>
              <a:buNone/>
            </a:pPr>
            <a:r>
              <a:rPr lang="en-US" sz="2100" dirty="0">
                <a:solidFill>
                  <a:srgbClr val="2A2742"/>
                </a:solidFill>
                <a:latin typeface="Arimo" pitchFamily="34" charset="0"/>
                <a:ea typeface="Arimo" pitchFamily="34" charset="-122"/>
                <a:cs typeface="Arimo" pitchFamily="34" charset="-120"/>
              </a:rPr>
              <a:t>In the modern era though the level of women education is catching up with men education, female illiteracy continues to be higher in rural areas.</a:t>
            </a:r>
            <a:endParaRPr lang="en-US" sz="2100" dirty="0"/>
          </a:p>
        </p:txBody>
      </p:sp>
      <p:pic>
        <p:nvPicPr>
          <p:cNvPr id="9" name="Image 2" descr="preencoded.png">    </p:cNvPr>
          <p:cNvPicPr>
            <a:picLocks noChangeAspect="1"/>
          </p:cNvPicPr>
          <p:nvPr/>
        </p:nvPicPr>
        <p:blipFill>
          <a:blip r:embed="rId3"/>
          <a:stretch>
            <a:fillRect/>
          </a:stretch>
        </p:blipFill>
        <p:spPr>
          <a:xfrm>
            <a:off x="7476411" y="1906786"/>
            <a:ext cx="537686" cy="537686"/>
          </a:xfrm>
          <a:prstGeom prst="rect">
            <a:avLst/>
          </a:prstGeom>
        </p:spPr>
      </p:pic>
      <p:sp>
        <p:nvSpPr>
          <p:cNvPr id="10" name="Text 5"/>
          <p:cNvSpPr/>
          <p:nvPr/>
        </p:nvSpPr>
        <p:spPr>
          <a:xfrm>
            <a:off x="7476411" y="2659499"/>
            <a:ext cx="3039308" cy="671989"/>
          </a:xfrm>
          <a:prstGeom prst="rect">
            <a:avLst/>
          </a:prstGeom>
          <a:noFill/>
          <a:ln/>
        </p:spPr>
        <p:txBody>
          <a:bodyPr wrap="square" lIns="0" tIns="0" rIns="0" bIns="0" rtlCol="0" anchor="t"/>
          <a:lstStyle/>
          <a:p>
            <a:pPr algn="l" indent="0" marL="0">
              <a:lnSpc>
                <a:spcPts val="2600"/>
              </a:lnSpc>
              <a:buNone/>
            </a:pPr>
            <a:r>
              <a:rPr lang="en-US" sz="2100" b="1" dirty="0">
                <a:solidFill>
                  <a:srgbClr val="2A2742"/>
                </a:solidFill>
                <a:latin typeface="Outfit Extra Bold" pitchFamily="34" charset="0"/>
                <a:ea typeface="Outfit Extra Bold" pitchFamily="34" charset="-122"/>
                <a:cs typeface="Outfit Extra Bold" pitchFamily="34" charset="-120"/>
              </a:rPr>
              <a:t>Lack of legal and political support</a:t>
            </a:r>
            <a:endParaRPr lang="en-US" sz="2100" dirty="0"/>
          </a:p>
        </p:txBody>
      </p:sp>
      <p:sp>
        <p:nvSpPr>
          <p:cNvPr id="11" name="Text 6"/>
          <p:cNvSpPr/>
          <p:nvPr/>
        </p:nvSpPr>
        <p:spPr>
          <a:xfrm>
            <a:off x="7476411" y="3460433"/>
            <a:ext cx="3039308" cy="3010376"/>
          </a:xfrm>
          <a:prstGeom prst="rect">
            <a:avLst/>
          </a:prstGeom>
          <a:noFill/>
          <a:ln/>
        </p:spPr>
        <p:txBody>
          <a:bodyPr wrap="square" lIns="0" tIns="0" rIns="0" bIns="0" rtlCol="0" anchor="t"/>
          <a:lstStyle/>
          <a:p>
            <a:pPr algn="l" indent="0" marL="0">
              <a:lnSpc>
                <a:spcPts val="3350"/>
              </a:lnSpc>
              <a:buNone/>
            </a:pPr>
            <a:r>
              <a:rPr lang="en-US" sz="2100" dirty="0">
                <a:solidFill>
                  <a:srgbClr val="2A2742"/>
                </a:solidFill>
                <a:latin typeface="Arimo" pitchFamily="34" charset="0"/>
                <a:ea typeface="Arimo" pitchFamily="34" charset="-122"/>
                <a:cs typeface="Arimo" pitchFamily="34" charset="-120"/>
              </a:rPr>
              <a:t>Women usually enjoy limited legal and political support including limited representation in the Government and limited access to legal protection and services.</a:t>
            </a:r>
            <a:endParaRPr lang="en-US" sz="2100" dirty="0"/>
          </a:p>
        </p:txBody>
      </p:sp>
      <p:pic>
        <p:nvPicPr>
          <p:cNvPr id="12" name="Image 3" descr="preencoded.png">    </p:cNvPr>
          <p:cNvPicPr>
            <a:picLocks noChangeAspect="1"/>
          </p:cNvPicPr>
          <p:nvPr/>
        </p:nvPicPr>
        <p:blipFill>
          <a:blip r:embed="rId4"/>
          <a:stretch>
            <a:fillRect/>
          </a:stretch>
        </p:blipFill>
        <p:spPr>
          <a:xfrm>
            <a:off x="10838259" y="1906786"/>
            <a:ext cx="537686" cy="537686"/>
          </a:xfrm>
          <a:prstGeom prst="rect">
            <a:avLst/>
          </a:prstGeom>
        </p:spPr>
      </p:pic>
      <p:sp>
        <p:nvSpPr>
          <p:cNvPr id="13" name="Text 7"/>
          <p:cNvSpPr/>
          <p:nvPr/>
        </p:nvSpPr>
        <p:spPr>
          <a:xfrm>
            <a:off x="10838259" y="2659499"/>
            <a:ext cx="2688431" cy="335994"/>
          </a:xfrm>
          <a:prstGeom prst="rect">
            <a:avLst/>
          </a:prstGeom>
          <a:noFill/>
          <a:ln/>
        </p:spPr>
        <p:txBody>
          <a:bodyPr wrap="none" lIns="0" tIns="0" rIns="0" bIns="0" rtlCol="0" anchor="t"/>
          <a:lstStyle/>
          <a:p>
            <a:pPr algn="l" indent="0" marL="0">
              <a:lnSpc>
                <a:spcPts val="2600"/>
              </a:lnSpc>
              <a:buNone/>
            </a:pPr>
            <a:r>
              <a:rPr lang="en-US" sz="2100" b="1" dirty="0">
                <a:solidFill>
                  <a:srgbClr val="2A2742"/>
                </a:solidFill>
                <a:latin typeface="Outfit Extra Bold" pitchFamily="34" charset="0"/>
                <a:ea typeface="Outfit Extra Bold" pitchFamily="34" charset="-122"/>
                <a:cs typeface="Outfit Extra Bold" pitchFamily="34" charset="-120"/>
              </a:rPr>
              <a:t>Limited mobility</a:t>
            </a:r>
            <a:endParaRPr lang="en-US" sz="2100" dirty="0"/>
          </a:p>
        </p:txBody>
      </p:sp>
      <p:sp>
        <p:nvSpPr>
          <p:cNvPr id="14" name="Text 8"/>
          <p:cNvSpPr/>
          <p:nvPr/>
        </p:nvSpPr>
        <p:spPr>
          <a:xfrm>
            <a:off x="10838259" y="3124438"/>
            <a:ext cx="3039428" cy="3010376"/>
          </a:xfrm>
          <a:prstGeom prst="rect">
            <a:avLst/>
          </a:prstGeom>
          <a:noFill/>
          <a:ln/>
        </p:spPr>
        <p:txBody>
          <a:bodyPr wrap="square" lIns="0" tIns="0" rIns="0" bIns="0" rtlCol="0" anchor="t"/>
          <a:lstStyle/>
          <a:p>
            <a:pPr algn="l" indent="0" marL="0">
              <a:lnSpc>
                <a:spcPts val="3350"/>
              </a:lnSpc>
              <a:buNone/>
            </a:pPr>
            <a:r>
              <a:rPr lang="en-US" sz="2100" dirty="0">
                <a:solidFill>
                  <a:srgbClr val="2A2742"/>
                </a:solidFill>
                <a:latin typeface="Arimo" pitchFamily="34" charset="0"/>
                <a:ea typeface="Arimo" pitchFamily="34" charset="-122"/>
                <a:cs typeface="Arimo" pitchFamily="34" charset="-120"/>
              </a:rPr>
              <a:t>Women are at times subject to greater restrictions when it comes to moving across places and getting access to various forms of transportation. </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02723" y="1630323"/>
            <a:ext cx="4968954" cy="4968954"/>
          </a:xfrm>
          <a:prstGeom prst="rect">
            <a:avLst/>
          </a:prstGeom>
        </p:spPr>
      </p:pic>
      <p:sp>
        <p:nvSpPr>
          <p:cNvPr id="4" name="Text 0"/>
          <p:cNvSpPr/>
          <p:nvPr/>
        </p:nvSpPr>
        <p:spPr>
          <a:xfrm>
            <a:off x="724376" y="684967"/>
            <a:ext cx="6948249" cy="646748"/>
          </a:xfrm>
          <a:prstGeom prst="rect">
            <a:avLst/>
          </a:prstGeom>
          <a:noFill/>
          <a:ln/>
        </p:spPr>
        <p:txBody>
          <a:bodyPr wrap="none" lIns="0" tIns="0" rIns="0" bIns="0" rtlCol="0" anchor="t"/>
          <a:lstStyle/>
          <a:p>
            <a:pPr indent="0" marL="0">
              <a:lnSpc>
                <a:spcPts val="5050"/>
              </a:lnSpc>
              <a:buNone/>
            </a:pPr>
            <a:r>
              <a:rPr lang="en-US" sz="4050" b="1" dirty="0">
                <a:solidFill>
                  <a:srgbClr val="231971"/>
                </a:solidFill>
                <a:latin typeface="Outfit Extra Bold" pitchFamily="34" charset="0"/>
                <a:ea typeface="Outfit Extra Bold" pitchFamily="34" charset="-122"/>
                <a:cs typeface="Outfit Extra Bold" pitchFamily="34" charset="-120"/>
              </a:rPr>
              <a:t>PROFESSIONAL ETIQUETTE</a:t>
            </a:r>
            <a:endParaRPr lang="en-US" sz="4050" dirty="0"/>
          </a:p>
        </p:txBody>
      </p:sp>
      <p:sp>
        <p:nvSpPr>
          <p:cNvPr id="5" name="Text 1"/>
          <p:cNvSpPr/>
          <p:nvPr/>
        </p:nvSpPr>
        <p:spPr>
          <a:xfrm>
            <a:off x="724376" y="1642110"/>
            <a:ext cx="7695248" cy="827723"/>
          </a:xfrm>
          <a:prstGeom prst="rect">
            <a:avLst/>
          </a:prstGeom>
          <a:noFill/>
          <a:ln/>
        </p:spPr>
        <p:txBody>
          <a:bodyPr wrap="square" lIns="0" tIns="0" rIns="0" bIns="0" rtlCol="0" anchor="t"/>
          <a:lstStyle/>
          <a:p>
            <a:pPr marL="342900" indent="-342900">
              <a:lnSpc>
                <a:spcPts val="2600"/>
              </a:lnSpc>
              <a:buSzPct val="100000"/>
              <a:buChar char="•"/>
            </a:pPr>
            <a:r>
              <a:rPr lang="en-US" sz="1600" dirty="0">
                <a:solidFill>
                  <a:srgbClr val="2A2742"/>
                </a:solidFill>
                <a:latin typeface="Arimo" pitchFamily="34" charset="0"/>
                <a:ea typeface="Arimo" pitchFamily="34" charset="-122"/>
                <a:cs typeface="Arimo" pitchFamily="34" charset="-120"/>
              </a:rPr>
              <a:t>Etiquette is a code of good manners, the polite rule of a society or a professional group. </a:t>
            </a:r>
            <a:endParaRPr lang="en-US" sz="1600" dirty="0"/>
          </a:p>
        </p:txBody>
      </p:sp>
      <p:sp>
        <p:nvSpPr>
          <p:cNvPr id="6" name="Text 2"/>
          <p:cNvSpPr/>
          <p:nvPr/>
        </p:nvSpPr>
        <p:spPr>
          <a:xfrm>
            <a:off x="724376" y="2542223"/>
            <a:ext cx="7695248" cy="1655445"/>
          </a:xfrm>
          <a:prstGeom prst="rect">
            <a:avLst/>
          </a:prstGeom>
          <a:noFill/>
          <a:ln/>
        </p:spPr>
        <p:txBody>
          <a:bodyPr wrap="square" lIns="0" tIns="0" rIns="0" bIns="0" rtlCol="0" anchor="t"/>
          <a:lstStyle/>
          <a:p>
            <a:pPr marL="342900" indent="-342900">
              <a:lnSpc>
                <a:spcPts val="2600"/>
              </a:lnSpc>
              <a:buSzPct val="100000"/>
              <a:buChar char="•"/>
            </a:pPr>
            <a:r>
              <a:rPr lang="en-US" sz="1600" dirty="0">
                <a:solidFill>
                  <a:srgbClr val="2A2742"/>
                </a:solidFill>
                <a:latin typeface="Arimo" pitchFamily="34" charset="0"/>
                <a:ea typeface="Arimo" pitchFamily="34" charset="-122"/>
                <a:cs typeface="Arimo" pitchFamily="34" charset="-120"/>
              </a:rPr>
              <a:t>In the context of nursing, etiquette not only includes the nurse's behavior towards patients and colleagues but also the establishing of a relationship with patients, colleagues and supervisors.</a:t>
            </a:r>
            <a:endParaRPr lang="en-US" sz="1600" dirty="0"/>
          </a:p>
        </p:txBody>
      </p:sp>
      <p:sp>
        <p:nvSpPr>
          <p:cNvPr id="7" name="Text 3"/>
          <p:cNvSpPr/>
          <p:nvPr/>
        </p:nvSpPr>
        <p:spPr>
          <a:xfrm>
            <a:off x="724376" y="4270058"/>
            <a:ext cx="7695248" cy="827723"/>
          </a:xfrm>
          <a:prstGeom prst="rect">
            <a:avLst/>
          </a:prstGeom>
          <a:noFill/>
          <a:ln/>
        </p:spPr>
        <p:txBody>
          <a:bodyPr wrap="square" lIns="0" tIns="0" rIns="0" bIns="0" rtlCol="0" anchor="t"/>
          <a:lstStyle/>
          <a:p>
            <a:pPr marL="342900" indent="-342900">
              <a:lnSpc>
                <a:spcPts val="2600"/>
              </a:lnSpc>
              <a:buSzPct val="100000"/>
              <a:buChar char="•"/>
            </a:pPr>
            <a:r>
              <a:rPr lang="en-US" sz="1600" dirty="0">
                <a:solidFill>
                  <a:srgbClr val="2A2742"/>
                </a:solidFill>
                <a:latin typeface="Arimo" pitchFamily="34" charset="0"/>
                <a:ea typeface="Arimo" pitchFamily="34" charset="-122"/>
                <a:cs typeface="Arimo" pitchFamily="34" charset="-120"/>
              </a:rPr>
              <a:t>To ensure smooth functioning the nurse should follow certain professional etiquettes. </a:t>
            </a:r>
            <a:endParaRPr lang="en-US" sz="1600" dirty="0"/>
          </a:p>
        </p:txBody>
      </p:sp>
      <p:sp>
        <p:nvSpPr>
          <p:cNvPr id="8" name="Text 4"/>
          <p:cNvSpPr/>
          <p:nvPr/>
        </p:nvSpPr>
        <p:spPr>
          <a:xfrm>
            <a:off x="724376" y="5170170"/>
            <a:ext cx="7695248" cy="827723"/>
          </a:xfrm>
          <a:prstGeom prst="rect">
            <a:avLst/>
          </a:prstGeom>
          <a:noFill/>
          <a:ln/>
        </p:spPr>
        <p:txBody>
          <a:bodyPr wrap="square" lIns="0" tIns="0" rIns="0" bIns="0" rtlCol="0" anchor="t"/>
          <a:lstStyle/>
          <a:p>
            <a:pPr marL="342900" indent="-342900">
              <a:lnSpc>
                <a:spcPts val="2600"/>
              </a:lnSpc>
              <a:buSzPct val="100000"/>
              <a:buChar char="•"/>
            </a:pPr>
            <a:r>
              <a:rPr lang="en-US" sz="1600" dirty="0">
                <a:solidFill>
                  <a:srgbClr val="2A2742"/>
                </a:solidFill>
                <a:latin typeface="Arimo" pitchFamily="34" charset="0"/>
                <a:ea typeface="Arimo" pitchFamily="34" charset="-122"/>
                <a:cs typeface="Arimo" pitchFamily="34" charset="-120"/>
              </a:rPr>
              <a:t>It is good etiquette that leads to good interpersonal relationships besides strengthening professional life. </a:t>
            </a:r>
            <a:endParaRPr lang="en-US" sz="1600" dirty="0"/>
          </a:p>
        </p:txBody>
      </p:sp>
      <p:sp>
        <p:nvSpPr>
          <p:cNvPr id="9" name="Text 5"/>
          <p:cNvSpPr/>
          <p:nvPr/>
        </p:nvSpPr>
        <p:spPr>
          <a:xfrm>
            <a:off x="724376" y="6070283"/>
            <a:ext cx="7695248" cy="827723"/>
          </a:xfrm>
          <a:prstGeom prst="rect">
            <a:avLst/>
          </a:prstGeom>
          <a:noFill/>
          <a:ln/>
        </p:spPr>
        <p:txBody>
          <a:bodyPr wrap="square" lIns="0" tIns="0" rIns="0" bIns="0" rtlCol="0" anchor="t"/>
          <a:lstStyle/>
          <a:p>
            <a:pPr marL="342900" indent="-342900">
              <a:lnSpc>
                <a:spcPts val="2600"/>
              </a:lnSpc>
              <a:buSzPct val="100000"/>
              <a:buChar char="•"/>
            </a:pPr>
            <a:r>
              <a:rPr lang="en-US" sz="1600" dirty="0">
                <a:solidFill>
                  <a:srgbClr val="2A2742"/>
                </a:solidFill>
                <a:latin typeface="Arimo" pitchFamily="34" charset="0"/>
                <a:ea typeface="Arimo" pitchFamily="34" charset="-122"/>
                <a:cs typeface="Arimo" pitchFamily="34" charset="-120"/>
              </a:rPr>
              <a:t>For a nurse, etiquettes play an important role in her professional life. Some aspects of etiquettes are:</a:t>
            </a:r>
            <a:endParaRPr lang="en-US" sz="1600" dirty="0"/>
          </a:p>
        </p:txBody>
      </p:sp>
      <p:sp>
        <p:nvSpPr>
          <p:cNvPr id="10" name="Text 6"/>
          <p:cNvSpPr/>
          <p:nvPr/>
        </p:nvSpPr>
        <p:spPr>
          <a:xfrm>
            <a:off x="724376" y="7130772"/>
            <a:ext cx="7695248" cy="413861"/>
          </a:xfrm>
          <a:prstGeom prst="rect">
            <a:avLst/>
          </a:prstGeom>
          <a:noFill/>
          <a:ln/>
        </p:spPr>
        <p:txBody>
          <a:bodyPr wrap="none" lIns="0" tIns="0" rIns="0" bIns="0" rtlCol="0" anchor="t"/>
          <a:lstStyle/>
          <a:p>
            <a:pPr indent="0" marL="0">
              <a:lnSpc>
                <a:spcPts val="3250"/>
              </a:lnSpc>
              <a:buNone/>
            </a:pP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682228"/>
            <a:ext cx="5670590" cy="708779"/>
          </a:xfrm>
          <a:prstGeom prst="rect">
            <a:avLst/>
          </a:prstGeom>
          <a:noFill/>
          <a:ln/>
        </p:spPr>
        <p:txBody>
          <a:bodyPr wrap="none" lIns="0" tIns="0" rIns="0" bIns="0" rtlCol="0" anchor="t"/>
          <a:lstStyle/>
          <a:p>
            <a:pPr indent="0" marL="0">
              <a:lnSpc>
                <a:spcPts val="5550"/>
              </a:lnSpc>
              <a:buNone/>
            </a:pPr>
            <a:endParaRPr lang="en-US" sz="4450" dirty="0"/>
          </a:p>
        </p:txBody>
      </p:sp>
      <p:sp>
        <p:nvSpPr>
          <p:cNvPr id="4" name="Text 1"/>
          <p:cNvSpPr/>
          <p:nvPr/>
        </p:nvSpPr>
        <p:spPr>
          <a:xfrm>
            <a:off x="6280190" y="1731169"/>
            <a:ext cx="7556421" cy="1360527"/>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1. </a:t>
            </a:r>
            <a:pPr indent="0" marL="0">
              <a:lnSpc>
                <a:spcPts val="3550"/>
              </a:lnSpc>
              <a:buNone/>
            </a:pPr>
            <a:r>
              <a:rPr lang="en-US" sz="2200" b="1" dirty="0">
                <a:solidFill>
                  <a:srgbClr val="2A2742"/>
                </a:solidFill>
                <a:latin typeface="Arimo" pitchFamily="34" charset="0"/>
                <a:ea typeface="Arimo" pitchFamily="34" charset="-122"/>
                <a:cs typeface="Arimo" pitchFamily="34" charset="-120"/>
              </a:rPr>
              <a:t>Posture</a:t>
            </a:r>
            <a:pPr indent="0" marL="0">
              <a:lnSpc>
                <a:spcPts val="3550"/>
              </a:lnSpc>
              <a:buNone/>
            </a:pPr>
            <a:r>
              <a:rPr lang="en-US" sz="2200" dirty="0">
                <a:solidFill>
                  <a:srgbClr val="2A2742"/>
                </a:solidFill>
                <a:latin typeface="Arimo" pitchFamily="34" charset="0"/>
                <a:ea typeface="Arimo" pitchFamily="34" charset="-122"/>
                <a:cs typeface="Arimo" pitchFamily="34" charset="-120"/>
              </a:rPr>
              <a:t>: Posture says much about the person and reflects his/her level of confidence, attitude and interests. Some of the posture etiquettes are:</a:t>
            </a:r>
            <a:endParaRPr lang="en-US" sz="2200" dirty="0"/>
          </a:p>
        </p:txBody>
      </p:sp>
      <p:sp>
        <p:nvSpPr>
          <p:cNvPr id="5" name="Text 2"/>
          <p:cNvSpPr/>
          <p:nvPr/>
        </p:nvSpPr>
        <p:spPr>
          <a:xfrm>
            <a:off x="6280190" y="3346847"/>
            <a:ext cx="7556421" cy="453509"/>
          </a:xfrm>
          <a:prstGeom prst="rect">
            <a:avLst/>
          </a:prstGeom>
          <a:noFill/>
          <a:ln/>
        </p:spPr>
        <p:txBody>
          <a:bodyPr wrap="none" lIns="0" tIns="0" rIns="0" bIns="0" rtlCol="0" anchor="t"/>
          <a:lstStyle/>
          <a:p>
            <a:pPr indent="0" marL="0">
              <a:lnSpc>
                <a:spcPts val="2850"/>
              </a:lnSpc>
              <a:buNone/>
            </a:pPr>
            <a:r>
              <a:rPr lang="en-US" sz="1750" dirty="0">
                <a:solidFill>
                  <a:srgbClr val="2A2742"/>
                </a:solidFill>
                <a:latin typeface="Arimo" pitchFamily="34" charset="0"/>
                <a:ea typeface="Arimo" pitchFamily="34" charset="-122"/>
                <a:cs typeface="Arimo" pitchFamily="34" charset="-120"/>
              </a:rPr>
              <a:t>Stand straight, do not lean against a desk or a cot.</a:t>
            </a:r>
            <a:endParaRPr lang="en-US" sz="1750" dirty="0"/>
          </a:p>
        </p:txBody>
      </p:sp>
      <p:sp>
        <p:nvSpPr>
          <p:cNvPr id="6" name="Shape 3"/>
          <p:cNvSpPr/>
          <p:nvPr/>
        </p:nvSpPr>
        <p:spPr>
          <a:xfrm>
            <a:off x="6280190" y="3431857"/>
            <a:ext cx="283488" cy="283488"/>
          </a:xfrm>
          <a:prstGeom prst="roundRect">
            <a:avLst>
              <a:gd name="adj" fmla="val 42007"/>
            </a:avLst>
          </a:prstGeom>
          <a:noFill/>
          <a:ln w="30480">
            <a:solidFill>
              <a:srgbClr val="5E4CE6"/>
            </a:solidFill>
            <a:prstDash val="solid"/>
          </a:ln>
        </p:spPr>
      </p:sp>
      <p:sp>
        <p:nvSpPr>
          <p:cNvPr id="7" name="Text 4"/>
          <p:cNvSpPr/>
          <p:nvPr/>
        </p:nvSpPr>
        <p:spPr>
          <a:xfrm>
            <a:off x="6280190" y="3879652"/>
            <a:ext cx="7556421" cy="907018"/>
          </a:xfrm>
          <a:prstGeom prst="rect">
            <a:avLst/>
          </a:prstGeom>
          <a:noFill/>
          <a:ln/>
        </p:spPr>
        <p:txBody>
          <a:bodyPr wrap="square" lIns="0" tIns="0" rIns="0" bIns="0" rtlCol="0" anchor="t"/>
          <a:lstStyle/>
          <a:p>
            <a:pPr indent="0" marL="0">
              <a:lnSpc>
                <a:spcPts val="2850"/>
              </a:lnSpc>
              <a:buNone/>
            </a:pPr>
            <a:r>
              <a:rPr lang="en-US" sz="1750" dirty="0">
                <a:solidFill>
                  <a:srgbClr val="2A2742"/>
                </a:solidFill>
                <a:latin typeface="Arimo" pitchFamily="34" charset="0"/>
                <a:ea typeface="Arimo" pitchFamily="34" charset="-122"/>
                <a:cs typeface="Arimo" pitchFamily="34" charset="-120"/>
              </a:rPr>
              <a:t>Stand with hands by sides, not on hips or in pockets or arms crossed over the chest.</a:t>
            </a:r>
            <a:endParaRPr lang="en-US" sz="1750" dirty="0"/>
          </a:p>
        </p:txBody>
      </p:sp>
      <p:sp>
        <p:nvSpPr>
          <p:cNvPr id="8" name="Shape 5"/>
          <p:cNvSpPr/>
          <p:nvPr/>
        </p:nvSpPr>
        <p:spPr>
          <a:xfrm>
            <a:off x="6280190" y="3964662"/>
            <a:ext cx="283488" cy="283488"/>
          </a:xfrm>
          <a:prstGeom prst="roundRect">
            <a:avLst>
              <a:gd name="adj" fmla="val 42007"/>
            </a:avLst>
          </a:prstGeom>
          <a:noFill/>
          <a:ln w="30480">
            <a:solidFill>
              <a:srgbClr val="5E4CE6"/>
            </a:solidFill>
            <a:prstDash val="solid"/>
          </a:ln>
        </p:spPr>
      </p:sp>
      <p:sp>
        <p:nvSpPr>
          <p:cNvPr id="9" name="Text 6"/>
          <p:cNvSpPr/>
          <p:nvPr/>
        </p:nvSpPr>
        <p:spPr>
          <a:xfrm>
            <a:off x="6280190" y="4865965"/>
            <a:ext cx="7556421" cy="907018"/>
          </a:xfrm>
          <a:prstGeom prst="rect">
            <a:avLst/>
          </a:prstGeom>
          <a:noFill/>
          <a:ln/>
        </p:spPr>
        <p:txBody>
          <a:bodyPr wrap="square" lIns="0" tIns="0" rIns="0" bIns="0" rtlCol="0" anchor="t"/>
          <a:lstStyle/>
          <a:p>
            <a:pPr indent="0" marL="0">
              <a:lnSpc>
                <a:spcPts val="2850"/>
              </a:lnSpc>
              <a:buNone/>
            </a:pPr>
            <a:r>
              <a:rPr lang="en-US" sz="1750" dirty="0">
                <a:solidFill>
                  <a:srgbClr val="2A2742"/>
                </a:solidFill>
                <a:latin typeface="Arimo" pitchFamily="34" charset="0"/>
                <a:ea typeface="Arimo" pitchFamily="34" charset="-122"/>
                <a:cs typeface="Arimo" pitchFamily="34" charset="-120"/>
              </a:rPr>
              <a:t>When sitting, put the knees together and do not cross the legs.</a:t>
            </a:r>
            <a:endParaRPr lang="en-US" sz="1750" dirty="0"/>
          </a:p>
        </p:txBody>
      </p:sp>
      <p:sp>
        <p:nvSpPr>
          <p:cNvPr id="10" name="Shape 7"/>
          <p:cNvSpPr/>
          <p:nvPr/>
        </p:nvSpPr>
        <p:spPr>
          <a:xfrm>
            <a:off x="6280190" y="4950976"/>
            <a:ext cx="283488" cy="283488"/>
          </a:xfrm>
          <a:prstGeom prst="roundRect">
            <a:avLst>
              <a:gd name="adj" fmla="val 42007"/>
            </a:avLst>
          </a:prstGeom>
          <a:noFill/>
          <a:ln w="30480">
            <a:solidFill>
              <a:srgbClr val="5E4CE6"/>
            </a:solidFill>
            <a:prstDash val="solid"/>
          </a:ln>
        </p:spPr>
      </p:sp>
      <p:sp>
        <p:nvSpPr>
          <p:cNvPr id="11" name="Text 8"/>
          <p:cNvSpPr/>
          <p:nvPr/>
        </p:nvSpPr>
        <p:spPr>
          <a:xfrm>
            <a:off x="6280190" y="5852279"/>
            <a:ext cx="7556421" cy="453509"/>
          </a:xfrm>
          <a:prstGeom prst="rect">
            <a:avLst/>
          </a:prstGeom>
          <a:noFill/>
          <a:ln/>
        </p:spPr>
        <p:txBody>
          <a:bodyPr wrap="none" lIns="0" tIns="0" rIns="0" bIns="0" rtlCol="0" anchor="t"/>
          <a:lstStyle/>
          <a:p>
            <a:pPr indent="0" marL="0">
              <a:lnSpc>
                <a:spcPts val="2850"/>
              </a:lnSpc>
              <a:buNone/>
            </a:pPr>
            <a:r>
              <a:rPr lang="en-US" sz="1750" dirty="0">
                <a:solidFill>
                  <a:srgbClr val="2A2742"/>
                </a:solidFill>
                <a:latin typeface="Arimo" pitchFamily="34" charset="0"/>
                <a:ea typeface="Arimo" pitchFamily="34" charset="-122"/>
                <a:cs typeface="Arimo" pitchFamily="34" charset="-120"/>
              </a:rPr>
              <a:t>Show interest and demonstrate care</a:t>
            </a:r>
            <a:endParaRPr lang="en-US" sz="1750" dirty="0"/>
          </a:p>
        </p:txBody>
      </p:sp>
      <p:sp>
        <p:nvSpPr>
          <p:cNvPr id="12" name="Shape 9"/>
          <p:cNvSpPr/>
          <p:nvPr/>
        </p:nvSpPr>
        <p:spPr>
          <a:xfrm>
            <a:off x="6280190" y="5937290"/>
            <a:ext cx="283488" cy="283488"/>
          </a:xfrm>
          <a:prstGeom prst="roundRect">
            <a:avLst>
              <a:gd name="adj" fmla="val 42007"/>
            </a:avLst>
          </a:prstGeom>
          <a:noFill/>
          <a:ln w="30480">
            <a:solidFill>
              <a:srgbClr val="5E4CE6"/>
            </a:solidFill>
            <a:prstDash val="solid"/>
          </a:ln>
        </p:spPr>
      </p:sp>
      <p:sp>
        <p:nvSpPr>
          <p:cNvPr id="13" name="Text 10"/>
          <p:cNvSpPr/>
          <p:nvPr/>
        </p:nvSpPr>
        <p:spPr>
          <a:xfrm>
            <a:off x="6280190" y="6385084"/>
            <a:ext cx="7556421" cy="453509"/>
          </a:xfrm>
          <a:prstGeom prst="rect">
            <a:avLst/>
          </a:prstGeom>
          <a:noFill/>
          <a:ln/>
        </p:spPr>
        <p:txBody>
          <a:bodyPr wrap="none" lIns="0" tIns="0" rIns="0" bIns="0" rtlCol="0" anchor="t"/>
          <a:lstStyle/>
          <a:p>
            <a:pPr indent="0" marL="0">
              <a:lnSpc>
                <a:spcPts val="2850"/>
              </a:lnSpc>
              <a:buNone/>
            </a:pPr>
            <a:r>
              <a:rPr lang="en-US" sz="1750" dirty="0">
                <a:solidFill>
                  <a:srgbClr val="2A2742"/>
                </a:solidFill>
                <a:latin typeface="Arimo" pitchFamily="34" charset="0"/>
                <a:ea typeface="Arimo" pitchFamily="34" charset="-122"/>
                <a:cs typeface="Arimo" pitchFamily="34" charset="-120"/>
              </a:rPr>
              <a:t>Use a sincere smile to convey warmth and friendliness.</a:t>
            </a:r>
            <a:endParaRPr lang="en-US" sz="1750" dirty="0"/>
          </a:p>
        </p:txBody>
      </p:sp>
      <p:sp>
        <p:nvSpPr>
          <p:cNvPr id="14" name="Shape 11"/>
          <p:cNvSpPr/>
          <p:nvPr/>
        </p:nvSpPr>
        <p:spPr>
          <a:xfrm>
            <a:off x="6280190" y="6470094"/>
            <a:ext cx="283488" cy="283488"/>
          </a:xfrm>
          <a:prstGeom prst="roundRect">
            <a:avLst>
              <a:gd name="adj" fmla="val 42007"/>
            </a:avLst>
          </a:prstGeom>
          <a:noFill/>
          <a:ln w="30480">
            <a:solidFill>
              <a:srgbClr val="5E4CE6"/>
            </a:solidFill>
            <a:prstDash val="solid"/>
          </a:ln>
        </p:spPr>
      </p:sp>
      <p:sp>
        <p:nvSpPr>
          <p:cNvPr id="15" name="Text 12"/>
          <p:cNvSpPr/>
          <p:nvPr/>
        </p:nvSpPr>
        <p:spPr>
          <a:xfrm>
            <a:off x="6280190" y="7093744"/>
            <a:ext cx="7556421" cy="453509"/>
          </a:xfrm>
          <a:prstGeom prst="rect">
            <a:avLst/>
          </a:prstGeom>
          <a:noFill/>
          <a:ln/>
        </p:spPr>
        <p:txBody>
          <a:bodyPr wrap="none" lIns="0" tIns="0" rIns="0" bIns="0" rtlCol="0" anchor="t"/>
          <a:lstStyle/>
          <a:p>
            <a:pPr indent="0" marL="0">
              <a:lnSpc>
                <a:spcPts val="3550"/>
              </a:lnSpc>
              <a:buNone/>
            </a:pP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363670" y="1591270"/>
            <a:ext cx="5047059" cy="5047059"/>
          </a:xfrm>
          <a:prstGeom prst="rect">
            <a:avLst/>
          </a:prstGeom>
        </p:spPr>
      </p:pic>
      <p:sp>
        <p:nvSpPr>
          <p:cNvPr id="4" name="Text 0"/>
          <p:cNvSpPr/>
          <p:nvPr/>
        </p:nvSpPr>
        <p:spPr>
          <a:xfrm>
            <a:off x="615196" y="663059"/>
            <a:ext cx="4395073" cy="549235"/>
          </a:xfrm>
          <a:prstGeom prst="rect">
            <a:avLst/>
          </a:prstGeom>
          <a:noFill/>
          <a:ln/>
        </p:spPr>
        <p:txBody>
          <a:bodyPr wrap="none" lIns="0" tIns="0" rIns="0" bIns="0" rtlCol="0" anchor="t"/>
          <a:lstStyle/>
          <a:p>
            <a:pPr indent="0" marL="0">
              <a:lnSpc>
                <a:spcPts val="4300"/>
              </a:lnSpc>
              <a:buNone/>
            </a:pPr>
            <a:endParaRPr lang="en-US" sz="3450" dirty="0"/>
          </a:p>
        </p:txBody>
      </p:sp>
      <p:sp>
        <p:nvSpPr>
          <p:cNvPr id="5" name="Text 1"/>
          <p:cNvSpPr/>
          <p:nvPr/>
        </p:nvSpPr>
        <p:spPr>
          <a:xfrm>
            <a:off x="615196" y="1475899"/>
            <a:ext cx="7913608" cy="1054775"/>
          </a:xfrm>
          <a:prstGeom prst="rect">
            <a:avLst/>
          </a:prstGeom>
          <a:noFill/>
          <a:ln/>
        </p:spPr>
        <p:txBody>
          <a:bodyPr wrap="square" lIns="0" tIns="0" rIns="0" bIns="0" rtlCol="0" anchor="t"/>
          <a:lstStyle/>
          <a:p>
            <a:pPr marL="342900" indent="-342900">
              <a:lnSpc>
                <a:spcPts val="2200"/>
              </a:lnSpc>
              <a:buSzPct val="100000"/>
              <a:buChar char="•"/>
            </a:pPr>
            <a:r>
              <a:rPr lang="en-US" sz="1350" b="1" dirty="0">
                <a:solidFill>
                  <a:srgbClr val="2A2742"/>
                </a:solidFill>
                <a:latin typeface="Arimo" pitchFamily="34" charset="0"/>
                <a:ea typeface="Arimo" pitchFamily="34" charset="-122"/>
                <a:cs typeface="Arimo" pitchFamily="34" charset="-120"/>
              </a:rPr>
              <a:t>Verbal communication</a:t>
            </a:r>
            <a:pPr indent="0" marL="0">
              <a:lnSpc>
                <a:spcPts val="2200"/>
              </a:lnSpc>
              <a:buNone/>
            </a:pPr>
            <a:r>
              <a:rPr lang="en-US" sz="1350" dirty="0">
                <a:solidFill>
                  <a:srgbClr val="2A2742"/>
                </a:solidFill>
                <a:latin typeface="Arimo" pitchFamily="34" charset="0"/>
                <a:ea typeface="Arimo" pitchFamily="34" charset="-122"/>
                <a:cs typeface="Arimo" pitchFamily="34" charset="-120"/>
              </a:rPr>
              <a:t>: It includes speaking and listening skills, ability to apologize, manner of addressing conflict and treating others. Some of the verbal communication etiquettes are:</a:t>
            </a:r>
            <a:endParaRPr lang="en-US" sz="1350" dirty="0"/>
          </a:p>
        </p:txBody>
      </p:sp>
      <p:sp>
        <p:nvSpPr>
          <p:cNvPr id="6" name="Text 2"/>
          <p:cNvSpPr/>
          <p:nvPr/>
        </p:nvSpPr>
        <p:spPr>
          <a:xfrm>
            <a:off x="615196" y="2592110"/>
            <a:ext cx="7913608" cy="351592"/>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Introduce self and explain one's role before providing care.</a:t>
            </a:r>
            <a:endParaRPr lang="en-US" sz="1350" dirty="0"/>
          </a:p>
        </p:txBody>
      </p:sp>
      <p:sp>
        <p:nvSpPr>
          <p:cNvPr id="7" name="Shape 3"/>
          <p:cNvSpPr/>
          <p:nvPr/>
        </p:nvSpPr>
        <p:spPr>
          <a:xfrm>
            <a:off x="615196" y="2657951"/>
            <a:ext cx="219670" cy="219670"/>
          </a:xfrm>
          <a:prstGeom prst="roundRect">
            <a:avLst>
              <a:gd name="adj" fmla="val 42016"/>
            </a:avLst>
          </a:prstGeom>
          <a:noFill/>
          <a:ln w="22860">
            <a:solidFill>
              <a:srgbClr val="5E4CE6"/>
            </a:solidFill>
            <a:prstDash val="solid"/>
          </a:ln>
        </p:spPr>
      </p:sp>
      <p:sp>
        <p:nvSpPr>
          <p:cNvPr id="8" name="Text 4"/>
          <p:cNvSpPr/>
          <p:nvPr/>
        </p:nvSpPr>
        <p:spPr>
          <a:xfrm>
            <a:off x="615196" y="3005138"/>
            <a:ext cx="7913608" cy="703183"/>
          </a:xfrm>
          <a:prstGeom prst="rect">
            <a:avLst/>
          </a:prstGeom>
          <a:noFill/>
          <a:ln/>
        </p:spPr>
        <p:txBody>
          <a:bodyPr wrap="squar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Be courteous, gentle and polite while talking Greet seniors, co-workers and patients appropriately and with a smile.</a:t>
            </a:r>
            <a:endParaRPr lang="en-US" sz="1350" dirty="0"/>
          </a:p>
        </p:txBody>
      </p:sp>
      <p:sp>
        <p:nvSpPr>
          <p:cNvPr id="9" name="Shape 5"/>
          <p:cNvSpPr/>
          <p:nvPr/>
        </p:nvSpPr>
        <p:spPr>
          <a:xfrm>
            <a:off x="615196" y="3070979"/>
            <a:ext cx="219670" cy="219670"/>
          </a:xfrm>
          <a:prstGeom prst="roundRect">
            <a:avLst>
              <a:gd name="adj" fmla="val 42016"/>
            </a:avLst>
          </a:prstGeom>
          <a:noFill/>
          <a:ln w="22860">
            <a:solidFill>
              <a:srgbClr val="5E4CE6"/>
            </a:solidFill>
            <a:prstDash val="solid"/>
          </a:ln>
        </p:spPr>
      </p:sp>
      <p:sp>
        <p:nvSpPr>
          <p:cNvPr id="10" name="Text 6"/>
          <p:cNvSpPr/>
          <p:nvPr/>
        </p:nvSpPr>
        <p:spPr>
          <a:xfrm>
            <a:off x="615196" y="3769757"/>
            <a:ext cx="7913608" cy="351592"/>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Maintain silence where necessary.</a:t>
            </a:r>
            <a:endParaRPr lang="en-US" sz="1350" dirty="0"/>
          </a:p>
        </p:txBody>
      </p:sp>
      <p:sp>
        <p:nvSpPr>
          <p:cNvPr id="11" name="Shape 7"/>
          <p:cNvSpPr/>
          <p:nvPr/>
        </p:nvSpPr>
        <p:spPr>
          <a:xfrm>
            <a:off x="615196" y="3835598"/>
            <a:ext cx="219670" cy="219670"/>
          </a:xfrm>
          <a:prstGeom prst="roundRect">
            <a:avLst>
              <a:gd name="adj" fmla="val 42016"/>
            </a:avLst>
          </a:prstGeom>
          <a:noFill/>
          <a:ln w="22860">
            <a:solidFill>
              <a:srgbClr val="5E4CE6"/>
            </a:solidFill>
            <a:prstDash val="solid"/>
          </a:ln>
        </p:spPr>
      </p:sp>
      <p:sp>
        <p:nvSpPr>
          <p:cNvPr id="12" name="Text 8"/>
          <p:cNvSpPr/>
          <p:nvPr/>
        </p:nvSpPr>
        <p:spPr>
          <a:xfrm>
            <a:off x="615196" y="4182785"/>
            <a:ext cx="7913608" cy="351592"/>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Convey thanks on receiving a favor.</a:t>
            </a:r>
            <a:endParaRPr lang="en-US" sz="1350" dirty="0"/>
          </a:p>
        </p:txBody>
      </p:sp>
      <p:sp>
        <p:nvSpPr>
          <p:cNvPr id="13" name="Shape 9"/>
          <p:cNvSpPr/>
          <p:nvPr/>
        </p:nvSpPr>
        <p:spPr>
          <a:xfrm>
            <a:off x="615196" y="4248626"/>
            <a:ext cx="219670" cy="219670"/>
          </a:xfrm>
          <a:prstGeom prst="roundRect">
            <a:avLst>
              <a:gd name="adj" fmla="val 42016"/>
            </a:avLst>
          </a:prstGeom>
          <a:noFill/>
          <a:ln w="22860">
            <a:solidFill>
              <a:srgbClr val="5E4CE6"/>
            </a:solidFill>
            <a:prstDash val="solid"/>
          </a:ln>
        </p:spPr>
      </p:sp>
      <p:sp>
        <p:nvSpPr>
          <p:cNvPr id="14" name="Text 10"/>
          <p:cNvSpPr/>
          <p:nvPr/>
        </p:nvSpPr>
        <p:spPr>
          <a:xfrm>
            <a:off x="615196" y="4595813"/>
            <a:ext cx="7913608" cy="351592"/>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Maintain eye contact, show attention when listening</a:t>
            </a:r>
            <a:endParaRPr lang="en-US" sz="1350" dirty="0"/>
          </a:p>
        </p:txBody>
      </p:sp>
      <p:sp>
        <p:nvSpPr>
          <p:cNvPr id="15" name="Shape 11"/>
          <p:cNvSpPr/>
          <p:nvPr/>
        </p:nvSpPr>
        <p:spPr>
          <a:xfrm>
            <a:off x="615196" y="4661654"/>
            <a:ext cx="219670" cy="219670"/>
          </a:xfrm>
          <a:prstGeom prst="roundRect">
            <a:avLst>
              <a:gd name="adj" fmla="val 42016"/>
            </a:avLst>
          </a:prstGeom>
          <a:noFill/>
          <a:ln w="22860">
            <a:solidFill>
              <a:srgbClr val="5E4CE6"/>
            </a:solidFill>
            <a:prstDash val="solid"/>
          </a:ln>
        </p:spPr>
      </p:sp>
      <p:sp>
        <p:nvSpPr>
          <p:cNvPr id="16" name="Text 12"/>
          <p:cNvSpPr/>
          <p:nvPr/>
        </p:nvSpPr>
        <p:spPr>
          <a:xfrm>
            <a:off x="615196" y="5008840"/>
            <a:ext cx="7913608" cy="703183"/>
          </a:xfrm>
          <a:prstGeom prst="rect">
            <a:avLst/>
          </a:prstGeom>
          <a:noFill/>
          <a:ln/>
        </p:spPr>
        <p:txBody>
          <a:bodyPr wrap="squar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Excuse oneself when interfering with others already engaged in a talk or work.</a:t>
            </a:r>
            <a:endParaRPr lang="en-US" sz="1350" dirty="0"/>
          </a:p>
        </p:txBody>
      </p:sp>
      <p:sp>
        <p:nvSpPr>
          <p:cNvPr id="17" name="Shape 13"/>
          <p:cNvSpPr/>
          <p:nvPr/>
        </p:nvSpPr>
        <p:spPr>
          <a:xfrm>
            <a:off x="615196" y="5074682"/>
            <a:ext cx="219670" cy="219670"/>
          </a:xfrm>
          <a:prstGeom prst="roundRect">
            <a:avLst>
              <a:gd name="adj" fmla="val 42016"/>
            </a:avLst>
          </a:prstGeom>
          <a:noFill/>
          <a:ln w="22860">
            <a:solidFill>
              <a:srgbClr val="5E4CE6"/>
            </a:solidFill>
            <a:prstDash val="solid"/>
          </a:ln>
        </p:spPr>
      </p:sp>
      <p:sp>
        <p:nvSpPr>
          <p:cNvPr id="18" name="Text 14"/>
          <p:cNvSpPr/>
          <p:nvPr/>
        </p:nvSpPr>
        <p:spPr>
          <a:xfrm>
            <a:off x="615196" y="5773460"/>
            <a:ext cx="7913608" cy="351592"/>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Convey thoughts clearly, practice effective communication.</a:t>
            </a:r>
            <a:endParaRPr lang="en-US" sz="1350" dirty="0"/>
          </a:p>
        </p:txBody>
      </p:sp>
      <p:sp>
        <p:nvSpPr>
          <p:cNvPr id="19" name="Shape 15"/>
          <p:cNvSpPr/>
          <p:nvPr/>
        </p:nvSpPr>
        <p:spPr>
          <a:xfrm>
            <a:off x="615196" y="5839301"/>
            <a:ext cx="219670" cy="219670"/>
          </a:xfrm>
          <a:prstGeom prst="roundRect">
            <a:avLst>
              <a:gd name="adj" fmla="val 42016"/>
            </a:avLst>
          </a:prstGeom>
          <a:noFill/>
          <a:ln w="22860">
            <a:solidFill>
              <a:srgbClr val="5E4CE6"/>
            </a:solidFill>
            <a:prstDash val="solid"/>
          </a:ln>
        </p:spPr>
      </p:sp>
      <p:sp>
        <p:nvSpPr>
          <p:cNvPr id="20" name="Text 16"/>
          <p:cNvSpPr/>
          <p:nvPr/>
        </p:nvSpPr>
        <p:spPr>
          <a:xfrm>
            <a:off x="615196" y="6186488"/>
            <a:ext cx="7913608" cy="351592"/>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Use appropriate introductions such as Ms, Mr. Mrs, Dr, etc.</a:t>
            </a:r>
            <a:endParaRPr lang="en-US" sz="1350" dirty="0"/>
          </a:p>
        </p:txBody>
      </p:sp>
      <p:sp>
        <p:nvSpPr>
          <p:cNvPr id="21" name="Shape 17"/>
          <p:cNvSpPr/>
          <p:nvPr/>
        </p:nvSpPr>
        <p:spPr>
          <a:xfrm>
            <a:off x="615196" y="6252329"/>
            <a:ext cx="219670" cy="219670"/>
          </a:xfrm>
          <a:prstGeom prst="roundRect">
            <a:avLst>
              <a:gd name="adj" fmla="val 42016"/>
            </a:avLst>
          </a:prstGeom>
          <a:noFill/>
          <a:ln w="22860">
            <a:solidFill>
              <a:srgbClr val="5E4CE6"/>
            </a:solidFill>
            <a:prstDash val="solid"/>
          </a:ln>
        </p:spPr>
      </p:sp>
      <p:sp>
        <p:nvSpPr>
          <p:cNvPr id="22" name="Text 18"/>
          <p:cNvSpPr/>
          <p:nvPr/>
        </p:nvSpPr>
        <p:spPr>
          <a:xfrm>
            <a:off x="615196" y="6735842"/>
            <a:ext cx="7913608" cy="351592"/>
          </a:xfrm>
          <a:prstGeom prst="rect">
            <a:avLst/>
          </a:prstGeom>
          <a:noFill/>
          <a:ln/>
        </p:spPr>
        <p:txBody>
          <a:bodyPr wrap="none" lIns="0" tIns="0" rIns="0" bIns="0" rtlCol="0" anchor="t"/>
          <a:lstStyle/>
          <a:p>
            <a:pPr indent="0" marL="0">
              <a:lnSpc>
                <a:spcPts val="2750"/>
              </a:lnSpc>
              <a:buNone/>
            </a:pPr>
            <a:endParaRPr lang="en-US" sz="1700" dirty="0"/>
          </a:p>
        </p:txBody>
      </p:sp>
      <p:sp>
        <p:nvSpPr>
          <p:cNvPr id="23" name="Text 19"/>
          <p:cNvSpPr/>
          <p:nvPr/>
        </p:nvSpPr>
        <p:spPr>
          <a:xfrm>
            <a:off x="615196" y="7285196"/>
            <a:ext cx="7913608" cy="281345"/>
          </a:xfrm>
          <a:prstGeom prst="rect">
            <a:avLst/>
          </a:prstGeom>
          <a:noFill/>
          <a:ln/>
        </p:spPr>
        <p:txBody>
          <a:bodyPr wrap="none" lIns="0" tIns="0" rIns="0" bIns="0" rtlCol="0" anchor="t"/>
          <a:lstStyle/>
          <a:p>
            <a:pPr indent="0" marL="0">
              <a:lnSpc>
                <a:spcPts val="2200"/>
              </a:lnSpc>
              <a:buNone/>
            </a:pP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2100"/>
          </a:xfrm>
          <a:prstGeom prst="rect">
            <a:avLst/>
          </a:prstGeom>
        </p:spPr>
      </p:pic>
      <p:pic>
        <p:nvPicPr>
          <p:cNvPr id="3" name="Image 1" descr="preencoded.png">    </p:cNvPr>
          <p:cNvPicPr>
            <a:picLocks noChangeAspect="1"/>
          </p:cNvPicPr>
          <p:nvPr/>
        </p:nvPicPr>
        <p:blipFill>
          <a:blip r:embed="rId2"/>
          <a:stretch>
            <a:fillRect/>
          </a:stretch>
        </p:blipFill>
        <p:spPr>
          <a:xfrm>
            <a:off x="9364385" y="1593175"/>
            <a:ext cx="5045631" cy="5045631"/>
          </a:xfrm>
          <a:prstGeom prst="rect">
            <a:avLst/>
          </a:prstGeom>
        </p:spPr>
      </p:pic>
      <p:sp>
        <p:nvSpPr>
          <p:cNvPr id="4" name="Text 0"/>
          <p:cNvSpPr/>
          <p:nvPr/>
        </p:nvSpPr>
        <p:spPr>
          <a:xfrm>
            <a:off x="617101" y="484823"/>
            <a:ext cx="4408289" cy="551021"/>
          </a:xfrm>
          <a:prstGeom prst="rect">
            <a:avLst/>
          </a:prstGeom>
          <a:noFill/>
          <a:ln/>
        </p:spPr>
        <p:txBody>
          <a:bodyPr wrap="none" lIns="0" tIns="0" rIns="0" bIns="0" rtlCol="0" anchor="t"/>
          <a:lstStyle/>
          <a:p>
            <a:pPr indent="0" marL="0">
              <a:lnSpc>
                <a:spcPts val="4300"/>
              </a:lnSpc>
              <a:buNone/>
            </a:pPr>
            <a:endParaRPr lang="en-US" sz="3450" dirty="0"/>
          </a:p>
        </p:txBody>
      </p:sp>
      <p:sp>
        <p:nvSpPr>
          <p:cNvPr id="5" name="Text 1"/>
          <p:cNvSpPr/>
          <p:nvPr/>
        </p:nvSpPr>
        <p:spPr>
          <a:xfrm>
            <a:off x="617101" y="1300282"/>
            <a:ext cx="7909798" cy="705088"/>
          </a:xfrm>
          <a:prstGeom prst="rect">
            <a:avLst/>
          </a:prstGeom>
          <a:noFill/>
          <a:ln/>
        </p:spPr>
        <p:txBody>
          <a:bodyPr wrap="square" lIns="0" tIns="0" rIns="0" bIns="0" rtlCol="0" anchor="t"/>
          <a:lstStyle/>
          <a:p>
            <a:pPr marL="342900" indent="-342900">
              <a:lnSpc>
                <a:spcPts val="2200"/>
              </a:lnSpc>
              <a:buSzPct val="100000"/>
              <a:buChar char="•"/>
            </a:pPr>
            <a:r>
              <a:rPr lang="en-US" sz="1350" b="1" dirty="0">
                <a:solidFill>
                  <a:srgbClr val="2A2742"/>
                </a:solidFill>
                <a:latin typeface="Arimo" pitchFamily="34" charset="0"/>
                <a:ea typeface="Arimo" pitchFamily="34" charset="-122"/>
                <a:cs typeface="Arimo" pitchFamily="34" charset="-120"/>
              </a:rPr>
              <a:t>Word choice</a:t>
            </a:r>
            <a:pPr indent="0" marL="0">
              <a:lnSpc>
                <a:spcPts val="2200"/>
              </a:lnSpc>
              <a:buNone/>
            </a:pPr>
            <a:r>
              <a:rPr lang="en-US" sz="1350" dirty="0">
                <a:solidFill>
                  <a:srgbClr val="2A2742"/>
                </a:solidFill>
                <a:latin typeface="Arimo" pitchFamily="34" charset="0"/>
                <a:ea typeface="Arimo" pitchFamily="34" charset="-122"/>
                <a:cs typeface="Arimo" pitchFamily="34" charset="-120"/>
              </a:rPr>
              <a:t>: Selection of appropriate words is an important part of any communication.</a:t>
            </a:r>
            <a:endParaRPr lang="en-US" sz="1350" dirty="0"/>
          </a:p>
        </p:txBody>
      </p:sp>
      <p:sp>
        <p:nvSpPr>
          <p:cNvPr id="6" name="Text 2"/>
          <p:cNvSpPr/>
          <p:nvPr/>
        </p:nvSpPr>
        <p:spPr>
          <a:xfrm>
            <a:off x="617101" y="2067044"/>
            <a:ext cx="7909798" cy="352544"/>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 Use polite and grammatically correct language</a:t>
            </a:r>
            <a:endParaRPr lang="en-US" sz="1350" dirty="0"/>
          </a:p>
        </p:txBody>
      </p:sp>
      <p:sp>
        <p:nvSpPr>
          <p:cNvPr id="7" name="Shape 3"/>
          <p:cNvSpPr/>
          <p:nvPr/>
        </p:nvSpPr>
        <p:spPr>
          <a:xfrm>
            <a:off x="617101" y="2133124"/>
            <a:ext cx="220385" cy="220385"/>
          </a:xfrm>
          <a:prstGeom prst="roundRect">
            <a:avLst>
              <a:gd name="adj" fmla="val 42007"/>
            </a:avLst>
          </a:prstGeom>
          <a:noFill/>
          <a:ln w="22860">
            <a:solidFill>
              <a:srgbClr val="5E4CE6"/>
            </a:solidFill>
            <a:prstDash val="solid"/>
          </a:ln>
        </p:spPr>
      </p:sp>
      <p:sp>
        <p:nvSpPr>
          <p:cNvPr id="8" name="Text 4"/>
          <p:cNvSpPr/>
          <p:nvPr/>
        </p:nvSpPr>
        <p:spPr>
          <a:xfrm>
            <a:off x="617101" y="2481262"/>
            <a:ext cx="7909798" cy="352544"/>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Select appropriate wording.</a:t>
            </a:r>
            <a:endParaRPr lang="en-US" sz="1350" dirty="0"/>
          </a:p>
        </p:txBody>
      </p:sp>
      <p:sp>
        <p:nvSpPr>
          <p:cNvPr id="9" name="Shape 5"/>
          <p:cNvSpPr/>
          <p:nvPr/>
        </p:nvSpPr>
        <p:spPr>
          <a:xfrm>
            <a:off x="617101" y="2547342"/>
            <a:ext cx="220385" cy="220385"/>
          </a:xfrm>
          <a:prstGeom prst="roundRect">
            <a:avLst>
              <a:gd name="adj" fmla="val 42007"/>
            </a:avLst>
          </a:prstGeom>
          <a:noFill/>
          <a:ln w="22860">
            <a:solidFill>
              <a:srgbClr val="5E4CE6"/>
            </a:solidFill>
            <a:prstDash val="solid"/>
          </a:ln>
        </p:spPr>
      </p:sp>
      <p:sp>
        <p:nvSpPr>
          <p:cNvPr id="10" name="Text 6"/>
          <p:cNvSpPr/>
          <p:nvPr/>
        </p:nvSpPr>
        <p:spPr>
          <a:xfrm>
            <a:off x="617101" y="2895481"/>
            <a:ext cx="7909798" cy="352544"/>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Use clear voice, right tone and volume.</a:t>
            </a:r>
            <a:endParaRPr lang="en-US" sz="1350" dirty="0"/>
          </a:p>
        </p:txBody>
      </p:sp>
      <p:sp>
        <p:nvSpPr>
          <p:cNvPr id="11" name="Shape 7"/>
          <p:cNvSpPr/>
          <p:nvPr/>
        </p:nvSpPr>
        <p:spPr>
          <a:xfrm>
            <a:off x="617101" y="2961561"/>
            <a:ext cx="220385" cy="220385"/>
          </a:xfrm>
          <a:prstGeom prst="roundRect">
            <a:avLst>
              <a:gd name="adj" fmla="val 42007"/>
            </a:avLst>
          </a:prstGeom>
          <a:noFill/>
          <a:ln w="22860">
            <a:solidFill>
              <a:srgbClr val="5E4CE6"/>
            </a:solidFill>
            <a:prstDash val="solid"/>
          </a:ln>
        </p:spPr>
      </p:sp>
      <p:sp>
        <p:nvSpPr>
          <p:cNvPr id="12" name="Text 8"/>
          <p:cNvSpPr/>
          <p:nvPr/>
        </p:nvSpPr>
        <p:spPr>
          <a:xfrm>
            <a:off x="617101" y="3309699"/>
            <a:ext cx="7909798" cy="705088"/>
          </a:xfrm>
          <a:prstGeom prst="rect">
            <a:avLst/>
          </a:prstGeom>
          <a:noFill/>
          <a:ln/>
        </p:spPr>
        <p:txBody>
          <a:bodyPr wrap="square" lIns="0" tIns="0" rIns="0" bIns="0" rtlCol="0" anchor="t"/>
          <a:lstStyle/>
          <a:p>
            <a:pPr marL="342900" indent="-342900">
              <a:lnSpc>
                <a:spcPts val="2200"/>
              </a:lnSpc>
              <a:buSzPct val="100000"/>
              <a:buChar char="•"/>
            </a:pPr>
            <a:r>
              <a:rPr lang="en-US" sz="1350" dirty="0">
                <a:solidFill>
                  <a:srgbClr val="2A2742"/>
                </a:solidFill>
                <a:latin typeface="Arimo" pitchFamily="34" charset="0"/>
                <a:ea typeface="Arimo" pitchFamily="34" charset="-122"/>
                <a:cs typeface="Arimo" pitchFamily="34" charset="-120"/>
              </a:rPr>
              <a:t> </a:t>
            </a:r>
            <a:pPr indent="0" marL="0">
              <a:lnSpc>
                <a:spcPts val="2200"/>
              </a:lnSpc>
              <a:buNone/>
            </a:pPr>
            <a:r>
              <a:rPr lang="en-US" sz="1350" b="1" dirty="0">
                <a:solidFill>
                  <a:srgbClr val="2A2742"/>
                </a:solidFill>
                <a:latin typeface="Arimo" pitchFamily="34" charset="0"/>
                <a:ea typeface="Arimo" pitchFamily="34" charset="-122"/>
                <a:cs typeface="Arimo" pitchFamily="34" charset="-120"/>
              </a:rPr>
              <a:t>Avoiding distracting behaviors</a:t>
            </a:r>
            <a:pPr indent="0" marL="0">
              <a:lnSpc>
                <a:spcPts val="2200"/>
              </a:lnSpc>
              <a:buNone/>
            </a:pPr>
            <a:r>
              <a:rPr lang="en-US" sz="1350" dirty="0">
                <a:solidFill>
                  <a:srgbClr val="2A2742"/>
                </a:solidFill>
                <a:latin typeface="Arimo" pitchFamily="34" charset="0"/>
                <a:ea typeface="Arimo" pitchFamily="34" charset="-122"/>
                <a:cs typeface="Arimo" pitchFamily="34" charset="-120"/>
              </a:rPr>
              <a:t>: Avoid certain behaviors and conditions while in a professional environment.</a:t>
            </a:r>
            <a:endParaRPr lang="en-US" sz="1350" dirty="0"/>
          </a:p>
        </p:txBody>
      </p:sp>
      <p:sp>
        <p:nvSpPr>
          <p:cNvPr id="13" name="Text 9"/>
          <p:cNvSpPr/>
          <p:nvPr/>
        </p:nvSpPr>
        <p:spPr>
          <a:xfrm>
            <a:off x="617101" y="4076462"/>
            <a:ext cx="7909798" cy="352544"/>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It is important not to have bad breath.</a:t>
            </a:r>
            <a:endParaRPr lang="en-US" sz="1350" dirty="0"/>
          </a:p>
        </p:txBody>
      </p:sp>
      <p:sp>
        <p:nvSpPr>
          <p:cNvPr id="14" name="Shape 10"/>
          <p:cNvSpPr/>
          <p:nvPr/>
        </p:nvSpPr>
        <p:spPr>
          <a:xfrm>
            <a:off x="617101" y="4142542"/>
            <a:ext cx="220385" cy="220385"/>
          </a:xfrm>
          <a:prstGeom prst="roundRect">
            <a:avLst>
              <a:gd name="adj" fmla="val 42007"/>
            </a:avLst>
          </a:prstGeom>
          <a:noFill/>
          <a:ln w="22860">
            <a:solidFill>
              <a:srgbClr val="5E4CE6"/>
            </a:solidFill>
            <a:prstDash val="solid"/>
          </a:ln>
        </p:spPr>
      </p:sp>
      <p:sp>
        <p:nvSpPr>
          <p:cNvPr id="15" name="Text 11"/>
          <p:cNvSpPr/>
          <p:nvPr/>
        </p:nvSpPr>
        <p:spPr>
          <a:xfrm>
            <a:off x="617101" y="4490680"/>
            <a:ext cx="7909798" cy="352544"/>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Snack items should be consumed only during a formal break.</a:t>
            </a:r>
            <a:endParaRPr lang="en-US" sz="1350" dirty="0"/>
          </a:p>
        </p:txBody>
      </p:sp>
      <p:sp>
        <p:nvSpPr>
          <p:cNvPr id="16" name="Shape 12"/>
          <p:cNvSpPr/>
          <p:nvPr/>
        </p:nvSpPr>
        <p:spPr>
          <a:xfrm>
            <a:off x="617101" y="4556760"/>
            <a:ext cx="220385" cy="220385"/>
          </a:xfrm>
          <a:prstGeom prst="roundRect">
            <a:avLst>
              <a:gd name="adj" fmla="val 42007"/>
            </a:avLst>
          </a:prstGeom>
          <a:noFill/>
          <a:ln w="22860">
            <a:solidFill>
              <a:srgbClr val="5E4CE6"/>
            </a:solidFill>
            <a:prstDash val="solid"/>
          </a:ln>
        </p:spPr>
      </p:sp>
      <p:sp>
        <p:nvSpPr>
          <p:cNvPr id="17" name="Text 13"/>
          <p:cNvSpPr/>
          <p:nvPr/>
        </p:nvSpPr>
        <p:spPr>
          <a:xfrm>
            <a:off x="617101" y="4904899"/>
            <a:ext cx="7909798" cy="352544"/>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The food corner should be cleaned up after food or tea breaks.</a:t>
            </a:r>
            <a:endParaRPr lang="en-US" sz="1350" dirty="0"/>
          </a:p>
        </p:txBody>
      </p:sp>
      <p:sp>
        <p:nvSpPr>
          <p:cNvPr id="18" name="Shape 14"/>
          <p:cNvSpPr/>
          <p:nvPr/>
        </p:nvSpPr>
        <p:spPr>
          <a:xfrm>
            <a:off x="617101" y="4970978"/>
            <a:ext cx="220385" cy="220385"/>
          </a:xfrm>
          <a:prstGeom prst="roundRect">
            <a:avLst>
              <a:gd name="adj" fmla="val 42007"/>
            </a:avLst>
          </a:prstGeom>
          <a:noFill/>
          <a:ln w="22860">
            <a:solidFill>
              <a:srgbClr val="5E4CE6"/>
            </a:solidFill>
            <a:prstDash val="solid"/>
          </a:ln>
        </p:spPr>
      </p:sp>
      <p:sp>
        <p:nvSpPr>
          <p:cNvPr id="19" name="Text 15"/>
          <p:cNvSpPr/>
          <p:nvPr/>
        </p:nvSpPr>
        <p:spPr>
          <a:xfrm>
            <a:off x="617101" y="5319117"/>
            <a:ext cx="7909798" cy="352544"/>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It is highly offensive to smoke in a working environment.</a:t>
            </a:r>
            <a:endParaRPr lang="en-US" sz="1350" dirty="0"/>
          </a:p>
        </p:txBody>
      </p:sp>
      <p:sp>
        <p:nvSpPr>
          <p:cNvPr id="20" name="Shape 16"/>
          <p:cNvSpPr/>
          <p:nvPr/>
        </p:nvSpPr>
        <p:spPr>
          <a:xfrm>
            <a:off x="617101" y="5385197"/>
            <a:ext cx="220385" cy="220385"/>
          </a:xfrm>
          <a:prstGeom prst="roundRect">
            <a:avLst>
              <a:gd name="adj" fmla="val 42007"/>
            </a:avLst>
          </a:prstGeom>
          <a:noFill/>
          <a:ln w="22860">
            <a:solidFill>
              <a:srgbClr val="5E4CE6"/>
            </a:solidFill>
            <a:prstDash val="solid"/>
          </a:ln>
        </p:spPr>
      </p:sp>
      <p:sp>
        <p:nvSpPr>
          <p:cNvPr id="21" name="Text 17"/>
          <p:cNvSpPr/>
          <p:nvPr/>
        </p:nvSpPr>
        <p:spPr>
          <a:xfrm>
            <a:off x="617101" y="5733336"/>
            <a:ext cx="7909798" cy="352544"/>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Avoid constant yawning, resting head on table etc.</a:t>
            </a:r>
            <a:endParaRPr lang="en-US" sz="1350" dirty="0"/>
          </a:p>
        </p:txBody>
      </p:sp>
      <p:sp>
        <p:nvSpPr>
          <p:cNvPr id="22" name="Shape 18"/>
          <p:cNvSpPr/>
          <p:nvPr/>
        </p:nvSpPr>
        <p:spPr>
          <a:xfrm>
            <a:off x="617101" y="5799415"/>
            <a:ext cx="220385" cy="220385"/>
          </a:xfrm>
          <a:prstGeom prst="roundRect">
            <a:avLst>
              <a:gd name="adj" fmla="val 42007"/>
            </a:avLst>
          </a:prstGeom>
          <a:noFill/>
          <a:ln w="22860">
            <a:solidFill>
              <a:srgbClr val="5E4CE6"/>
            </a:solidFill>
            <a:prstDash val="solid"/>
          </a:ln>
        </p:spPr>
      </p:sp>
      <p:sp>
        <p:nvSpPr>
          <p:cNvPr id="23" name="Text 19"/>
          <p:cNvSpPr/>
          <p:nvPr/>
        </p:nvSpPr>
        <p:spPr>
          <a:xfrm>
            <a:off x="617101" y="6147554"/>
            <a:ext cx="7909798" cy="705088"/>
          </a:xfrm>
          <a:prstGeom prst="rect">
            <a:avLst/>
          </a:prstGeom>
          <a:noFill/>
          <a:ln/>
        </p:spPr>
        <p:txBody>
          <a:bodyPr wrap="squar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Keep the mobile phone in silent mode/switch it off while in a working environment.</a:t>
            </a:r>
            <a:endParaRPr lang="en-US" sz="1350" dirty="0"/>
          </a:p>
        </p:txBody>
      </p:sp>
      <p:sp>
        <p:nvSpPr>
          <p:cNvPr id="24" name="Shape 20"/>
          <p:cNvSpPr/>
          <p:nvPr/>
        </p:nvSpPr>
        <p:spPr>
          <a:xfrm>
            <a:off x="617101" y="6213634"/>
            <a:ext cx="220385" cy="220385"/>
          </a:xfrm>
          <a:prstGeom prst="roundRect">
            <a:avLst>
              <a:gd name="adj" fmla="val 42007"/>
            </a:avLst>
          </a:prstGeom>
          <a:noFill/>
          <a:ln w="22860">
            <a:solidFill>
              <a:srgbClr val="5E4CE6"/>
            </a:solidFill>
            <a:prstDash val="solid"/>
          </a:ln>
        </p:spPr>
      </p:sp>
      <p:sp>
        <p:nvSpPr>
          <p:cNvPr id="25" name="Text 21"/>
          <p:cNvSpPr/>
          <p:nvPr/>
        </p:nvSpPr>
        <p:spPr>
          <a:xfrm>
            <a:off x="617101" y="6914317"/>
            <a:ext cx="7909798" cy="352544"/>
          </a:xfrm>
          <a:prstGeom prst="rect">
            <a:avLst/>
          </a:prstGeom>
          <a:noFill/>
          <a:ln/>
        </p:spPr>
        <p:txBody>
          <a:bodyPr wrap="none" lIns="0" tIns="0" rIns="0" bIns="0" rtlCol="0" anchor="t"/>
          <a:lstStyle/>
          <a:p>
            <a:pPr indent="0" marL="0">
              <a:lnSpc>
                <a:spcPts val="2200"/>
              </a:lnSpc>
              <a:buNone/>
            </a:pPr>
            <a:r>
              <a:rPr lang="en-US" sz="1350" dirty="0">
                <a:solidFill>
                  <a:srgbClr val="2A2742"/>
                </a:solidFill>
                <a:latin typeface="Arimo" pitchFamily="34" charset="0"/>
                <a:ea typeface="Arimo" pitchFamily="34" charset="-122"/>
                <a:cs typeface="Arimo" pitchFamily="34" charset="-120"/>
              </a:rPr>
              <a:t> Avoid streaming videos, playing music in work area.</a:t>
            </a:r>
            <a:endParaRPr lang="en-US" sz="1350" dirty="0"/>
          </a:p>
        </p:txBody>
      </p:sp>
      <p:sp>
        <p:nvSpPr>
          <p:cNvPr id="26" name="Shape 22"/>
          <p:cNvSpPr/>
          <p:nvPr/>
        </p:nvSpPr>
        <p:spPr>
          <a:xfrm>
            <a:off x="617101" y="6980396"/>
            <a:ext cx="220385" cy="220385"/>
          </a:xfrm>
          <a:prstGeom prst="roundRect">
            <a:avLst>
              <a:gd name="adj" fmla="val 42007"/>
            </a:avLst>
          </a:prstGeom>
          <a:noFill/>
          <a:ln w="22860">
            <a:solidFill>
              <a:srgbClr val="5E4CE6"/>
            </a:solidFill>
            <a:prstDash val="solid"/>
          </a:ln>
        </p:spPr>
      </p:sp>
      <p:sp>
        <p:nvSpPr>
          <p:cNvPr id="27" name="Text 23"/>
          <p:cNvSpPr/>
          <p:nvPr/>
        </p:nvSpPr>
        <p:spPr>
          <a:xfrm>
            <a:off x="617101" y="7465219"/>
            <a:ext cx="7909798" cy="282059"/>
          </a:xfrm>
          <a:prstGeom prst="rect">
            <a:avLst/>
          </a:prstGeom>
          <a:noFill/>
          <a:ln/>
        </p:spPr>
        <p:txBody>
          <a:bodyPr wrap="none" lIns="0" tIns="0" rIns="0" bIns="0" rtlCol="0" anchor="t"/>
          <a:lstStyle/>
          <a:p>
            <a:pPr indent="0" marL="0">
              <a:lnSpc>
                <a:spcPts val="2200"/>
              </a:lnSpc>
              <a:buNone/>
            </a:pP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362956" y="1590556"/>
            <a:ext cx="5048488" cy="5048488"/>
          </a:xfrm>
          <a:prstGeom prst="rect">
            <a:avLst/>
          </a:prstGeom>
        </p:spPr>
      </p:pic>
      <p:sp>
        <p:nvSpPr>
          <p:cNvPr id="4" name="Text 0"/>
          <p:cNvSpPr/>
          <p:nvPr/>
        </p:nvSpPr>
        <p:spPr>
          <a:xfrm>
            <a:off x="613172" y="833318"/>
            <a:ext cx="4957167" cy="547449"/>
          </a:xfrm>
          <a:prstGeom prst="rect">
            <a:avLst/>
          </a:prstGeom>
          <a:noFill/>
          <a:ln/>
        </p:spPr>
        <p:txBody>
          <a:bodyPr wrap="none" lIns="0" tIns="0" rIns="0" bIns="0" rtlCol="0" anchor="t"/>
          <a:lstStyle/>
          <a:p>
            <a:pPr indent="0" marL="0">
              <a:lnSpc>
                <a:spcPts val="4300"/>
              </a:lnSpc>
              <a:buNone/>
            </a:pPr>
            <a:r>
              <a:rPr lang="en-US" sz="3400" b="1" dirty="0">
                <a:solidFill>
                  <a:srgbClr val="231971"/>
                </a:solidFill>
                <a:latin typeface="Outfit Extra Bold" pitchFamily="34" charset="0"/>
                <a:ea typeface="Outfit Extra Bold" pitchFamily="34" charset="-122"/>
                <a:cs typeface="Outfit Extra Bold" pitchFamily="34" charset="-120"/>
              </a:rPr>
              <a:t>PERSONAL GROOMING</a:t>
            </a:r>
            <a:endParaRPr lang="en-US" sz="3400" dirty="0"/>
          </a:p>
        </p:txBody>
      </p:sp>
      <p:sp>
        <p:nvSpPr>
          <p:cNvPr id="5" name="Text 1"/>
          <p:cNvSpPr/>
          <p:nvPr/>
        </p:nvSpPr>
        <p:spPr>
          <a:xfrm>
            <a:off x="613172" y="1643539"/>
            <a:ext cx="7917656" cy="701040"/>
          </a:xfrm>
          <a:prstGeom prst="rect">
            <a:avLst/>
          </a:prstGeom>
          <a:noFill/>
          <a:ln/>
        </p:spPr>
        <p:txBody>
          <a:bodyPr wrap="square" lIns="0" tIns="0" rIns="0" bIns="0" rtlCol="0" anchor="t"/>
          <a:lstStyle/>
          <a:p>
            <a:pPr marL="342900" indent="-342900">
              <a:lnSpc>
                <a:spcPts val="2200"/>
              </a:lnSpc>
              <a:buSzPct val="100000"/>
              <a:buChar char="•"/>
            </a:pPr>
            <a:r>
              <a:rPr lang="en-US" sz="1350" dirty="0">
                <a:solidFill>
                  <a:srgbClr val="2A2742"/>
                </a:solidFill>
                <a:latin typeface="Arimo" pitchFamily="34" charset="0"/>
                <a:ea typeface="Arimo" pitchFamily="34" charset="-122"/>
                <a:cs typeface="Arimo" pitchFamily="34" charset="-120"/>
              </a:rPr>
              <a:t>Grooming refers to the actions carried out to keep themselves clean and presentable.</a:t>
            </a:r>
            <a:endParaRPr lang="en-US" sz="1350" dirty="0"/>
          </a:p>
        </p:txBody>
      </p:sp>
      <p:sp>
        <p:nvSpPr>
          <p:cNvPr id="6" name="Text 2"/>
          <p:cNvSpPr/>
          <p:nvPr/>
        </p:nvSpPr>
        <p:spPr>
          <a:xfrm>
            <a:off x="613172" y="2405896"/>
            <a:ext cx="7917656" cy="701040"/>
          </a:xfrm>
          <a:prstGeom prst="rect">
            <a:avLst/>
          </a:prstGeom>
          <a:noFill/>
          <a:ln/>
        </p:spPr>
        <p:txBody>
          <a:bodyPr wrap="square" lIns="0" tIns="0" rIns="0" bIns="0" rtlCol="0" anchor="t"/>
          <a:lstStyle/>
          <a:p>
            <a:pPr marL="342900" indent="-342900">
              <a:lnSpc>
                <a:spcPts val="2200"/>
              </a:lnSpc>
              <a:buSzPct val="100000"/>
              <a:buChar char="•"/>
            </a:pPr>
            <a:r>
              <a:rPr lang="en-US" sz="1350" dirty="0">
                <a:solidFill>
                  <a:srgbClr val="2A2742"/>
                </a:solidFill>
                <a:latin typeface="Arimo" pitchFamily="34" charset="0"/>
                <a:ea typeface="Arimo" pitchFamily="34" charset="-122"/>
                <a:cs typeface="Arimo" pitchFamily="34" charset="-120"/>
              </a:rPr>
              <a:t>It is important to feel good about ourselves, project a positive image of self and maintain a pleasing and attractive appearance. </a:t>
            </a:r>
            <a:endParaRPr lang="en-US" sz="1350" dirty="0"/>
          </a:p>
        </p:txBody>
      </p:sp>
      <p:sp>
        <p:nvSpPr>
          <p:cNvPr id="7" name="Text 3"/>
          <p:cNvSpPr/>
          <p:nvPr/>
        </p:nvSpPr>
        <p:spPr>
          <a:xfrm>
            <a:off x="613172" y="3168253"/>
            <a:ext cx="7917656" cy="701040"/>
          </a:xfrm>
          <a:prstGeom prst="rect">
            <a:avLst/>
          </a:prstGeom>
          <a:noFill/>
          <a:ln/>
        </p:spPr>
        <p:txBody>
          <a:bodyPr wrap="square" lIns="0" tIns="0" rIns="0" bIns="0" rtlCol="0" anchor="t"/>
          <a:lstStyle/>
          <a:p>
            <a:pPr marL="342900" indent="-342900">
              <a:lnSpc>
                <a:spcPts val="2200"/>
              </a:lnSpc>
              <a:buSzPct val="100000"/>
              <a:buChar char="•"/>
            </a:pPr>
            <a:r>
              <a:rPr lang="en-US" sz="1350" dirty="0">
                <a:solidFill>
                  <a:srgbClr val="2A2742"/>
                </a:solidFill>
                <a:latin typeface="Arimo" pitchFamily="34" charset="0"/>
                <a:ea typeface="Arimo" pitchFamily="34" charset="-122"/>
                <a:cs typeface="Arimo" pitchFamily="34" charset="-120"/>
              </a:rPr>
              <a:t>When we feel good about ourselves we naturally convey confidence and a positive attitude.</a:t>
            </a:r>
            <a:endParaRPr lang="en-US" sz="1350" dirty="0"/>
          </a:p>
        </p:txBody>
      </p:sp>
      <p:sp>
        <p:nvSpPr>
          <p:cNvPr id="8" name="Text 4"/>
          <p:cNvSpPr/>
          <p:nvPr/>
        </p:nvSpPr>
        <p:spPr>
          <a:xfrm>
            <a:off x="613172" y="3930610"/>
            <a:ext cx="7917656" cy="1051560"/>
          </a:xfrm>
          <a:prstGeom prst="rect">
            <a:avLst/>
          </a:prstGeom>
          <a:noFill/>
          <a:ln/>
        </p:spPr>
        <p:txBody>
          <a:bodyPr wrap="square" lIns="0" tIns="0" rIns="0" bIns="0" rtlCol="0" anchor="t"/>
          <a:lstStyle/>
          <a:p>
            <a:pPr marL="342900" indent="-342900">
              <a:lnSpc>
                <a:spcPts val="2200"/>
              </a:lnSpc>
              <a:buSzPct val="100000"/>
              <a:buChar char="•"/>
            </a:pPr>
            <a:r>
              <a:rPr lang="en-US" sz="1350" dirty="0">
                <a:solidFill>
                  <a:srgbClr val="2A2742"/>
                </a:solidFill>
                <a:latin typeface="Arimo" pitchFamily="34" charset="0"/>
                <a:ea typeface="Arimo" pitchFamily="34" charset="-122"/>
                <a:cs typeface="Arimo" pitchFamily="34" charset="-120"/>
              </a:rPr>
              <a:t>Professional grooming is important for all professionals. What we wear supports our professional image and sends a signal to others about how we see our self and want to be perceived by others. </a:t>
            </a:r>
            <a:endParaRPr lang="en-US" sz="1350" dirty="0"/>
          </a:p>
        </p:txBody>
      </p:sp>
      <p:sp>
        <p:nvSpPr>
          <p:cNvPr id="9" name="Text 5"/>
          <p:cNvSpPr/>
          <p:nvPr/>
        </p:nvSpPr>
        <p:spPr>
          <a:xfrm>
            <a:off x="613172" y="5043488"/>
            <a:ext cx="7917656" cy="350520"/>
          </a:xfrm>
          <a:prstGeom prst="rect">
            <a:avLst/>
          </a:prstGeom>
          <a:noFill/>
          <a:ln/>
        </p:spPr>
        <p:txBody>
          <a:bodyPr wrap="none" lIns="0" tIns="0" rIns="0" bIns="0" rtlCol="0" anchor="t"/>
          <a:lstStyle/>
          <a:p>
            <a:pPr marL="342900" indent="-342900">
              <a:lnSpc>
                <a:spcPts val="2200"/>
              </a:lnSpc>
              <a:buSzPct val="100000"/>
              <a:buChar char="•"/>
            </a:pPr>
            <a:r>
              <a:rPr lang="en-US" sz="1350" dirty="0">
                <a:solidFill>
                  <a:srgbClr val="2A2742"/>
                </a:solidFill>
                <a:latin typeface="Arimo" pitchFamily="34" charset="0"/>
                <a:ea typeface="Arimo" pitchFamily="34" charset="-122"/>
                <a:cs typeface="Arimo" pitchFamily="34" charset="-120"/>
              </a:rPr>
              <a:t>Professional appearance is also important for being respected at work place.</a:t>
            </a:r>
            <a:endParaRPr lang="en-US" sz="1350" dirty="0"/>
          </a:p>
        </p:txBody>
      </p:sp>
      <p:sp>
        <p:nvSpPr>
          <p:cNvPr id="10" name="Text 6"/>
          <p:cNvSpPr/>
          <p:nvPr/>
        </p:nvSpPr>
        <p:spPr>
          <a:xfrm>
            <a:off x="613172" y="5455325"/>
            <a:ext cx="7917656" cy="701040"/>
          </a:xfrm>
          <a:prstGeom prst="rect">
            <a:avLst/>
          </a:prstGeom>
          <a:noFill/>
          <a:ln/>
        </p:spPr>
        <p:txBody>
          <a:bodyPr wrap="square" lIns="0" tIns="0" rIns="0" bIns="0" rtlCol="0" anchor="t"/>
          <a:lstStyle/>
          <a:p>
            <a:pPr marL="342900" indent="-342900">
              <a:lnSpc>
                <a:spcPts val="2200"/>
              </a:lnSpc>
              <a:buSzPct val="100000"/>
              <a:buChar char="•"/>
            </a:pPr>
            <a:r>
              <a:rPr lang="en-US" sz="1350" dirty="0">
                <a:solidFill>
                  <a:srgbClr val="2A2742"/>
                </a:solidFill>
                <a:latin typeface="Arimo" pitchFamily="34" charset="0"/>
                <a:ea typeface="Arimo" pitchFamily="34" charset="-122"/>
                <a:cs typeface="Arimo" pitchFamily="34" charset="-120"/>
              </a:rPr>
              <a:t>Grooming of the nurse is an essential factor as the patient judges her ability based on her appearance.</a:t>
            </a:r>
            <a:endParaRPr lang="en-US" sz="1350" dirty="0"/>
          </a:p>
        </p:txBody>
      </p:sp>
      <p:sp>
        <p:nvSpPr>
          <p:cNvPr id="11" name="Text 7"/>
          <p:cNvSpPr/>
          <p:nvPr/>
        </p:nvSpPr>
        <p:spPr>
          <a:xfrm>
            <a:off x="613172" y="6217682"/>
            <a:ext cx="7917656" cy="701040"/>
          </a:xfrm>
          <a:prstGeom prst="rect">
            <a:avLst/>
          </a:prstGeom>
          <a:noFill/>
          <a:ln/>
        </p:spPr>
        <p:txBody>
          <a:bodyPr wrap="square" lIns="0" tIns="0" rIns="0" bIns="0" rtlCol="0" anchor="t"/>
          <a:lstStyle/>
          <a:p>
            <a:pPr marL="342900" indent="-342900">
              <a:lnSpc>
                <a:spcPts val="2200"/>
              </a:lnSpc>
              <a:buSzPct val="100000"/>
              <a:buChar char="•"/>
            </a:pPr>
            <a:r>
              <a:rPr lang="en-US" sz="1350" dirty="0">
                <a:solidFill>
                  <a:srgbClr val="2A2742"/>
                </a:solidFill>
                <a:latin typeface="Arimo" pitchFamily="34" charset="0"/>
                <a:ea typeface="Arimo" pitchFamily="34" charset="-122"/>
                <a:cs typeface="Arimo" pitchFamily="34" charset="-120"/>
              </a:rPr>
              <a:t>Patients prefer the nurse to be well groomed and have a professional outlook. Personal grooming includes dress code, make up, jewellery, hair set up, etc.</a:t>
            </a:r>
            <a:endParaRPr lang="en-US" sz="1350" dirty="0"/>
          </a:p>
        </p:txBody>
      </p:sp>
      <p:sp>
        <p:nvSpPr>
          <p:cNvPr id="12" name="Text 8"/>
          <p:cNvSpPr/>
          <p:nvPr/>
        </p:nvSpPr>
        <p:spPr>
          <a:xfrm>
            <a:off x="613172" y="7115770"/>
            <a:ext cx="7917656" cy="280392"/>
          </a:xfrm>
          <a:prstGeom prst="rect">
            <a:avLst/>
          </a:prstGeom>
          <a:noFill/>
          <a:ln/>
        </p:spPr>
        <p:txBody>
          <a:bodyPr wrap="none" lIns="0" tIns="0" rIns="0" bIns="0" rtlCol="0" anchor="t"/>
          <a:lstStyle/>
          <a:p>
            <a:pPr indent="0" marL="0">
              <a:lnSpc>
                <a:spcPts val="2200"/>
              </a:lnSpc>
              <a:buNone/>
            </a:pP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78537" y="731520"/>
            <a:ext cx="4846677" cy="605790"/>
          </a:xfrm>
          <a:prstGeom prst="rect">
            <a:avLst/>
          </a:prstGeom>
          <a:noFill/>
          <a:ln/>
        </p:spPr>
        <p:txBody>
          <a:bodyPr wrap="none" lIns="0" tIns="0" rIns="0" bIns="0" rtlCol="0" anchor="t"/>
          <a:lstStyle/>
          <a:p>
            <a:pPr indent="0" marL="0">
              <a:lnSpc>
                <a:spcPts val="4750"/>
              </a:lnSpc>
              <a:buNone/>
            </a:pPr>
            <a:endParaRPr lang="en-US" sz="3800" dirty="0"/>
          </a:p>
        </p:txBody>
      </p:sp>
      <p:sp>
        <p:nvSpPr>
          <p:cNvPr id="4" name="Text 1"/>
          <p:cNvSpPr/>
          <p:nvPr/>
        </p:nvSpPr>
        <p:spPr>
          <a:xfrm>
            <a:off x="678537" y="1628061"/>
            <a:ext cx="2423279" cy="302776"/>
          </a:xfrm>
          <a:prstGeom prst="rect">
            <a:avLst/>
          </a:prstGeom>
          <a:noFill/>
          <a:ln/>
        </p:spPr>
        <p:txBody>
          <a:bodyPr wrap="none" lIns="0" tIns="0" rIns="0" bIns="0" rtlCol="0" anchor="t"/>
          <a:lstStyle/>
          <a:p>
            <a:pPr indent="0" marL="0">
              <a:lnSpc>
                <a:spcPts val="2350"/>
              </a:lnSpc>
              <a:buNone/>
            </a:pPr>
            <a:r>
              <a:rPr lang="en-US" sz="1900" b="1" dirty="0">
                <a:solidFill>
                  <a:srgbClr val="231971"/>
                </a:solidFill>
                <a:latin typeface="Outfit Extra Bold" pitchFamily="34" charset="0"/>
                <a:ea typeface="Outfit Extra Bold" pitchFamily="34" charset="-122"/>
                <a:cs typeface="Outfit Extra Bold" pitchFamily="34" charset="-120"/>
              </a:rPr>
              <a:t>Dress Code</a:t>
            </a:r>
            <a:endParaRPr lang="en-US" sz="1900" dirty="0"/>
          </a:p>
        </p:txBody>
      </p:sp>
      <p:sp>
        <p:nvSpPr>
          <p:cNvPr id="5" name="Text 2"/>
          <p:cNvSpPr/>
          <p:nvPr/>
        </p:nvSpPr>
        <p:spPr>
          <a:xfrm>
            <a:off x="678537" y="2221587"/>
            <a:ext cx="7786926" cy="775335"/>
          </a:xfrm>
          <a:prstGeom prst="rect">
            <a:avLst/>
          </a:prstGeom>
          <a:noFill/>
          <a:ln/>
        </p:spPr>
        <p:txBody>
          <a:bodyPr wrap="square" lIns="0" tIns="0" rIns="0" bIns="0" rtlCol="0" anchor="t"/>
          <a:lstStyle/>
          <a:p>
            <a:pPr marL="342900" indent="-342900">
              <a:lnSpc>
                <a:spcPts val="2400"/>
              </a:lnSpc>
              <a:buSzPct val="100000"/>
              <a:buChar char="•"/>
            </a:pPr>
            <a:r>
              <a:rPr lang="en-US" sz="1500" dirty="0">
                <a:solidFill>
                  <a:srgbClr val="2A2742"/>
                </a:solidFill>
                <a:latin typeface="Arimo" pitchFamily="34" charset="0"/>
                <a:ea typeface="Arimo" pitchFamily="34" charset="-122"/>
                <a:cs typeface="Arimo" pitchFamily="34" charset="-120"/>
              </a:rPr>
              <a:t>Wearing a proper uniform shows respect for the patient and also for the nurse herself and the work she does. </a:t>
            </a:r>
            <a:endParaRPr lang="en-US" sz="1500" dirty="0"/>
          </a:p>
        </p:txBody>
      </p:sp>
      <p:sp>
        <p:nvSpPr>
          <p:cNvPr id="6" name="Text 3"/>
          <p:cNvSpPr/>
          <p:nvPr/>
        </p:nvSpPr>
        <p:spPr>
          <a:xfrm>
            <a:off x="678537" y="3064669"/>
            <a:ext cx="7786926" cy="1163003"/>
          </a:xfrm>
          <a:prstGeom prst="rect">
            <a:avLst/>
          </a:prstGeom>
          <a:noFill/>
          <a:ln/>
        </p:spPr>
        <p:txBody>
          <a:bodyPr wrap="square" lIns="0" tIns="0" rIns="0" bIns="0" rtlCol="0" anchor="t"/>
          <a:lstStyle/>
          <a:p>
            <a:pPr marL="342900" indent="-342900">
              <a:lnSpc>
                <a:spcPts val="2400"/>
              </a:lnSpc>
              <a:buSzPct val="100000"/>
              <a:buChar char="•"/>
            </a:pPr>
            <a:r>
              <a:rPr lang="en-US" sz="1500" dirty="0">
                <a:solidFill>
                  <a:srgbClr val="2A2742"/>
                </a:solidFill>
                <a:latin typeface="Arimo" pitchFamily="34" charset="0"/>
                <a:ea typeface="Arimo" pitchFamily="34" charset="-122"/>
                <a:cs typeface="Arimo" pitchFamily="34" charset="-120"/>
              </a:rPr>
              <a:t>A good professional outlook allows the nurse to make a good first impression which makes the patient perceive that he is under the care of a capable healthcare professional.</a:t>
            </a:r>
            <a:endParaRPr lang="en-US" sz="1500" dirty="0"/>
          </a:p>
        </p:txBody>
      </p:sp>
      <p:sp>
        <p:nvSpPr>
          <p:cNvPr id="7" name="Text 4"/>
          <p:cNvSpPr/>
          <p:nvPr/>
        </p:nvSpPr>
        <p:spPr>
          <a:xfrm>
            <a:off x="678537" y="4295418"/>
            <a:ext cx="7786926" cy="775335"/>
          </a:xfrm>
          <a:prstGeom prst="rect">
            <a:avLst/>
          </a:prstGeom>
          <a:noFill/>
          <a:ln/>
        </p:spPr>
        <p:txBody>
          <a:bodyPr wrap="square" lIns="0" tIns="0" rIns="0" bIns="0" rtlCol="0" anchor="t"/>
          <a:lstStyle/>
          <a:p>
            <a:pPr marL="342900" indent="-342900">
              <a:lnSpc>
                <a:spcPts val="2400"/>
              </a:lnSpc>
              <a:buSzPct val="100000"/>
              <a:buChar char="•"/>
            </a:pPr>
            <a:r>
              <a:rPr lang="en-US" sz="1500" dirty="0">
                <a:solidFill>
                  <a:srgbClr val="2A2742"/>
                </a:solidFill>
                <a:latin typeface="Arimo" pitchFamily="34" charset="0"/>
                <a:ea typeface="Arimo" pitchFamily="34" charset="-122"/>
                <a:cs typeface="Arimo" pitchFamily="34" charset="-120"/>
              </a:rPr>
              <a:t>It should allow free movement as the nurse is required to bend, stoop, reach and lift objects while discharging her duties.</a:t>
            </a:r>
            <a:endParaRPr lang="en-US" sz="1500" dirty="0"/>
          </a:p>
        </p:txBody>
      </p:sp>
      <p:sp>
        <p:nvSpPr>
          <p:cNvPr id="8" name="Text 5"/>
          <p:cNvSpPr/>
          <p:nvPr/>
        </p:nvSpPr>
        <p:spPr>
          <a:xfrm>
            <a:off x="678537" y="5138499"/>
            <a:ext cx="7786926" cy="387668"/>
          </a:xfrm>
          <a:prstGeom prst="rect">
            <a:avLst/>
          </a:prstGeom>
          <a:noFill/>
          <a:ln/>
        </p:spPr>
        <p:txBody>
          <a:bodyPr wrap="none" lIns="0" tIns="0" rIns="0" bIns="0" rtlCol="0" anchor="t"/>
          <a:lstStyle/>
          <a:p>
            <a:pPr marL="342900" indent="-342900">
              <a:lnSpc>
                <a:spcPts val="2400"/>
              </a:lnSpc>
              <a:buSzPct val="100000"/>
              <a:buChar char="•"/>
            </a:pPr>
            <a:r>
              <a:rPr lang="en-US" sz="1500" dirty="0">
                <a:solidFill>
                  <a:srgbClr val="2A2742"/>
                </a:solidFill>
                <a:latin typeface="Arimo" pitchFamily="34" charset="0"/>
                <a:ea typeface="Arimo" pitchFamily="34" charset="-122"/>
                <a:cs typeface="Arimo" pitchFamily="34" charset="-120"/>
              </a:rPr>
              <a:t>Uniform and apron should be clean and pressed well.</a:t>
            </a:r>
            <a:endParaRPr lang="en-US" sz="1500" dirty="0"/>
          </a:p>
        </p:txBody>
      </p:sp>
      <p:sp>
        <p:nvSpPr>
          <p:cNvPr id="9" name="Text 6"/>
          <p:cNvSpPr/>
          <p:nvPr/>
        </p:nvSpPr>
        <p:spPr>
          <a:xfrm>
            <a:off x="678537" y="5593913"/>
            <a:ext cx="7786926" cy="387668"/>
          </a:xfrm>
          <a:prstGeom prst="rect">
            <a:avLst/>
          </a:prstGeom>
          <a:noFill/>
          <a:ln/>
        </p:spPr>
        <p:txBody>
          <a:bodyPr wrap="none" lIns="0" tIns="0" rIns="0" bIns="0" rtlCol="0" anchor="t"/>
          <a:lstStyle/>
          <a:p>
            <a:pPr marL="342900" indent="-342900">
              <a:lnSpc>
                <a:spcPts val="2400"/>
              </a:lnSpc>
              <a:buSzPct val="100000"/>
              <a:buChar char="•"/>
            </a:pPr>
            <a:r>
              <a:rPr lang="en-US" sz="1500" dirty="0">
                <a:solidFill>
                  <a:srgbClr val="2A2742"/>
                </a:solidFill>
                <a:latin typeface="Arimo" pitchFamily="34" charset="0"/>
                <a:ea typeface="Arimo" pitchFamily="34" charset="-122"/>
                <a:cs typeface="Arimo" pitchFamily="34" charset="-120"/>
              </a:rPr>
              <a:t>Uniform skirts should not be too short.</a:t>
            </a:r>
            <a:endParaRPr lang="en-US" sz="1500" dirty="0"/>
          </a:p>
        </p:txBody>
      </p:sp>
      <p:sp>
        <p:nvSpPr>
          <p:cNvPr id="10" name="Text 7"/>
          <p:cNvSpPr/>
          <p:nvPr/>
        </p:nvSpPr>
        <p:spPr>
          <a:xfrm>
            <a:off x="678537" y="6049328"/>
            <a:ext cx="7786926" cy="387668"/>
          </a:xfrm>
          <a:prstGeom prst="rect">
            <a:avLst/>
          </a:prstGeom>
          <a:noFill/>
          <a:ln/>
        </p:spPr>
        <p:txBody>
          <a:bodyPr wrap="none" lIns="0" tIns="0" rIns="0" bIns="0" rtlCol="0" anchor="t"/>
          <a:lstStyle/>
          <a:p>
            <a:pPr marL="342900" indent="-342900">
              <a:lnSpc>
                <a:spcPts val="2400"/>
              </a:lnSpc>
              <a:buSzPct val="100000"/>
              <a:buChar char="•"/>
            </a:pPr>
            <a:r>
              <a:rPr lang="en-US" sz="1500" dirty="0">
                <a:solidFill>
                  <a:srgbClr val="2A2742"/>
                </a:solidFill>
                <a:latin typeface="Arimo" pitchFamily="34" charset="0"/>
                <a:ea typeface="Arimo" pitchFamily="34" charset="-122"/>
                <a:cs typeface="Arimo" pitchFamily="34" charset="-120"/>
              </a:rPr>
              <a:t>Uniform should not be of transparent fabric</a:t>
            </a:r>
            <a:endParaRPr lang="en-US" sz="1500" dirty="0"/>
          </a:p>
        </p:txBody>
      </p:sp>
      <p:sp>
        <p:nvSpPr>
          <p:cNvPr id="11" name="Text 8"/>
          <p:cNvSpPr/>
          <p:nvPr/>
        </p:nvSpPr>
        <p:spPr>
          <a:xfrm>
            <a:off x="678537" y="6504742"/>
            <a:ext cx="7786926" cy="387668"/>
          </a:xfrm>
          <a:prstGeom prst="rect">
            <a:avLst/>
          </a:prstGeom>
          <a:noFill/>
          <a:ln/>
        </p:spPr>
        <p:txBody>
          <a:bodyPr wrap="none" lIns="0" tIns="0" rIns="0" bIns="0" rtlCol="0" anchor="t"/>
          <a:lstStyle/>
          <a:p>
            <a:pPr marL="342900" indent="-342900">
              <a:lnSpc>
                <a:spcPts val="2400"/>
              </a:lnSpc>
              <a:buSzPct val="100000"/>
              <a:buChar char="•"/>
            </a:pPr>
            <a:r>
              <a:rPr lang="en-US" sz="1500" dirty="0">
                <a:solidFill>
                  <a:srgbClr val="2A2742"/>
                </a:solidFill>
                <a:latin typeface="Arimo" pitchFamily="34" charset="0"/>
                <a:ea typeface="Arimo" pitchFamily="34" charset="-122"/>
                <a:cs typeface="Arimo" pitchFamily="34" charset="-120"/>
              </a:rPr>
              <a:t>Uniform fabric should not induce irritation or heavy sweating.</a:t>
            </a:r>
            <a:endParaRPr lang="en-US" sz="1500" dirty="0"/>
          </a:p>
        </p:txBody>
      </p:sp>
      <p:sp>
        <p:nvSpPr>
          <p:cNvPr id="12" name="Text 9"/>
          <p:cNvSpPr/>
          <p:nvPr/>
        </p:nvSpPr>
        <p:spPr>
          <a:xfrm>
            <a:off x="678537" y="7110413"/>
            <a:ext cx="7786926" cy="387668"/>
          </a:xfrm>
          <a:prstGeom prst="rect">
            <a:avLst/>
          </a:prstGeom>
          <a:noFill/>
          <a:ln/>
        </p:spPr>
        <p:txBody>
          <a:bodyPr wrap="none" lIns="0" tIns="0" rIns="0" bIns="0" rtlCol="0" anchor="t"/>
          <a:lstStyle/>
          <a:p>
            <a:pPr indent="0" marL="0">
              <a:lnSpc>
                <a:spcPts val="3050"/>
              </a:lnSpc>
              <a:buNone/>
            </a:pP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592574" y="469821"/>
            <a:ext cx="4232672" cy="528995"/>
          </a:xfrm>
          <a:prstGeom prst="rect">
            <a:avLst/>
          </a:prstGeom>
          <a:noFill/>
          <a:ln/>
        </p:spPr>
        <p:txBody>
          <a:bodyPr wrap="none" lIns="0" tIns="0" rIns="0" bIns="0" rtlCol="0" anchor="t"/>
          <a:lstStyle/>
          <a:p>
            <a:pPr indent="0" marL="0">
              <a:lnSpc>
                <a:spcPts val="4150"/>
              </a:lnSpc>
              <a:buNone/>
            </a:pPr>
            <a:endParaRPr lang="en-US" sz="3300" dirty="0"/>
          </a:p>
        </p:txBody>
      </p:sp>
      <p:sp>
        <p:nvSpPr>
          <p:cNvPr id="4" name="Text 1"/>
          <p:cNvSpPr/>
          <p:nvPr/>
        </p:nvSpPr>
        <p:spPr>
          <a:xfrm>
            <a:off x="592574" y="1252776"/>
            <a:ext cx="7958852" cy="677228"/>
          </a:xfrm>
          <a:prstGeom prst="rect">
            <a:avLst/>
          </a:prstGeom>
          <a:noFill/>
          <a:ln/>
        </p:spPr>
        <p:txBody>
          <a:bodyPr wrap="square" lIns="0" tIns="0" rIns="0" bIns="0" rtlCol="0" anchor="t"/>
          <a:lstStyle/>
          <a:p>
            <a:pPr marL="342900" indent="-342900">
              <a:lnSpc>
                <a:spcPts val="2100"/>
              </a:lnSpc>
              <a:buSzPct val="100000"/>
              <a:buChar char="•"/>
            </a:pPr>
            <a:r>
              <a:rPr lang="en-US" sz="1300" dirty="0">
                <a:solidFill>
                  <a:srgbClr val="2A2742"/>
                </a:solidFill>
                <a:latin typeface="Arimo" pitchFamily="34" charset="0"/>
                <a:ea typeface="Arimo" pitchFamily="34" charset="-122"/>
                <a:cs typeface="Arimo" pitchFamily="34" charset="-120"/>
              </a:rPr>
              <a:t>Uniforms should be easily washable as they are subject to frequent spills and stains.</a:t>
            </a:r>
            <a:endParaRPr lang="en-US" sz="1300" dirty="0"/>
          </a:p>
        </p:txBody>
      </p:sp>
      <p:sp>
        <p:nvSpPr>
          <p:cNvPr id="5" name="Text 2"/>
          <p:cNvSpPr/>
          <p:nvPr/>
        </p:nvSpPr>
        <p:spPr>
          <a:xfrm>
            <a:off x="592574" y="1989177"/>
            <a:ext cx="7958852" cy="338614"/>
          </a:xfrm>
          <a:prstGeom prst="rect">
            <a:avLst/>
          </a:prstGeom>
          <a:noFill/>
          <a:ln/>
        </p:spPr>
        <p:txBody>
          <a:bodyPr wrap="none" lIns="0" tIns="0" rIns="0" bIns="0" rtlCol="0" anchor="t"/>
          <a:lstStyle/>
          <a:p>
            <a:pPr marL="342900" indent="-342900">
              <a:lnSpc>
                <a:spcPts val="2100"/>
              </a:lnSpc>
              <a:buSzPct val="100000"/>
              <a:buChar char="•"/>
            </a:pPr>
            <a:r>
              <a:rPr lang="en-US" sz="1300" dirty="0">
                <a:solidFill>
                  <a:srgbClr val="2A2742"/>
                </a:solidFill>
                <a:latin typeface="Arimo" pitchFamily="34" charset="0"/>
                <a:ea typeface="Arimo" pitchFamily="34" charset="-122"/>
                <a:cs typeface="Arimo" pitchFamily="34" charset="-120"/>
              </a:rPr>
              <a:t>Name tag or identity card should be visible and readable.</a:t>
            </a:r>
            <a:endParaRPr lang="en-US" sz="1300" dirty="0"/>
          </a:p>
        </p:txBody>
      </p:sp>
      <p:sp>
        <p:nvSpPr>
          <p:cNvPr id="6" name="Text 3"/>
          <p:cNvSpPr/>
          <p:nvPr/>
        </p:nvSpPr>
        <p:spPr>
          <a:xfrm>
            <a:off x="592574" y="2386965"/>
            <a:ext cx="7958852" cy="338614"/>
          </a:xfrm>
          <a:prstGeom prst="rect">
            <a:avLst/>
          </a:prstGeom>
          <a:noFill/>
          <a:ln/>
        </p:spPr>
        <p:txBody>
          <a:bodyPr wrap="none" lIns="0" tIns="0" rIns="0" bIns="0" rtlCol="0" anchor="t"/>
          <a:lstStyle/>
          <a:p>
            <a:pPr marL="342900" indent="-342900">
              <a:lnSpc>
                <a:spcPts val="2100"/>
              </a:lnSpc>
              <a:buSzPct val="100000"/>
              <a:buChar char="•"/>
            </a:pPr>
            <a:r>
              <a:rPr lang="en-US" sz="1300" dirty="0">
                <a:solidFill>
                  <a:srgbClr val="2A2742"/>
                </a:solidFill>
                <a:latin typeface="Arimo" pitchFamily="34" charset="0"/>
                <a:ea typeface="Arimo" pitchFamily="34" charset="-122"/>
                <a:cs typeface="Arimo" pitchFamily="34" charset="-120"/>
              </a:rPr>
              <a:t>Shoes should be clean and properly laced up.</a:t>
            </a:r>
            <a:endParaRPr lang="en-US" sz="1300" dirty="0"/>
          </a:p>
        </p:txBody>
      </p:sp>
      <p:sp>
        <p:nvSpPr>
          <p:cNvPr id="7" name="Text 4"/>
          <p:cNvSpPr/>
          <p:nvPr/>
        </p:nvSpPr>
        <p:spPr>
          <a:xfrm>
            <a:off x="592574" y="2784753"/>
            <a:ext cx="7958852" cy="677228"/>
          </a:xfrm>
          <a:prstGeom prst="rect">
            <a:avLst/>
          </a:prstGeom>
          <a:noFill/>
          <a:ln/>
        </p:spPr>
        <p:txBody>
          <a:bodyPr wrap="square" lIns="0" tIns="0" rIns="0" bIns="0" rtlCol="0" anchor="t"/>
          <a:lstStyle/>
          <a:p>
            <a:pPr marL="342900" indent="-342900">
              <a:lnSpc>
                <a:spcPts val="2100"/>
              </a:lnSpc>
              <a:buSzPct val="100000"/>
              <a:buChar char="•"/>
            </a:pPr>
            <a:r>
              <a:rPr lang="en-US" sz="1300" dirty="0">
                <a:solidFill>
                  <a:srgbClr val="2A2742"/>
                </a:solidFill>
                <a:latin typeface="Arimo" pitchFamily="34" charset="0"/>
                <a:ea typeface="Arimo" pitchFamily="34" charset="-122"/>
                <a:cs typeface="Arimo" pitchFamily="34" charset="-120"/>
              </a:rPr>
              <a:t>Caps should be rightly placed on the head, not too far back or close to the front hairline.</a:t>
            </a:r>
            <a:endParaRPr lang="en-US" sz="1300" dirty="0"/>
          </a:p>
        </p:txBody>
      </p:sp>
      <p:sp>
        <p:nvSpPr>
          <p:cNvPr id="8" name="Text 5"/>
          <p:cNvSpPr/>
          <p:nvPr/>
        </p:nvSpPr>
        <p:spPr>
          <a:xfrm>
            <a:off x="592574" y="3715941"/>
            <a:ext cx="2116336" cy="264557"/>
          </a:xfrm>
          <a:prstGeom prst="rect">
            <a:avLst/>
          </a:prstGeom>
          <a:noFill/>
          <a:ln/>
        </p:spPr>
        <p:txBody>
          <a:bodyPr wrap="none" lIns="0" tIns="0" rIns="0" bIns="0" rtlCol="0" anchor="t"/>
          <a:lstStyle/>
          <a:p>
            <a:pPr indent="0" marL="0">
              <a:lnSpc>
                <a:spcPts val="2050"/>
              </a:lnSpc>
              <a:buNone/>
            </a:pPr>
            <a:r>
              <a:rPr lang="en-US" sz="1650" b="1" dirty="0">
                <a:solidFill>
                  <a:srgbClr val="231971"/>
                </a:solidFill>
                <a:latin typeface="Outfit Extra Bold" pitchFamily="34" charset="0"/>
                <a:ea typeface="Outfit Extra Bold" pitchFamily="34" charset="-122"/>
                <a:cs typeface="Outfit Extra Bold" pitchFamily="34" charset="-120"/>
              </a:rPr>
              <a:t>Hair Set up</a:t>
            </a:r>
            <a:endParaRPr lang="en-US" sz="1650" dirty="0"/>
          </a:p>
        </p:txBody>
      </p:sp>
      <p:sp>
        <p:nvSpPr>
          <p:cNvPr id="9" name="Text 6"/>
          <p:cNvSpPr/>
          <p:nvPr/>
        </p:nvSpPr>
        <p:spPr>
          <a:xfrm>
            <a:off x="592574" y="4234458"/>
            <a:ext cx="7958852" cy="338614"/>
          </a:xfrm>
          <a:prstGeom prst="rect">
            <a:avLst/>
          </a:prstGeom>
          <a:noFill/>
          <a:ln/>
        </p:spPr>
        <p:txBody>
          <a:bodyPr wrap="none" lIns="0" tIns="0" rIns="0" bIns="0" rtlCol="0" anchor="t"/>
          <a:lstStyle/>
          <a:p>
            <a:pPr marL="342900" indent="-342900">
              <a:lnSpc>
                <a:spcPts val="2100"/>
              </a:lnSpc>
              <a:buSzPct val="100000"/>
              <a:buChar char="•"/>
            </a:pPr>
            <a:r>
              <a:rPr lang="en-US" sz="1300" dirty="0">
                <a:solidFill>
                  <a:srgbClr val="2A2742"/>
                </a:solidFill>
                <a:latin typeface="Arimo" pitchFamily="34" charset="0"/>
                <a:ea typeface="Arimo" pitchFamily="34" charset="-122"/>
                <a:cs typeface="Arimo" pitchFamily="34" charset="-120"/>
              </a:rPr>
              <a:t>Hair should be clean, trimmed and neatly combed or arranged.</a:t>
            </a:r>
            <a:endParaRPr lang="en-US" sz="1300" dirty="0"/>
          </a:p>
        </p:txBody>
      </p:sp>
      <p:sp>
        <p:nvSpPr>
          <p:cNvPr id="10" name="Text 7"/>
          <p:cNvSpPr/>
          <p:nvPr/>
        </p:nvSpPr>
        <p:spPr>
          <a:xfrm>
            <a:off x="592574" y="4632246"/>
            <a:ext cx="7958852" cy="338614"/>
          </a:xfrm>
          <a:prstGeom prst="rect">
            <a:avLst/>
          </a:prstGeom>
          <a:noFill/>
          <a:ln/>
        </p:spPr>
        <p:txBody>
          <a:bodyPr wrap="none" lIns="0" tIns="0" rIns="0" bIns="0" rtlCol="0" anchor="t"/>
          <a:lstStyle/>
          <a:p>
            <a:pPr marL="342900" indent="-342900">
              <a:lnSpc>
                <a:spcPts val="2100"/>
              </a:lnSpc>
              <a:buSzPct val="100000"/>
              <a:buChar char="•"/>
            </a:pPr>
            <a:r>
              <a:rPr lang="en-US" sz="1300" dirty="0">
                <a:solidFill>
                  <a:srgbClr val="2A2742"/>
                </a:solidFill>
                <a:latin typeface="Arimo" pitchFamily="34" charset="0"/>
                <a:ea typeface="Arimo" pitchFamily="34" charset="-122"/>
                <a:cs typeface="Arimo" pitchFamily="34" charset="-120"/>
              </a:rPr>
              <a:t>It should be tied up according to the organization policy.</a:t>
            </a:r>
            <a:endParaRPr lang="en-US" sz="1300" dirty="0"/>
          </a:p>
        </p:txBody>
      </p:sp>
      <p:sp>
        <p:nvSpPr>
          <p:cNvPr id="11" name="Text 8"/>
          <p:cNvSpPr/>
          <p:nvPr/>
        </p:nvSpPr>
        <p:spPr>
          <a:xfrm>
            <a:off x="592574" y="5030033"/>
            <a:ext cx="7958852" cy="677228"/>
          </a:xfrm>
          <a:prstGeom prst="rect">
            <a:avLst/>
          </a:prstGeom>
          <a:noFill/>
          <a:ln/>
        </p:spPr>
        <p:txBody>
          <a:bodyPr wrap="square" lIns="0" tIns="0" rIns="0" bIns="0" rtlCol="0" anchor="t"/>
          <a:lstStyle/>
          <a:p>
            <a:pPr marL="342900" indent="-342900">
              <a:lnSpc>
                <a:spcPts val="2100"/>
              </a:lnSpc>
              <a:buSzPct val="100000"/>
              <a:buChar char="•"/>
            </a:pPr>
            <a:r>
              <a:rPr lang="en-US" sz="1300" dirty="0">
                <a:solidFill>
                  <a:srgbClr val="2A2742"/>
                </a:solidFill>
                <a:latin typeface="Arimo" pitchFamily="34" charset="0"/>
                <a:ea typeface="Arimo" pitchFamily="34" charset="-122"/>
                <a:cs typeface="Arimo" pitchFamily="34" charset="-120"/>
              </a:rPr>
              <a:t>When providing direct care hair should not be longer than shoulder length as it may interfere with patient care.</a:t>
            </a:r>
            <a:endParaRPr lang="en-US" sz="1300" dirty="0"/>
          </a:p>
        </p:txBody>
      </p:sp>
      <p:sp>
        <p:nvSpPr>
          <p:cNvPr id="12" name="Text 9"/>
          <p:cNvSpPr/>
          <p:nvPr/>
        </p:nvSpPr>
        <p:spPr>
          <a:xfrm>
            <a:off x="592574" y="5766435"/>
            <a:ext cx="7958852" cy="338614"/>
          </a:xfrm>
          <a:prstGeom prst="rect">
            <a:avLst/>
          </a:prstGeom>
          <a:noFill/>
          <a:ln/>
        </p:spPr>
        <p:txBody>
          <a:bodyPr wrap="none" lIns="0" tIns="0" rIns="0" bIns="0" rtlCol="0" anchor="t"/>
          <a:lstStyle/>
          <a:p>
            <a:pPr marL="342900" indent="-342900">
              <a:lnSpc>
                <a:spcPts val="2100"/>
              </a:lnSpc>
              <a:buSzPct val="100000"/>
              <a:buChar char="•"/>
            </a:pPr>
            <a:r>
              <a:rPr lang="en-US" sz="1300" dirty="0">
                <a:solidFill>
                  <a:srgbClr val="2A2742"/>
                </a:solidFill>
                <a:latin typeface="Arimo" pitchFamily="34" charset="0"/>
                <a:ea typeface="Arimo" pitchFamily="34" charset="-122"/>
                <a:cs typeface="Arimo" pitchFamily="34" charset="-120"/>
              </a:rPr>
              <a:t>Attractive rubber bands and pins should be avoided.</a:t>
            </a:r>
            <a:endParaRPr lang="en-US" sz="1300" dirty="0"/>
          </a:p>
        </p:txBody>
      </p:sp>
      <p:sp>
        <p:nvSpPr>
          <p:cNvPr id="13" name="Text 10"/>
          <p:cNvSpPr/>
          <p:nvPr/>
        </p:nvSpPr>
        <p:spPr>
          <a:xfrm>
            <a:off x="592574" y="6164223"/>
            <a:ext cx="7958852" cy="338614"/>
          </a:xfrm>
          <a:prstGeom prst="rect">
            <a:avLst/>
          </a:prstGeom>
          <a:noFill/>
          <a:ln/>
        </p:spPr>
        <p:txBody>
          <a:bodyPr wrap="none" lIns="0" tIns="0" rIns="0" bIns="0" rtlCol="0" anchor="t"/>
          <a:lstStyle/>
          <a:p>
            <a:pPr marL="342900" indent="-342900">
              <a:lnSpc>
                <a:spcPts val="2100"/>
              </a:lnSpc>
              <a:buSzPct val="100000"/>
              <a:buChar char="•"/>
            </a:pPr>
            <a:r>
              <a:rPr lang="en-US" sz="1300" dirty="0">
                <a:solidFill>
                  <a:srgbClr val="2A2742"/>
                </a:solidFill>
                <a:latin typeface="Arimo" pitchFamily="34" charset="0"/>
                <a:ea typeface="Arimo" pitchFamily="34" charset="-122"/>
                <a:cs typeface="Arimo" pitchFamily="34" charset="-120"/>
              </a:rPr>
              <a:t>Hair coloring must look natural.</a:t>
            </a:r>
            <a:endParaRPr lang="en-US" sz="1300" dirty="0"/>
          </a:p>
        </p:txBody>
      </p:sp>
      <p:sp>
        <p:nvSpPr>
          <p:cNvPr id="14" name="Text 11"/>
          <p:cNvSpPr/>
          <p:nvPr/>
        </p:nvSpPr>
        <p:spPr>
          <a:xfrm>
            <a:off x="592574" y="6562011"/>
            <a:ext cx="7958852" cy="338614"/>
          </a:xfrm>
          <a:prstGeom prst="rect">
            <a:avLst/>
          </a:prstGeom>
          <a:noFill/>
          <a:ln/>
        </p:spPr>
        <p:txBody>
          <a:bodyPr wrap="none" lIns="0" tIns="0" rIns="0" bIns="0" rtlCol="0" anchor="t"/>
          <a:lstStyle/>
          <a:p>
            <a:pPr marL="342900" indent="-342900">
              <a:lnSpc>
                <a:spcPts val="2100"/>
              </a:lnSpc>
              <a:buSzPct val="100000"/>
              <a:buChar char="•"/>
            </a:pPr>
            <a:r>
              <a:rPr lang="en-US" sz="1300" dirty="0">
                <a:solidFill>
                  <a:srgbClr val="2A2742"/>
                </a:solidFill>
                <a:latin typeface="Arimo" pitchFamily="34" charset="0"/>
                <a:ea typeface="Arimo" pitchFamily="34" charset="-122"/>
                <a:cs typeface="Arimo" pitchFamily="34" charset="-120"/>
              </a:rPr>
              <a:t>For men hair should be above the ears and not touch the neck collar.</a:t>
            </a:r>
            <a:endParaRPr lang="en-US" sz="1300" dirty="0"/>
          </a:p>
        </p:txBody>
      </p:sp>
      <p:sp>
        <p:nvSpPr>
          <p:cNvPr id="15" name="Text 12"/>
          <p:cNvSpPr/>
          <p:nvPr/>
        </p:nvSpPr>
        <p:spPr>
          <a:xfrm>
            <a:off x="592574" y="6959798"/>
            <a:ext cx="7958852" cy="338614"/>
          </a:xfrm>
          <a:prstGeom prst="rect">
            <a:avLst/>
          </a:prstGeom>
          <a:noFill/>
          <a:ln/>
        </p:spPr>
        <p:txBody>
          <a:bodyPr wrap="none" lIns="0" tIns="0" rIns="0" bIns="0" rtlCol="0" anchor="t"/>
          <a:lstStyle/>
          <a:p>
            <a:pPr marL="342900" indent="-342900">
              <a:lnSpc>
                <a:spcPts val="2100"/>
              </a:lnSpc>
              <a:buSzPct val="100000"/>
              <a:buChar char="•"/>
            </a:pPr>
            <a:r>
              <a:rPr lang="en-US" sz="1300" dirty="0">
                <a:solidFill>
                  <a:srgbClr val="2A2742"/>
                </a:solidFill>
                <a:latin typeface="Arimo" pitchFamily="34" charset="0"/>
                <a:ea typeface="Arimo" pitchFamily="34" charset="-122"/>
                <a:cs typeface="Arimo" pitchFamily="34" charset="-120"/>
              </a:rPr>
              <a:t>Moustache should be well groomed and not grown beyond the mouth corners.</a:t>
            </a:r>
            <a:endParaRPr lang="en-US" sz="1300" dirty="0"/>
          </a:p>
        </p:txBody>
      </p:sp>
      <p:sp>
        <p:nvSpPr>
          <p:cNvPr id="16" name="Text 13"/>
          <p:cNvSpPr/>
          <p:nvPr/>
        </p:nvSpPr>
        <p:spPr>
          <a:xfrm>
            <a:off x="592574" y="7488793"/>
            <a:ext cx="7958852" cy="270867"/>
          </a:xfrm>
          <a:prstGeom prst="rect">
            <a:avLst/>
          </a:prstGeom>
          <a:noFill/>
          <a:ln/>
        </p:spPr>
        <p:txBody>
          <a:bodyPr wrap="none" lIns="0" tIns="0" rIns="0" bIns="0" rtlCol="0" anchor="t"/>
          <a:lstStyle/>
          <a:p>
            <a:pPr indent="0" marL="0">
              <a:lnSpc>
                <a:spcPts val="2100"/>
              </a:lnSpc>
              <a:buNone/>
            </a:pP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536859"/>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Jewellery</a:t>
            </a:r>
            <a:endParaRPr lang="en-US" sz="2200" dirty="0"/>
          </a:p>
        </p:txBody>
      </p:sp>
      <p:sp>
        <p:nvSpPr>
          <p:cNvPr id="4" name="Text 1"/>
          <p:cNvSpPr/>
          <p:nvPr/>
        </p:nvSpPr>
        <p:spPr>
          <a:xfrm>
            <a:off x="6280190" y="2118003"/>
            <a:ext cx="7556421" cy="1360527"/>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Jewellery must be kept to a minimum and banned in some areas so as to safeguard from injury or transmission of infection.</a:t>
            </a:r>
            <a:endParaRPr lang="en-US" sz="1750" dirty="0"/>
          </a:p>
        </p:txBody>
      </p:sp>
      <p:sp>
        <p:nvSpPr>
          <p:cNvPr id="5" name="Text 2"/>
          <p:cNvSpPr/>
          <p:nvPr/>
        </p:nvSpPr>
        <p:spPr>
          <a:xfrm>
            <a:off x="6280190" y="3557826"/>
            <a:ext cx="7556421" cy="907018"/>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While in uniform large and dangling ear rings should be avoided.</a:t>
            </a:r>
            <a:endParaRPr lang="en-US" sz="1750" dirty="0"/>
          </a:p>
        </p:txBody>
      </p:sp>
      <p:sp>
        <p:nvSpPr>
          <p:cNvPr id="6" name="Text 3"/>
          <p:cNvSpPr/>
          <p:nvPr/>
        </p:nvSpPr>
        <p:spPr>
          <a:xfrm>
            <a:off x="6280190" y="4544139"/>
            <a:ext cx="7556421" cy="453509"/>
          </a:xfrm>
          <a:prstGeom prst="rect">
            <a:avLst/>
          </a:prstGeom>
          <a:noFill/>
          <a:ln/>
        </p:spPr>
        <p:txBody>
          <a:bodyPr wrap="none" lIns="0" tIns="0" rIns="0" bIns="0" rtlCol="0" anchor="t"/>
          <a:lstStyle/>
          <a:p>
            <a:pPr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Necklaces should not show above the shirt line.</a:t>
            </a:r>
            <a:endParaRPr lang="en-US" sz="1750" dirty="0"/>
          </a:p>
        </p:txBody>
      </p:sp>
      <p:sp>
        <p:nvSpPr>
          <p:cNvPr id="7" name="Text 4"/>
          <p:cNvSpPr/>
          <p:nvPr/>
        </p:nvSpPr>
        <p:spPr>
          <a:xfrm>
            <a:off x="6280190" y="5076944"/>
            <a:ext cx="7556421" cy="907018"/>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Body piercing is not advisable except for ear rings for women.</a:t>
            </a:r>
            <a:endParaRPr lang="en-US" sz="1750" dirty="0"/>
          </a:p>
        </p:txBody>
      </p:sp>
      <p:sp>
        <p:nvSpPr>
          <p:cNvPr id="8" name="Text 5"/>
          <p:cNvSpPr/>
          <p:nvPr/>
        </p:nvSpPr>
        <p:spPr>
          <a:xfrm>
            <a:off x="6280190" y="6239113"/>
            <a:ext cx="7556421" cy="453509"/>
          </a:xfrm>
          <a:prstGeom prst="rect">
            <a:avLst/>
          </a:prstGeom>
          <a:noFill/>
          <a:ln/>
        </p:spPr>
        <p:txBody>
          <a:bodyPr wrap="none" lIns="0" tIns="0" rIns="0" bIns="0" rtlCol="0" anchor="t"/>
          <a:lstStyle/>
          <a:p>
            <a:pPr indent="0" marL="0">
              <a:lnSpc>
                <a:spcPts val="3550"/>
              </a:lnSpc>
              <a:buNone/>
            </a:pP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39735" y="792837"/>
            <a:ext cx="2641997" cy="330160"/>
          </a:xfrm>
          <a:prstGeom prst="rect">
            <a:avLst/>
          </a:prstGeom>
          <a:noFill/>
          <a:ln/>
        </p:spPr>
        <p:txBody>
          <a:bodyPr wrap="none" lIns="0" tIns="0" rIns="0" bIns="0" rtlCol="0" anchor="t"/>
          <a:lstStyle/>
          <a:p>
            <a:pPr indent="0" marL="0">
              <a:lnSpc>
                <a:spcPts val="2600"/>
              </a:lnSpc>
              <a:buNone/>
            </a:pPr>
            <a:r>
              <a:rPr lang="en-US" sz="2050" b="1" dirty="0">
                <a:solidFill>
                  <a:srgbClr val="231971"/>
                </a:solidFill>
                <a:latin typeface="Outfit Extra Bold" pitchFamily="34" charset="0"/>
                <a:ea typeface="Outfit Extra Bold" pitchFamily="34" charset="-122"/>
                <a:cs typeface="Outfit Extra Bold" pitchFamily="34" charset="-120"/>
              </a:rPr>
              <a:t>Make up</a:t>
            </a:r>
            <a:endParaRPr lang="en-US" sz="2050" dirty="0"/>
          </a:p>
        </p:txBody>
      </p:sp>
      <p:sp>
        <p:nvSpPr>
          <p:cNvPr id="4" name="Text 1"/>
          <p:cNvSpPr/>
          <p:nvPr/>
        </p:nvSpPr>
        <p:spPr>
          <a:xfrm>
            <a:off x="739735" y="1360765"/>
            <a:ext cx="7664529" cy="422672"/>
          </a:xfrm>
          <a:prstGeom prst="rect">
            <a:avLst/>
          </a:prstGeom>
          <a:noFill/>
          <a:ln/>
        </p:spPr>
        <p:txBody>
          <a:bodyPr wrap="none" lIns="0" tIns="0" rIns="0" bIns="0" rtlCol="0" anchor="t"/>
          <a:lstStyle/>
          <a:p>
            <a:pPr indent="0" marL="0">
              <a:lnSpc>
                <a:spcPts val="3300"/>
              </a:lnSpc>
              <a:buNone/>
            </a:pPr>
            <a:r>
              <a:rPr lang="en-US" sz="2050" dirty="0">
                <a:solidFill>
                  <a:srgbClr val="2A2742"/>
                </a:solidFill>
                <a:latin typeface="Arimo" pitchFamily="34" charset="0"/>
                <a:ea typeface="Arimo" pitchFamily="34" charset="-122"/>
                <a:cs typeface="Arimo" pitchFamily="34" charset="-120"/>
              </a:rPr>
              <a:t>• Make up should be used sparingly.</a:t>
            </a:r>
            <a:endParaRPr lang="en-US" sz="2050" dirty="0"/>
          </a:p>
        </p:txBody>
      </p:sp>
      <p:sp>
        <p:nvSpPr>
          <p:cNvPr id="5" name="Text 2"/>
          <p:cNvSpPr/>
          <p:nvPr/>
        </p:nvSpPr>
        <p:spPr>
          <a:xfrm>
            <a:off x="739735" y="2021205"/>
            <a:ext cx="7664529" cy="422672"/>
          </a:xfrm>
          <a:prstGeom prst="rect">
            <a:avLst/>
          </a:prstGeom>
          <a:noFill/>
          <a:ln/>
        </p:spPr>
        <p:txBody>
          <a:bodyPr wrap="none" lIns="0" tIns="0" rIns="0" bIns="0" rtlCol="0" anchor="t"/>
          <a:lstStyle/>
          <a:p>
            <a:pPr indent="0" marL="0">
              <a:lnSpc>
                <a:spcPts val="3300"/>
              </a:lnSpc>
              <a:buNone/>
            </a:pPr>
            <a:r>
              <a:rPr lang="en-US" sz="2050" dirty="0">
                <a:solidFill>
                  <a:srgbClr val="2A2742"/>
                </a:solidFill>
                <a:latin typeface="Arimo" pitchFamily="34" charset="0"/>
                <a:ea typeface="Arimo" pitchFamily="34" charset="-122"/>
                <a:cs typeface="Arimo" pitchFamily="34" charset="-120"/>
              </a:rPr>
              <a:t>• When used it should blend with natural skin color and features.</a:t>
            </a:r>
            <a:endParaRPr lang="en-US" sz="2050" dirty="0"/>
          </a:p>
        </p:txBody>
      </p:sp>
      <p:sp>
        <p:nvSpPr>
          <p:cNvPr id="6" name="Text 3"/>
          <p:cNvSpPr/>
          <p:nvPr/>
        </p:nvSpPr>
        <p:spPr>
          <a:xfrm>
            <a:off x="739735" y="2681645"/>
            <a:ext cx="7664529" cy="845344"/>
          </a:xfrm>
          <a:prstGeom prst="rect">
            <a:avLst/>
          </a:prstGeom>
          <a:noFill/>
          <a:ln/>
        </p:spPr>
        <p:txBody>
          <a:bodyPr wrap="square" lIns="0" tIns="0" rIns="0" bIns="0" rtlCol="0" anchor="t"/>
          <a:lstStyle/>
          <a:p>
            <a:pPr indent="0" marL="0">
              <a:lnSpc>
                <a:spcPts val="3300"/>
              </a:lnSpc>
              <a:buNone/>
            </a:pPr>
            <a:r>
              <a:rPr lang="en-US" sz="2050" dirty="0">
                <a:solidFill>
                  <a:srgbClr val="2A2742"/>
                </a:solidFill>
                <a:latin typeface="Arimo" pitchFamily="34" charset="0"/>
                <a:ea typeface="Arimo" pitchFamily="34" charset="-122"/>
                <a:cs typeface="Arimo" pitchFamily="34" charset="-120"/>
              </a:rPr>
              <a:t>• Lipstick color should be conservative and compatible with the individual.</a:t>
            </a:r>
            <a:endParaRPr lang="en-US" sz="2050" dirty="0"/>
          </a:p>
        </p:txBody>
      </p:sp>
      <p:sp>
        <p:nvSpPr>
          <p:cNvPr id="7" name="Text 4"/>
          <p:cNvSpPr/>
          <p:nvPr/>
        </p:nvSpPr>
        <p:spPr>
          <a:xfrm>
            <a:off x="739735" y="3764756"/>
            <a:ext cx="7664529" cy="422672"/>
          </a:xfrm>
          <a:prstGeom prst="rect">
            <a:avLst/>
          </a:prstGeom>
          <a:noFill/>
          <a:ln/>
        </p:spPr>
        <p:txBody>
          <a:bodyPr wrap="none" lIns="0" tIns="0" rIns="0" bIns="0" rtlCol="0" anchor="t"/>
          <a:lstStyle/>
          <a:p>
            <a:pPr indent="0" marL="0">
              <a:lnSpc>
                <a:spcPts val="3300"/>
              </a:lnSpc>
              <a:buNone/>
            </a:pPr>
            <a:r>
              <a:rPr lang="en-US" sz="2050" dirty="0">
                <a:solidFill>
                  <a:srgbClr val="2A2742"/>
                </a:solidFill>
                <a:latin typeface="Arimo" pitchFamily="34" charset="0"/>
                <a:ea typeface="Arimo" pitchFamily="34" charset="-122"/>
                <a:cs typeface="Arimo" pitchFamily="34" charset="-120"/>
              </a:rPr>
              <a:t>• Artificial eyelashes should be avoided.</a:t>
            </a:r>
            <a:endParaRPr lang="en-US" sz="2050" dirty="0"/>
          </a:p>
        </p:txBody>
      </p:sp>
      <p:sp>
        <p:nvSpPr>
          <p:cNvPr id="8" name="Text 5"/>
          <p:cNvSpPr/>
          <p:nvPr/>
        </p:nvSpPr>
        <p:spPr>
          <a:xfrm>
            <a:off x="739735" y="4425196"/>
            <a:ext cx="7664529" cy="845344"/>
          </a:xfrm>
          <a:prstGeom prst="rect">
            <a:avLst/>
          </a:prstGeom>
          <a:noFill/>
          <a:ln/>
        </p:spPr>
        <p:txBody>
          <a:bodyPr wrap="square" lIns="0" tIns="0" rIns="0" bIns="0" rtlCol="0" anchor="t"/>
          <a:lstStyle/>
          <a:p>
            <a:pPr indent="0" marL="0">
              <a:lnSpc>
                <a:spcPts val="3300"/>
              </a:lnSpc>
              <a:buNone/>
            </a:pPr>
            <a:r>
              <a:rPr lang="en-US" sz="2050" dirty="0">
                <a:solidFill>
                  <a:srgbClr val="2A2742"/>
                </a:solidFill>
                <a:latin typeface="Arimo" pitchFamily="34" charset="0"/>
                <a:ea typeface="Arimo" pitchFamily="34" charset="-122"/>
                <a:cs typeface="Arimo" pitchFamily="34" charset="-120"/>
              </a:rPr>
              <a:t>Fragrance that smells from a distance or lingers even after leaving should be avoided.</a:t>
            </a:r>
            <a:endParaRPr lang="en-US" sz="2050" dirty="0"/>
          </a:p>
        </p:txBody>
      </p:sp>
      <p:sp>
        <p:nvSpPr>
          <p:cNvPr id="9" name="Text 6"/>
          <p:cNvSpPr/>
          <p:nvPr/>
        </p:nvSpPr>
        <p:spPr>
          <a:xfrm>
            <a:off x="739735" y="5508308"/>
            <a:ext cx="7664529" cy="1268016"/>
          </a:xfrm>
          <a:prstGeom prst="rect">
            <a:avLst/>
          </a:prstGeom>
          <a:noFill/>
          <a:ln/>
        </p:spPr>
        <p:txBody>
          <a:bodyPr wrap="square" lIns="0" tIns="0" rIns="0" bIns="0" rtlCol="0" anchor="t"/>
          <a:lstStyle/>
          <a:p>
            <a:pPr indent="0" marL="0">
              <a:lnSpc>
                <a:spcPts val="3300"/>
              </a:lnSpc>
              <a:buNone/>
            </a:pPr>
            <a:r>
              <a:rPr lang="en-US" sz="2050" dirty="0">
                <a:solidFill>
                  <a:srgbClr val="2A2742"/>
                </a:solidFill>
                <a:latin typeface="Arimo" pitchFamily="34" charset="0"/>
                <a:ea typeface="Arimo" pitchFamily="34" charset="-122"/>
                <a:cs typeface="Arimo" pitchFamily="34" charset="-120"/>
              </a:rPr>
              <a:t>• Scented body lotions, fragrances and colognes should not be used to excess in patient areas as it may cause irritation to patients.</a:t>
            </a:r>
            <a:endParaRPr lang="en-US" sz="2050" dirty="0"/>
          </a:p>
        </p:txBody>
      </p:sp>
      <p:sp>
        <p:nvSpPr>
          <p:cNvPr id="10" name="Text 7"/>
          <p:cNvSpPr/>
          <p:nvPr/>
        </p:nvSpPr>
        <p:spPr>
          <a:xfrm>
            <a:off x="739735" y="7014091"/>
            <a:ext cx="7664529" cy="422672"/>
          </a:xfrm>
          <a:prstGeom prst="rect">
            <a:avLst/>
          </a:prstGeom>
          <a:noFill/>
          <a:ln/>
        </p:spPr>
        <p:txBody>
          <a:bodyPr wrap="none" lIns="0" tIns="0" rIns="0" bIns="0" rtlCol="0" anchor="t"/>
          <a:lstStyle/>
          <a:p>
            <a:pPr indent="0" marL="0">
              <a:lnSpc>
                <a:spcPts val="3300"/>
              </a:lnSpc>
              <a:buNone/>
            </a:pPr>
            <a:endParaRPr lang="en-US" sz="2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850702"/>
            <a:ext cx="2835235" cy="354330"/>
          </a:xfrm>
          <a:prstGeom prst="rect">
            <a:avLst/>
          </a:prstGeom>
          <a:noFill/>
          <a:ln/>
        </p:spPr>
        <p:txBody>
          <a:bodyPr wrap="none" lIns="0" tIns="0" rIns="0" bIns="0" rtlCol="0" anchor="t"/>
          <a:lstStyle/>
          <a:p>
            <a:pPr indent="0" marL="0">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Nails</a:t>
            </a:r>
            <a:endParaRPr lang="en-US" sz="2200" dirty="0"/>
          </a:p>
        </p:txBody>
      </p:sp>
      <p:sp>
        <p:nvSpPr>
          <p:cNvPr id="4" name="Text 1"/>
          <p:cNvSpPr/>
          <p:nvPr/>
        </p:nvSpPr>
        <p:spPr>
          <a:xfrm>
            <a:off x="793790" y="1460183"/>
            <a:ext cx="7556421" cy="1360527"/>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As long finger nails can have bacteria and transmit infection, nurses involved in direct patient care should follow below guidelines:</a:t>
            </a:r>
            <a:endParaRPr lang="en-US" sz="2200" dirty="0"/>
          </a:p>
        </p:txBody>
      </p:sp>
      <p:sp>
        <p:nvSpPr>
          <p:cNvPr id="5" name="Text 2"/>
          <p:cNvSpPr/>
          <p:nvPr/>
        </p:nvSpPr>
        <p:spPr>
          <a:xfrm>
            <a:off x="793790" y="3075861"/>
            <a:ext cx="7556421" cy="907018"/>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 Nails should be trimmed and not to exceed ½ inch from the tip of the finger.</a:t>
            </a:r>
            <a:endParaRPr lang="en-US" sz="2200" dirty="0"/>
          </a:p>
        </p:txBody>
      </p:sp>
      <p:sp>
        <p:nvSpPr>
          <p:cNvPr id="6" name="Text 3"/>
          <p:cNvSpPr/>
          <p:nvPr/>
        </p:nvSpPr>
        <p:spPr>
          <a:xfrm>
            <a:off x="793790" y="4238030"/>
            <a:ext cx="7556421" cy="907018"/>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 Nail polish or artificial nails including nail art should be avoided to prevent transmission of infection.</a:t>
            </a:r>
            <a:endParaRPr lang="en-US" sz="2200" dirty="0"/>
          </a:p>
        </p:txBody>
      </p:sp>
      <p:sp>
        <p:nvSpPr>
          <p:cNvPr id="7" name="Text 4"/>
          <p:cNvSpPr/>
          <p:nvPr/>
        </p:nvSpPr>
        <p:spPr>
          <a:xfrm>
            <a:off x="793790" y="5400199"/>
            <a:ext cx="7556421" cy="1360527"/>
          </a:xfrm>
          <a:prstGeom prst="rect">
            <a:avLst/>
          </a:prstGeom>
          <a:noFill/>
          <a:ln/>
        </p:spPr>
        <p:txBody>
          <a:bodyPr wrap="square" lIns="0" tIns="0" rIns="0" bIns="0" rtlCol="0" anchor="t"/>
          <a:lstStyle/>
          <a:p>
            <a:pPr indent="0" marL="0">
              <a:lnSpc>
                <a:spcPts val="3550"/>
              </a:lnSpc>
              <a:buNone/>
            </a:pPr>
            <a:r>
              <a:rPr lang="en-US" sz="2200" dirty="0">
                <a:solidFill>
                  <a:srgbClr val="2A2742"/>
                </a:solidFill>
                <a:latin typeface="Arimo" pitchFamily="34" charset="0"/>
                <a:ea typeface="Arimo" pitchFamily="34" charset="-122"/>
                <a:cs typeface="Arimo" pitchFamily="34" charset="-120"/>
              </a:rPr>
              <a:t>Grooming process of a professional nurse should begin from the student period itself as poor professional grooming may lead to poor image.</a:t>
            </a:r>
            <a:endParaRPr lang="en-US" sz="2200" dirty="0"/>
          </a:p>
        </p:txBody>
      </p:sp>
      <p:sp>
        <p:nvSpPr>
          <p:cNvPr id="8" name="Text 5"/>
          <p:cNvSpPr/>
          <p:nvPr/>
        </p:nvSpPr>
        <p:spPr>
          <a:xfrm>
            <a:off x="793790" y="7015877"/>
            <a:ext cx="7556421" cy="362903"/>
          </a:xfrm>
          <a:prstGeom prst="rect">
            <a:avLst/>
          </a:prstGeom>
          <a:noFill/>
          <a:ln/>
        </p:spPr>
        <p:txBody>
          <a:bodyPr wrap="none" lIns="0" tIns="0" rIns="0" bIns="0" rtlCol="0" anchor="t"/>
          <a:lstStyle/>
          <a:p>
            <a:pPr indent="0" marL="0">
              <a:lnSpc>
                <a:spcPts val="2850"/>
              </a:lnSpc>
              <a:buNone/>
            </a:pPr>
            <a:endParaRPr lang="en-US" sz="1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365694" y="1593294"/>
            <a:ext cx="5043011" cy="5043011"/>
          </a:xfrm>
          <a:prstGeom prst="rect">
            <a:avLst/>
          </a:prstGeom>
        </p:spPr>
      </p:pic>
      <p:sp>
        <p:nvSpPr>
          <p:cNvPr id="4" name="Text 0"/>
          <p:cNvSpPr/>
          <p:nvPr/>
        </p:nvSpPr>
        <p:spPr>
          <a:xfrm>
            <a:off x="620673" y="529233"/>
            <a:ext cx="7902654" cy="1108472"/>
          </a:xfrm>
          <a:prstGeom prst="rect">
            <a:avLst/>
          </a:prstGeom>
          <a:noFill/>
          <a:ln/>
        </p:spPr>
        <p:txBody>
          <a:bodyPr wrap="square" lIns="0" tIns="0" rIns="0" bIns="0" rtlCol="0" anchor="t"/>
          <a:lstStyle/>
          <a:p>
            <a:pPr indent="0" marL="0">
              <a:lnSpc>
                <a:spcPts val="4350"/>
              </a:lnSpc>
              <a:buNone/>
            </a:pPr>
            <a:r>
              <a:rPr lang="en-US" sz="3450" b="1" dirty="0">
                <a:solidFill>
                  <a:srgbClr val="231971"/>
                </a:solidFill>
                <a:latin typeface="Outfit Extra Bold" pitchFamily="34" charset="0"/>
                <a:ea typeface="Outfit Extra Bold" pitchFamily="34" charset="-122"/>
                <a:cs typeface="Outfit Extra Bold" pitchFamily="34" charset="-120"/>
              </a:rPr>
              <a:t>ROLE OF NURSE IN EMPOWERING OTHERS</a:t>
            </a:r>
            <a:endParaRPr lang="en-US" sz="3450" dirty="0"/>
          </a:p>
        </p:txBody>
      </p:sp>
      <p:sp>
        <p:nvSpPr>
          <p:cNvPr id="5" name="Text 1"/>
          <p:cNvSpPr/>
          <p:nvPr/>
        </p:nvSpPr>
        <p:spPr>
          <a:xfrm>
            <a:off x="620673" y="1903690"/>
            <a:ext cx="7902654" cy="709374"/>
          </a:xfrm>
          <a:prstGeom prst="rect">
            <a:avLst/>
          </a:prstGeom>
          <a:noFill/>
          <a:ln/>
        </p:spPr>
        <p:txBody>
          <a:bodyPr wrap="square" lIns="0" tIns="0" rIns="0" bIns="0" rtlCol="0" anchor="t"/>
          <a:lstStyle/>
          <a:p>
            <a:pPr marL="342900" indent="-342900">
              <a:lnSpc>
                <a:spcPts val="2200"/>
              </a:lnSpc>
              <a:buSzPct val="100000"/>
              <a:buChar char="•"/>
            </a:pPr>
            <a:r>
              <a:rPr lang="en-US" sz="1350" dirty="0">
                <a:solidFill>
                  <a:srgbClr val="2A2742"/>
                </a:solidFill>
                <a:latin typeface="Arimo" pitchFamily="34" charset="0"/>
                <a:ea typeface="Arimo" pitchFamily="34" charset="-122"/>
                <a:cs typeface="Arimo" pitchFamily="34" charset="-120"/>
              </a:rPr>
              <a:t>Nurses play a vital role in empowering others, both patients and colleagues. They do this by providing education, support, and advocacy.</a:t>
            </a:r>
            <a:endParaRPr lang="en-US" sz="1350" dirty="0"/>
          </a:p>
        </p:txBody>
      </p:sp>
      <p:sp>
        <p:nvSpPr>
          <p:cNvPr id="6" name="Text 2"/>
          <p:cNvSpPr/>
          <p:nvPr/>
        </p:nvSpPr>
        <p:spPr>
          <a:xfrm>
            <a:off x="620673" y="2879050"/>
            <a:ext cx="4293275" cy="277058"/>
          </a:xfrm>
          <a:prstGeom prst="rect">
            <a:avLst/>
          </a:prstGeom>
          <a:noFill/>
          <a:ln/>
        </p:spPr>
        <p:txBody>
          <a:bodyPr wrap="none" lIns="0" tIns="0" rIns="0" bIns="0" rtlCol="0" anchor="t"/>
          <a:lstStyle/>
          <a:p>
            <a:pPr indent="0" marL="0">
              <a:lnSpc>
                <a:spcPts val="2150"/>
              </a:lnSpc>
              <a:buNone/>
            </a:pPr>
            <a:r>
              <a:rPr lang="en-US" sz="1700" b="1" dirty="0">
                <a:solidFill>
                  <a:srgbClr val="231971"/>
                </a:solidFill>
                <a:latin typeface="Outfit Extra Bold" pitchFamily="34" charset="0"/>
                <a:ea typeface="Outfit Extra Bold" pitchFamily="34" charset="-122"/>
                <a:cs typeface="Outfit Extra Bold" pitchFamily="34" charset="-120"/>
              </a:rPr>
              <a:t>Nurses' Role in Empowering Junior Nurses</a:t>
            </a:r>
            <a:endParaRPr lang="en-US" sz="1700" dirty="0"/>
          </a:p>
        </p:txBody>
      </p:sp>
      <p:sp>
        <p:nvSpPr>
          <p:cNvPr id="7" name="Text 3"/>
          <p:cNvSpPr/>
          <p:nvPr/>
        </p:nvSpPr>
        <p:spPr>
          <a:xfrm>
            <a:off x="620673" y="3422094"/>
            <a:ext cx="7902654" cy="709374"/>
          </a:xfrm>
          <a:prstGeom prst="rect">
            <a:avLst/>
          </a:prstGeom>
          <a:noFill/>
          <a:ln/>
        </p:spPr>
        <p:txBody>
          <a:bodyPr wrap="square" lIns="0" tIns="0" rIns="0" bIns="0" rtlCol="0" anchor="t"/>
          <a:lstStyle/>
          <a:p>
            <a:pPr marL="342900" indent="-342900">
              <a:lnSpc>
                <a:spcPts val="2200"/>
              </a:lnSpc>
              <a:buSzPct val="100000"/>
              <a:buChar char="•"/>
            </a:pPr>
            <a:r>
              <a:rPr lang="en-US" sz="1350" b="1" dirty="0">
                <a:solidFill>
                  <a:srgbClr val="2A2742"/>
                </a:solidFill>
                <a:latin typeface="Arimo" pitchFamily="34" charset="0"/>
                <a:ea typeface="Arimo" pitchFamily="34" charset="-122"/>
                <a:cs typeface="Arimo" pitchFamily="34" charset="-120"/>
              </a:rPr>
              <a:t>Build trust:</a:t>
            </a:r>
            <a:pPr indent="0" marL="0">
              <a:lnSpc>
                <a:spcPts val="2200"/>
              </a:lnSpc>
              <a:buNone/>
            </a:pPr>
            <a:r>
              <a:rPr lang="en-US" sz="1350" dirty="0">
                <a:solidFill>
                  <a:srgbClr val="2A2742"/>
                </a:solidFill>
                <a:latin typeface="Arimo" pitchFamily="34" charset="0"/>
                <a:ea typeface="Arimo" pitchFamily="34" charset="-122"/>
                <a:cs typeface="Arimo" pitchFamily="34" charset="-120"/>
              </a:rPr>
              <a:t> It is crucial to trust the employees to complete certain tasks and achieve goals on their own. </a:t>
            </a:r>
            <a:endParaRPr lang="en-US" sz="1350" dirty="0"/>
          </a:p>
        </p:txBody>
      </p:sp>
      <p:sp>
        <p:nvSpPr>
          <p:cNvPr id="8" name="Text 4"/>
          <p:cNvSpPr/>
          <p:nvPr/>
        </p:nvSpPr>
        <p:spPr>
          <a:xfrm>
            <a:off x="620673" y="4193500"/>
            <a:ext cx="7902654" cy="709374"/>
          </a:xfrm>
          <a:prstGeom prst="rect">
            <a:avLst/>
          </a:prstGeom>
          <a:noFill/>
          <a:ln/>
        </p:spPr>
        <p:txBody>
          <a:bodyPr wrap="square" lIns="0" tIns="0" rIns="0" bIns="0" rtlCol="0" anchor="t"/>
          <a:lstStyle/>
          <a:p>
            <a:pPr marL="342900" indent="-342900">
              <a:lnSpc>
                <a:spcPts val="2200"/>
              </a:lnSpc>
              <a:buSzPct val="100000"/>
              <a:buChar char="•"/>
            </a:pPr>
            <a:r>
              <a:rPr lang="en-US" sz="1350" b="1" dirty="0">
                <a:solidFill>
                  <a:srgbClr val="2A2742"/>
                </a:solidFill>
                <a:latin typeface="Arimo" pitchFamily="34" charset="0"/>
                <a:ea typeface="Arimo" pitchFamily="34" charset="-122"/>
                <a:cs typeface="Arimo" pitchFamily="34" charset="-120"/>
              </a:rPr>
              <a:t>Provide opportunities</a:t>
            </a:r>
            <a:pPr indent="0" marL="0">
              <a:lnSpc>
                <a:spcPts val="2200"/>
              </a:lnSpc>
              <a:buNone/>
            </a:pPr>
            <a:r>
              <a:rPr lang="en-US" sz="1350" dirty="0">
                <a:solidFill>
                  <a:srgbClr val="2A2742"/>
                </a:solidFill>
                <a:latin typeface="Arimo" pitchFamily="34" charset="0"/>
                <a:ea typeface="Arimo" pitchFamily="34" charset="-122"/>
                <a:cs typeface="Arimo" pitchFamily="34" charset="-120"/>
              </a:rPr>
              <a:t>: Allow the employees to learn from their mistakes and educate them on how to avoid committing similar mistakes repeatedly.</a:t>
            </a:r>
            <a:endParaRPr lang="en-US" sz="1350" dirty="0"/>
          </a:p>
        </p:txBody>
      </p:sp>
      <p:sp>
        <p:nvSpPr>
          <p:cNvPr id="9" name="Text 5"/>
          <p:cNvSpPr/>
          <p:nvPr/>
        </p:nvSpPr>
        <p:spPr>
          <a:xfrm>
            <a:off x="620673" y="4964906"/>
            <a:ext cx="7902654" cy="709374"/>
          </a:xfrm>
          <a:prstGeom prst="rect">
            <a:avLst/>
          </a:prstGeom>
          <a:noFill/>
          <a:ln/>
        </p:spPr>
        <p:txBody>
          <a:bodyPr wrap="square" lIns="0" tIns="0" rIns="0" bIns="0" rtlCol="0" anchor="t"/>
          <a:lstStyle/>
          <a:p>
            <a:pPr marL="342900" indent="-342900">
              <a:lnSpc>
                <a:spcPts val="2200"/>
              </a:lnSpc>
              <a:buSzPct val="100000"/>
              <a:buChar char="•"/>
            </a:pPr>
            <a:r>
              <a:rPr lang="en-US" sz="1350" b="1" dirty="0">
                <a:solidFill>
                  <a:srgbClr val="2A2742"/>
                </a:solidFill>
                <a:latin typeface="Arimo" pitchFamily="34" charset="0"/>
                <a:ea typeface="Arimo" pitchFamily="34" charset="-122"/>
                <a:cs typeface="Arimo" pitchFamily="34" charset="-120"/>
              </a:rPr>
              <a:t>Proper communication</a:t>
            </a:r>
            <a:pPr indent="0" marL="0">
              <a:lnSpc>
                <a:spcPts val="2200"/>
              </a:lnSpc>
              <a:buNone/>
            </a:pPr>
            <a:r>
              <a:rPr lang="en-US" sz="1350" dirty="0">
                <a:solidFill>
                  <a:srgbClr val="2A2742"/>
                </a:solidFill>
                <a:latin typeface="Arimo" pitchFamily="34" charset="0"/>
                <a:ea typeface="Arimo" pitchFamily="34" charset="-122"/>
                <a:cs typeface="Arimo" pitchFamily="34" charset="-120"/>
              </a:rPr>
              <a:t>: Communicate your expectations clearly and ensure that the employees understand what to prioritize.</a:t>
            </a:r>
            <a:endParaRPr lang="en-US" sz="1350" dirty="0"/>
          </a:p>
        </p:txBody>
      </p:sp>
      <p:sp>
        <p:nvSpPr>
          <p:cNvPr id="10" name="Text 6"/>
          <p:cNvSpPr/>
          <p:nvPr/>
        </p:nvSpPr>
        <p:spPr>
          <a:xfrm>
            <a:off x="620673" y="5736312"/>
            <a:ext cx="7902654" cy="709374"/>
          </a:xfrm>
          <a:prstGeom prst="rect">
            <a:avLst/>
          </a:prstGeom>
          <a:noFill/>
          <a:ln/>
        </p:spPr>
        <p:txBody>
          <a:bodyPr wrap="square" lIns="0" tIns="0" rIns="0" bIns="0" rtlCol="0" anchor="t"/>
          <a:lstStyle/>
          <a:p>
            <a:pPr marL="342900" indent="-342900">
              <a:lnSpc>
                <a:spcPts val="2200"/>
              </a:lnSpc>
              <a:buSzPct val="100000"/>
              <a:buChar char="•"/>
            </a:pPr>
            <a:r>
              <a:rPr lang="en-US" sz="1350" b="1" dirty="0">
                <a:solidFill>
                  <a:srgbClr val="2A2742"/>
                </a:solidFill>
                <a:latin typeface="Arimo" pitchFamily="34" charset="0"/>
                <a:ea typeface="Arimo" pitchFamily="34" charset="-122"/>
                <a:cs typeface="Arimo" pitchFamily="34" charset="-120"/>
              </a:rPr>
              <a:t>Implement feedback: </a:t>
            </a:r>
            <a:pPr indent="0" marL="0">
              <a:lnSpc>
                <a:spcPts val="2200"/>
              </a:lnSpc>
              <a:buNone/>
            </a:pPr>
            <a:r>
              <a:rPr lang="en-US" sz="1350" dirty="0">
                <a:solidFill>
                  <a:srgbClr val="2A2742"/>
                </a:solidFill>
                <a:latin typeface="Arimo" pitchFamily="34" charset="0"/>
                <a:ea typeface="Arimo" pitchFamily="34" charset="-122"/>
                <a:cs typeface="Arimo" pitchFamily="34" charset="-120"/>
              </a:rPr>
              <a:t>Introduce a feedback system where the employees can share their experiences and seek help and advice.</a:t>
            </a:r>
            <a:endParaRPr lang="en-US" sz="1350" dirty="0"/>
          </a:p>
        </p:txBody>
      </p:sp>
      <p:sp>
        <p:nvSpPr>
          <p:cNvPr id="11" name="Text 7"/>
          <p:cNvSpPr/>
          <p:nvPr/>
        </p:nvSpPr>
        <p:spPr>
          <a:xfrm>
            <a:off x="620673" y="6507718"/>
            <a:ext cx="7902654" cy="709374"/>
          </a:xfrm>
          <a:prstGeom prst="rect">
            <a:avLst/>
          </a:prstGeom>
          <a:noFill/>
          <a:ln/>
        </p:spPr>
        <p:txBody>
          <a:bodyPr wrap="square" lIns="0" tIns="0" rIns="0" bIns="0" rtlCol="0" anchor="t"/>
          <a:lstStyle/>
          <a:p>
            <a:pPr marL="342900" indent="-342900">
              <a:lnSpc>
                <a:spcPts val="2200"/>
              </a:lnSpc>
              <a:buSzPct val="100000"/>
              <a:buChar char="•"/>
            </a:pPr>
            <a:r>
              <a:rPr lang="en-US" sz="1350" b="1" dirty="0">
                <a:solidFill>
                  <a:srgbClr val="2A2742"/>
                </a:solidFill>
                <a:latin typeface="Arimo" pitchFamily="34" charset="0"/>
                <a:ea typeface="Arimo" pitchFamily="34" charset="-122"/>
                <a:cs typeface="Arimo" pitchFamily="34" charset="-120"/>
              </a:rPr>
              <a:t>Provide encouragement: </a:t>
            </a:r>
            <a:pPr indent="0" marL="0">
              <a:lnSpc>
                <a:spcPts val="2200"/>
              </a:lnSpc>
              <a:buNone/>
            </a:pPr>
            <a:r>
              <a:rPr lang="en-US" sz="1350" dirty="0">
                <a:solidFill>
                  <a:srgbClr val="2A2742"/>
                </a:solidFill>
                <a:latin typeface="Arimo" pitchFamily="34" charset="0"/>
                <a:ea typeface="Arimo" pitchFamily="34" charset="-122"/>
                <a:cs typeface="Arimo" pitchFamily="34" charset="-120"/>
              </a:rPr>
              <a:t>It is important to let the nurses know that their opinions are valued.</a:t>
            </a:r>
            <a:endParaRPr lang="en-US" sz="1350" dirty="0"/>
          </a:p>
        </p:txBody>
      </p:sp>
      <p:sp>
        <p:nvSpPr>
          <p:cNvPr id="12" name="Text 8"/>
          <p:cNvSpPr/>
          <p:nvPr/>
        </p:nvSpPr>
        <p:spPr>
          <a:xfrm>
            <a:off x="620673" y="7416522"/>
            <a:ext cx="7902654" cy="283845"/>
          </a:xfrm>
          <a:prstGeom prst="rect">
            <a:avLst/>
          </a:prstGeom>
          <a:noFill/>
          <a:ln/>
        </p:spPr>
        <p:txBody>
          <a:bodyPr wrap="none" lIns="0" tIns="0" rIns="0" bIns="0" rtlCol="0" anchor="t"/>
          <a:lstStyle/>
          <a:p>
            <a:pPr indent="0" marL="0">
              <a:lnSpc>
                <a:spcPts val="2200"/>
              </a:lnSpc>
              <a:buNone/>
            </a:pP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01175" y="1628775"/>
            <a:ext cx="4972050" cy="4972050"/>
          </a:xfrm>
          <a:prstGeom prst="rect">
            <a:avLst/>
          </a:prstGeom>
        </p:spPr>
      </p:pic>
      <p:sp>
        <p:nvSpPr>
          <p:cNvPr id="4" name="Text 0"/>
          <p:cNvSpPr/>
          <p:nvPr/>
        </p:nvSpPr>
        <p:spPr>
          <a:xfrm>
            <a:off x="720090" y="1163955"/>
            <a:ext cx="5172075" cy="321469"/>
          </a:xfrm>
          <a:prstGeom prst="rect">
            <a:avLst/>
          </a:prstGeom>
          <a:noFill/>
          <a:ln/>
        </p:spPr>
        <p:txBody>
          <a:bodyPr wrap="none" lIns="0" tIns="0" rIns="0" bIns="0" rtlCol="0" anchor="t"/>
          <a:lstStyle/>
          <a:p>
            <a:pPr indent="0" marL="0">
              <a:lnSpc>
                <a:spcPts val="2500"/>
              </a:lnSpc>
              <a:buNone/>
            </a:pPr>
            <a:r>
              <a:rPr lang="en-US" sz="2000" b="1" dirty="0">
                <a:solidFill>
                  <a:srgbClr val="231971"/>
                </a:solidFill>
                <a:latin typeface="Outfit Extra Bold" pitchFamily="34" charset="0"/>
                <a:ea typeface="Outfit Extra Bold" pitchFamily="34" charset="-122"/>
                <a:cs typeface="Outfit Extra Bold" pitchFamily="34" charset="-120"/>
              </a:rPr>
              <a:t>Nurses' Role in Empowering Student Nurses</a:t>
            </a:r>
            <a:endParaRPr lang="en-US" sz="2000" dirty="0"/>
          </a:p>
        </p:txBody>
      </p:sp>
      <p:sp>
        <p:nvSpPr>
          <p:cNvPr id="5" name="Text 1"/>
          <p:cNvSpPr/>
          <p:nvPr/>
        </p:nvSpPr>
        <p:spPr>
          <a:xfrm>
            <a:off x="720090" y="1691164"/>
            <a:ext cx="7703820" cy="822960"/>
          </a:xfrm>
          <a:prstGeom prst="rect">
            <a:avLst/>
          </a:prstGeom>
          <a:noFill/>
          <a:ln/>
        </p:spPr>
        <p:txBody>
          <a:bodyPr wrap="square" lIns="0" tIns="0" rIns="0" bIns="0" rtlCol="0" anchor="t"/>
          <a:lstStyle/>
          <a:p>
            <a:pPr marL="342900" indent="-342900">
              <a:lnSpc>
                <a:spcPts val="2550"/>
              </a:lnSpc>
              <a:buSzPct val="100000"/>
              <a:buChar char="•"/>
            </a:pPr>
            <a:r>
              <a:rPr lang="en-US" sz="1600" b="1" dirty="0">
                <a:solidFill>
                  <a:srgbClr val="2A2742"/>
                </a:solidFill>
                <a:latin typeface="Arimo" pitchFamily="34" charset="0"/>
                <a:ea typeface="Arimo" pitchFamily="34" charset="-122"/>
                <a:cs typeface="Arimo" pitchFamily="34" charset="-120"/>
              </a:rPr>
              <a:t>Know each students' interests</a:t>
            </a:r>
            <a:pPr indent="0" marL="0">
              <a:lnSpc>
                <a:spcPts val="2550"/>
              </a:lnSpc>
              <a:buNone/>
            </a:pPr>
            <a:r>
              <a:rPr lang="en-US" sz="1600" dirty="0">
                <a:solidFill>
                  <a:srgbClr val="2A2742"/>
                </a:solidFill>
                <a:latin typeface="Arimo" pitchFamily="34" charset="0"/>
                <a:ea typeface="Arimo" pitchFamily="34" charset="-122"/>
                <a:cs typeface="Arimo" pitchFamily="34" charset="-120"/>
              </a:rPr>
              <a:t>: Nurse educator should take time out to know interests, hobbies and goals of each student.</a:t>
            </a:r>
            <a:endParaRPr lang="en-US" sz="1600" dirty="0"/>
          </a:p>
        </p:txBody>
      </p:sp>
      <p:sp>
        <p:nvSpPr>
          <p:cNvPr id="6" name="Text 2"/>
          <p:cNvSpPr/>
          <p:nvPr/>
        </p:nvSpPr>
        <p:spPr>
          <a:xfrm>
            <a:off x="720090" y="2586038"/>
            <a:ext cx="7703820" cy="822960"/>
          </a:xfrm>
          <a:prstGeom prst="rect">
            <a:avLst/>
          </a:prstGeom>
          <a:noFill/>
          <a:ln/>
        </p:spPr>
        <p:txBody>
          <a:bodyPr wrap="square" lIns="0" tIns="0" rIns="0" bIns="0" rtlCol="0" anchor="t"/>
          <a:lstStyle/>
          <a:p>
            <a:pPr marL="342900" indent="-342900">
              <a:lnSpc>
                <a:spcPts val="2550"/>
              </a:lnSpc>
              <a:buSzPct val="100000"/>
              <a:buChar char="•"/>
            </a:pPr>
            <a:r>
              <a:rPr lang="en-US" sz="1600" b="1" dirty="0">
                <a:solidFill>
                  <a:srgbClr val="2A2742"/>
                </a:solidFill>
                <a:latin typeface="Arimo" pitchFamily="34" charset="0"/>
                <a:ea typeface="Arimo" pitchFamily="34" charset="-122"/>
                <a:cs typeface="Arimo" pitchFamily="34" charset="-120"/>
              </a:rPr>
              <a:t>Provide positive reinforcement:</a:t>
            </a:r>
            <a:pPr indent="0" marL="0">
              <a:lnSpc>
                <a:spcPts val="2550"/>
              </a:lnSpc>
              <a:buNone/>
            </a:pPr>
            <a:r>
              <a:rPr lang="en-US" sz="1600" dirty="0">
                <a:solidFill>
                  <a:srgbClr val="2A2742"/>
                </a:solidFill>
                <a:latin typeface="Arimo" pitchFamily="34" charset="0"/>
                <a:ea typeface="Arimo" pitchFamily="34" charset="-122"/>
                <a:cs typeface="Arimo" pitchFamily="34" charset="-120"/>
              </a:rPr>
              <a:t> Praise students when they do well and provide constructive criticism when needed. </a:t>
            </a:r>
            <a:endParaRPr lang="en-US" sz="1600" dirty="0"/>
          </a:p>
        </p:txBody>
      </p:sp>
      <p:sp>
        <p:nvSpPr>
          <p:cNvPr id="7" name="Text 3"/>
          <p:cNvSpPr/>
          <p:nvPr/>
        </p:nvSpPr>
        <p:spPr>
          <a:xfrm>
            <a:off x="720090" y="3480911"/>
            <a:ext cx="7703820" cy="822960"/>
          </a:xfrm>
          <a:prstGeom prst="rect">
            <a:avLst/>
          </a:prstGeom>
          <a:noFill/>
          <a:ln/>
        </p:spPr>
        <p:txBody>
          <a:bodyPr wrap="square" lIns="0" tIns="0" rIns="0" bIns="0" rtlCol="0" anchor="t"/>
          <a:lstStyle/>
          <a:p>
            <a:pPr marL="342900" indent="-342900">
              <a:lnSpc>
                <a:spcPts val="2550"/>
              </a:lnSpc>
              <a:buSzPct val="100000"/>
              <a:buChar char="•"/>
            </a:pPr>
            <a:r>
              <a:rPr lang="en-US" sz="1600" b="1" dirty="0">
                <a:solidFill>
                  <a:srgbClr val="2A2742"/>
                </a:solidFill>
                <a:latin typeface="Arimo" pitchFamily="34" charset="0"/>
                <a:ea typeface="Arimo" pitchFamily="34" charset="-122"/>
                <a:cs typeface="Arimo" pitchFamily="34" charset="-120"/>
              </a:rPr>
              <a:t>Be approachable:</a:t>
            </a:r>
            <a:pPr indent="0" marL="0">
              <a:lnSpc>
                <a:spcPts val="2550"/>
              </a:lnSpc>
              <a:buNone/>
            </a:pPr>
            <a:r>
              <a:rPr lang="en-US" sz="1600" dirty="0">
                <a:solidFill>
                  <a:srgbClr val="2A2742"/>
                </a:solidFill>
                <a:latin typeface="Arimo" pitchFamily="34" charset="0"/>
                <a:ea typeface="Arimo" pitchFamily="34" charset="-122"/>
                <a:cs typeface="Arimo" pitchFamily="34" charset="-120"/>
              </a:rPr>
              <a:t> Be available to students and let the student know that you are there to help them. </a:t>
            </a:r>
            <a:endParaRPr lang="en-US" sz="1600" dirty="0"/>
          </a:p>
        </p:txBody>
      </p:sp>
      <p:sp>
        <p:nvSpPr>
          <p:cNvPr id="8" name="Text 4"/>
          <p:cNvSpPr/>
          <p:nvPr/>
        </p:nvSpPr>
        <p:spPr>
          <a:xfrm>
            <a:off x="720090" y="4375785"/>
            <a:ext cx="7703820" cy="1234440"/>
          </a:xfrm>
          <a:prstGeom prst="rect">
            <a:avLst/>
          </a:prstGeom>
          <a:noFill/>
          <a:ln/>
        </p:spPr>
        <p:txBody>
          <a:bodyPr wrap="square" lIns="0" tIns="0" rIns="0" bIns="0" rtlCol="0" anchor="t"/>
          <a:lstStyle/>
          <a:p>
            <a:pPr marL="342900" indent="-342900">
              <a:lnSpc>
                <a:spcPts val="2550"/>
              </a:lnSpc>
              <a:buSzPct val="100000"/>
              <a:buChar char="•"/>
            </a:pPr>
            <a:r>
              <a:rPr lang="en-US" sz="1600" b="1" dirty="0">
                <a:solidFill>
                  <a:srgbClr val="2A2742"/>
                </a:solidFill>
                <a:latin typeface="Arimo" pitchFamily="34" charset="0"/>
                <a:ea typeface="Arimo" pitchFamily="34" charset="-122"/>
                <a:cs typeface="Arimo" pitchFamily="34" charset="-120"/>
              </a:rPr>
              <a:t>Create innovative learning environment: </a:t>
            </a:r>
            <a:pPr indent="0" marL="0">
              <a:lnSpc>
                <a:spcPts val="2550"/>
              </a:lnSpc>
              <a:buNone/>
            </a:pPr>
            <a:r>
              <a:rPr lang="en-US" sz="1600" dirty="0">
                <a:solidFill>
                  <a:srgbClr val="2A2742"/>
                </a:solidFill>
                <a:latin typeface="Arimo" pitchFamily="34" charset="0"/>
                <a:ea typeface="Arimo" pitchFamily="34" charset="-122"/>
                <a:cs typeface="Arimo" pitchFamily="34" charset="-120"/>
              </a:rPr>
              <a:t>Use advanced class room technology, student focused teaching methods, engage students in reflection and critical thinking process.</a:t>
            </a:r>
            <a:endParaRPr lang="en-US" sz="1600" dirty="0"/>
          </a:p>
        </p:txBody>
      </p:sp>
      <p:sp>
        <p:nvSpPr>
          <p:cNvPr id="9" name="Text 5"/>
          <p:cNvSpPr/>
          <p:nvPr/>
        </p:nvSpPr>
        <p:spPr>
          <a:xfrm>
            <a:off x="720090" y="5682139"/>
            <a:ext cx="7703820" cy="822960"/>
          </a:xfrm>
          <a:prstGeom prst="rect">
            <a:avLst/>
          </a:prstGeom>
          <a:noFill/>
          <a:ln/>
        </p:spPr>
        <p:txBody>
          <a:bodyPr wrap="square" lIns="0" tIns="0" rIns="0" bIns="0" rtlCol="0" anchor="t"/>
          <a:lstStyle/>
          <a:p>
            <a:pPr marL="342900" indent="-342900">
              <a:lnSpc>
                <a:spcPts val="2550"/>
              </a:lnSpc>
              <a:buSzPct val="100000"/>
              <a:buChar char="•"/>
            </a:pPr>
            <a:r>
              <a:rPr lang="en-US" sz="1600" b="1" dirty="0">
                <a:solidFill>
                  <a:srgbClr val="2A2742"/>
                </a:solidFill>
                <a:latin typeface="Arimo" pitchFamily="34" charset="0"/>
                <a:ea typeface="Arimo" pitchFamily="34" charset="-122"/>
                <a:cs typeface="Arimo" pitchFamily="34" charset="-120"/>
              </a:rPr>
              <a:t>Provide opportunities</a:t>
            </a:r>
            <a:pPr indent="0" marL="0">
              <a:lnSpc>
                <a:spcPts val="2550"/>
              </a:lnSpc>
              <a:buNone/>
            </a:pPr>
            <a:r>
              <a:rPr lang="en-US" sz="1600" dirty="0">
                <a:solidFill>
                  <a:srgbClr val="2A2742"/>
                </a:solidFill>
                <a:latin typeface="Arimo" pitchFamily="34" charset="0"/>
                <a:ea typeface="Arimo" pitchFamily="34" charset="-122"/>
                <a:cs typeface="Arimo" pitchFamily="34" charset="-120"/>
              </a:rPr>
              <a:t>:Inform students about the opportunities to perform clinical procedures with supervision.</a:t>
            </a:r>
            <a:endParaRPr lang="en-US" sz="1600" dirty="0"/>
          </a:p>
        </p:txBody>
      </p:sp>
      <p:sp>
        <p:nvSpPr>
          <p:cNvPr id="10" name="Text 6"/>
          <p:cNvSpPr/>
          <p:nvPr/>
        </p:nvSpPr>
        <p:spPr>
          <a:xfrm>
            <a:off x="720090" y="6736556"/>
            <a:ext cx="7703820" cy="329089"/>
          </a:xfrm>
          <a:prstGeom prst="rect">
            <a:avLst/>
          </a:prstGeom>
          <a:noFill/>
          <a:ln/>
        </p:spPr>
        <p:txBody>
          <a:bodyPr wrap="none" lIns="0" tIns="0" rIns="0" bIns="0" rtlCol="0" anchor="t"/>
          <a:lstStyle/>
          <a:p>
            <a:pPr indent="0" marL="0">
              <a:lnSpc>
                <a:spcPts val="2550"/>
              </a:lnSpc>
              <a:buNone/>
            </a:pP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888212"/>
            <a:ext cx="2979420" cy="354330"/>
          </a:xfrm>
          <a:prstGeom prst="rect">
            <a:avLst/>
          </a:prstGeom>
          <a:noFill/>
          <a:ln/>
        </p:spPr>
        <p:txBody>
          <a:bodyPr wrap="none" lIns="0" tIns="0" rIns="0" bIns="0" rtlCol="0" anchor="t"/>
          <a:lstStyle/>
          <a:p>
            <a:pPr indent="0" marL="0">
              <a:lnSpc>
                <a:spcPts val="2750"/>
              </a:lnSpc>
              <a:buNone/>
            </a:pPr>
            <a:r>
              <a:rPr lang="en-US" sz="2200" b="1" dirty="0">
                <a:solidFill>
                  <a:srgbClr val="231971"/>
                </a:solidFill>
                <a:latin typeface="Outfit Extra Bold" pitchFamily="34" charset="0"/>
                <a:ea typeface="Outfit Extra Bold" pitchFamily="34" charset="-122"/>
                <a:cs typeface="Outfit Extra Bold" pitchFamily="34" charset="-120"/>
              </a:rPr>
              <a:t>Patient Empowerment</a:t>
            </a:r>
            <a:endParaRPr lang="en-US" sz="2200" dirty="0"/>
          </a:p>
        </p:txBody>
      </p:sp>
      <p:sp>
        <p:nvSpPr>
          <p:cNvPr id="4" name="Text 1"/>
          <p:cNvSpPr/>
          <p:nvPr/>
        </p:nvSpPr>
        <p:spPr>
          <a:xfrm>
            <a:off x="793790" y="2469356"/>
            <a:ext cx="7556421" cy="1360527"/>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Patient empowerment is defined as helping the patient to discover and use his innate ability to gain mastery over his health problems. </a:t>
            </a:r>
            <a:endParaRPr lang="en-US" sz="1750" dirty="0"/>
          </a:p>
        </p:txBody>
      </p:sp>
      <p:sp>
        <p:nvSpPr>
          <p:cNvPr id="5" name="Text 2"/>
          <p:cNvSpPr/>
          <p:nvPr/>
        </p:nvSpPr>
        <p:spPr>
          <a:xfrm>
            <a:off x="793790" y="3909179"/>
            <a:ext cx="7556421" cy="1814036"/>
          </a:xfrm>
          <a:prstGeom prst="rect">
            <a:avLst/>
          </a:prstGeom>
          <a:noFill/>
          <a:ln/>
        </p:spPr>
        <p:txBody>
          <a:bodyPr wrap="square" lIns="0" tIns="0" rIns="0" bIns="0" rtlCol="0" anchor="t"/>
          <a:lstStyle/>
          <a:p>
            <a:pPr marL="342900" indent="-342900">
              <a:lnSpc>
                <a:spcPts val="2850"/>
              </a:lnSpc>
              <a:buSzPct val="100000"/>
              <a:buChar char="•"/>
            </a:pPr>
            <a:r>
              <a:rPr lang="en-US" sz="1750" dirty="0">
                <a:solidFill>
                  <a:srgbClr val="2A2742"/>
                </a:solidFill>
                <a:latin typeface="Arimo" pitchFamily="34" charset="0"/>
                <a:ea typeface="Arimo" pitchFamily="34" charset="-122"/>
                <a:cs typeface="Arimo" pitchFamily="34" charset="-120"/>
              </a:rPr>
              <a:t>This empowerment process enables the patient to acquire knowledge, confidence. self-determination and gain greater control over decisions and actions affecting his health.</a:t>
            </a:r>
            <a:endParaRPr lang="en-US" sz="1750" dirty="0"/>
          </a:p>
        </p:txBody>
      </p:sp>
      <p:sp>
        <p:nvSpPr>
          <p:cNvPr id="6" name="Text 3"/>
          <p:cNvSpPr/>
          <p:nvPr/>
        </p:nvSpPr>
        <p:spPr>
          <a:xfrm>
            <a:off x="793790" y="5978366"/>
            <a:ext cx="7556421" cy="362903"/>
          </a:xfrm>
          <a:prstGeom prst="rect">
            <a:avLst/>
          </a:prstGeom>
          <a:noFill/>
          <a:ln/>
        </p:spPr>
        <p:txBody>
          <a:bodyPr wrap="none" lIns="0" tIns="0" rIns="0" bIns="0" rtlCol="0" anchor="t"/>
          <a:lstStyle/>
          <a:p>
            <a:pPr indent="0" marL="0">
              <a:lnSpc>
                <a:spcPts val="2850"/>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2025-03-10T19:57:00Z</dcterms:created>
  <dcterms:modified xsi:type="dcterms:W3CDTF">2025-03-10T19:57:00Z</dcterms:modified>
</cp:coreProperties>
</file>