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57" r:id="rId3"/>
    <p:sldId id="258" r:id="rId4"/>
    <p:sldId id="259" r:id="rId5"/>
    <p:sldId id="270" r:id="rId6"/>
    <p:sldId id="260" r:id="rId7"/>
    <p:sldId id="261" r:id="rId8"/>
    <p:sldId id="262" r:id="rId9"/>
    <p:sldId id="263" r:id="rId10"/>
    <p:sldId id="264" r:id="rId11"/>
    <p:sldId id="265" r:id="rId12"/>
    <p:sldId id="266" r:id="rId13"/>
    <p:sldId id="267" r:id="rId14"/>
    <p:sldId id="268" r:id="rId15"/>
    <p:sldId id="271" r:id="rId16"/>
    <p:sldId id="283" r:id="rId17"/>
    <p:sldId id="272" r:id="rId18"/>
    <p:sldId id="274" r:id="rId19"/>
    <p:sldId id="273" r:id="rId20"/>
    <p:sldId id="275" r:id="rId21"/>
    <p:sldId id="276" r:id="rId22"/>
    <p:sldId id="277" r:id="rId23"/>
    <p:sldId id="278" r:id="rId24"/>
    <p:sldId id="279" r:id="rId25"/>
    <p:sldId id="281"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8" d="100"/>
          <a:sy n="88" d="100"/>
        </p:scale>
        <p:origin x="37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2F48DF-F92B-4E85-86B4-259B269E8F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1BB77DE-FDB0-497C-BCF9-4D46A486C8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88D4ABDC-955D-4D23-8905-8441502E6ADD}"/>
              </a:ext>
            </a:extLst>
          </p:cNvPr>
          <p:cNvSpPr>
            <a:spLocks noGrp="1"/>
          </p:cNvSpPr>
          <p:nvPr>
            <p:ph type="dt" sz="half" idx="10"/>
          </p:nvPr>
        </p:nvSpPr>
        <p:spPr/>
        <p:txBody>
          <a:bodyPr/>
          <a:lstStyle/>
          <a:p>
            <a:fld id="{2ADCBAE4-108E-421E-A2F4-0540B6810C15}" type="datetimeFigureOut">
              <a:rPr lang="en-IN" smtClean="0"/>
              <a:t>23-10-2024</a:t>
            </a:fld>
            <a:endParaRPr lang="en-IN"/>
          </a:p>
        </p:txBody>
      </p:sp>
      <p:sp>
        <p:nvSpPr>
          <p:cNvPr id="5" name="Footer Placeholder 4">
            <a:extLst>
              <a:ext uri="{FF2B5EF4-FFF2-40B4-BE49-F238E27FC236}">
                <a16:creationId xmlns:a16="http://schemas.microsoft.com/office/drawing/2014/main" xmlns="" id="{4D56ECB8-E270-42C2-A03A-305C3D25A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43861D2-A125-4A5E-8B4B-7B9C54433507}"/>
              </a:ext>
            </a:extLst>
          </p:cNvPr>
          <p:cNvSpPr>
            <a:spLocks noGrp="1"/>
          </p:cNvSpPr>
          <p:nvPr>
            <p:ph type="sldNum" sz="quarter" idx="12"/>
          </p:nvPr>
        </p:nvSpPr>
        <p:spPr/>
        <p:txBody>
          <a:bodyPr/>
          <a:lstStyle/>
          <a:p>
            <a:fld id="{1F02FF4C-5307-42E6-8140-AC6A0C3E5AC7}" type="slidenum">
              <a:rPr lang="en-IN" smtClean="0"/>
              <a:t>‹#›</a:t>
            </a:fld>
            <a:endParaRPr lang="en-IN"/>
          </a:p>
        </p:txBody>
      </p:sp>
    </p:spTree>
    <p:extLst>
      <p:ext uri="{BB962C8B-B14F-4D97-AF65-F5344CB8AC3E}">
        <p14:creationId xmlns:p14="http://schemas.microsoft.com/office/powerpoint/2010/main" val="3271314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5CAC9C-9CF3-4E8B-90DA-802372687B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3B92270-ABD0-4728-B7B3-3D8C40EFC5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537DC62-0D76-45CB-8702-4F51CD17509C}"/>
              </a:ext>
            </a:extLst>
          </p:cNvPr>
          <p:cNvSpPr>
            <a:spLocks noGrp="1"/>
          </p:cNvSpPr>
          <p:nvPr>
            <p:ph type="dt" sz="half" idx="10"/>
          </p:nvPr>
        </p:nvSpPr>
        <p:spPr/>
        <p:txBody>
          <a:bodyPr/>
          <a:lstStyle/>
          <a:p>
            <a:fld id="{2ADCBAE4-108E-421E-A2F4-0540B6810C15}" type="datetimeFigureOut">
              <a:rPr lang="en-IN" smtClean="0"/>
              <a:t>23-10-2024</a:t>
            </a:fld>
            <a:endParaRPr lang="en-IN"/>
          </a:p>
        </p:txBody>
      </p:sp>
      <p:sp>
        <p:nvSpPr>
          <p:cNvPr id="5" name="Footer Placeholder 4">
            <a:extLst>
              <a:ext uri="{FF2B5EF4-FFF2-40B4-BE49-F238E27FC236}">
                <a16:creationId xmlns:a16="http://schemas.microsoft.com/office/drawing/2014/main" xmlns="" id="{81937EEF-8D39-4593-AEED-6B28644308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2188A1D-2303-4D25-B827-D4CE030BE484}"/>
              </a:ext>
            </a:extLst>
          </p:cNvPr>
          <p:cNvSpPr>
            <a:spLocks noGrp="1"/>
          </p:cNvSpPr>
          <p:nvPr>
            <p:ph type="sldNum" sz="quarter" idx="12"/>
          </p:nvPr>
        </p:nvSpPr>
        <p:spPr/>
        <p:txBody>
          <a:bodyPr/>
          <a:lstStyle/>
          <a:p>
            <a:fld id="{1F02FF4C-5307-42E6-8140-AC6A0C3E5AC7}" type="slidenum">
              <a:rPr lang="en-IN" smtClean="0"/>
              <a:t>‹#›</a:t>
            </a:fld>
            <a:endParaRPr lang="en-IN"/>
          </a:p>
        </p:txBody>
      </p:sp>
    </p:spTree>
    <p:extLst>
      <p:ext uri="{BB962C8B-B14F-4D97-AF65-F5344CB8AC3E}">
        <p14:creationId xmlns:p14="http://schemas.microsoft.com/office/powerpoint/2010/main" val="2097005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240ABE-2539-46DE-8C6D-2D991A8D38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4A136AF-F8A9-48A8-BB7B-06B5FE857B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D7FC677-BC50-4E2E-B7A9-A7E649B04234}"/>
              </a:ext>
            </a:extLst>
          </p:cNvPr>
          <p:cNvSpPr>
            <a:spLocks noGrp="1"/>
          </p:cNvSpPr>
          <p:nvPr>
            <p:ph type="dt" sz="half" idx="10"/>
          </p:nvPr>
        </p:nvSpPr>
        <p:spPr/>
        <p:txBody>
          <a:bodyPr/>
          <a:lstStyle/>
          <a:p>
            <a:fld id="{2ADCBAE4-108E-421E-A2F4-0540B6810C15}" type="datetimeFigureOut">
              <a:rPr lang="en-IN" smtClean="0"/>
              <a:t>23-10-2024</a:t>
            </a:fld>
            <a:endParaRPr lang="en-IN"/>
          </a:p>
        </p:txBody>
      </p:sp>
      <p:sp>
        <p:nvSpPr>
          <p:cNvPr id="5" name="Footer Placeholder 4">
            <a:extLst>
              <a:ext uri="{FF2B5EF4-FFF2-40B4-BE49-F238E27FC236}">
                <a16:creationId xmlns:a16="http://schemas.microsoft.com/office/drawing/2014/main" xmlns="" id="{40D7C7AC-A155-4EBF-BB05-20D6157375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F4DE70F-EDB9-4618-88B6-E734BE50F67A}"/>
              </a:ext>
            </a:extLst>
          </p:cNvPr>
          <p:cNvSpPr>
            <a:spLocks noGrp="1"/>
          </p:cNvSpPr>
          <p:nvPr>
            <p:ph type="sldNum" sz="quarter" idx="12"/>
          </p:nvPr>
        </p:nvSpPr>
        <p:spPr/>
        <p:txBody>
          <a:bodyPr/>
          <a:lstStyle/>
          <a:p>
            <a:fld id="{1F02FF4C-5307-42E6-8140-AC6A0C3E5AC7}" type="slidenum">
              <a:rPr lang="en-IN" smtClean="0"/>
              <a:t>‹#›</a:t>
            </a:fld>
            <a:endParaRPr lang="en-IN"/>
          </a:p>
        </p:txBody>
      </p:sp>
    </p:spTree>
    <p:extLst>
      <p:ext uri="{BB962C8B-B14F-4D97-AF65-F5344CB8AC3E}">
        <p14:creationId xmlns:p14="http://schemas.microsoft.com/office/powerpoint/2010/main" val="3849778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84B2DD-7D8C-487E-9A91-5E18AB548D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5376803-A604-404D-AE6D-4DC650E10F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F57DA1DC-5908-4250-A4CF-9AC82E7438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A626EEAD-2B69-4370-9350-C192076B3740}"/>
              </a:ext>
            </a:extLst>
          </p:cNvPr>
          <p:cNvSpPr>
            <a:spLocks noGrp="1"/>
          </p:cNvSpPr>
          <p:nvPr>
            <p:ph type="dt" sz="half" idx="10"/>
          </p:nvPr>
        </p:nvSpPr>
        <p:spPr/>
        <p:txBody>
          <a:bodyPr/>
          <a:lstStyle/>
          <a:p>
            <a:fld id="{2ADCBAE4-108E-421E-A2F4-0540B6810C15}" type="datetimeFigureOut">
              <a:rPr lang="en-IN" smtClean="0"/>
              <a:t>23-10-2024</a:t>
            </a:fld>
            <a:endParaRPr lang="en-IN"/>
          </a:p>
        </p:txBody>
      </p:sp>
      <p:sp>
        <p:nvSpPr>
          <p:cNvPr id="6" name="Footer Placeholder 5">
            <a:extLst>
              <a:ext uri="{FF2B5EF4-FFF2-40B4-BE49-F238E27FC236}">
                <a16:creationId xmlns:a16="http://schemas.microsoft.com/office/drawing/2014/main" xmlns="" id="{17923CEC-45E8-4D76-A4C2-2E50C2B36A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974C0B4-C625-4AC7-8838-5AA3670F78EB}"/>
              </a:ext>
            </a:extLst>
          </p:cNvPr>
          <p:cNvSpPr>
            <a:spLocks noGrp="1"/>
          </p:cNvSpPr>
          <p:nvPr>
            <p:ph type="sldNum" sz="quarter" idx="12"/>
          </p:nvPr>
        </p:nvSpPr>
        <p:spPr/>
        <p:txBody>
          <a:bodyPr/>
          <a:lstStyle/>
          <a:p>
            <a:fld id="{1F02FF4C-5307-42E6-8140-AC6A0C3E5AC7}" type="slidenum">
              <a:rPr lang="en-IN" smtClean="0"/>
              <a:t>‹#›</a:t>
            </a:fld>
            <a:endParaRPr lang="en-IN"/>
          </a:p>
        </p:txBody>
      </p:sp>
    </p:spTree>
    <p:extLst>
      <p:ext uri="{BB962C8B-B14F-4D97-AF65-F5344CB8AC3E}">
        <p14:creationId xmlns:p14="http://schemas.microsoft.com/office/powerpoint/2010/main" val="3966090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7EB209-CD71-4A7C-A124-9F6FE3C6BA8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63BBFA7-8560-4252-BB24-53C22A4AA6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CFF75F3-E99C-4BA9-864F-EDB0C01B4F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C1F51C45-4C4F-49EC-8A75-1279F2B679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1CAE130-0275-4969-9E4E-3182A66EA2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E4819EA2-E854-4030-8C82-91605CB667D6}"/>
              </a:ext>
            </a:extLst>
          </p:cNvPr>
          <p:cNvSpPr>
            <a:spLocks noGrp="1"/>
          </p:cNvSpPr>
          <p:nvPr>
            <p:ph type="dt" sz="half" idx="10"/>
          </p:nvPr>
        </p:nvSpPr>
        <p:spPr/>
        <p:txBody>
          <a:bodyPr/>
          <a:lstStyle/>
          <a:p>
            <a:fld id="{2ADCBAE4-108E-421E-A2F4-0540B6810C15}" type="datetimeFigureOut">
              <a:rPr lang="en-IN" smtClean="0"/>
              <a:t>23-10-2024</a:t>
            </a:fld>
            <a:endParaRPr lang="en-IN"/>
          </a:p>
        </p:txBody>
      </p:sp>
      <p:sp>
        <p:nvSpPr>
          <p:cNvPr id="8" name="Footer Placeholder 7">
            <a:extLst>
              <a:ext uri="{FF2B5EF4-FFF2-40B4-BE49-F238E27FC236}">
                <a16:creationId xmlns:a16="http://schemas.microsoft.com/office/drawing/2014/main" xmlns="" id="{8179CA6C-A855-4C8D-A841-DE28F2FBC60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675391AE-7C4D-4F11-AB11-FA72D8527F7B}"/>
              </a:ext>
            </a:extLst>
          </p:cNvPr>
          <p:cNvSpPr>
            <a:spLocks noGrp="1"/>
          </p:cNvSpPr>
          <p:nvPr>
            <p:ph type="sldNum" sz="quarter" idx="12"/>
          </p:nvPr>
        </p:nvSpPr>
        <p:spPr/>
        <p:txBody>
          <a:bodyPr/>
          <a:lstStyle/>
          <a:p>
            <a:fld id="{1F02FF4C-5307-42E6-8140-AC6A0C3E5AC7}" type="slidenum">
              <a:rPr lang="en-IN" smtClean="0"/>
              <a:t>‹#›</a:t>
            </a:fld>
            <a:endParaRPr lang="en-IN"/>
          </a:p>
        </p:txBody>
      </p:sp>
    </p:spTree>
    <p:extLst>
      <p:ext uri="{BB962C8B-B14F-4D97-AF65-F5344CB8AC3E}">
        <p14:creationId xmlns:p14="http://schemas.microsoft.com/office/powerpoint/2010/main" val="3335527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911393-F112-49F1-B59B-978B41E48C6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E4B72C6F-F5D8-4D57-94BD-4C4316C3A45B}"/>
              </a:ext>
            </a:extLst>
          </p:cNvPr>
          <p:cNvSpPr>
            <a:spLocks noGrp="1"/>
          </p:cNvSpPr>
          <p:nvPr>
            <p:ph type="dt" sz="half" idx="10"/>
          </p:nvPr>
        </p:nvSpPr>
        <p:spPr/>
        <p:txBody>
          <a:bodyPr/>
          <a:lstStyle/>
          <a:p>
            <a:fld id="{2ADCBAE4-108E-421E-A2F4-0540B6810C15}" type="datetimeFigureOut">
              <a:rPr lang="en-IN" smtClean="0"/>
              <a:t>23-10-2024</a:t>
            </a:fld>
            <a:endParaRPr lang="en-IN"/>
          </a:p>
        </p:txBody>
      </p:sp>
      <p:sp>
        <p:nvSpPr>
          <p:cNvPr id="4" name="Footer Placeholder 3">
            <a:extLst>
              <a:ext uri="{FF2B5EF4-FFF2-40B4-BE49-F238E27FC236}">
                <a16:creationId xmlns:a16="http://schemas.microsoft.com/office/drawing/2014/main" xmlns="" id="{51AA799D-B8DA-4B5D-9A5E-D586F23E746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5896C67E-8000-4CA4-8840-E91670423F04}"/>
              </a:ext>
            </a:extLst>
          </p:cNvPr>
          <p:cNvSpPr>
            <a:spLocks noGrp="1"/>
          </p:cNvSpPr>
          <p:nvPr>
            <p:ph type="sldNum" sz="quarter" idx="12"/>
          </p:nvPr>
        </p:nvSpPr>
        <p:spPr/>
        <p:txBody>
          <a:bodyPr/>
          <a:lstStyle/>
          <a:p>
            <a:fld id="{1F02FF4C-5307-42E6-8140-AC6A0C3E5AC7}" type="slidenum">
              <a:rPr lang="en-IN" smtClean="0"/>
              <a:t>‹#›</a:t>
            </a:fld>
            <a:endParaRPr lang="en-IN"/>
          </a:p>
        </p:txBody>
      </p:sp>
    </p:spTree>
    <p:extLst>
      <p:ext uri="{BB962C8B-B14F-4D97-AF65-F5344CB8AC3E}">
        <p14:creationId xmlns:p14="http://schemas.microsoft.com/office/powerpoint/2010/main" val="3711317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E05B5F2-EE99-42FE-925F-E3A4232C932E}"/>
              </a:ext>
            </a:extLst>
          </p:cNvPr>
          <p:cNvSpPr>
            <a:spLocks noGrp="1"/>
          </p:cNvSpPr>
          <p:nvPr>
            <p:ph type="dt" sz="half" idx="10"/>
          </p:nvPr>
        </p:nvSpPr>
        <p:spPr/>
        <p:txBody>
          <a:bodyPr/>
          <a:lstStyle/>
          <a:p>
            <a:fld id="{2ADCBAE4-108E-421E-A2F4-0540B6810C15}" type="datetimeFigureOut">
              <a:rPr lang="en-IN" smtClean="0"/>
              <a:t>23-10-2024</a:t>
            </a:fld>
            <a:endParaRPr lang="en-IN"/>
          </a:p>
        </p:txBody>
      </p:sp>
      <p:sp>
        <p:nvSpPr>
          <p:cNvPr id="3" name="Footer Placeholder 2">
            <a:extLst>
              <a:ext uri="{FF2B5EF4-FFF2-40B4-BE49-F238E27FC236}">
                <a16:creationId xmlns:a16="http://schemas.microsoft.com/office/drawing/2014/main" xmlns="" id="{A9BE9D3B-9C7A-4897-B559-2A5EF9A1B8A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674C2D82-7E3B-4751-8070-DEB10BC3B486}"/>
              </a:ext>
            </a:extLst>
          </p:cNvPr>
          <p:cNvSpPr>
            <a:spLocks noGrp="1"/>
          </p:cNvSpPr>
          <p:nvPr>
            <p:ph type="sldNum" sz="quarter" idx="12"/>
          </p:nvPr>
        </p:nvSpPr>
        <p:spPr/>
        <p:txBody>
          <a:bodyPr/>
          <a:lstStyle/>
          <a:p>
            <a:fld id="{1F02FF4C-5307-42E6-8140-AC6A0C3E5AC7}" type="slidenum">
              <a:rPr lang="en-IN" smtClean="0"/>
              <a:t>‹#›</a:t>
            </a:fld>
            <a:endParaRPr lang="en-IN"/>
          </a:p>
        </p:txBody>
      </p:sp>
    </p:spTree>
    <p:extLst>
      <p:ext uri="{BB962C8B-B14F-4D97-AF65-F5344CB8AC3E}">
        <p14:creationId xmlns:p14="http://schemas.microsoft.com/office/powerpoint/2010/main" val="2908476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474217-50BF-4E3F-8CCD-7F72A59CB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81BFB57-DCE3-4F9E-9D1A-A300E690F4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649A48D2-818B-4627-B9FD-EFF49ABFE2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FF648EE-3F99-4275-9D93-9593D0AADA34}"/>
              </a:ext>
            </a:extLst>
          </p:cNvPr>
          <p:cNvSpPr>
            <a:spLocks noGrp="1"/>
          </p:cNvSpPr>
          <p:nvPr>
            <p:ph type="dt" sz="half" idx="10"/>
          </p:nvPr>
        </p:nvSpPr>
        <p:spPr/>
        <p:txBody>
          <a:bodyPr/>
          <a:lstStyle/>
          <a:p>
            <a:fld id="{2ADCBAE4-108E-421E-A2F4-0540B6810C15}" type="datetimeFigureOut">
              <a:rPr lang="en-IN" smtClean="0"/>
              <a:t>23-10-2024</a:t>
            </a:fld>
            <a:endParaRPr lang="en-IN"/>
          </a:p>
        </p:txBody>
      </p:sp>
      <p:sp>
        <p:nvSpPr>
          <p:cNvPr id="6" name="Footer Placeholder 5">
            <a:extLst>
              <a:ext uri="{FF2B5EF4-FFF2-40B4-BE49-F238E27FC236}">
                <a16:creationId xmlns:a16="http://schemas.microsoft.com/office/drawing/2014/main" xmlns="" id="{8661B452-8046-4CB0-9B72-E65E127FF0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44D2E63-2F93-4B0F-8619-E41F435665D4}"/>
              </a:ext>
            </a:extLst>
          </p:cNvPr>
          <p:cNvSpPr>
            <a:spLocks noGrp="1"/>
          </p:cNvSpPr>
          <p:nvPr>
            <p:ph type="sldNum" sz="quarter" idx="12"/>
          </p:nvPr>
        </p:nvSpPr>
        <p:spPr/>
        <p:txBody>
          <a:bodyPr/>
          <a:lstStyle/>
          <a:p>
            <a:fld id="{1F02FF4C-5307-42E6-8140-AC6A0C3E5AC7}" type="slidenum">
              <a:rPr lang="en-IN" smtClean="0"/>
              <a:t>‹#›</a:t>
            </a:fld>
            <a:endParaRPr lang="en-IN"/>
          </a:p>
        </p:txBody>
      </p:sp>
    </p:spTree>
    <p:extLst>
      <p:ext uri="{BB962C8B-B14F-4D97-AF65-F5344CB8AC3E}">
        <p14:creationId xmlns:p14="http://schemas.microsoft.com/office/powerpoint/2010/main" val="2458389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C04E7F-4583-42D0-8607-A4BF8F4328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DC02E35A-392F-4608-803A-4636EA4230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217DAB96-2E31-4075-A6DF-E96EB3D063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2F09F68-2573-4D79-8A48-910B4E001457}"/>
              </a:ext>
            </a:extLst>
          </p:cNvPr>
          <p:cNvSpPr>
            <a:spLocks noGrp="1"/>
          </p:cNvSpPr>
          <p:nvPr>
            <p:ph type="dt" sz="half" idx="10"/>
          </p:nvPr>
        </p:nvSpPr>
        <p:spPr/>
        <p:txBody>
          <a:bodyPr/>
          <a:lstStyle/>
          <a:p>
            <a:fld id="{2ADCBAE4-108E-421E-A2F4-0540B6810C15}" type="datetimeFigureOut">
              <a:rPr lang="en-IN" smtClean="0"/>
              <a:t>23-10-2024</a:t>
            </a:fld>
            <a:endParaRPr lang="en-IN"/>
          </a:p>
        </p:txBody>
      </p:sp>
      <p:sp>
        <p:nvSpPr>
          <p:cNvPr id="6" name="Footer Placeholder 5">
            <a:extLst>
              <a:ext uri="{FF2B5EF4-FFF2-40B4-BE49-F238E27FC236}">
                <a16:creationId xmlns:a16="http://schemas.microsoft.com/office/drawing/2014/main" xmlns="" id="{4F67AE27-08F7-46F7-AE22-96BD498A6C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51100C2-0855-4458-B5FC-3B69CFB48D65}"/>
              </a:ext>
            </a:extLst>
          </p:cNvPr>
          <p:cNvSpPr>
            <a:spLocks noGrp="1"/>
          </p:cNvSpPr>
          <p:nvPr>
            <p:ph type="sldNum" sz="quarter" idx="12"/>
          </p:nvPr>
        </p:nvSpPr>
        <p:spPr/>
        <p:txBody>
          <a:bodyPr/>
          <a:lstStyle/>
          <a:p>
            <a:fld id="{1F02FF4C-5307-42E6-8140-AC6A0C3E5AC7}" type="slidenum">
              <a:rPr lang="en-IN" smtClean="0"/>
              <a:t>‹#›</a:t>
            </a:fld>
            <a:endParaRPr lang="en-IN"/>
          </a:p>
        </p:txBody>
      </p:sp>
    </p:spTree>
    <p:extLst>
      <p:ext uri="{BB962C8B-B14F-4D97-AF65-F5344CB8AC3E}">
        <p14:creationId xmlns:p14="http://schemas.microsoft.com/office/powerpoint/2010/main" val="1462923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2CBFD1-0B87-4E55-A746-90F6911DF40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679A54D-DC7D-43CF-9586-3BD6C2848A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5F1A0D3-86A7-4CD8-A3B0-AA4814797DB8}"/>
              </a:ext>
            </a:extLst>
          </p:cNvPr>
          <p:cNvSpPr>
            <a:spLocks noGrp="1"/>
          </p:cNvSpPr>
          <p:nvPr>
            <p:ph type="dt" sz="half" idx="10"/>
          </p:nvPr>
        </p:nvSpPr>
        <p:spPr/>
        <p:txBody>
          <a:bodyPr/>
          <a:lstStyle/>
          <a:p>
            <a:fld id="{2ADCBAE4-108E-421E-A2F4-0540B6810C15}" type="datetimeFigureOut">
              <a:rPr lang="en-IN" smtClean="0"/>
              <a:t>23-10-2024</a:t>
            </a:fld>
            <a:endParaRPr lang="en-IN"/>
          </a:p>
        </p:txBody>
      </p:sp>
      <p:sp>
        <p:nvSpPr>
          <p:cNvPr id="5" name="Footer Placeholder 4">
            <a:extLst>
              <a:ext uri="{FF2B5EF4-FFF2-40B4-BE49-F238E27FC236}">
                <a16:creationId xmlns:a16="http://schemas.microsoft.com/office/drawing/2014/main" xmlns="" id="{EECB0D12-8B86-4157-8532-D2485B48D3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1E9FBF8-7293-4D58-86FC-EF2181D4C0B8}"/>
              </a:ext>
            </a:extLst>
          </p:cNvPr>
          <p:cNvSpPr>
            <a:spLocks noGrp="1"/>
          </p:cNvSpPr>
          <p:nvPr>
            <p:ph type="sldNum" sz="quarter" idx="12"/>
          </p:nvPr>
        </p:nvSpPr>
        <p:spPr/>
        <p:txBody>
          <a:bodyPr/>
          <a:lstStyle/>
          <a:p>
            <a:fld id="{1F02FF4C-5307-42E6-8140-AC6A0C3E5AC7}" type="slidenum">
              <a:rPr lang="en-IN" smtClean="0"/>
              <a:t>‹#›</a:t>
            </a:fld>
            <a:endParaRPr lang="en-IN"/>
          </a:p>
        </p:txBody>
      </p:sp>
    </p:spTree>
    <p:extLst>
      <p:ext uri="{BB962C8B-B14F-4D97-AF65-F5344CB8AC3E}">
        <p14:creationId xmlns:p14="http://schemas.microsoft.com/office/powerpoint/2010/main" val="1334409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149807A-EB96-426F-85F0-7AEFEDC641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1C377868-8B32-4C1A-AA42-960A37DC00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B7CD845-8E19-4893-AE42-E6A4DD87CA06}"/>
              </a:ext>
            </a:extLst>
          </p:cNvPr>
          <p:cNvSpPr>
            <a:spLocks noGrp="1"/>
          </p:cNvSpPr>
          <p:nvPr>
            <p:ph type="dt" sz="half" idx="10"/>
          </p:nvPr>
        </p:nvSpPr>
        <p:spPr/>
        <p:txBody>
          <a:bodyPr/>
          <a:lstStyle/>
          <a:p>
            <a:fld id="{2ADCBAE4-108E-421E-A2F4-0540B6810C15}" type="datetimeFigureOut">
              <a:rPr lang="en-IN" smtClean="0"/>
              <a:t>23-10-2024</a:t>
            </a:fld>
            <a:endParaRPr lang="en-IN"/>
          </a:p>
        </p:txBody>
      </p:sp>
      <p:sp>
        <p:nvSpPr>
          <p:cNvPr id="5" name="Footer Placeholder 4">
            <a:extLst>
              <a:ext uri="{FF2B5EF4-FFF2-40B4-BE49-F238E27FC236}">
                <a16:creationId xmlns:a16="http://schemas.microsoft.com/office/drawing/2014/main" xmlns="" id="{5AEE2878-D3FE-43E5-9293-3F5AD54DBD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A81B43F-3160-4449-B6F5-C9F5E2E51AD1}"/>
              </a:ext>
            </a:extLst>
          </p:cNvPr>
          <p:cNvSpPr>
            <a:spLocks noGrp="1"/>
          </p:cNvSpPr>
          <p:nvPr>
            <p:ph type="sldNum" sz="quarter" idx="12"/>
          </p:nvPr>
        </p:nvSpPr>
        <p:spPr/>
        <p:txBody>
          <a:bodyPr/>
          <a:lstStyle/>
          <a:p>
            <a:fld id="{1F02FF4C-5307-42E6-8140-AC6A0C3E5AC7}" type="slidenum">
              <a:rPr lang="en-IN" smtClean="0"/>
              <a:t>‹#›</a:t>
            </a:fld>
            <a:endParaRPr lang="en-IN"/>
          </a:p>
        </p:txBody>
      </p:sp>
    </p:spTree>
    <p:extLst>
      <p:ext uri="{BB962C8B-B14F-4D97-AF65-F5344CB8AC3E}">
        <p14:creationId xmlns:p14="http://schemas.microsoft.com/office/powerpoint/2010/main" val="3012352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161BBE2-E50B-4BA8-B69C-673DB4CF15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A83A17C-2D72-4E4F-88E5-414D5EE47D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068EFF5-11F2-4980-960B-085C759301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DCBAE4-108E-421E-A2F4-0540B6810C15}" type="datetimeFigureOut">
              <a:rPr lang="en-IN" smtClean="0"/>
              <a:t>23-10-2024</a:t>
            </a:fld>
            <a:endParaRPr lang="en-IN"/>
          </a:p>
        </p:txBody>
      </p:sp>
      <p:sp>
        <p:nvSpPr>
          <p:cNvPr id="5" name="Footer Placeholder 4">
            <a:extLst>
              <a:ext uri="{FF2B5EF4-FFF2-40B4-BE49-F238E27FC236}">
                <a16:creationId xmlns:a16="http://schemas.microsoft.com/office/drawing/2014/main" xmlns="" id="{7B20AE64-5DE7-40E6-9069-C3F2C7997A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CB957334-AC31-4F2F-B04A-6A2A4486E0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2FF4C-5307-42E6-8140-AC6A0C3E5AC7}" type="slidenum">
              <a:rPr lang="en-IN" smtClean="0"/>
              <a:t>‹#›</a:t>
            </a:fld>
            <a:endParaRPr lang="en-IN"/>
          </a:p>
        </p:txBody>
      </p:sp>
    </p:spTree>
    <p:extLst>
      <p:ext uri="{BB962C8B-B14F-4D97-AF65-F5344CB8AC3E}">
        <p14:creationId xmlns:p14="http://schemas.microsoft.com/office/powerpoint/2010/main" val="1576181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57B9F6-58D8-4164-9E8B-CC06212DEDC1}"/>
              </a:ext>
            </a:extLst>
          </p:cNvPr>
          <p:cNvSpPr>
            <a:spLocks noGrp="1"/>
          </p:cNvSpPr>
          <p:nvPr>
            <p:ph type="title"/>
          </p:nvPr>
        </p:nvSpPr>
        <p:spPr>
          <a:xfrm>
            <a:off x="838200" y="1880507"/>
            <a:ext cx="10515600" cy="1325563"/>
          </a:xfrm>
        </p:spPr>
        <p:txBody>
          <a:bodyPr/>
          <a:lstStyle/>
          <a:p>
            <a:r>
              <a:rPr lang="en-US" dirty="0"/>
              <a:t>                                  </a:t>
            </a:r>
            <a:r>
              <a:rPr lang="en-US" sz="6000" dirty="0">
                <a:latin typeface="Times New Roman" panose="02020603050405020304" pitchFamily="18" charset="0"/>
                <a:cs typeface="Times New Roman" panose="02020603050405020304" pitchFamily="18" charset="0"/>
              </a:rPr>
              <a:t>CELL</a:t>
            </a:r>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67413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4823A4-2608-4FE5-A3C9-D8A723776DDD}"/>
              </a:ext>
            </a:extLst>
          </p:cNvPr>
          <p:cNvSpPr>
            <a:spLocks noGrp="1"/>
          </p:cNvSpPr>
          <p:nvPr>
            <p:ph type="title"/>
          </p:nvPr>
        </p:nvSpPr>
        <p:spPr/>
        <p:txBody>
          <a:bodyPr/>
          <a:lstStyle/>
          <a:p>
            <a:r>
              <a:rPr lang="en-US" dirty="0"/>
              <a:t>                    STRUCTURE OF CELL</a:t>
            </a:r>
            <a:endParaRPr lang="en-IN" dirty="0"/>
          </a:p>
        </p:txBody>
      </p:sp>
      <p:pic>
        <p:nvPicPr>
          <p:cNvPr id="7" name="Content Placeholder 6">
            <a:extLst>
              <a:ext uri="{FF2B5EF4-FFF2-40B4-BE49-F238E27FC236}">
                <a16:creationId xmlns:a16="http://schemas.microsoft.com/office/drawing/2014/main" xmlns="" id="{A16CFDA5-2C53-478C-B318-E95DF3BD0C7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 b="10815"/>
          <a:stretch/>
        </p:blipFill>
        <p:spPr>
          <a:xfrm>
            <a:off x="1951264" y="1223031"/>
            <a:ext cx="7380516" cy="5536997"/>
          </a:xfrm>
        </p:spPr>
      </p:pic>
    </p:spTree>
    <p:extLst>
      <p:ext uri="{BB962C8B-B14F-4D97-AF65-F5344CB8AC3E}">
        <p14:creationId xmlns:p14="http://schemas.microsoft.com/office/powerpoint/2010/main" val="25551228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FA51AD-68B2-411B-B3B1-A08F3C7533D3}"/>
              </a:ext>
            </a:extLst>
          </p:cNvPr>
          <p:cNvSpPr>
            <a:spLocks noGrp="1"/>
          </p:cNvSpPr>
          <p:nvPr>
            <p:ph type="title"/>
          </p:nvPr>
        </p:nvSpPr>
        <p:spPr>
          <a:xfrm>
            <a:off x="838200" y="365125"/>
            <a:ext cx="10515600" cy="858189"/>
          </a:xfrm>
        </p:spPr>
        <p:txBody>
          <a:bodyPr/>
          <a:lstStyle/>
          <a:p>
            <a:r>
              <a:rPr lang="en-US" dirty="0"/>
              <a:t>         STRUCTURE OF CELL MEMBRANE</a:t>
            </a:r>
            <a:endParaRPr lang="en-IN" dirty="0"/>
          </a:p>
        </p:txBody>
      </p:sp>
      <p:pic>
        <p:nvPicPr>
          <p:cNvPr id="6" name="Content Placeholder 5">
            <a:extLst>
              <a:ext uri="{FF2B5EF4-FFF2-40B4-BE49-F238E27FC236}">
                <a16:creationId xmlns:a16="http://schemas.microsoft.com/office/drawing/2014/main" xmlns="" id="{73EDCD8D-3CA9-4FA5-9637-AABC566AD5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7929" y="1340892"/>
            <a:ext cx="8546538" cy="4844235"/>
          </a:xfrm>
        </p:spPr>
      </p:pic>
    </p:spTree>
    <p:extLst>
      <p:ext uri="{BB962C8B-B14F-4D97-AF65-F5344CB8AC3E}">
        <p14:creationId xmlns:p14="http://schemas.microsoft.com/office/powerpoint/2010/main" val="37135443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E8B248-16FC-4063-8458-64019A777DF8}"/>
              </a:ext>
            </a:extLst>
          </p:cNvPr>
          <p:cNvSpPr>
            <a:spLocks noGrp="1"/>
          </p:cNvSpPr>
          <p:nvPr>
            <p:ph type="title"/>
          </p:nvPr>
        </p:nvSpPr>
        <p:spPr/>
        <p:txBody>
          <a:bodyPr/>
          <a:lstStyle/>
          <a:p>
            <a:r>
              <a:rPr lang="en-US" dirty="0"/>
              <a:t>        STRUCTURE OF CELL MEMBRANE</a:t>
            </a:r>
            <a:endParaRPr lang="en-IN" dirty="0"/>
          </a:p>
        </p:txBody>
      </p:sp>
      <p:sp>
        <p:nvSpPr>
          <p:cNvPr id="3" name="Content Placeholder 2">
            <a:extLst>
              <a:ext uri="{FF2B5EF4-FFF2-40B4-BE49-F238E27FC236}">
                <a16:creationId xmlns:a16="http://schemas.microsoft.com/office/drawing/2014/main" xmlns="" id="{96F6020E-B66A-4FAE-B150-0F4495F9D726}"/>
              </a:ext>
            </a:extLst>
          </p:cNvPr>
          <p:cNvSpPr>
            <a:spLocks noGrp="1"/>
          </p:cNvSpPr>
          <p:nvPr>
            <p:ph idx="1"/>
          </p:nvPr>
        </p:nvSpPr>
        <p:spPr/>
        <p:txBody>
          <a:bodyPr>
            <a:normAutofit fontScale="92500" lnSpcReduction="10000"/>
          </a:bodyPr>
          <a:lstStyle/>
          <a:p>
            <a:r>
              <a:rPr lang="en-US" dirty="0"/>
              <a:t>Cell membrane is made up of two layers of phospholipids.</a:t>
            </a:r>
          </a:p>
          <a:p>
            <a:r>
              <a:rPr lang="en-US" dirty="0"/>
              <a:t>Each phospholipid has a hydrophilic end and a hydrophobic end.</a:t>
            </a:r>
          </a:p>
          <a:p>
            <a:r>
              <a:rPr lang="en-US" dirty="0"/>
              <a:t>Hydrophilic ends face towards ICF OR ECF, while the hydrophobic ends face towards each other.</a:t>
            </a:r>
          </a:p>
          <a:p>
            <a:r>
              <a:rPr lang="en-US" dirty="0"/>
              <a:t>In between the phospholipids are the protein molecules.</a:t>
            </a:r>
          </a:p>
          <a:p>
            <a:r>
              <a:rPr lang="en-US" dirty="0"/>
              <a:t>There are three types of protein molecules.</a:t>
            </a:r>
          </a:p>
          <a:p>
            <a:r>
              <a:rPr lang="en-US" dirty="0"/>
              <a:t>1.  Peripheral proteins</a:t>
            </a:r>
          </a:p>
          <a:p>
            <a:r>
              <a:rPr lang="en-US" dirty="0"/>
              <a:t>2. Integral proteins</a:t>
            </a:r>
          </a:p>
          <a:p>
            <a:r>
              <a:rPr lang="en-US" dirty="0"/>
              <a:t>3. Trans membrane proteins.</a:t>
            </a:r>
          </a:p>
          <a:p>
            <a:r>
              <a:rPr lang="en-US" dirty="0"/>
              <a:t>Attached to proteins and lipids are the glycogen molecules.</a:t>
            </a:r>
            <a:endParaRPr lang="en-IN" dirty="0"/>
          </a:p>
        </p:txBody>
      </p:sp>
    </p:spTree>
    <p:extLst>
      <p:ext uri="{BB962C8B-B14F-4D97-AF65-F5344CB8AC3E}">
        <p14:creationId xmlns:p14="http://schemas.microsoft.com/office/powerpoint/2010/main" val="15912166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BEE1E6-3D92-4276-AB25-362916293DA0}"/>
              </a:ext>
            </a:extLst>
          </p:cNvPr>
          <p:cNvSpPr>
            <a:spLocks noGrp="1"/>
          </p:cNvSpPr>
          <p:nvPr>
            <p:ph type="title"/>
          </p:nvPr>
        </p:nvSpPr>
        <p:spPr/>
        <p:txBody>
          <a:bodyPr/>
          <a:lstStyle/>
          <a:p>
            <a:r>
              <a:rPr lang="en-US" dirty="0"/>
              <a:t>             FUNCTIONS OF CELL MEMBANE</a:t>
            </a:r>
            <a:endParaRPr lang="en-IN" dirty="0"/>
          </a:p>
        </p:txBody>
      </p:sp>
      <p:sp>
        <p:nvSpPr>
          <p:cNvPr id="3" name="Content Placeholder 2">
            <a:extLst>
              <a:ext uri="{FF2B5EF4-FFF2-40B4-BE49-F238E27FC236}">
                <a16:creationId xmlns:a16="http://schemas.microsoft.com/office/drawing/2014/main" xmlns="" id="{FD7523B0-1594-470A-953A-27A6B47EF8E2}"/>
              </a:ext>
            </a:extLst>
          </p:cNvPr>
          <p:cNvSpPr>
            <a:spLocks noGrp="1"/>
          </p:cNvSpPr>
          <p:nvPr>
            <p:ph idx="1"/>
          </p:nvPr>
        </p:nvSpPr>
        <p:spPr/>
        <p:txBody>
          <a:bodyPr>
            <a:normAutofit/>
          </a:bodyPr>
          <a:lstStyle/>
          <a:p>
            <a:pPr marL="0" indent="0">
              <a:buNone/>
            </a:pPr>
            <a:r>
              <a:rPr lang="en-US" dirty="0"/>
              <a:t>1.Help to maintain the normal shape of a cell.</a:t>
            </a:r>
          </a:p>
          <a:p>
            <a:pPr marL="0" indent="0">
              <a:buNone/>
            </a:pPr>
            <a:r>
              <a:rPr lang="en-US" dirty="0"/>
              <a:t>2.Help in different types of transport like osmosis, diffusion, active transport etc.</a:t>
            </a:r>
          </a:p>
          <a:p>
            <a:pPr marL="0" indent="0">
              <a:buNone/>
            </a:pPr>
            <a:r>
              <a:rPr lang="en-US" dirty="0"/>
              <a:t>3.Peripheral proteins can act as enzymes, cell adhesion molecule, cell identity markers, antigens etc.</a:t>
            </a:r>
          </a:p>
          <a:p>
            <a:pPr marL="0" indent="0">
              <a:buNone/>
            </a:pPr>
            <a:r>
              <a:rPr lang="en-US" dirty="0"/>
              <a:t>4. Trans membrane proteins help in the formation of channel proteins. There are two types of channels like Gated and Ungated channels.</a:t>
            </a:r>
          </a:p>
          <a:p>
            <a:pPr marL="0" indent="0">
              <a:buNone/>
            </a:pPr>
            <a:r>
              <a:rPr lang="en-US" dirty="0"/>
              <a:t>5. Some cell membrane proteins act as pumps[sodium-potassium pump],  aquaporins, carrier proteins etc.</a:t>
            </a:r>
            <a:endParaRPr lang="en-IN" dirty="0"/>
          </a:p>
        </p:txBody>
      </p:sp>
    </p:spTree>
    <p:extLst>
      <p:ext uri="{BB962C8B-B14F-4D97-AF65-F5344CB8AC3E}">
        <p14:creationId xmlns:p14="http://schemas.microsoft.com/office/powerpoint/2010/main" val="25188388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49C0C5-8CA4-48FD-B989-759CF9C8E20A}"/>
              </a:ext>
            </a:extLst>
          </p:cNvPr>
          <p:cNvSpPr>
            <a:spLocks noGrp="1"/>
          </p:cNvSpPr>
          <p:nvPr>
            <p:ph type="title"/>
          </p:nvPr>
        </p:nvSpPr>
        <p:spPr/>
        <p:txBody>
          <a:bodyPr/>
          <a:lstStyle/>
          <a:p>
            <a:r>
              <a:rPr lang="en-US" dirty="0"/>
              <a:t>                      MITOCHONDRIA</a:t>
            </a:r>
            <a:endParaRPr lang="en-IN" dirty="0"/>
          </a:p>
        </p:txBody>
      </p:sp>
      <p:sp>
        <p:nvSpPr>
          <p:cNvPr id="3" name="Content Placeholder 2">
            <a:extLst>
              <a:ext uri="{FF2B5EF4-FFF2-40B4-BE49-F238E27FC236}">
                <a16:creationId xmlns:a16="http://schemas.microsoft.com/office/drawing/2014/main" xmlns="" id="{8A95FB4F-307C-4EBA-AD70-B2F238A2F83A}"/>
              </a:ext>
            </a:extLst>
          </p:cNvPr>
          <p:cNvSpPr>
            <a:spLocks noGrp="1"/>
          </p:cNvSpPr>
          <p:nvPr>
            <p:ph idx="1"/>
          </p:nvPr>
        </p:nvSpPr>
        <p:spPr>
          <a:xfrm>
            <a:off x="838200" y="1469571"/>
            <a:ext cx="10515600" cy="5176158"/>
          </a:xfrm>
        </p:spPr>
        <p:txBody>
          <a:bodyPr>
            <a:normAutofit/>
          </a:bodyPr>
          <a:lstStyle/>
          <a:p>
            <a:r>
              <a:rPr lang="en-US" dirty="0"/>
              <a:t>Is the power house of the cell</a:t>
            </a:r>
          </a:p>
          <a:p>
            <a:r>
              <a:rPr lang="en-US" dirty="0"/>
              <a:t>Is double layered , outer layer is smooth while inner layer is invaginated into infoldings or cristae.</a:t>
            </a:r>
          </a:p>
          <a:p>
            <a:r>
              <a:rPr lang="en-US" dirty="0"/>
              <a:t>Cavity of mitochondria is filled with matrix</a:t>
            </a:r>
          </a:p>
          <a:p>
            <a:r>
              <a:rPr lang="en-US" dirty="0"/>
              <a:t>Attached to the cristae and present in the matrix are enzymes which help in cellular respiration and help in ATP synthesis.</a:t>
            </a:r>
          </a:p>
          <a:p>
            <a:r>
              <a:rPr lang="en-US" dirty="0"/>
              <a:t>Mitochondrial DNA help in self replication.</a:t>
            </a:r>
          </a:p>
          <a:p>
            <a:r>
              <a:rPr lang="en-US" dirty="0"/>
              <a:t>Mitochondrial DNA is inherited from mother.</a:t>
            </a:r>
          </a:p>
          <a:p>
            <a:r>
              <a:rPr lang="en-US" dirty="0"/>
              <a:t>Shape of mitochondria varies </a:t>
            </a:r>
            <a:r>
              <a:rPr lang="en-US" dirty="0" err="1"/>
              <a:t>ie</a:t>
            </a:r>
            <a:r>
              <a:rPr lang="en-US" dirty="0"/>
              <a:t> spherical, filamentous, sausage shaped etc.</a:t>
            </a:r>
          </a:p>
        </p:txBody>
      </p:sp>
    </p:spTree>
    <p:extLst>
      <p:ext uri="{BB962C8B-B14F-4D97-AF65-F5344CB8AC3E}">
        <p14:creationId xmlns:p14="http://schemas.microsoft.com/office/powerpoint/2010/main" val="8551083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95F7EA-64C0-4CE8-B549-4456C85673FB}"/>
              </a:ext>
            </a:extLst>
          </p:cNvPr>
          <p:cNvSpPr>
            <a:spLocks noGrp="1"/>
          </p:cNvSpPr>
          <p:nvPr>
            <p:ph type="title"/>
          </p:nvPr>
        </p:nvSpPr>
        <p:spPr/>
        <p:txBody>
          <a:bodyPr/>
          <a:lstStyle/>
          <a:p>
            <a:r>
              <a:rPr lang="en-US" dirty="0"/>
              <a:t>                 ENDOPLASMIC RETICULUM</a:t>
            </a:r>
            <a:endParaRPr lang="en-IN" dirty="0"/>
          </a:p>
        </p:txBody>
      </p:sp>
      <p:sp>
        <p:nvSpPr>
          <p:cNvPr id="3" name="Content Placeholder 2">
            <a:extLst>
              <a:ext uri="{FF2B5EF4-FFF2-40B4-BE49-F238E27FC236}">
                <a16:creationId xmlns:a16="http://schemas.microsoft.com/office/drawing/2014/main" xmlns="" id="{E0CA155D-03A5-45D9-A3D1-03521A364EA6}"/>
              </a:ext>
            </a:extLst>
          </p:cNvPr>
          <p:cNvSpPr>
            <a:spLocks noGrp="1"/>
          </p:cNvSpPr>
          <p:nvPr>
            <p:ph idx="1"/>
          </p:nvPr>
        </p:nvSpPr>
        <p:spPr/>
        <p:txBody>
          <a:bodyPr>
            <a:normAutofit fontScale="92500" lnSpcReduction="10000"/>
          </a:bodyPr>
          <a:lstStyle/>
          <a:p>
            <a:r>
              <a:rPr lang="en-US" dirty="0"/>
              <a:t>Is a system of membrane enclosed channels called cisternae.</a:t>
            </a:r>
          </a:p>
          <a:p>
            <a:r>
              <a:rPr lang="en-US" dirty="0"/>
              <a:t>Is continuous with the nuclear membrane.</a:t>
            </a:r>
          </a:p>
          <a:p>
            <a:r>
              <a:rPr lang="en-US" dirty="0"/>
              <a:t>There are two types </a:t>
            </a:r>
          </a:p>
          <a:p>
            <a:pPr marL="0" indent="0">
              <a:buNone/>
            </a:pPr>
            <a:r>
              <a:rPr lang="en-US" dirty="0"/>
              <a:t>   1. Rough Endoplasmic Reticulum</a:t>
            </a:r>
          </a:p>
          <a:p>
            <a:pPr marL="0" indent="0">
              <a:buNone/>
            </a:pPr>
            <a:r>
              <a:rPr lang="en-US" dirty="0"/>
              <a:t>   2. Smooth Endoplasmic Reticulum</a:t>
            </a:r>
          </a:p>
          <a:p>
            <a:r>
              <a:rPr lang="en-US" dirty="0"/>
              <a:t>Rough endoplasmic reticulum help in protein synthesis.</a:t>
            </a:r>
          </a:p>
          <a:p>
            <a:r>
              <a:rPr lang="en-US" dirty="0"/>
              <a:t>Smooth endoplasmic reticulum help in synthesis of fatty acids , phospholipids, steroids etc.</a:t>
            </a:r>
          </a:p>
          <a:p>
            <a:r>
              <a:rPr lang="en-US" dirty="0"/>
              <a:t>In skeletal and cardiac muscle, smooth endoplasmic reticulum help in storage of calcium and calcium is released during muscle contraction.</a:t>
            </a:r>
          </a:p>
          <a:p>
            <a:endParaRPr lang="en-IN" dirty="0"/>
          </a:p>
        </p:txBody>
      </p:sp>
    </p:spTree>
    <p:extLst>
      <p:ext uri="{BB962C8B-B14F-4D97-AF65-F5344CB8AC3E}">
        <p14:creationId xmlns:p14="http://schemas.microsoft.com/office/powerpoint/2010/main" val="11542370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7B6D77-4CF7-490F-B0A1-11AB0E1B7C96}"/>
              </a:ext>
            </a:extLst>
          </p:cNvPr>
          <p:cNvSpPr>
            <a:spLocks noGrp="1"/>
          </p:cNvSpPr>
          <p:nvPr>
            <p:ph type="title"/>
          </p:nvPr>
        </p:nvSpPr>
        <p:spPr/>
        <p:txBody>
          <a:bodyPr/>
          <a:lstStyle/>
          <a:p>
            <a:r>
              <a:rPr lang="en-US" dirty="0"/>
              <a:t>                       GOLGI APPARATUS</a:t>
            </a:r>
            <a:endParaRPr lang="en-IN" dirty="0"/>
          </a:p>
        </p:txBody>
      </p:sp>
      <p:sp>
        <p:nvSpPr>
          <p:cNvPr id="3" name="Content Placeholder 2">
            <a:extLst>
              <a:ext uri="{FF2B5EF4-FFF2-40B4-BE49-F238E27FC236}">
                <a16:creationId xmlns:a16="http://schemas.microsoft.com/office/drawing/2014/main" xmlns="" id="{362EE5BF-A47A-4195-B5D5-EFCABA053534}"/>
              </a:ext>
            </a:extLst>
          </p:cNvPr>
          <p:cNvSpPr>
            <a:spLocks noGrp="1"/>
          </p:cNvSpPr>
          <p:nvPr>
            <p:ph idx="1"/>
          </p:nvPr>
        </p:nvSpPr>
        <p:spPr/>
        <p:txBody>
          <a:bodyPr/>
          <a:lstStyle/>
          <a:p>
            <a:r>
              <a:rPr lang="en-US" dirty="0"/>
              <a:t>Golgi apparatus help in secretory activity.</a:t>
            </a:r>
          </a:p>
          <a:p>
            <a:r>
              <a:rPr lang="en-US" dirty="0"/>
              <a:t>Consists of flattened sacs or cisterns and vesicles </a:t>
            </a:r>
          </a:p>
          <a:p>
            <a:r>
              <a:rPr lang="en-US" dirty="0"/>
              <a:t>It process, pack and release proteins and lipids to the cell membrane  and also form lysosomes and secretory vesicles.</a:t>
            </a:r>
          </a:p>
          <a:p>
            <a:r>
              <a:rPr lang="en-US" dirty="0"/>
              <a:t>Also synthesize substances like mucopolysaccharide. </a:t>
            </a:r>
          </a:p>
          <a:p>
            <a:endParaRPr lang="en-IN" dirty="0"/>
          </a:p>
        </p:txBody>
      </p:sp>
    </p:spTree>
    <p:extLst>
      <p:ext uri="{BB962C8B-B14F-4D97-AF65-F5344CB8AC3E}">
        <p14:creationId xmlns:p14="http://schemas.microsoft.com/office/powerpoint/2010/main" val="655026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D0B8FD-B677-409F-901F-46F081B215A1}"/>
              </a:ext>
            </a:extLst>
          </p:cNvPr>
          <p:cNvSpPr>
            <a:spLocks noGrp="1"/>
          </p:cNvSpPr>
          <p:nvPr>
            <p:ph type="title"/>
          </p:nvPr>
        </p:nvSpPr>
        <p:spPr/>
        <p:txBody>
          <a:bodyPr/>
          <a:lstStyle/>
          <a:p>
            <a:r>
              <a:rPr lang="en-US" dirty="0"/>
              <a:t>                               LYSOSOME</a:t>
            </a:r>
            <a:endParaRPr lang="en-IN" dirty="0"/>
          </a:p>
        </p:txBody>
      </p:sp>
      <p:sp>
        <p:nvSpPr>
          <p:cNvPr id="3" name="Content Placeholder 2">
            <a:extLst>
              <a:ext uri="{FF2B5EF4-FFF2-40B4-BE49-F238E27FC236}">
                <a16:creationId xmlns:a16="http://schemas.microsoft.com/office/drawing/2014/main" xmlns="" id="{CEA746DD-6341-4D04-8EA8-0E294677659B}"/>
              </a:ext>
            </a:extLst>
          </p:cNvPr>
          <p:cNvSpPr>
            <a:spLocks noGrp="1"/>
          </p:cNvSpPr>
          <p:nvPr>
            <p:ph idx="1"/>
          </p:nvPr>
        </p:nvSpPr>
        <p:spPr/>
        <p:txBody>
          <a:bodyPr/>
          <a:lstStyle/>
          <a:p>
            <a:r>
              <a:rPr lang="en-US" dirty="0"/>
              <a:t>Is the suicidal bag of the cell</a:t>
            </a:r>
          </a:p>
          <a:p>
            <a:r>
              <a:rPr lang="en-US" dirty="0"/>
              <a:t>There are 40 different lysosomal enzymes.</a:t>
            </a:r>
          </a:p>
          <a:p>
            <a:r>
              <a:rPr lang="en-US" dirty="0"/>
              <a:t>Enzymes help to digest proteins, lipids and carbohydrates.</a:t>
            </a:r>
          </a:p>
          <a:p>
            <a:r>
              <a:rPr lang="en-US" dirty="0"/>
              <a:t>Can digest  other cell organelles by AUTOPHAGY.</a:t>
            </a:r>
          </a:p>
          <a:p>
            <a:r>
              <a:rPr lang="en-US" dirty="0"/>
              <a:t>Can digest the whole cell by AUTOLYSIS.</a:t>
            </a:r>
          </a:p>
          <a:p>
            <a:r>
              <a:rPr lang="en-US" dirty="0"/>
              <a:t>Neutrophil, Eosinophil and Basophil granules are lysosomes.</a:t>
            </a:r>
          </a:p>
          <a:p>
            <a:endParaRPr lang="en-IN" dirty="0"/>
          </a:p>
        </p:txBody>
      </p:sp>
    </p:spTree>
    <p:extLst>
      <p:ext uri="{BB962C8B-B14F-4D97-AF65-F5344CB8AC3E}">
        <p14:creationId xmlns:p14="http://schemas.microsoft.com/office/powerpoint/2010/main" val="14824217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9BB37E-0791-42A4-B456-B0069186BF9F}"/>
              </a:ext>
            </a:extLst>
          </p:cNvPr>
          <p:cNvSpPr>
            <a:spLocks noGrp="1"/>
          </p:cNvSpPr>
          <p:nvPr>
            <p:ph type="title"/>
          </p:nvPr>
        </p:nvSpPr>
        <p:spPr/>
        <p:txBody>
          <a:bodyPr/>
          <a:lstStyle/>
          <a:p>
            <a:r>
              <a:rPr lang="en-US" dirty="0"/>
              <a:t>                          PEROXISOME</a:t>
            </a:r>
            <a:endParaRPr lang="en-IN" dirty="0"/>
          </a:p>
        </p:txBody>
      </p:sp>
      <p:sp>
        <p:nvSpPr>
          <p:cNvPr id="3" name="Content Placeholder 2">
            <a:extLst>
              <a:ext uri="{FF2B5EF4-FFF2-40B4-BE49-F238E27FC236}">
                <a16:creationId xmlns:a16="http://schemas.microsoft.com/office/drawing/2014/main" xmlns="" id="{69096D80-A7F7-4464-883E-E7341992283F}"/>
              </a:ext>
            </a:extLst>
          </p:cNvPr>
          <p:cNvSpPr>
            <a:spLocks noGrp="1"/>
          </p:cNvSpPr>
          <p:nvPr>
            <p:ph idx="1"/>
          </p:nvPr>
        </p:nvSpPr>
        <p:spPr/>
        <p:txBody>
          <a:bodyPr/>
          <a:lstStyle/>
          <a:p>
            <a:r>
              <a:rPr lang="en-US" dirty="0"/>
              <a:t>Is formed from Endoplasmic reticulum</a:t>
            </a:r>
          </a:p>
          <a:p>
            <a:r>
              <a:rPr lang="en-US" dirty="0"/>
              <a:t>Contain 50 different metabolic enzymes that oxidize organic substances and produce H₂O₂.</a:t>
            </a:r>
          </a:p>
          <a:p>
            <a:r>
              <a:rPr lang="en-US" dirty="0"/>
              <a:t>An enzyme catalase make use of H₂O₂ to detoxify toxins like phenol, formic acid, formaldehyde etc. in Liver and Kidney.</a:t>
            </a:r>
          </a:p>
          <a:p>
            <a:endParaRPr lang="en-IN" dirty="0"/>
          </a:p>
        </p:txBody>
      </p:sp>
    </p:spTree>
    <p:extLst>
      <p:ext uri="{BB962C8B-B14F-4D97-AF65-F5344CB8AC3E}">
        <p14:creationId xmlns:p14="http://schemas.microsoft.com/office/powerpoint/2010/main" val="16654133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C41452-2588-43BC-8B4F-3F7C2FF3F07F}"/>
              </a:ext>
            </a:extLst>
          </p:cNvPr>
          <p:cNvSpPr>
            <a:spLocks noGrp="1"/>
          </p:cNvSpPr>
          <p:nvPr>
            <p:ph type="title"/>
          </p:nvPr>
        </p:nvSpPr>
        <p:spPr/>
        <p:txBody>
          <a:bodyPr/>
          <a:lstStyle/>
          <a:p>
            <a:r>
              <a:rPr lang="en-US" dirty="0"/>
              <a:t>                       PROTEASOME</a:t>
            </a:r>
            <a:endParaRPr lang="en-IN" dirty="0"/>
          </a:p>
        </p:txBody>
      </p:sp>
      <p:sp>
        <p:nvSpPr>
          <p:cNvPr id="3" name="Content Placeholder 2">
            <a:extLst>
              <a:ext uri="{FF2B5EF4-FFF2-40B4-BE49-F238E27FC236}">
                <a16:creationId xmlns:a16="http://schemas.microsoft.com/office/drawing/2014/main" xmlns="" id="{2559E6BB-EB16-4D67-8347-FFA89A454DE9}"/>
              </a:ext>
            </a:extLst>
          </p:cNvPr>
          <p:cNvSpPr>
            <a:spLocks noGrp="1"/>
          </p:cNvSpPr>
          <p:nvPr>
            <p:ph idx="1"/>
          </p:nvPr>
        </p:nvSpPr>
        <p:spPr>
          <a:xfrm>
            <a:off x="838200" y="1825625"/>
            <a:ext cx="10515600" cy="4828268"/>
          </a:xfrm>
        </p:spPr>
        <p:txBody>
          <a:bodyPr/>
          <a:lstStyle/>
          <a:p>
            <a:r>
              <a:rPr lang="en-US" dirty="0"/>
              <a:t>Are tiny vesicles present in the cell.</a:t>
            </a:r>
          </a:p>
          <a:p>
            <a:r>
              <a:rPr lang="en-US" dirty="0"/>
              <a:t>It stores proteases which can destruct abnormal proteins formed in a cell.</a:t>
            </a:r>
          </a:p>
          <a:p>
            <a:r>
              <a:rPr lang="en-US" dirty="0"/>
              <a:t>It can degrade metabolic enzymes after their normal function.</a:t>
            </a:r>
          </a:p>
          <a:p>
            <a:r>
              <a:rPr lang="en-US" dirty="0"/>
              <a:t>Each cell has thousands of proteasomes which can split proteins into peptides and then into amino acids.</a:t>
            </a:r>
            <a:endParaRPr lang="en-IN" dirty="0"/>
          </a:p>
        </p:txBody>
      </p:sp>
    </p:spTree>
    <p:extLst>
      <p:ext uri="{BB962C8B-B14F-4D97-AF65-F5344CB8AC3E}">
        <p14:creationId xmlns:p14="http://schemas.microsoft.com/office/powerpoint/2010/main" val="7515421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8D34F6-76A5-4ED8-9C83-99949F89298F}"/>
              </a:ext>
            </a:extLst>
          </p:cNvPr>
          <p:cNvSpPr>
            <a:spLocks noGrp="1"/>
          </p:cNvSpPr>
          <p:nvPr>
            <p:ph type="title"/>
          </p:nvPr>
        </p:nvSpPr>
        <p:spPr/>
        <p:txBody>
          <a:bodyPr>
            <a:normAutofit fontScale="90000"/>
          </a:bodyPr>
          <a:lstStyle/>
          <a:p>
            <a:r>
              <a:rPr lang="en-US" dirty="0"/>
              <a:t>                     CENTROSOME</a:t>
            </a:r>
            <a:br>
              <a:rPr lang="en-US" dirty="0"/>
            </a:br>
            <a:r>
              <a:rPr lang="en-US" dirty="0"/>
              <a:t/>
            </a:r>
            <a:br>
              <a:rPr lang="en-US" dirty="0"/>
            </a:br>
            <a:endParaRPr lang="en-IN" dirty="0"/>
          </a:p>
        </p:txBody>
      </p:sp>
      <p:sp>
        <p:nvSpPr>
          <p:cNvPr id="3" name="Content Placeholder 2">
            <a:extLst>
              <a:ext uri="{FF2B5EF4-FFF2-40B4-BE49-F238E27FC236}">
                <a16:creationId xmlns:a16="http://schemas.microsoft.com/office/drawing/2014/main" xmlns="" id="{4863B120-608D-454F-9971-D86918863E62}"/>
              </a:ext>
            </a:extLst>
          </p:cNvPr>
          <p:cNvSpPr>
            <a:spLocks noGrp="1"/>
          </p:cNvSpPr>
          <p:nvPr>
            <p:ph idx="1"/>
          </p:nvPr>
        </p:nvSpPr>
        <p:spPr/>
        <p:txBody>
          <a:bodyPr/>
          <a:lstStyle/>
          <a:p>
            <a:r>
              <a:rPr lang="en-US" dirty="0"/>
              <a:t>Consist of a pair of centriole</a:t>
            </a:r>
          </a:p>
          <a:p>
            <a:r>
              <a:rPr lang="en-US" dirty="0"/>
              <a:t>Also called microtubular organizing center</a:t>
            </a:r>
          </a:p>
          <a:p>
            <a:r>
              <a:rPr lang="en-US" dirty="0"/>
              <a:t>Help in cell division. centrosome divide and move apart to form the poles of mitotic spindle.</a:t>
            </a:r>
            <a:endParaRPr lang="en-IN" dirty="0"/>
          </a:p>
        </p:txBody>
      </p:sp>
    </p:spTree>
    <p:extLst>
      <p:ext uri="{BB962C8B-B14F-4D97-AF65-F5344CB8AC3E}">
        <p14:creationId xmlns:p14="http://schemas.microsoft.com/office/powerpoint/2010/main" val="28329488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15F43B-C159-46F6-966C-6C3C744AB530}"/>
              </a:ext>
            </a:extLst>
          </p:cNvPr>
          <p:cNvSpPr>
            <a:spLocks noGrp="1"/>
          </p:cNvSpPr>
          <p:nvPr>
            <p:ph type="title"/>
          </p:nvPr>
        </p:nvSpPr>
        <p:spPr/>
        <p:txBody>
          <a:bodyPr/>
          <a:lstStyle/>
          <a:p>
            <a:r>
              <a:rPr lang="en-US" dirty="0"/>
              <a:t>            MICROFILAMENT AND MICROTUBULE</a:t>
            </a:r>
            <a:endParaRPr lang="en-IN" dirty="0"/>
          </a:p>
        </p:txBody>
      </p:sp>
      <p:sp>
        <p:nvSpPr>
          <p:cNvPr id="3" name="Content Placeholder 2">
            <a:extLst>
              <a:ext uri="{FF2B5EF4-FFF2-40B4-BE49-F238E27FC236}">
                <a16:creationId xmlns:a16="http://schemas.microsoft.com/office/drawing/2014/main" xmlns="" id="{AC1F27A2-F801-4EEE-B855-587ED04F7D1B}"/>
              </a:ext>
            </a:extLst>
          </p:cNvPr>
          <p:cNvSpPr>
            <a:spLocks noGrp="1"/>
          </p:cNvSpPr>
          <p:nvPr>
            <p:ph idx="1"/>
          </p:nvPr>
        </p:nvSpPr>
        <p:spPr/>
        <p:txBody>
          <a:bodyPr/>
          <a:lstStyle/>
          <a:p>
            <a:pPr marL="0" indent="0">
              <a:buNone/>
            </a:pPr>
            <a:r>
              <a:rPr lang="en-US" dirty="0"/>
              <a:t>                                  MICROFILAMENTS</a:t>
            </a:r>
          </a:p>
          <a:p>
            <a:r>
              <a:rPr lang="en-US" dirty="0"/>
              <a:t>Made up of F-Actin strands which are coiled.</a:t>
            </a:r>
          </a:p>
          <a:p>
            <a:r>
              <a:rPr lang="en-US" dirty="0"/>
              <a:t>Help in movement of the cell, cell division, muscle contraction etc.</a:t>
            </a:r>
          </a:p>
          <a:p>
            <a:r>
              <a:rPr lang="en-US" dirty="0"/>
              <a:t>                                 MICROTUBULES</a:t>
            </a:r>
          </a:p>
          <a:p>
            <a:r>
              <a:rPr lang="en-US" dirty="0"/>
              <a:t>Are unbranched hollow tubes made up of tubulin.</a:t>
            </a:r>
          </a:p>
          <a:p>
            <a:r>
              <a:rPr lang="en-US" dirty="0"/>
              <a:t>Help to maintain cell shape  and also help in movement of vesicles.</a:t>
            </a:r>
          </a:p>
          <a:p>
            <a:endParaRPr lang="en-US" dirty="0"/>
          </a:p>
          <a:p>
            <a:endParaRPr lang="en-IN" dirty="0"/>
          </a:p>
        </p:txBody>
      </p:sp>
    </p:spTree>
    <p:extLst>
      <p:ext uri="{BB962C8B-B14F-4D97-AF65-F5344CB8AC3E}">
        <p14:creationId xmlns:p14="http://schemas.microsoft.com/office/powerpoint/2010/main" val="30442467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95D1FD-DB48-4AAB-97D7-20C0D8EFA273}"/>
              </a:ext>
            </a:extLst>
          </p:cNvPr>
          <p:cNvSpPr>
            <a:spLocks noGrp="1"/>
          </p:cNvSpPr>
          <p:nvPr>
            <p:ph type="title"/>
          </p:nvPr>
        </p:nvSpPr>
        <p:spPr/>
        <p:txBody>
          <a:bodyPr/>
          <a:lstStyle/>
          <a:p>
            <a:r>
              <a:rPr lang="en-US" dirty="0"/>
              <a:t>                             NUCLEUS</a:t>
            </a:r>
            <a:endParaRPr lang="en-IN" dirty="0"/>
          </a:p>
        </p:txBody>
      </p:sp>
      <p:sp>
        <p:nvSpPr>
          <p:cNvPr id="3" name="Content Placeholder 2">
            <a:extLst>
              <a:ext uri="{FF2B5EF4-FFF2-40B4-BE49-F238E27FC236}">
                <a16:creationId xmlns:a16="http://schemas.microsoft.com/office/drawing/2014/main" xmlns="" id="{FD064DFE-778C-4B22-911B-78EB0B819937}"/>
              </a:ext>
            </a:extLst>
          </p:cNvPr>
          <p:cNvSpPr>
            <a:spLocks noGrp="1"/>
          </p:cNvSpPr>
          <p:nvPr>
            <p:ph idx="1"/>
          </p:nvPr>
        </p:nvSpPr>
        <p:spPr/>
        <p:txBody>
          <a:bodyPr>
            <a:normAutofit/>
          </a:bodyPr>
          <a:lstStyle/>
          <a:p>
            <a:r>
              <a:rPr lang="en-US" dirty="0"/>
              <a:t>Nucleus is bounded by nuclear membrane. Nuclear pores present in the membrane help in the movement of mRNA.  Fluid present inside the nucleus is nucleoplasm. Nucleolus is present in the nucleoplasm and is the site of rRNA synthesis and ribosomes</a:t>
            </a:r>
          </a:p>
          <a:p>
            <a:r>
              <a:rPr lang="en-US" dirty="0"/>
              <a:t>chromosomes help in transfer of hereditary material from one cell generation to the next cell generation. It help in protein synthesis by the process of transcription and translation.</a:t>
            </a:r>
          </a:p>
          <a:p>
            <a:r>
              <a:rPr lang="en-US" dirty="0"/>
              <a:t>Functional proteins help to perform the normal function of a cell.</a:t>
            </a:r>
            <a:endParaRPr lang="en-IN" dirty="0"/>
          </a:p>
        </p:txBody>
      </p:sp>
    </p:spTree>
    <p:extLst>
      <p:ext uri="{BB962C8B-B14F-4D97-AF65-F5344CB8AC3E}">
        <p14:creationId xmlns:p14="http://schemas.microsoft.com/office/powerpoint/2010/main" val="771540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0E6CE-3D6B-453E-8303-FF592453698F}"/>
              </a:ext>
            </a:extLst>
          </p:cNvPr>
          <p:cNvSpPr>
            <a:spLocks noGrp="1"/>
          </p:cNvSpPr>
          <p:nvPr>
            <p:ph type="title"/>
          </p:nvPr>
        </p:nvSpPr>
        <p:spPr/>
        <p:txBody>
          <a:bodyPr/>
          <a:lstStyle/>
          <a:p>
            <a:r>
              <a:rPr lang="en-US" dirty="0"/>
              <a:t> 		  TYPES OF TRANSPORT</a:t>
            </a:r>
            <a:endParaRPr lang="en-IN" dirty="0"/>
          </a:p>
        </p:txBody>
      </p:sp>
      <p:sp>
        <p:nvSpPr>
          <p:cNvPr id="3" name="Content Placeholder 2">
            <a:extLst>
              <a:ext uri="{FF2B5EF4-FFF2-40B4-BE49-F238E27FC236}">
                <a16:creationId xmlns:a16="http://schemas.microsoft.com/office/drawing/2014/main" xmlns="" id="{C8DD7232-27F7-49F2-80F3-6EAA2E4C2448}"/>
              </a:ext>
            </a:extLst>
          </p:cNvPr>
          <p:cNvSpPr>
            <a:spLocks noGrp="1"/>
          </p:cNvSpPr>
          <p:nvPr>
            <p:ph idx="1"/>
          </p:nvPr>
        </p:nvSpPr>
        <p:spPr>
          <a:xfrm>
            <a:off x="838200" y="1825624"/>
            <a:ext cx="10515600" cy="5032375"/>
          </a:xfrm>
        </p:spPr>
        <p:txBody>
          <a:bodyPr>
            <a:normAutofit fontScale="92500" lnSpcReduction="10000"/>
          </a:bodyPr>
          <a:lstStyle/>
          <a:p>
            <a:pPr marL="0" indent="0">
              <a:buNone/>
            </a:pPr>
            <a:r>
              <a:rPr lang="en-US" dirty="0"/>
              <a:t>                                  </a:t>
            </a:r>
            <a:r>
              <a:rPr lang="en-US" u="sng" dirty="0"/>
              <a:t>DIFFUSION</a:t>
            </a:r>
          </a:p>
          <a:p>
            <a:pPr marL="0" indent="0">
              <a:buNone/>
            </a:pPr>
            <a:r>
              <a:rPr lang="en-US" sz="2400" dirty="0"/>
              <a:t>Is the movement of substances from greater concentration to lesser concentration through the cell membrane. There are two types</a:t>
            </a:r>
          </a:p>
          <a:p>
            <a:pPr marL="0" indent="0">
              <a:buNone/>
            </a:pPr>
            <a:r>
              <a:rPr lang="en-US" sz="2400" dirty="0"/>
              <a:t>1.SIMPLE DIFFUSION</a:t>
            </a:r>
          </a:p>
          <a:p>
            <a:pPr marL="0" indent="0">
              <a:buNone/>
            </a:pPr>
            <a:r>
              <a:rPr lang="en-US" sz="2400" dirty="0"/>
              <a:t>2.FACILITATED DIFFUSION</a:t>
            </a:r>
          </a:p>
          <a:p>
            <a:pPr marL="0" indent="0">
              <a:buNone/>
            </a:pPr>
            <a:r>
              <a:rPr lang="en-US" sz="2400" dirty="0"/>
              <a:t>                                                 SIMPLE DIFFUSION</a:t>
            </a:r>
          </a:p>
          <a:p>
            <a:pPr marL="0" indent="0">
              <a:buNone/>
            </a:pPr>
            <a:r>
              <a:rPr lang="en-US" sz="2400" dirty="0"/>
              <a:t>Is the movement of lipid soluble substances from a region of higher concentration to a region of lower concentration.</a:t>
            </a:r>
          </a:p>
          <a:p>
            <a:pPr marL="0" indent="0">
              <a:buNone/>
            </a:pPr>
            <a:r>
              <a:rPr lang="en-US" sz="2400" dirty="0"/>
              <a:t>Examples__ O₂, CO₂, N ₂, Urea, water etc.</a:t>
            </a:r>
          </a:p>
          <a:p>
            <a:pPr marL="0" indent="0">
              <a:buNone/>
            </a:pPr>
            <a:r>
              <a:rPr lang="en-US" sz="2400" dirty="0"/>
              <a:t>                                                 FACILITATED DIFFUSION</a:t>
            </a:r>
          </a:p>
          <a:p>
            <a:pPr marL="0" indent="0">
              <a:buNone/>
            </a:pPr>
            <a:r>
              <a:rPr lang="en-US" sz="2400" dirty="0"/>
              <a:t>Is the movement of lipid insoluble </a:t>
            </a:r>
            <a:r>
              <a:rPr lang="en-US" sz="2400" dirty="0" err="1"/>
              <a:t>subtances</a:t>
            </a:r>
            <a:r>
              <a:rPr lang="en-US" sz="2400" dirty="0"/>
              <a:t> from a region of higher concentration to a region of lower concentration with the help of a carrier protein.</a:t>
            </a:r>
          </a:p>
          <a:p>
            <a:pPr marL="0" indent="0">
              <a:buNone/>
            </a:pPr>
            <a:r>
              <a:rPr lang="en-US" sz="2400" dirty="0"/>
              <a:t>Example_ Absorption /Reabsorption of glucose / amino acid.</a:t>
            </a:r>
            <a:endParaRPr lang="en-IN" sz="2400" dirty="0"/>
          </a:p>
        </p:txBody>
      </p:sp>
    </p:spTree>
    <p:extLst>
      <p:ext uri="{BB962C8B-B14F-4D97-AF65-F5344CB8AC3E}">
        <p14:creationId xmlns:p14="http://schemas.microsoft.com/office/powerpoint/2010/main" val="20462616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FACTORS AFFECTING DIFFUSION</a:t>
            </a:r>
            <a:endParaRPr lang="en-US" dirty="0"/>
          </a:p>
        </p:txBody>
      </p:sp>
      <p:sp>
        <p:nvSpPr>
          <p:cNvPr id="3" name="Content Placeholder 2"/>
          <p:cNvSpPr>
            <a:spLocks noGrp="1"/>
          </p:cNvSpPr>
          <p:nvPr>
            <p:ph idx="1"/>
          </p:nvPr>
        </p:nvSpPr>
        <p:spPr/>
        <p:txBody>
          <a:bodyPr>
            <a:normAutofit lnSpcReduction="10000"/>
          </a:bodyPr>
          <a:lstStyle/>
          <a:p>
            <a:r>
              <a:rPr lang="en-US" dirty="0" smtClean="0"/>
              <a:t>1.DISTANCE– Greater the distance ,longer  the time taken for diffusion.</a:t>
            </a:r>
          </a:p>
          <a:p>
            <a:r>
              <a:rPr lang="en-US" dirty="0" smtClean="0"/>
              <a:t>2. SIZE OF GRADIENT– Larger the concentration gradient, greater the rate of diffusion</a:t>
            </a:r>
          </a:p>
          <a:p>
            <a:r>
              <a:rPr lang="en-US" dirty="0" smtClean="0"/>
              <a:t>3.TEMPERATURE—Higher the temperature ,faster  the rate of diffusion </a:t>
            </a:r>
          </a:p>
          <a:p>
            <a:r>
              <a:rPr lang="en-US" dirty="0" smtClean="0"/>
              <a:t>4.MOLECULAR WEIGHT—Increase in molecular weight ,decrease the permeability.</a:t>
            </a:r>
          </a:p>
          <a:p>
            <a:r>
              <a:rPr lang="en-US" dirty="0" smtClean="0"/>
              <a:t>5.LIPID SOLUBILITY--- Lipid soluble substances diffuse rapidly.</a:t>
            </a:r>
          </a:p>
          <a:p>
            <a:r>
              <a:rPr lang="en-US" dirty="0" smtClean="0"/>
              <a:t>6.SURFACE AREA---Larger the surface area. Faster the diffusion.</a:t>
            </a:r>
            <a:endParaRPr lang="en-US" dirty="0"/>
          </a:p>
        </p:txBody>
      </p:sp>
    </p:spTree>
    <p:extLst>
      <p:ext uri="{BB962C8B-B14F-4D97-AF65-F5344CB8AC3E}">
        <p14:creationId xmlns:p14="http://schemas.microsoft.com/office/powerpoint/2010/main" val="1709089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FF9EE5-96B8-490E-8D6F-9C14E6AE0064}"/>
              </a:ext>
            </a:extLst>
          </p:cNvPr>
          <p:cNvSpPr>
            <a:spLocks noGrp="1"/>
          </p:cNvSpPr>
          <p:nvPr>
            <p:ph type="title"/>
          </p:nvPr>
        </p:nvSpPr>
        <p:spPr/>
        <p:txBody>
          <a:bodyPr/>
          <a:lstStyle/>
          <a:p>
            <a:r>
              <a:rPr lang="en-US" dirty="0"/>
              <a:t>                   ACTIVE TRANSPORT</a:t>
            </a:r>
            <a:endParaRPr lang="en-IN" dirty="0"/>
          </a:p>
        </p:txBody>
      </p:sp>
      <p:sp>
        <p:nvSpPr>
          <p:cNvPr id="3" name="Content Placeholder 2">
            <a:extLst>
              <a:ext uri="{FF2B5EF4-FFF2-40B4-BE49-F238E27FC236}">
                <a16:creationId xmlns:a16="http://schemas.microsoft.com/office/drawing/2014/main" xmlns="" id="{BF4B721E-0A93-4BE4-AAD5-20CF6844E123}"/>
              </a:ext>
            </a:extLst>
          </p:cNvPr>
          <p:cNvSpPr>
            <a:spLocks noGrp="1"/>
          </p:cNvSpPr>
          <p:nvPr>
            <p:ph idx="1"/>
          </p:nvPr>
        </p:nvSpPr>
        <p:spPr/>
        <p:txBody>
          <a:bodyPr/>
          <a:lstStyle/>
          <a:p>
            <a:pPr marL="0" indent="0">
              <a:buNone/>
            </a:pPr>
            <a:r>
              <a:rPr lang="en-US" sz="2400" dirty="0"/>
              <a:t>Is the movement of a substance from a region of lower concentration to a region of higher concentration with the help of a carrier protein and energy. There are two types</a:t>
            </a:r>
          </a:p>
          <a:p>
            <a:pPr marL="457200" indent="-457200">
              <a:buAutoNum type="arabicPeriod"/>
            </a:pPr>
            <a:r>
              <a:rPr lang="en-US" sz="2400" dirty="0"/>
              <a:t>PRIMARY ACTIVE TRANSPORT</a:t>
            </a:r>
          </a:p>
          <a:p>
            <a:pPr marL="457200" indent="-457200">
              <a:buAutoNum type="arabicPeriod"/>
            </a:pPr>
            <a:r>
              <a:rPr lang="en-US" sz="2400" dirty="0"/>
              <a:t>SECONDARY ACTIVE TRANSPORT</a:t>
            </a:r>
          </a:p>
          <a:p>
            <a:pPr marL="0" indent="0">
              <a:buNone/>
            </a:pPr>
            <a:r>
              <a:rPr lang="en-US" sz="2400" dirty="0"/>
              <a:t>                                                 PRIMARY ACTIVE TRANSPORT</a:t>
            </a:r>
          </a:p>
          <a:p>
            <a:pPr marL="0" indent="0">
              <a:buNone/>
            </a:pPr>
            <a:r>
              <a:rPr lang="en-US" sz="2400" dirty="0"/>
              <a:t>Is the movement of a substance from lower to higher concentration with the help of ATP and a carrier protein called pump. In primary active transport the carrier protein which can break ATP is called ATPase.</a:t>
            </a:r>
          </a:p>
          <a:p>
            <a:pPr marL="0" indent="0">
              <a:buNone/>
            </a:pPr>
            <a:r>
              <a:rPr lang="en-US" sz="2400" dirty="0"/>
              <a:t>Example __  </a:t>
            </a:r>
            <a:r>
              <a:rPr lang="en-US" sz="2400" dirty="0" err="1"/>
              <a:t>Nа</a:t>
            </a:r>
            <a:r>
              <a:rPr lang="en-US" sz="2400" dirty="0"/>
              <a:t>⁺ ₋  K⁺ pump, H⁺₋ K⁺ pump, Na⁺₋ H⁺ PUMP etc.</a:t>
            </a:r>
          </a:p>
          <a:p>
            <a:endParaRPr lang="en-IN" dirty="0"/>
          </a:p>
        </p:txBody>
      </p:sp>
    </p:spTree>
    <p:extLst>
      <p:ext uri="{BB962C8B-B14F-4D97-AF65-F5344CB8AC3E}">
        <p14:creationId xmlns:p14="http://schemas.microsoft.com/office/powerpoint/2010/main" val="17543705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A4FC23-DDD1-469F-A9B4-F64AE2062F9D}"/>
              </a:ext>
            </a:extLst>
          </p:cNvPr>
          <p:cNvSpPr>
            <a:spLocks noGrp="1"/>
          </p:cNvSpPr>
          <p:nvPr>
            <p:ph type="title"/>
          </p:nvPr>
        </p:nvSpPr>
        <p:spPr>
          <a:xfrm>
            <a:off x="838200" y="365125"/>
            <a:ext cx="10515600" cy="1325563"/>
          </a:xfrm>
        </p:spPr>
        <p:txBody>
          <a:bodyPr/>
          <a:lstStyle/>
          <a:p>
            <a:r>
              <a:rPr lang="en-US" dirty="0"/>
              <a:t>                        Na⁺₋ K⁺ PUMP</a:t>
            </a:r>
            <a:endParaRPr lang="en-IN" dirty="0"/>
          </a:p>
        </p:txBody>
      </p:sp>
      <p:pic>
        <p:nvPicPr>
          <p:cNvPr id="5" name="Content Placeholder 4">
            <a:extLst>
              <a:ext uri="{FF2B5EF4-FFF2-40B4-BE49-F238E27FC236}">
                <a16:creationId xmlns:a16="http://schemas.microsoft.com/office/drawing/2014/main" xmlns="" id="{74A4D641-A989-463D-AB8D-B5C1BE4C7621}"/>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8928"/>
          <a:stretch/>
        </p:blipFill>
        <p:spPr>
          <a:xfrm>
            <a:off x="4270533" y="1817460"/>
            <a:ext cx="3781563" cy="3962854"/>
          </a:xfrm>
        </p:spPr>
      </p:pic>
    </p:spTree>
    <p:extLst>
      <p:ext uri="{BB962C8B-B14F-4D97-AF65-F5344CB8AC3E}">
        <p14:creationId xmlns:p14="http://schemas.microsoft.com/office/powerpoint/2010/main" val="29984863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C43637-36CE-4DA7-B54A-93631929969F}"/>
              </a:ext>
            </a:extLst>
          </p:cNvPr>
          <p:cNvSpPr>
            <a:spLocks noGrp="1"/>
          </p:cNvSpPr>
          <p:nvPr>
            <p:ph type="title"/>
          </p:nvPr>
        </p:nvSpPr>
        <p:spPr>
          <a:xfrm>
            <a:off x="838200" y="681037"/>
            <a:ext cx="10515600" cy="672843"/>
          </a:xfrm>
        </p:spPr>
        <p:txBody>
          <a:bodyPr>
            <a:normAutofit fontScale="90000"/>
          </a:bodyPr>
          <a:lstStyle/>
          <a:p>
            <a:r>
              <a:rPr lang="en-US" dirty="0"/>
              <a:t>SODIUM- POTASSIUM PUMP/Na⁺₋ K⁺ PUMP</a:t>
            </a:r>
            <a:endParaRPr lang="en-IN" sz="3200" dirty="0"/>
          </a:p>
        </p:txBody>
      </p:sp>
      <p:sp>
        <p:nvSpPr>
          <p:cNvPr id="3" name="Content Placeholder 2">
            <a:extLst>
              <a:ext uri="{FF2B5EF4-FFF2-40B4-BE49-F238E27FC236}">
                <a16:creationId xmlns:a16="http://schemas.microsoft.com/office/drawing/2014/main" xmlns="" id="{31BCD9E6-2857-497A-BB9E-F047EA8F9C5C}"/>
              </a:ext>
            </a:extLst>
          </p:cNvPr>
          <p:cNvSpPr>
            <a:spLocks noGrp="1"/>
          </p:cNvSpPr>
          <p:nvPr>
            <p:ph idx="1"/>
          </p:nvPr>
        </p:nvSpPr>
        <p:spPr>
          <a:xfrm>
            <a:off x="494269" y="1425146"/>
            <a:ext cx="11038703" cy="4950940"/>
          </a:xfrm>
        </p:spPr>
        <p:txBody>
          <a:bodyPr>
            <a:normAutofit/>
          </a:bodyPr>
          <a:lstStyle/>
          <a:p>
            <a:pPr marL="0" indent="0">
              <a:buNone/>
            </a:pPr>
            <a:endParaRPr lang="en-US" dirty="0"/>
          </a:p>
          <a:p>
            <a:r>
              <a:rPr lang="en-US" dirty="0"/>
              <a:t>Has two subunits, α and</a:t>
            </a:r>
            <a:r>
              <a:rPr lang="el-GR" dirty="0"/>
              <a:t>β</a:t>
            </a:r>
            <a:r>
              <a:rPr lang="en-US" dirty="0"/>
              <a:t> subunits. </a:t>
            </a:r>
            <a:r>
              <a:rPr lang="el-GR" dirty="0"/>
              <a:t>α</a:t>
            </a:r>
            <a:r>
              <a:rPr lang="en-US" dirty="0"/>
              <a:t> subunit has intracellular Na⁺ and ATP binding site and a phosphorylation site. It also has an extracellular K⁺ binding site.  When activated three Na⁺ bind to Na binding site  , ATP bind to ATP binding site and two K⁺ bind to k binding site.  ATP is hydrolyzed to ADP and energy is released. This cause a change in the configuration of protein and three Na⁺ are extruded into ECF and two K⁺  are intruded into the cytoplasm.</a:t>
            </a:r>
          </a:p>
          <a:p>
            <a:r>
              <a:rPr lang="en-US" dirty="0"/>
              <a:t>When the intracellular sodium concentration become high this pump get activated and help to maintain the normal cell size.                                                                                                                                                                                                                                                                                                                                                                                                                                                                                                                                                                                                                                                                                                                                                                                                                                                                                                                                                                                                                                                                                                                                                                                                                                                                                                                                                                                                                                                                                                                                                                                                                                                                                                                                                                                                                                                                </a:t>
            </a:r>
            <a:endParaRPr lang="en-IN" dirty="0"/>
          </a:p>
        </p:txBody>
      </p:sp>
    </p:spTree>
    <p:extLst>
      <p:ext uri="{BB962C8B-B14F-4D97-AF65-F5344CB8AC3E}">
        <p14:creationId xmlns:p14="http://schemas.microsoft.com/office/powerpoint/2010/main" val="37887143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EB5C84-A959-4729-AC2F-E1C359EF7401}"/>
              </a:ext>
            </a:extLst>
          </p:cNvPr>
          <p:cNvSpPr>
            <a:spLocks noGrp="1"/>
          </p:cNvSpPr>
          <p:nvPr>
            <p:ph type="title"/>
          </p:nvPr>
        </p:nvSpPr>
        <p:spPr/>
        <p:txBody>
          <a:bodyPr/>
          <a:lstStyle/>
          <a:p>
            <a:r>
              <a:rPr lang="en-US" dirty="0"/>
              <a:t>             SECONDARY ACTIVE TRASPORT</a:t>
            </a:r>
            <a:endParaRPr lang="en-IN" dirty="0"/>
          </a:p>
        </p:txBody>
      </p:sp>
      <p:sp>
        <p:nvSpPr>
          <p:cNvPr id="3" name="Content Placeholder 2">
            <a:extLst>
              <a:ext uri="{FF2B5EF4-FFF2-40B4-BE49-F238E27FC236}">
                <a16:creationId xmlns:a16="http://schemas.microsoft.com/office/drawing/2014/main" xmlns="" id="{B74A5FFD-C5A3-41DF-AF89-1E9E40FD2E9B}"/>
              </a:ext>
            </a:extLst>
          </p:cNvPr>
          <p:cNvSpPr>
            <a:spLocks noGrp="1"/>
          </p:cNvSpPr>
          <p:nvPr>
            <p:ph idx="1"/>
          </p:nvPr>
        </p:nvSpPr>
        <p:spPr>
          <a:xfrm>
            <a:off x="595993" y="1543051"/>
            <a:ext cx="10757807" cy="3951514"/>
          </a:xfrm>
        </p:spPr>
        <p:txBody>
          <a:bodyPr/>
          <a:lstStyle/>
          <a:p>
            <a:r>
              <a:rPr lang="en-US" dirty="0"/>
              <a:t>Is the transport of a substance from lower to higher concentration with the help of energy stored in the concentration difference of another substance.</a:t>
            </a:r>
          </a:p>
          <a:p>
            <a:r>
              <a:rPr lang="en-US" dirty="0"/>
              <a:t>Example - Transport of glucose /amino acid along with sodium. </a:t>
            </a:r>
          </a:p>
          <a:p>
            <a:r>
              <a:rPr lang="en-US" dirty="0"/>
              <a:t>Secondary active transport is a combination of primary active transport and facilitated diffusion. Since two substances are transported with the help of a single carrier protein this transport is also called symport/Co-transport.</a:t>
            </a:r>
            <a:endParaRPr lang="en-IN" dirty="0"/>
          </a:p>
        </p:txBody>
      </p:sp>
    </p:spTree>
    <p:extLst>
      <p:ext uri="{BB962C8B-B14F-4D97-AF65-F5344CB8AC3E}">
        <p14:creationId xmlns:p14="http://schemas.microsoft.com/office/powerpoint/2010/main" val="15030713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CE7ECE-1218-4F77-8064-9B2F70CE2859}"/>
              </a:ext>
            </a:extLst>
          </p:cNvPr>
          <p:cNvSpPr>
            <a:spLocks noGrp="1"/>
          </p:cNvSpPr>
          <p:nvPr>
            <p:ph type="title"/>
          </p:nvPr>
        </p:nvSpPr>
        <p:spPr/>
        <p:txBody>
          <a:bodyPr/>
          <a:lstStyle/>
          <a:p>
            <a:r>
              <a:rPr lang="en-US" dirty="0"/>
              <a:t>                            OSMOSIS</a:t>
            </a:r>
            <a:endParaRPr lang="en-IN" dirty="0"/>
          </a:p>
        </p:txBody>
      </p:sp>
      <p:sp>
        <p:nvSpPr>
          <p:cNvPr id="3" name="Content Placeholder 2">
            <a:extLst>
              <a:ext uri="{FF2B5EF4-FFF2-40B4-BE49-F238E27FC236}">
                <a16:creationId xmlns:a16="http://schemas.microsoft.com/office/drawing/2014/main" xmlns="" id="{7FBF28ED-0FDA-431E-A938-41841BB97904}"/>
              </a:ext>
            </a:extLst>
          </p:cNvPr>
          <p:cNvSpPr>
            <a:spLocks noGrp="1"/>
          </p:cNvSpPr>
          <p:nvPr>
            <p:ph idx="1"/>
          </p:nvPr>
        </p:nvSpPr>
        <p:spPr/>
        <p:txBody>
          <a:bodyPr/>
          <a:lstStyle/>
          <a:p>
            <a:r>
              <a:rPr lang="en-US" dirty="0"/>
              <a:t>Is the movement of water molecules from a region of its higher concentration to a region of its lower concentration.</a:t>
            </a:r>
          </a:p>
          <a:p>
            <a:r>
              <a:rPr lang="en-US" dirty="0"/>
              <a:t>There are two types</a:t>
            </a:r>
          </a:p>
          <a:p>
            <a:r>
              <a:rPr lang="en-US" dirty="0"/>
              <a:t>1. ENDOSMOSIS</a:t>
            </a:r>
          </a:p>
          <a:p>
            <a:r>
              <a:rPr lang="en-US" dirty="0"/>
              <a:t>2.EXOSMOSIS</a:t>
            </a:r>
          </a:p>
          <a:p>
            <a:r>
              <a:rPr lang="en-US" dirty="0"/>
              <a:t>ENDOSMOSIS- Is the movement of water molecules from ECF to ICF.</a:t>
            </a:r>
          </a:p>
          <a:p>
            <a:r>
              <a:rPr lang="en-US" dirty="0"/>
              <a:t>EXOSMOSIS- Is the movement of water molecules from ICF to ECF.</a:t>
            </a:r>
            <a:endParaRPr lang="en-IN" dirty="0"/>
          </a:p>
        </p:txBody>
      </p:sp>
    </p:spTree>
    <p:extLst>
      <p:ext uri="{BB962C8B-B14F-4D97-AF65-F5344CB8AC3E}">
        <p14:creationId xmlns:p14="http://schemas.microsoft.com/office/powerpoint/2010/main" val="38953801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BF6F1F-B3C7-4920-8E94-482E9546293C}"/>
              </a:ext>
            </a:extLst>
          </p:cNvPr>
          <p:cNvSpPr>
            <a:spLocks noGrp="1"/>
          </p:cNvSpPr>
          <p:nvPr>
            <p:ph type="title"/>
          </p:nvPr>
        </p:nvSpPr>
        <p:spPr>
          <a:xfrm>
            <a:off x="838200" y="65315"/>
            <a:ext cx="10515600" cy="1820636"/>
          </a:xfrm>
        </p:spPr>
        <p:txBody>
          <a:bodyPr/>
          <a:lstStyle/>
          <a:p>
            <a:r>
              <a:rPr lang="en-US" dirty="0"/>
              <a:t>ICF[INTRA CELLULAR FLUID] and ECF[EXTRA</a:t>
            </a:r>
            <a:br>
              <a:rPr lang="en-US" dirty="0"/>
            </a:br>
            <a:r>
              <a:rPr lang="en-US" dirty="0"/>
              <a:t>                                                  CELLULAR FLUID] </a:t>
            </a:r>
            <a:endParaRPr lang="en-IN" dirty="0"/>
          </a:p>
        </p:txBody>
      </p:sp>
      <p:graphicFrame>
        <p:nvGraphicFramePr>
          <p:cNvPr id="5" name="Table 5">
            <a:extLst>
              <a:ext uri="{FF2B5EF4-FFF2-40B4-BE49-F238E27FC236}">
                <a16:creationId xmlns:a16="http://schemas.microsoft.com/office/drawing/2014/main" xmlns="" id="{3CC63634-AEE1-4DB4-8AA2-F6920817B2C7}"/>
              </a:ext>
            </a:extLst>
          </p:cNvPr>
          <p:cNvGraphicFramePr>
            <a:graphicFrameLocks noGrp="1"/>
          </p:cNvGraphicFramePr>
          <p:nvPr>
            <p:ph idx="1"/>
            <p:extLst>
              <p:ext uri="{D42A27DB-BD31-4B8C-83A1-F6EECF244321}">
                <p14:modId xmlns:p14="http://schemas.microsoft.com/office/powerpoint/2010/main" val="2534090571"/>
              </p:ext>
            </p:extLst>
          </p:nvPr>
        </p:nvGraphicFramePr>
        <p:xfrm>
          <a:off x="595993" y="1624693"/>
          <a:ext cx="10757808" cy="4386923"/>
        </p:xfrm>
        <a:graphic>
          <a:graphicData uri="http://schemas.openxmlformats.org/drawingml/2006/table">
            <a:tbl>
              <a:tblPr firstRow="1" bandRow="1">
                <a:tableStyleId>{5C22544A-7EE6-4342-B048-85BDC9FD1C3A}</a:tableStyleId>
              </a:tblPr>
              <a:tblGrid>
                <a:gridCol w="5310265">
                  <a:extLst>
                    <a:ext uri="{9D8B030D-6E8A-4147-A177-3AD203B41FA5}">
                      <a16:colId xmlns:a16="http://schemas.microsoft.com/office/drawing/2014/main" xmlns="" val="4126406126"/>
                    </a:ext>
                  </a:extLst>
                </a:gridCol>
                <a:gridCol w="5447543">
                  <a:extLst>
                    <a:ext uri="{9D8B030D-6E8A-4147-A177-3AD203B41FA5}">
                      <a16:colId xmlns:a16="http://schemas.microsoft.com/office/drawing/2014/main" xmlns="" val="869827178"/>
                    </a:ext>
                  </a:extLst>
                </a:gridCol>
              </a:tblGrid>
              <a:tr h="455003">
                <a:tc>
                  <a:txBody>
                    <a:bodyPr/>
                    <a:lstStyle/>
                    <a:p>
                      <a:r>
                        <a:rPr lang="en-US" dirty="0"/>
                        <a:t>I</a:t>
                      </a:r>
                      <a:r>
                        <a:rPr lang="en-IN" dirty="0"/>
                        <a:t>NTRA CELLULAR FLUID/ICF</a:t>
                      </a:r>
                      <a:endParaRPr lang="en-US" dirty="0"/>
                    </a:p>
                  </a:txBody>
                  <a:tcPr/>
                </a:tc>
                <a:tc>
                  <a:txBody>
                    <a:bodyPr/>
                    <a:lstStyle/>
                    <a:p>
                      <a:r>
                        <a:rPr lang="en-US" dirty="0"/>
                        <a:t>                 EXTRA CELLULAR FLUID/ECF </a:t>
                      </a:r>
                      <a:endParaRPr lang="en-IN" dirty="0"/>
                    </a:p>
                  </a:txBody>
                  <a:tcPr/>
                </a:tc>
                <a:extLst>
                  <a:ext uri="{0D108BD9-81ED-4DB2-BD59-A6C34878D82A}">
                    <a16:rowId xmlns:a16="http://schemas.microsoft.com/office/drawing/2014/main" xmlns="" val="3605205892"/>
                  </a:ext>
                </a:extLst>
              </a:tr>
              <a:tr h="3259747">
                <a:tc>
                  <a:txBody>
                    <a:bodyPr/>
                    <a:lstStyle/>
                    <a:p>
                      <a:pPr marL="342900" indent="-342900">
                        <a:buAutoNum type="arabicPeriod"/>
                      </a:pPr>
                      <a:r>
                        <a:rPr lang="en-US" dirty="0"/>
                        <a:t>Is the fluid present inside the cell also known as cytoplasm. It contain all cell organelles .</a:t>
                      </a:r>
                    </a:p>
                    <a:p>
                      <a:pPr marL="342900" indent="-342900">
                        <a:buAutoNum type="arabicPeriod"/>
                      </a:pPr>
                      <a:endParaRPr lang="en-US" dirty="0"/>
                    </a:p>
                    <a:p>
                      <a:pPr marL="342900" indent="-342900">
                        <a:buAutoNum type="arabicPeriod"/>
                      </a:pPr>
                      <a:r>
                        <a:rPr lang="en-US" dirty="0"/>
                        <a:t>Form 55% of total body water</a:t>
                      </a:r>
                    </a:p>
                    <a:p>
                      <a:pPr marL="342900" indent="-342900">
                        <a:buAutoNum type="arabicPeriod"/>
                      </a:pPr>
                      <a:endParaRPr lang="en-US" dirty="0"/>
                    </a:p>
                    <a:p>
                      <a:pPr marL="342900" indent="-342900">
                        <a:buAutoNum type="arabicPeriod"/>
                      </a:pPr>
                      <a:r>
                        <a:rPr lang="en-US" dirty="0"/>
                        <a:t>Chief ions present are K⁺&amp;PO₄⁻</a:t>
                      </a:r>
                    </a:p>
                    <a:p>
                      <a:pPr marL="342900" indent="-342900">
                        <a:buAutoNum type="arabicPeriod"/>
                      </a:pPr>
                      <a:endParaRPr lang="en-US" dirty="0"/>
                    </a:p>
                    <a:p>
                      <a:pPr marL="342900" indent="-342900">
                        <a:buAutoNum type="arabicPeriod"/>
                      </a:pPr>
                      <a:r>
                        <a:rPr lang="en-US" dirty="0"/>
                        <a:t>Cannot be directly measured [ICF=TBF-ECF]</a:t>
                      </a:r>
                    </a:p>
                    <a:p>
                      <a:pPr marL="342900" indent="-342900">
                        <a:buAutoNum type="arabicPeriod"/>
                      </a:pPr>
                      <a:endParaRPr lang="en-US" dirty="0"/>
                    </a:p>
                    <a:p>
                      <a:pPr marL="342900" indent="-342900">
                        <a:buAutoNum type="arabicPeriod"/>
                      </a:pPr>
                      <a:r>
                        <a:rPr lang="en-US" dirty="0"/>
                        <a:t>Form 33% of total bodyweight.</a:t>
                      </a:r>
                    </a:p>
                    <a:p>
                      <a:pPr marL="342900" indent="-342900">
                        <a:buAutoNum type="arabicPeriod"/>
                      </a:pPr>
                      <a:endParaRPr lang="en-US" dirty="0"/>
                    </a:p>
                    <a:p>
                      <a:pPr marL="342900" indent="-342900">
                        <a:buAutoNum type="arabicPeriod"/>
                      </a:pPr>
                      <a:r>
                        <a:rPr lang="en-US" dirty="0"/>
                        <a:t> Total ICF volume is 22 liters</a:t>
                      </a:r>
                    </a:p>
                    <a:p>
                      <a:pPr marL="342900" indent="-342900">
                        <a:buAutoNum type="arabicPeriod"/>
                      </a:pPr>
                      <a:endParaRPr lang="en-US" dirty="0"/>
                    </a:p>
                    <a:p>
                      <a:pPr marL="342900" indent="-342900">
                        <a:buAutoNum type="arabicPeriod"/>
                      </a:pPr>
                      <a:endParaRPr lang="en-IN" dirty="0"/>
                    </a:p>
                  </a:txBody>
                  <a:tcPr/>
                </a:tc>
                <a:tc>
                  <a:txBody>
                    <a:bodyPr/>
                    <a:lstStyle/>
                    <a:p>
                      <a:pPr marL="342900" indent="-342900">
                        <a:buAutoNum type="arabicPeriod"/>
                      </a:pPr>
                      <a:r>
                        <a:rPr lang="en-US" dirty="0"/>
                        <a:t>Is the fluid present out side the cell. It include interstitial fluid, blood. lymph and trans cellular fluid. Cell organelles are absent.</a:t>
                      </a:r>
                    </a:p>
                    <a:p>
                      <a:pPr marL="342900" indent="-342900">
                        <a:buAutoNum type="arabicPeriod"/>
                      </a:pPr>
                      <a:r>
                        <a:rPr lang="en-US" dirty="0"/>
                        <a:t> Form 45% of total body water.</a:t>
                      </a:r>
                    </a:p>
                    <a:p>
                      <a:pPr marL="342900" indent="-342900">
                        <a:buAutoNum type="arabicPeriod"/>
                      </a:pPr>
                      <a:endParaRPr lang="en-US" dirty="0"/>
                    </a:p>
                    <a:p>
                      <a:pPr marL="342900" indent="-342900">
                        <a:buAutoNum type="arabicPeriod"/>
                      </a:pPr>
                      <a:r>
                        <a:rPr lang="en-US" dirty="0"/>
                        <a:t> Chief ions are Na⁺&amp; Cl⁻</a:t>
                      </a:r>
                    </a:p>
                    <a:p>
                      <a:pPr marL="342900" indent="-342900">
                        <a:buAutoNum type="arabicPeriod"/>
                      </a:pPr>
                      <a:endParaRPr lang="en-US" dirty="0"/>
                    </a:p>
                    <a:p>
                      <a:pPr marL="342900" indent="-342900">
                        <a:buAutoNum type="arabicPeriod"/>
                      </a:pPr>
                      <a:r>
                        <a:rPr lang="en-US" dirty="0"/>
                        <a:t>Can be directly measured by indicator dilution method.</a:t>
                      </a:r>
                    </a:p>
                    <a:p>
                      <a:pPr marL="342900" indent="-342900">
                        <a:buAutoNum type="arabicPeriod" startAt="5"/>
                      </a:pPr>
                      <a:r>
                        <a:rPr lang="en-US" dirty="0"/>
                        <a:t>Form 27% of total body weight.</a:t>
                      </a:r>
                    </a:p>
                    <a:p>
                      <a:pPr marL="0" indent="0">
                        <a:buNone/>
                      </a:pPr>
                      <a:endParaRPr lang="en-US" dirty="0"/>
                    </a:p>
                    <a:p>
                      <a:pPr marL="0" indent="0">
                        <a:buNone/>
                      </a:pPr>
                      <a:r>
                        <a:rPr lang="en-US" dirty="0"/>
                        <a:t>6.   Total ECF volume is 18 liters</a:t>
                      </a:r>
                    </a:p>
                    <a:p>
                      <a:pPr marL="0" indent="0">
                        <a:buNone/>
                      </a:pPr>
                      <a:r>
                        <a:rPr lang="en-US" dirty="0"/>
                        <a:t>      </a:t>
                      </a:r>
                      <a:endParaRPr lang="en-IN" dirty="0"/>
                    </a:p>
                  </a:txBody>
                  <a:tcPr/>
                </a:tc>
                <a:extLst>
                  <a:ext uri="{0D108BD9-81ED-4DB2-BD59-A6C34878D82A}">
                    <a16:rowId xmlns:a16="http://schemas.microsoft.com/office/drawing/2014/main" xmlns="" val="2879298318"/>
                  </a:ext>
                </a:extLst>
              </a:tr>
            </a:tbl>
          </a:graphicData>
        </a:graphic>
      </p:graphicFrame>
    </p:spTree>
    <p:extLst>
      <p:ext uri="{BB962C8B-B14F-4D97-AF65-F5344CB8AC3E}">
        <p14:creationId xmlns:p14="http://schemas.microsoft.com/office/powerpoint/2010/main" val="40488154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5C4B7F-32DE-4919-8992-1C2CB4C05CB6}"/>
              </a:ext>
            </a:extLst>
          </p:cNvPr>
          <p:cNvSpPr>
            <a:spLocks noGrp="1"/>
          </p:cNvSpPr>
          <p:nvPr>
            <p:ph type="title"/>
          </p:nvPr>
        </p:nvSpPr>
        <p:spPr/>
        <p:txBody>
          <a:bodyPr/>
          <a:lstStyle/>
          <a:p>
            <a:r>
              <a:rPr lang="en-US" dirty="0"/>
              <a:t>       RESTING MEMBRANE POTENTIAL/RMP</a:t>
            </a:r>
            <a:endParaRPr lang="en-IN" dirty="0"/>
          </a:p>
        </p:txBody>
      </p:sp>
      <p:sp>
        <p:nvSpPr>
          <p:cNvPr id="3" name="Content Placeholder 2">
            <a:extLst>
              <a:ext uri="{FF2B5EF4-FFF2-40B4-BE49-F238E27FC236}">
                <a16:creationId xmlns:a16="http://schemas.microsoft.com/office/drawing/2014/main" xmlns="" id="{DD8D1DD6-13A4-49D3-ADB2-E5BCDDA22AE8}"/>
              </a:ext>
            </a:extLst>
          </p:cNvPr>
          <p:cNvSpPr>
            <a:spLocks noGrp="1"/>
          </p:cNvSpPr>
          <p:nvPr>
            <p:ph idx="1"/>
          </p:nvPr>
        </p:nvSpPr>
        <p:spPr>
          <a:xfrm>
            <a:off x="838200" y="1825625"/>
            <a:ext cx="10833340" cy="4950732"/>
          </a:xfrm>
        </p:spPr>
        <p:txBody>
          <a:bodyPr/>
          <a:lstStyle/>
          <a:p>
            <a:r>
              <a:rPr lang="en-US" dirty="0"/>
              <a:t> Is the potential difference just inner and outer of  the cell membrane when the cell is at rest. Resting membrane  potential is always negative ,which shows that cytoplasm is negatively charged  in relation to the ECF</a:t>
            </a:r>
            <a:r>
              <a:rPr lang="en-US" dirty="0" smtClean="0"/>
              <a:t>.[Due to Na⁺_ K⁺ pump]</a:t>
            </a:r>
            <a:endParaRPr lang="en-US" dirty="0"/>
          </a:p>
          <a:p>
            <a:r>
              <a:rPr lang="en-US" dirty="0"/>
              <a:t>Examples__</a:t>
            </a:r>
          </a:p>
          <a:p>
            <a:pPr marL="0" indent="0">
              <a:buNone/>
            </a:pPr>
            <a:r>
              <a:rPr lang="en-IN" dirty="0"/>
              <a:t>                         RMP of skeletal muscle is -90 millivolt</a:t>
            </a:r>
          </a:p>
          <a:p>
            <a:pPr marL="0" indent="0">
              <a:buNone/>
            </a:pPr>
            <a:r>
              <a:rPr lang="en-IN" dirty="0"/>
              <a:t>                         RMP of cardiac muscle is -90 millivolt</a:t>
            </a:r>
          </a:p>
          <a:p>
            <a:pPr marL="0" indent="0">
              <a:buNone/>
            </a:pPr>
            <a:r>
              <a:rPr lang="en-IN" dirty="0"/>
              <a:t>                         RMP of neuron is -70 millivolt</a:t>
            </a:r>
          </a:p>
          <a:p>
            <a:pPr marL="0" indent="0">
              <a:buNone/>
            </a:pPr>
            <a:r>
              <a:rPr lang="en-IN" dirty="0"/>
              <a:t>                         RMP of RBC is -10 millivolt</a:t>
            </a:r>
          </a:p>
          <a:p>
            <a:pPr marL="0" indent="0">
              <a:buNone/>
            </a:pPr>
            <a:r>
              <a:rPr lang="en-IN" dirty="0"/>
              <a:t>                         RMP </a:t>
            </a:r>
            <a:r>
              <a:rPr lang="en-IN" sz="2400" dirty="0"/>
              <a:t>OF SMOOTH MUSCLE  IS  -50 to -60 millivolt. </a:t>
            </a:r>
            <a:endParaRPr lang="en-IN" dirty="0"/>
          </a:p>
        </p:txBody>
      </p:sp>
    </p:spTree>
    <p:extLst>
      <p:ext uri="{BB962C8B-B14F-4D97-AF65-F5344CB8AC3E}">
        <p14:creationId xmlns:p14="http://schemas.microsoft.com/office/powerpoint/2010/main" val="13157433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FC60DB-BF25-4F09-855A-24B485274C8C}"/>
              </a:ext>
            </a:extLst>
          </p:cNvPr>
          <p:cNvSpPr>
            <a:spLocks noGrp="1"/>
          </p:cNvSpPr>
          <p:nvPr>
            <p:ph type="title"/>
          </p:nvPr>
        </p:nvSpPr>
        <p:spPr/>
        <p:txBody>
          <a:bodyPr/>
          <a:lstStyle/>
          <a:p>
            <a:r>
              <a:rPr lang="en-US" dirty="0"/>
              <a:t> TYPES OF TRANSPORT BASED ON DIRECTION</a:t>
            </a:r>
            <a:endParaRPr lang="en-IN" dirty="0"/>
          </a:p>
        </p:txBody>
      </p:sp>
      <p:sp>
        <p:nvSpPr>
          <p:cNvPr id="3" name="Content Placeholder 2">
            <a:extLst>
              <a:ext uri="{FF2B5EF4-FFF2-40B4-BE49-F238E27FC236}">
                <a16:creationId xmlns:a16="http://schemas.microsoft.com/office/drawing/2014/main" xmlns="" id="{7D36407E-73CE-404F-BECF-C837AB6092F5}"/>
              </a:ext>
            </a:extLst>
          </p:cNvPr>
          <p:cNvSpPr>
            <a:spLocks noGrp="1"/>
          </p:cNvSpPr>
          <p:nvPr>
            <p:ph idx="1"/>
          </p:nvPr>
        </p:nvSpPr>
        <p:spPr>
          <a:xfrm>
            <a:off x="838200" y="1825624"/>
            <a:ext cx="10515600" cy="5032375"/>
          </a:xfrm>
        </p:spPr>
        <p:txBody>
          <a:bodyPr/>
          <a:lstStyle/>
          <a:p>
            <a:r>
              <a:rPr lang="en-US" dirty="0"/>
              <a:t>UNIPORT-</a:t>
            </a:r>
          </a:p>
          <a:p>
            <a:pPr marL="0" indent="0">
              <a:buNone/>
            </a:pPr>
            <a:r>
              <a:rPr lang="en-US" dirty="0"/>
              <a:t> Is the movement of a substance  with the help of a  carrier protein</a:t>
            </a:r>
          </a:p>
          <a:p>
            <a:pPr marL="0" indent="0">
              <a:buNone/>
            </a:pPr>
            <a:r>
              <a:rPr lang="en-US" dirty="0"/>
              <a:t>Example- Facilitated diffusion of glucose/ amino acid.</a:t>
            </a:r>
          </a:p>
          <a:p>
            <a:pPr marL="0" indent="0">
              <a:buNone/>
            </a:pPr>
            <a:r>
              <a:rPr lang="en-US" dirty="0"/>
              <a:t>  SYMPORT-</a:t>
            </a:r>
          </a:p>
          <a:p>
            <a:pPr marL="0" indent="0">
              <a:buNone/>
            </a:pPr>
            <a:r>
              <a:rPr lang="en-US" dirty="0"/>
              <a:t>Is the movement of two substances in the same direction with the help of a single carrier protein . Example – cotransport of glucose/amino acid along with sodium.</a:t>
            </a:r>
          </a:p>
          <a:p>
            <a:pPr marL="0" indent="0">
              <a:buNone/>
            </a:pPr>
            <a:r>
              <a:rPr lang="en-US" dirty="0"/>
              <a:t>ANTIPORT-</a:t>
            </a:r>
          </a:p>
          <a:p>
            <a:pPr marL="0" indent="0">
              <a:buNone/>
            </a:pPr>
            <a:r>
              <a:rPr lang="en-US" dirty="0"/>
              <a:t>Is the movement of two substances in opposite directions with the help of a single carrier protein. Example - Na⁺₋ H⁺ antiport.</a:t>
            </a:r>
          </a:p>
          <a:p>
            <a:pPr marL="0" indent="0">
              <a:buNone/>
            </a:pPr>
            <a:endParaRPr lang="en-IN" dirty="0"/>
          </a:p>
        </p:txBody>
      </p:sp>
    </p:spTree>
    <p:extLst>
      <p:ext uri="{BB962C8B-B14F-4D97-AF65-F5344CB8AC3E}">
        <p14:creationId xmlns:p14="http://schemas.microsoft.com/office/powerpoint/2010/main" val="14498918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485D03-17FC-4D9F-8DCC-02B7FC90B31E}"/>
              </a:ext>
            </a:extLst>
          </p:cNvPr>
          <p:cNvSpPr>
            <a:spLocks noGrp="1"/>
          </p:cNvSpPr>
          <p:nvPr>
            <p:ph type="title"/>
          </p:nvPr>
        </p:nvSpPr>
        <p:spPr>
          <a:xfrm>
            <a:off x="872383" y="450583"/>
            <a:ext cx="10515600" cy="1325563"/>
          </a:xfrm>
        </p:spPr>
        <p:txBody>
          <a:bodyPr/>
          <a:lstStyle/>
          <a:p>
            <a:endParaRPr lang="en-IN"/>
          </a:p>
        </p:txBody>
      </p:sp>
      <p:pic>
        <p:nvPicPr>
          <p:cNvPr id="5" name="Content Placeholder 4">
            <a:extLst>
              <a:ext uri="{FF2B5EF4-FFF2-40B4-BE49-F238E27FC236}">
                <a16:creationId xmlns:a16="http://schemas.microsoft.com/office/drawing/2014/main" xmlns="" id="{E72E6166-E063-436D-A2D9-FFBA18D64C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9002" y="365125"/>
            <a:ext cx="10482163" cy="6078403"/>
          </a:xfrm>
        </p:spPr>
      </p:pic>
    </p:spTree>
    <p:extLst>
      <p:ext uri="{BB962C8B-B14F-4D97-AF65-F5344CB8AC3E}">
        <p14:creationId xmlns:p14="http://schemas.microsoft.com/office/powerpoint/2010/main" val="8003684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BCEE99-A8BB-430B-AA6F-4EA2DB1B2CC3}"/>
              </a:ext>
            </a:extLst>
          </p:cNvPr>
          <p:cNvSpPr>
            <a:spLocks noGrp="1"/>
          </p:cNvSpPr>
          <p:nvPr>
            <p:ph type="title"/>
          </p:nvPr>
        </p:nvSpPr>
        <p:spPr>
          <a:xfrm>
            <a:off x="838199" y="500062"/>
            <a:ext cx="10515600" cy="1325563"/>
          </a:xfrm>
        </p:spPr>
        <p:txBody>
          <a:bodyPr/>
          <a:lstStyle/>
          <a:p>
            <a:endParaRPr lang="en-IN"/>
          </a:p>
        </p:txBody>
      </p:sp>
      <p:pic>
        <p:nvPicPr>
          <p:cNvPr id="5" name="Content Placeholder 4">
            <a:extLst>
              <a:ext uri="{FF2B5EF4-FFF2-40B4-BE49-F238E27FC236}">
                <a16:creationId xmlns:a16="http://schemas.microsoft.com/office/drawing/2014/main" xmlns="" id="{D0DDE1AA-F566-4AF2-A0A5-4762B65C770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22998" b="43465"/>
          <a:stretch/>
        </p:blipFill>
        <p:spPr>
          <a:xfrm>
            <a:off x="838199" y="581891"/>
            <a:ext cx="6356120" cy="5357091"/>
          </a:xfrm>
        </p:spPr>
      </p:pic>
      <p:pic>
        <p:nvPicPr>
          <p:cNvPr id="4" name="Content Placeholder 4">
            <a:extLst>
              <a:ext uri="{FF2B5EF4-FFF2-40B4-BE49-F238E27FC236}">
                <a16:creationId xmlns:a16="http://schemas.microsoft.com/office/drawing/2014/main" xmlns="" id="{D0DDE1AA-F566-4AF2-A0A5-4762B65C770B}"/>
              </a:ext>
            </a:extLst>
          </p:cNvPr>
          <p:cNvPicPr>
            <a:picLocks noChangeAspect="1"/>
          </p:cNvPicPr>
          <p:nvPr/>
        </p:nvPicPr>
        <p:blipFill rotWithShape="1">
          <a:blip r:embed="rId2">
            <a:extLst>
              <a:ext uri="{28A0092B-C50C-407E-A947-70E740481C1C}">
                <a14:useLocalDpi xmlns:a14="http://schemas.microsoft.com/office/drawing/2010/main" val="0"/>
              </a:ext>
            </a:extLst>
          </a:blip>
          <a:srcRect t="22998" b="43465"/>
          <a:stretch/>
        </p:blipFill>
        <p:spPr>
          <a:xfrm>
            <a:off x="838198" y="258792"/>
            <a:ext cx="10515601" cy="6211019"/>
          </a:xfrm>
          <a:prstGeom prst="rect">
            <a:avLst/>
          </a:prstGeom>
        </p:spPr>
      </p:pic>
    </p:spTree>
    <p:extLst>
      <p:ext uri="{BB962C8B-B14F-4D97-AF65-F5344CB8AC3E}">
        <p14:creationId xmlns:p14="http://schemas.microsoft.com/office/powerpoint/2010/main" val="49045764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2671</TotalTime>
  <Words>1594</Words>
  <Application>Microsoft Office PowerPoint</Application>
  <PresentationFormat>Widescreen</PresentationFormat>
  <Paragraphs>153</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                                  CELL</vt:lpstr>
      <vt:lpstr>                    STRUCTURE OF CELL</vt:lpstr>
      <vt:lpstr>         STRUCTURE OF CELL MEMBRANE</vt:lpstr>
      <vt:lpstr>        STRUCTURE OF CELL MEMBRANE</vt:lpstr>
      <vt:lpstr>             FUNCTIONS OF CELL MEMBANE</vt:lpstr>
      <vt:lpstr>                      MITOCHONDRIA</vt:lpstr>
      <vt:lpstr>                 ENDOPLASMIC RETICULUM</vt:lpstr>
      <vt:lpstr>                       GOLGI APPARATUS</vt:lpstr>
      <vt:lpstr>                               LYSOSOME</vt:lpstr>
      <vt:lpstr>                          PEROXISOME</vt:lpstr>
      <vt:lpstr>                       PROTEASOME</vt:lpstr>
      <vt:lpstr>                     CENTROSOME  </vt:lpstr>
      <vt:lpstr>            MICROFILAMENT AND MICROTUBULE</vt:lpstr>
      <vt:lpstr>                             NUCLEUS</vt:lpstr>
      <vt:lpstr>     TYPES OF TRANSPORT</vt:lpstr>
      <vt:lpstr>FACTORS AFFECTING DIFFUSION</vt:lpstr>
      <vt:lpstr>                   ACTIVE TRANSPORT</vt:lpstr>
      <vt:lpstr>                        Na⁺₋ K⁺ PUMP</vt:lpstr>
      <vt:lpstr>SODIUM- POTASSIUM PUMP/Na⁺₋ K⁺ PUMP</vt:lpstr>
      <vt:lpstr>             SECONDARY ACTIVE TRASPORT</vt:lpstr>
      <vt:lpstr>                            OSMOSIS</vt:lpstr>
      <vt:lpstr>ICF[INTRA CELLULAR FLUID] and ECF[EXTRA                                                   CELLULAR FLUID] </vt:lpstr>
      <vt:lpstr>       RESTING MEMBRANE POTENTIAL/RMP</vt:lpstr>
      <vt:lpstr> TYPES OF TRANSPORT BASED ON DIRECTION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dc:title>
  <dc:creator>sreelekha s</dc:creator>
  <cp:lastModifiedBy>user</cp:lastModifiedBy>
  <cp:revision>85</cp:revision>
  <dcterms:created xsi:type="dcterms:W3CDTF">2021-01-04T18:36:58Z</dcterms:created>
  <dcterms:modified xsi:type="dcterms:W3CDTF">2024-10-23T10:25:47Z</dcterms:modified>
</cp:coreProperties>
</file>