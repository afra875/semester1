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4630400" cy="8229600"/>
  <p:notesSz cx="8229600" cy="14630400"/>
  <p:embeddedFontLst>
    <p:embeddedFont>
      <p:font typeface="Unbounded"/>
      <p:regular r:id="rId26"/>
    </p:embeddedFont>
    <p:embeddedFont>
      <p:font typeface="Unbounded"/>
      <p:regular r:id="rId27"/>
    </p:embeddedFont>
    <p:embeddedFont>
      <p:font typeface="Open Sans"/>
      <p:regular r:id="rId28"/>
    </p:embeddedFont>
    <p:embeddedFont>
      <p:font typeface="Open Sans"/>
      <p:regular r:id="rId29"/>
    </p:embeddedFont>
    <p:embeddedFont>
      <p:font typeface="Open Sans"/>
      <p:regular r:id="rId30"/>
    </p:embeddedFont>
    <p:embeddedFont>
      <p:font typeface="Open Sans"/>
      <p:regular r:id="rId3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font" Target="fonts/font1.fntdata"/><Relationship Id="rId27" Type="http://schemas.openxmlformats.org/officeDocument/2006/relationships/font" Target="fonts/font2.fntdata"/><Relationship Id="rId28" Type="http://schemas.openxmlformats.org/officeDocument/2006/relationships/font" Target="fonts/font3.fntdata"/><Relationship Id="rId29" Type="http://schemas.openxmlformats.org/officeDocument/2006/relationships/font" Target="fonts/font4.fntdata"/><Relationship Id="rId30" Type="http://schemas.openxmlformats.org/officeDocument/2006/relationships/font" Target="fonts/font5.fntdata"/><Relationship Id="rId31"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6-1.pn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7-1.png"/><Relationship Id="rId3"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8-1.png"/><Relationship Id="rId3"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9-1.png"/><Relationship Id="rId3"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0-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621750"/>
            <a:ext cx="12592050" cy="708779"/>
          </a:xfrm>
          <a:prstGeom prst="rect">
            <a:avLst/>
          </a:prstGeom>
          <a:noFill/>
          <a:ln/>
        </p:spPr>
        <p:txBody>
          <a:bodyPr wrap="none" lIns="0" tIns="0" rIns="0" bIns="0" rtlCol="0" anchor="t"/>
          <a:lstStyle/>
          <a:p>
            <a:pPr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Negative Ego Defense Mechanisms</a:t>
            </a:r>
            <a:endParaRPr lang="en-US" sz="4450" dirty="0"/>
          </a:p>
        </p:txBody>
      </p:sp>
      <p:sp>
        <p:nvSpPr>
          <p:cNvPr id="3" name="Text 1"/>
          <p:cNvSpPr/>
          <p:nvPr/>
        </p:nvSpPr>
        <p:spPr>
          <a:xfrm>
            <a:off x="793790" y="2897505"/>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Regression</a:t>
            </a:r>
            <a:endParaRPr lang="en-US" sz="2200" dirty="0"/>
          </a:p>
        </p:txBody>
      </p:sp>
      <p:sp>
        <p:nvSpPr>
          <p:cNvPr id="4" name="Text 2"/>
          <p:cNvSpPr/>
          <p:nvPr/>
        </p:nvSpPr>
        <p:spPr>
          <a:xfrm>
            <a:off x="793790" y="3478649"/>
            <a:ext cx="6244709" cy="1360527"/>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Temporary reverting of the ego to an earlier stage of development rather than handling unacceptable impulses in a more adult way.</a:t>
            </a:r>
            <a:endParaRPr lang="en-US" sz="2200" dirty="0"/>
          </a:p>
        </p:txBody>
      </p:sp>
      <p:sp>
        <p:nvSpPr>
          <p:cNvPr id="5" name="Text 3"/>
          <p:cNvSpPr/>
          <p:nvPr/>
        </p:nvSpPr>
        <p:spPr>
          <a:xfrm>
            <a:off x="793790" y="5043249"/>
            <a:ext cx="6244709" cy="1360527"/>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Eg: A child may begin to suck their thumb again or wet the bed when needed to spend some time in the hospital.</a:t>
            </a:r>
            <a:endParaRPr lang="en-US" sz="2200" dirty="0"/>
          </a:p>
        </p:txBody>
      </p:sp>
      <p:sp>
        <p:nvSpPr>
          <p:cNvPr id="6" name="Text 4"/>
          <p:cNvSpPr/>
          <p:nvPr/>
        </p:nvSpPr>
        <p:spPr>
          <a:xfrm>
            <a:off x="7599521" y="2897505"/>
            <a:ext cx="3543895" cy="354330"/>
          </a:xfrm>
          <a:prstGeom prst="rect">
            <a:avLst/>
          </a:prstGeom>
          <a:noFill/>
          <a:ln/>
        </p:spPr>
        <p:txBody>
          <a:bodyPr wrap="none" lIns="0" tIns="0" rIns="0" bIns="0" rtlCol="0" anchor="t"/>
          <a:lstStyle/>
          <a:p>
            <a:pPr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Reaction Formation</a:t>
            </a:r>
            <a:endParaRPr lang="en-US" sz="2200" dirty="0"/>
          </a:p>
        </p:txBody>
      </p:sp>
      <p:sp>
        <p:nvSpPr>
          <p:cNvPr id="7" name="Text 5"/>
          <p:cNvSpPr/>
          <p:nvPr/>
        </p:nvSpPr>
        <p:spPr>
          <a:xfrm>
            <a:off x="7599521" y="3478649"/>
            <a:ext cx="6244709" cy="907018"/>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Person behaves in the opposite way to which he/she thinks or feels.</a:t>
            </a:r>
            <a:endParaRPr lang="en-US" sz="2200" dirty="0"/>
          </a:p>
        </p:txBody>
      </p:sp>
      <p:sp>
        <p:nvSpPr>
          <p:cNvPr id="8" name="Text 6"/>
          <p:cNvSpPr/>
          <p:nvPr/>
        </p:nvSpPr>
        <p:spPr>
          <a:xfrm>
            <a:off x="7599521" y="4589740"/>
            <a:ext cx="6244709" cy="907018"/>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Eg: A drug addict preaches against substance abuse.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623768"/>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3" name="Text 1"/>
          <p:cNvSpPr/>
          <p:nvPr/>
        </p:nvSpPr>
        <p:spPr>
          <a:xfrm>
            <a:off x="793790" y="1899523"/>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Suppression</a:t>
            </a:r>
            <a:endParaRPr lang="en-US" sz="2200" dirty="0"/>
          </a:p>
        </p:txBody>
      </p:sp>
      <p:sp>
        <p:nvSpPr>
          <p:cNvPr id="4" name="Text 2"/>
          <p:cNvSpPr/>
          <p:nvPr/>
        </p:nvSpPr>
        <p:spPr>
          <a:xfrm>
            <a:off x="793790" y="2480667"/>
            <a:ext cx="6244709" cy="1360527"/>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Consciously removing distressing thoughts, emotions, memories, fantasies, and desires from awareness.</a:t>
            </a:r>
            <a:endParaRPr lang="en-US" sz="2200" dirty="0"/>
          </a:p>
        </p:txBody>
      </p:sp>
      <p:sp>
        <p:nvSpPr>
          <p:cNvPr id="5" name="Text 3"/>
          <p:cNvSpPr/>
          <p:nvPr/>
        </p:nvSpPr>
        <p:spPr>
          <a:xfrm>
            <a:off x="793790" y="4045268"/>
            <a:ext cx="6244709" cy="907018"/>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Eg: Deciding not to think about a loved one's death or a relationship breakup.</a:t>
            </a:r>
            <a:endParaRPr lang="en-US" sz="2200" dirty="0"/>
          </a:p>
        </p:txBody>
      </p:sp>
      <p:sp>
        <p:nvSpPr>
          <p:cNvPr id="6" name="Text 4"/>
          <p:cNvSpPr/>
          <p:nvPr/>
        </p:nvSpPr>
        <p:spPr>
          <a:xfrm>
            <a:off x="7599521" y="1899523"/>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Projection</a:t>
            </a:r>
            <a:endParaRPr lang="en-US" sz="2200" dirty="0"/>
          </a:p>
        </p:txBody>
      </p:sp>
      <p:sp>
        <p:nvSpPr>
          <p:cNvPr id="7" name="Text 5"/>
          <p:cNvSpPr/>
          <p:nvPr/>
        </p:nvSpPr>
        <p:spPr>
          <a:xfrm>
            <a:off x="7599521" y="2480667"/>
            <a:ext cx="6244709" cy="1360527"/>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Taking own unacceptable qualities or feelings and putting such qualities on other people (blaming others).</a:t>
            </a:r>
            <a:endParaRPr lang="en-US" sz="2200" dirty="0"/>
          </a:p>
        </p:txBody>
      </p:sp>
      <p:sp>
        <p:nvSpPr>
          <p:cNvPr id="8" name="Text 6"/>
          <p:cNvSpPr/>
          <p:nvPr/>
        </p:nvSpPr>
        <p:spPr>
          <a:xfrm>
            <a:off x="7599521" y="4045268"/>
            <a:ext cx="6244709" cy="1360527"/>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Eg: An incompetent surgeon whose patient does not respond well to the treatment may tend to blame nurses for patient's condition.</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4020" y="784622"/>
            <a:ext cx="5243393" cy="655439"/>
          </a:xfrm>
          <a:prstGeom prst="rect">
            <a:avLst/>
          </a:prstGeom>
          <a:noFill/>
          <a:ln/>
        </p:spPr>
        <p:txBody>
          <a:bodyPr wrap="none" lIns="0" tIns="0" rIns="0" bIns="0" rtlCol="0" anchor="t"/>
          <a:lstStyle/>
          <a:p>
            <a:pPr indent="0" marL="0">
              <a:lnSpc>
                <a:spcPts val="5150"/>
              </a:lnSpc>
              <a:buNone/>
            </a:pPr>
            <a:endParaRPr lang="en-US" sz="4100" dirty="0"/>
          </a:p>
        </p:txBody>
      </p:sp>
      <p:sp>
        <p:nvSpPr>
          <p:cNvPr id="3" name="Shape 1"/>
          <p:cNvSpPr/>
          <p:nvPr/>
        </p:nvSpPr>
        <p:spPr>
          <a:xfrm>
            <a:off x="734020" y="1859518"/>
            <a:ext cx="6476405" cy="5585460"/>
          </a:xfrm>
          <a:prstGeom prst="roundRect">
            <a:avLst>
              <a:gd name="adj" fmla="val 1577"/>
            </a:avLst>
          </a:prstGeom>
          <a:solidFill>
            <a:srgbClr val="D6F5EE"/>
          </a:solidFill>
          <a:ln w="7620">
            <a:solidFill>
              <a:srgbClr val="BCDBD4"/>
            </a:solidFill>
            <a:prstDash val="solid"/>
          </a:ln>
        </p:spPr>
      </p:sp>
      <p:sp>
        <p:nvSpPr>
          <p:cNvPr id="4" name="Text 2"/>
          <p:cNvSpPr/>
          <p:nvPr/>
        </p:nvSpPr>
        <p:spPr>
          <a:xfrm>
            <a:off x="951309" y="2076807"/>
            <a:ext cx="2621637" cy="327660"/>
          </a:xfrm>
          <a:prstGeom prst="rect">
            <a:avLst/>
          </a:prstGeom>
          <a:noFill/>
          <a:ln/>
        </p:spPr>
        <p:txBody>
          <a:bodyPr wrap="none" lIns="0" tIns="0" rIns="0" bIns="0" rtlCol="0" anchor="t"/>
          <a:lstStyle/>
          <a:p>
            <a:pPr indent="0" marL="0">
              <a:lnSpc>
                <a:spcPts val="2550"/>
              </a:lnSpc>
              <a:buNone/>
            </a:pPr>
            <a:r>
              <a:rPr lang="en-US" sz="2050" b="1" dirty="0">
                <a:solidFill>
                  <a:srgbClr val="333F70"/>
                </a:solidFill>
                <a:latin typeface="Unbounded Bold" pitchFamily="34" charset="0"/>
                <a:ea typeface="Unbounded Bold" pitchFamily="34" charset="-122"/>
                <a:cs typeface="Unbounded Bold" pitchFamily="34" charset="-120"/>
              </a:rPr>
              <a:t>Negativism</a:t>
            </a:r>
            <a:endParaRPr lang="en-US" sz="2050" dirty="0"/>
          </a:p>
        </p:txBody>
      </p:sp>
      <p:sp>
        <p:nvSpPr>
          <p:cNvPr id="5" name="Text 3"/>
          <p:cNvSpPr/>
          <p:nvPr/>
        </p:nvSpPr>
        <p:spPr>
          <a:xfrm>
            <a:off x="951309" y="2530197"/>
            <a:ext cx="6041827" cy="838914"/>
          </a:xfrm>
          <a:prstGeom prst="rect">
            <a:avLst/>
          </a:prstGeom>
          <a:noFill/>
          <a:ln/>
        </p:spPr>
        <p:txBody>
          <a:bodyPr wrap="square" lIns="0" tIns="0" rIns="0" bIns="0" rtlCol="0" anchor="t"/>
          <a:lstStyle/>
          <a:p>
            <a:pPr indent="0" marL="0">
              <a:lnSpc>
                <a:spcPts val="3300"/>
              </a:lnSpc>
              <a:buNone/>
            </a:pPr>
            <a:r>
              <a:rPr lang="en-US" sz="2050" dirty="0">
                <a:solidFill>
                  <a:srgbClr val="333F70"/>
                </a:solidFill>
                <a:latin typeface="Open Sans" pitchFamily="34" charset="0"/>
                <a:ea typeface="Open Sans" pitchFamily="34" charset="-122"/>
                <a:cs typeface="Open Sans" pitchFamily="34" charset="-120"/>
              </a:rPr>
              <a:t>involves a person developing an irrational resistance to accepting suggestions from others.</a:t>
            </a:r>
            <a:endParaRPr lang="en-US" sz="2050" dirty="0"/>
          </a:p>
        </p:txBody>
      </p:sp>
      <p:sp>
        <p:nvSpPr>
          <p:cNvPr id="6" name="Text 4"/>
          <p:cNvSpPr/>
          <p:nvPr/>
        </p:nvSpPr>
        <p:spPr>
          <a:xfrm>
            <a:off x="951309" y="3494842"/>
            <a:ext cx="6041827" cy="838914"/>
          </a:xfrm>
          <a:prstGeom prst="rect">
            <a:avLst/>
          </a:prstGeom>
          <a:noFill/>
          <a:ln/>
        </p:spPr>
        <p:txBody>
          <a:bodyPr wrap="square" lIns="0" tIns="0" rIns="0" bIns="0" rtlCol="0" anchor="t"/>
          <a:lstStyle/>
          <a:p>
            <a:pPr indent="0" marL="0">
              <a:lnSpc>
                <a:spcPts val="3300"/>
              </a:lnSpc>
              <a:buNone/>
            </a:pPr>
            <a:r>
              <a:rPr lang="en-US" sz="2050" dirty="0">
                <a:solidFill>
                  <a:srgbClr val="333F70"/>
                </a:solidFill>
                <a:latin typeface="Open Sans" pitchFamily="34" charset="0"/>
                <a:ea typeface="Open Sans" pitchFamily="34" charset="-122"/>
                <a:cs typeface="Open Sans" pitchFamily="34" charset="-120"/>
              </a:rPr>
              <a:t> They refuse to attack the problems or obstacles which confront them. </a:t>
            </a:r>
            <a:endParaRPr lang="en-US" sz="2050" dirty="0"/>
          </a:p>
        </p:txBody>
      </p:sp>
      <p:sp>
        <p:nvSpPr>
          <p:cNvPr id="7" name="Text 5"/>
          <p:cNvSpPr/>
          <p:nvPr/>
        </p:nvSpPr>
        <p:spPr>
          <a:xfrm>
            <a:off x="951309" y="4459486"/>
            <a:ext cx="6041827" cy="838914"/>
          </a:xfrm>
          <a:prstGeom prst="rect">
            <a:avLst/>
          </a:prstGeom>
          <a:noFill/>
          <a:ln/>
        </p:spPr>
        <p:txBody>
          <a:bodyPr wrap="square" lIns="0" tIns="0" rIns="0" bIns="0" rtlCol="0" anchor="t"/>
          <a:lstStyle/>
          <a:p>
            <a:pPr indent="0" marL="0">
              <a:lnSpc>
                <a:spcPts val="3300"/>
              </a:lnSpc>
              <a:buNone/>
            </a:pPr>
            <a:r>
              <a:rPr lang="en-US" sz="2050" dirty="0">
                <a:solidFill>
                  <a:srgbClr val="333F70"/>
                </a:solidFill>
                <a:latin typeface="Open Sans" pitchFamily="34" charset="0"/>
                <a:ea typeface="Open Sans" pitchFamily="34" charset="-122"/>
                <a:cs typeface="Open Sans" pitchFamily="34" charset="-120"/>
              </a:rPr>
              <a:t>Instead, they become contradictory, stubborn and rebellious. </a:t>
            </a:r>
            <a:endParaRPr lang="en-US" sz="2050" dirty="0"/>
          </a:p>
        </p:txBody>
      </p:sp>
      <p:sp>
        <p:nvSpPr>
          <p:cNvPr id="8" name="Text 6"/>
          <p:cNvSpPr/>
          <p:nvPr/>
        </p:nvSpPr>
        <p:spPr>
          <a:xfrm>
            <a:off x="951309" y="5424130"/>
            <a:ext cx="6041827" cy="838914"/>
          </a:xfrm>
          <a:prstGeom prst="rect">
            <a:avLst/>
          </a:prstGeom>
          <a:noFill/>
          <a:ln/>
        </p:spPr>
        <p:txBody>
          <a:bodyPr wrap="square" lIns="0" tIns="0" rIns="0" bIns="0" rtlCol="0" anchor="t"/>
          <a:lstStyle/>
          <a:p>
            <a:pPr indent="0" marL="0">
              <a:lnSpc>
                <a:spcPts val="3300"/>
              </a:lnSpc>
              <a:buNone/>
            </a:pPr>
            <a:r>
              <a:rPr lang="en-US" sz="2050" dirty="0">
                <a:solidFill>
                  <a:srgbClr val="333F70"/>
                </a:solidFill>
                <a:latin typeface="Open Sans" pitchFamily="34" charset="0"/>
                <a:ea typeface="Open Sans" pitchFamily="34" charset="-122"/>
                <a:cs typeface="Open Sans" pitchFamily="34" charset="-120"/>
              </a:rPr>
              <a:t>They become uncooperative and do the opposite of what should be done.</a:t>
            </a:r>
            <a:endParaRPr lang="en-US" sz="2050" dirty="0"/>
          </a:p>
        </p:txBody>
      </p:sp>
      <p:sp>
        <p:nvSpPr>
          <p:cNvPr id="9" name="Text 7"/>
          <p:cNvSpPr/>
          <p:nvPr/>
        </p:nvSpPr>
        <p:spPr>
          <a:xfrm>
            <a:off x="951309" y="6388775"/>
            <a:ext cx="6041827" cy="838914"/>
          </a:xfrm>
          <a:prstGeom prst="rect">
            <a:avLst/>
          </a:prstGeom>
          <a:noFill/>
          <a:ln/>
        </p:spPr>
        <p:txBody>
          <a:bodyPr wrap="square" lIns="0" tIns="0" rIns="0" bIns="0" rtlCol="0" anchor="t"/>
          <a:lstStyle/>
          <a:p>
            <a:pPr indent="0" marL="0">
              <a:lnSpc>
                <a:spcPts val="3300"/>
              </a:lnSpc>
              <a:buNone/>
            </a:pPr>
            <a:r>
              <a:rPr lang="en-US" sz="2050" dirty="0">
                <a:solidFill>
                  <a:srgbClr val="333F70"/>
                </a:solidFill>
                <a:latin typeface="Open Sans" pitchFamily="34" charset="0"/>
                <a:ea typeface="Open Sans" pitchFamily="34" charset="-122"/>
                <a:cs typeface="Open Sans" pitchFamily="34" charset="-120"/>
              </a:rPr>
              <a:t> This type of behaviour is commonly seen in children and sick persons.</a:t>
            </a:r>
            <a:endParaRPr lang="en-US" sz="2050" dirty="0"/>
          </a:p>
        </p:txBody>
      </p:sp>
      <p:sp>
        <p:nvSpPr>
          <p:cNvPr id="10" name="Shape 8"/>
          <p:cNvSpPr/>
          <p:nvPr/>
        </p:nvSpPr>
        <p:spPr>
          <a:xfrm>
            <a:off x="7420094" y="1859518"/>
            <a:ext cx="6476405" cy="5585460"/>
          </a:xfrm>
          <a:prstGeom prst="roundRect">
            <a:avLst>
              <a:gd name="adj" fmla="val 1577"/>
            </a:avLst>
          </a:prstGeom>
          <a:solidFill>
            <a:srgbClr val="D6F5EE"/>
          </a:solidFill>
          <a:ln w="7620">
            <a:solidFill>
              <a:srgbClr val="BCDBD4"/>
            </a:solidFill>
            <a:prstDash val="solid"/>
          </a:ln>
        </p:spPr>
      </p:sp>
      <p:sp>
        <p:nvSpPr>
          <p:cNvPr id="11" name="Text 9"/>
          <p:cNvSpPr/>
          <p:nvPr/>
        </p:nvSpPr>
        <p:spPr>
          <a:xfrm>
            <a:off x="7637383" y="2076807"/>
            <a:ext cx="2621637" cy="327660"/>
          </a:xfrm>
          <a:prstGeom prst="rect">
            <a:avLst/>
          </a:prstGeom>
          <a:noFill/>
          <a:ln/>
        </p:spPr>
        <p:txBody>
          <a:bodyPr wrap="none" lIns="0" tIns="0" rIns="0" bIns="0" rtlCol="0" anchor="t"/>
          <a:lstStyle/>
          <a:p>
            <a:pPr indent="0" marL="0">
              <a:lnSpc>
                <a:spcPts val="2550"/>
              </a:lnSpc>
              <a:buNone/>
            </a:pPr>
            <a:r>
              <a:rPr lang="en-US" sz="2050" b="1" dirty="0">
                <a:solidFill>
                  <a:srgbClr val="333F70"/>
                </a:solidFill>
                <a:latin typeface="Unbounded Bold" pitchFamily="34" charset="0"/>
                <a:ea typeface="Unbounded Bold" pitchFamily="34" charset="-122"/>
                <a:cs typeface="Unbounded Bold" pitchFamily="34" charset="-120"/>
              </a:rPr>
              <a:t>Denial</a:t>
            </a:r>
            <a:endParaRPr lang="en-US" sz="2050" dirty="0"/>
          </a:p>
        </p:txBody>
      </p:sp>
      <p:sp>
        <p:nvSpPr>
          <p:cNvPr id="12" name="Text 10"/>
          <p:cNvSpPr/>
          <p:nvPr/>
        </p:nvSpPr>
        <p:spPr>
          <a:xfrm>
            <a:off x="7637383" y="2530197"/>
            <a:ext cx="6041827" cy="419457"/>
          </a:xfrm>
          <a:prstGeom prst="rect">
            <a:avLst/>
          </a:prstGeom>
          <a:noFill/>
          <a:ln/>
        </p:spPr>
        <p:txBody>
          <a:bodyPr wrap="none" lIns="0" tIns="0" rIns="0" bIns="0" rtlCol="0" anchor="t"/>
          <a:lstStyle/>
          <a:p>
            <a:pPr indent="0" marL="0">
              <a:lnSpc>
                <a:spcPts val="3300"/>
              </a:lnSpc>
              <a:buNone/>
            </a:pPr>
            <a:r>
              <a:rPr lang="en-US" sz="2050" dirty="0">
                <a:solidFill>
                  <a:srgbClr val="333F70"/>
                </a:solidFill>
                <a:latin typeface="Open Sans" pitchFamily="34" charset="0"/>
                <a:ea typeface="Open Sans" pitchFamily="34" charset="-122"/>
                <a:cs typeface="Open Sans" pitchFamily="34" charset="-120"/>
              </a:rPr>
              <a:t>Simplest and most primitive defense mechanism.</a:t>
            </a:r>
            <a:endParaRPr lang="en-US" sz="2050" dirty="0"/>
          </a:p>
        </p:txBody>
      </p:sp>
      <p:sp>
        <p:nvSpPr>
          <p:cNvPr id="13" name="Text 11"/>
          <p:cNvSpPr/>
          <p:nvPr/>
        </p:nvSpPr>
        <p:spPr>
          <a:xfrm>
            <a:off x="7637383" y="3075384"/>
            <a:ext cx="6041827" cy="838914"/>
          </a:xfrm>
          <a:prstGeom prst="rect">
            <a:avLst/>
          </a:prstGeom>
          <a:noFill/>
          <a:ln/>
        </p:spPr>
        <p:txBody>
          <a:bodyPr wrap="square" lIns="0" tIns="0" rIns="0" bIns="0" rtlCol="0" anchor="t"/>
          <a:lstStyle/>
          <a:p>
            <a:pPr indent="0" marL="0">
              <a:lnSpc>
                <a:spcPts val="3300"/>
              </a:lnSpc>
              <a:buNone/>
            </a:pPr>
            <a:r>
              <a:rPr lang="en-US" sz="2050" dirty="0">
                <a:solidFill>
                  <a:srgbClr val="333F70"/>
                </a:solidFill>
                <a:latin typeface="Open Sans" pitchFamily="34" charset="0"/>
                <a:ea typeface="Open Sans" pitchFamily="34" charset="-122"/>
                <a:cs typeface="Open Sans" pitchFamily="34" charset="-120"/>
              </a:rPr>
              <a:t>Subjects refuse to accept threatening and anxiety provoking external reality to reduce the anxiety.</a:t>
            </a:r>
            <a:endParaRPr lang="en-US" sz="2050" dirty="0"/>
          </a:p>
        </p:txBody>
      </p:sp>
      <p:sp>
        <p:nvSpPr>
          <p:cNvPr id="14" name="Text 12"/>
          <p:cNvSpPr/>
          <p:nvPr/>
        </p:nvSpPr>
        <p:spPr>
          <a:xfrm>
            <a:off x="7637383" y="4040029"/>
            <a:ext cx="6041827" cy="838914"/>
          </a:xfrm>
          <a:prstGeom prst="rect">
            <a:avLst/>
          </a:prstGeom>
          <a:noFill/>
          <a:ln/>
        </p:spPr>
        <p:txBody>
          <a:bodyPr wrap="square" lIns="0" tIns="0" rIns="0" bIns="0" rtlCol="0" anchor="t"/>
          <a:lstStyle/>
          <a:p>
            <a:pPr indent="0" marL="0">
              <a:lnSpc>
                <a:spcPts val="3300"/>
              </a:lnSpc>
              <a:buNone/>
            </a:pPr>
            <a:r>
              <a:rPr lang="en-US" sz="2050" dirty="0">
                <a:solidFill>
                  <a:srgbClr val="333F70"/>
                </a:solidFill>
                <a:latin typeface="Open Sans" pitchFamily="34" charset="0"/>
                <a:ea typeface="Open Sans" pitchFamily="34" charset="-122"/>
                <a:cs typeface="Open Sans" pitchFamily="34" charset="-120"/>
              </a:rPr>
              <a:t>Eg: Patient denying the diagnosis of cancer and seeking a second opinion.</a:t>
            </a:r>
            <a:endParaRPr lang="en-US" sz="2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625322"/>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3" name="Shape 1"/>
          <p:cNvSpPr/>
          <p:nvPr/>
        </p:nvSpPr>
        <p:spPr>
          <a:xfrm>
            <a:off x="793790" y="2787729"/>
            <a:ext cx="6408063" cy="3816429"/>
          </a:xfrm>
          <a:prstGeom prst="roundRect">
            <a:avLst>
              <a:gd name="adj" fmla="val 2496"/>
            </a:avLst>
          </a:prstGeom>
          <a:solidFill>
            <a:srgbClr val="D6F5EE"/>
          </a:solidFill>
          <a:ln w="7620">
            <a:solidFill>
              <a:srgbClr val="BCDBD4"/>
            </a:solidFill>
            <a:prstDash val="solid"/>
          </a:ln>
        </p:spPr>
      </p:sp>
      <p:sp>
        <p:nvSpPr>
          <p:cNvPr id="4" name="Text 2"/>
          <p:cNvSpPr/>
          <p:nvPr/>
        </p:nvSpPr>
        <p:spPr>
          <a:xfrm>
            <a:off x="1028224" y="3022163"/>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Fantasy</a:t>
            </a:r>
            <a:endParaRPr lang="en-US" sz="2200" dirty="0"/>
          </a:p>
        </p:txBody>
      </p:sp>
      <p:sp>
        <p:nvSpPr>
          <p:cNvPr id="5" name="Text 3"/>
          <p:cNvSpPr/>
          <p:nvPr/>
        </p:nvSpPr>
        <p:spPr>
          <a:xfrm>
            <a:off x="1028224" y="3512582"/>
            <a:ext cx="5939195" cy="1360527"/>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Satisfying frustrated desires by imaginary achievement to resolve inner and outer conflicts.</a:t>
            </a:r>
            <a:endParaRPr lang="en-US" sz="2200" dirty="0"/>
          </a:p>
        </p:txBody>
      </p:sp>
      <p:sp>
        <p:nvSpPr>
          <p:cNvPr id="6" name="Text 4"/>
          <p:cNvSpPr/>
          <p:nvPr/>
        </p:nvSpPr>
        <p:spPr>
          <a:xfrm>
            <a:off x="1028224" y="5009198"/>
            <a:ext cx="5939195" cy="1360527"/>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Eg: A lazy and incompetent employee Imagines to be awarded as employee of the year in an organization.</a:t>
            </a:r>
            <a:endParaRPr lang="en-US" sz="2200" dirty="0"/>
          </a:p>
        </p:txBody>
      </p:sp>
      <p:sp>
        <p:nvSpPr>
          <p:cNvPr id="7" name="Shape 5"/>
          <p:cNvSpPr/>
          <p:nvPr/>
        </p:nvSpPr>
        <p:spPr>
          <a:xfrm>
            <a:off x="7428667" y="2787729"/>
            <a:ext cx="6408063" cy="3816429"/>
          </a:xfrm>
          <a:prstGeom prst="roundRect">
            <a:avLst>
              <a:gd name="adj" fmla="val 2496"/>
            </a:avLst>
          </a:prstGeom>
          <a:solidFill>
            <a:srgbClr val="D6F5EE"/>
          </a:solidFill>
          <a:ln w="7620">
            <a:solidFill>
              <a:srgbClr val="BCDBD4"/>
            </a:solidFill>
            <a:prstDash val="solid"/>
          </a:ln>
        </p:spPr>
      </p:sp>
      <p:sp>
        <p:nvSpPr>
          <p:cNvPr id="8" name="Text 6"/>
          <p:cNvSpPr/>
          <p:nvPr/>
        </p:nvSpPr>
        <p:spPr>
          <a:xfrm>
            <a:off x="7663101" y="3022163"/>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Withdrawal</a:t>
            </a:r>
            <a:endParaRPr lang="en-US" sz="2200" dirty="0"/>
          </a:p>
        </p:txBody>
      </p:sp>
      <p:sp>
        <p:nvSpPr>
          <p:cNvPr id="9" name="Text 7"/>
          <p:cNvSpPr/>
          <p:nvPr/>
        </p:nvSpPr>
        <p:spPr>
          <a:xfrm>
            <a:off x="7663101" y="3512582"/>
            <a:ext cx="5939195" cy="1360527"/>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Removing oneself from the events, stimuli, interactions, that could remind one of painful thoughts and feelings.</a:t>
            </a:r>
            <a:endParaRPr lang="en-US" sz="2200" dirty="0"/>
          </a:p>
        </p:txBody>
      </p:sp>
      <p:sp>
        <p:nvSpPr>
          <p:cNvPr id="10" name="Text 8"/>
          <p:cNvSpPr/>
          <p:nvPr/>
        </p:nvSpPr>
        <p:spPr>
          <a:xfrm>
            <a:off x="7663101" y="5009198"/>
            <a:ext cx="5939195" cy="1360527"/>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Eg: A person block his Facebook account to avoid painful memories related to his late wife.</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374821"/>
          </a:xfrm>
          <a:prstGeom prst="rect">
            <a:avLst/>
          </a:prstGeom>
        </p:spPr>
      </p:pic>
      <p:sp>
        <p:nvSpPr>
          <p:cNvPr id="3" name="Text 0"/>
          <p:cNvSpPr/>
          <p:nvPr/>
        </p:nvSpPr>
        <p:spPr>
          <a:xfrm>
            <a:off x="664964" y="2897267"/>
            <a:ext cx="4749760" cy="593646"/>
          </a:xfrm>
          <a:prstGeom prst="rect">
            <a:avLst/>
          </a:prstGeom>
          <a:noFill/>
          <a:ln/>
        </p:spPr>
        <p:txBody>
          <a:bodyPr wrap="none" lIns="0" tIns="0" rIns="0" bIns="0" rtlCol="0" anchor="t"/>
          <a:lstStyle/>
          <a:p>
            <a:pPr indent="0" marL="0">
              <a:lnSpc>
                <a:spcPts val="4650"/>
              </a:lnSpc>
              <a:buNone/>
            </a:pPr>
            <a:r>
              <a:rPr lang="en-US" sz="3700" b="1" dirty="0">
                <a:solidFill>
                  <a:srgbClr val="333F70"/>
                </a:solidFill>
                <a:latin typeface="Unbounded Bold" pitchFamily="34" charset="0"/>
                <a:ea typeface="Unbounded Bold" pitchFamily="34" charset="-122"/>
                <a:cs typeface="Unbounded Bold" pitchFamily="34" charset="-120"/>
              </a:rPr>
              <a:t> Frustration</a:t>
            </a:r>
            <a:endParaRPr lang="en-US" sz="3700" dirty="0"/>
          </a:p>
        </p:txBody>
      </p:sp>
      <p:sp>
        <p:nvSpPr>
          <p:cNvPr id="4" name="Text 1"/>
          <p:cNvSpPr/>
          <p:nvPr/>
        </p:nvSpPr>
        <p:spPr>
          <a:xfrm>
            <a:off x="664964" y="3775829"/>
            <a:ext cx="13300472" cy="380047"/>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333F70"/>
                </a:solidFill>
                <a:latin typeface="Open Sans" pitchFamily="34" charset="0"/>
                <a:ea typeface="Open Sans" pitchFamily="34" charset="-122"/>
                <a:cs typeface="Open Sans" pitchFamily="34" charset="-120"/>
              </a:rPr>
              <a:t>The term frustration has derived from the Latin word "</a:t>
            </a:r>
            <a:pPr algn="l" indent="0" marL="0">
              <a:lnSpc>
                <a:spcPts val="2350"/>
              </a:lnSpc>
              <a:buNone/>
            </a:pPr>
            <a:r>
              <a:rPr lang="en-US" sz="1450" b="1" dirty="0">
                <a:solidFill>
                  <a:srgbClr val="FAA1A1"/>
                </a:solidFill>
                <a:latin typeface="Open Sans" pitchFamily="34" charset="0"/>
                <a:ea typeface="Open Sans" pitchFamily="34" charset="-122"/>
                <a:cs typeface="Open Sans" pitchFamily="34" charset="-120"/>
              </a:rPr>
              <a:t>Frusta</a:t>
            </a:r>
            <a:pPr algn="l" indent="0" marL="0">
              <a:lnSpc>
                <a:spcPts val="2350"/>
              </a:lnSpc>
              <a:buNone/>
            </a:pPr>
            <a:r>
              <a:rPr lang="en-US" sz="1450" dirty="0">
                <a:solidFill>
                  <a:srgbClr val="333F70"/>
                </a:solidFill>
                <a:latin typeface="Open Sans" pitchFamily="34" charset="0"/>
                <a:ea typeface="Open Sans" pitchFamily="34" charset="-122"/>
                <a:cs typeface="Open Sans" pitchFamily="34" charset="-120"/>
              </a:rPr>
              <a:t>'</a:t>
            </a:r>
            <a:pPr algn="l" indent="0" marL="0">
              <a:lnSpc>
                <a:spcPts val="2350"/>
              </a:lnSpc>
              <a:buNone/>
            </a:pPr>
            <a:r>
              <a:rPr lang="en-US" sz="1450" dirty="0">
                <a:solidFill>
                  <a:srgbClr val="333F70"/>
                </a:solidFill>
                <a:latin typeface="Open Sans" pitchFamily="34" charset="0"/>
                <a:ea typeface="Open Sans" pitchFamily="34" charset="-122"/>
                <a:cs typeface="Open Sans" pitchFamily="34" charset="-120"/>
              </a:rPr>
              <a:t> meaning '</a:t>
            </a:r>
            <a:pPr algn="l" indent="0" marL="0">
              <a:lnSpc>
                <a:spcPts val="2350"/>
              </a:lnSpc>
              <a:buNone/>
            </a:pPr>
            <a:r>
              <a:rPr lang="en-US" sz="1450" b="1" dirty="0">
                <a:solidFill>
                  <a:srgbClr val="B05EF1"/>
                </a:solidFill>
                <a:latin typeface="Open Sans" pitchFamily="34" charset="0"/>
                <a:ea typeface="Open Sans" pitchFamily="34" charset="-122"/>
                <a:cs typeface="Open Sans" pitchFamily="34" charset="-120"/>
              </a:rPr>
              <a:t>obstruct</a:t>
            </a:r>
            <a:pPr algn="l" indent="0" marL="0">
              <a:lnSpc>
                <a:spcPts val="2350"/>
              </a:lnSpc>
              <a:buNone/>
            </a:pPr>
            <a:r>
              <a:rPr lang="en-US" sz="1450" dirty="0">
                <a:solidFill>
                  <a:srgbClr val="333F70"/>
                </a:solidFill>
                <a:latin typeface="Open Sans" pitchFamily="34" charset="0"/>
                <a:ea typeface="Open Sans" pitchFamily="34" charset="-122"/>
                <a:cs typeface="Open Sans" pitchFamily="34" charset="-120"/>
              </a:rPr>
              <a:t>'. </a:t>
            </a:r>
            <a:endParaRPr lang="en-US" sz="1450" dirty="0"/>
          </a:p>
        </p:txBody>
      </p:sp>
      <p:sp>
        <p:nvSpPr>
          <p:cNvPr id="5" name="Text 2"/>
          <p:cNvSpPr/>
          <p:nvPr/>
        </p:nvSpPr>
        <p:spPr>
          <a:xfrm>
            <a:off x="664964" y="4222313"/>
            <a:ext cx="13300472" cy="760095"/>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333F70"/>
                </a:solidFill>
                <a:latin typeface="Open Sans" pitchFamily="34" charset="0"/>
                <a:ea typeface="Open Sans" pitchFamily="34" charset="-122"/>
                <a:cs typeface="Open Sans" pitchFamily="34" charset="-120"/>
              </a:rPr>
              <a:t>The feeling of being upset or annoyed as a result of being unable to change or achieve something creates </a:t>
            </a:r>
            <a:pPr algn="l" indent="0" marL="0">
              <a:lnSpc>
                <a:spcPts val="2350"/>
              </a:lnSpc>
              <a:buNone/>
            </a:pPr>
            <a:r>
              <a:rPr lang="en-US" sz="1450" b="1" dirty="0">
                <a:solidFill>
                  <a:srgbClr val="1F7135"/>
                </a:solidFill>
                <a:latin typeface="Open Sans" pitchFamily="34" charset="0"/>
                <a:ea typeface="Open Sans" pitchFamily="34" charset="-122"/>
                <a:cs typeface="Open Sans" pitchFamily="34" charset="-120"/>
              </a:rPr>
              <a:t>frustration</a:t>
            </a:r>
            <a:pPr algn="l" indent="0" marL="0">
              <a:lnSpc>
                <a:spcPts val="2350"/>
              </a:lnSpc>
              <a:buNone/>
            </a:pPr>
            <a:r>
              <a:rPr lang="en-US" sz="1450" dirty="0">
                <a:solidFill>
                  <a:srgbClr val="333F70"/>
                </a:solidFill>
                <a:latin typeface="Open Sans" pitchFamily="34" charset="0"/>
                <a:ea typeface="Open Sans" pitchFamily="34" charset="-122"/>
                <a:cs typeface="Open Sans" pitchFamily="34" charset="-120"/>
              </a:rPr>
              <a:t>. </a:t>
            </a:r>
            <a:endParaRPr lang="en-US" sz="1450" dirty="0"/>
          </a:p>
        </p:txBody>
      </p:sp>
      <p:sp>
        <p:nvSpPr>
          <p:cNvPr id="6" name="Text 3"/>
          <p:cNvSpPr/>
          <p:nvPr/>
        </p:nvSpPr>
        <p:spPr>
          <a:xfrm>
            <a:off x="664964" y="5048845"/>
            <a:ext cx="13300472" cy="380047"/>
          </a:xfrm>
          <a:prstGeom prst="rect">
            <a:avLst/>
          </a:prstGeom>
          <a:noFill/>
          <a:ln/>
        </p:spPr>
        <p:txBody>
          <a:bodyPr wrap="none" lIns="0" tIns="0" rIns="0" bIns="0" rtlCol="0" anchor="t"/>
          <a:lstStyle/>
          <a:p>
            <a:pPr algn="l" marL="342900" indent="-342900">
              <a:lnSpc>
                <a:spcPts val="2350"/>
              </a:lnSpc>
              <a:buSzPct val="100000"/>
              <a:buChar char="•"/>
            </a:pPr>
            <a:r>
              <a:rPr lang="en-US" sz="1450" dirty="0">
                <a:solidFill>
                  <a:srgbClr val="333F70"/>
                </a:solidFill>
                <a:latin typeface="Open Sans" pitchFamily="34" charset="0"/>
                <a:ea typeface="Open Sans" pitchFamily="34" charset="-122"/>
                <a:cs typeface="Open Sans" pitchFamily="34" charset="-120"/>
              </a:rPr>
              <a:t>It occurs when our motives are blocked or thwarted from reaching our goals.</a:t>
            </a:r>
            <a:endParaRPr lang="en-US" sz="1450" dirty="0"/>
          </a:p>
        </p:txBody>
      </p:sp>
      <p:sp>
        <p:nvSpPr>
          <p:cNvPr id="7" name="Text 4"/>
          <p:cNvSpPr/>
          <p:nvPr/>
        </p:nvSpPr>
        <p:spPr>
          <a:xfrm>
            <a:off x="664964" y="5713809"/>
            <a:ext cx="2849880" cy="356235"/>
          </a:xfrm>
          <a:prstGeom prst="rect">
            <a:avLst/>
          </a:prstGeom>
          <a:noFill/>
          <a:ln/>
        </p:spPr>
        <p:txBody>
          <a:bodyPr wrap="none" lIns="0" tIns="0" rIns="0" bIns="0" rtlCol="0" anchor="t"/>
          <a:lstStyle/>
          <a:p>
            <a:pPr indent="0" marL="0">
              <a:lnSpc>
                <a:spcPts val="2800"/>
              </a:lnSpc>
              <a:buNone/>
            </a:pPr>
            <a:r>
              <a:rPr lang="en-US" sz="2200" b="1" dirty="0">
                <a:solidFill>
                  <a:srgbClr val="333F70"/>
                </a:solidFill>
                <a:latin typeface="Unbounded Bold" pitchFamily="34" charset="0"/>
                <a:ea typeface="Unbounded Bold" pitchFamily="34" charset="-122"/>
                <a:cs typeface="Unbounded Bold" pitchFamily="34" charset="-120"/>
              </a:rPr>
              <a:t>Definitions</a:t>
            </a:r>
            <a:endParaRPr lang="en-US" sz="2200" dirty="0"/>
          </a:p>
        </p:txBody>
      </p:sp>
      <p:sp>
        <p:nvSpPr>
          <p:cNvPr id="8" name="Text 5"/>
          <p:cNvSpPr/>
          <p:nvPr/>
        </p:nvSpPr>
        <p:spPr>
          <a:xfrm>
            <a:off x="664964" y="6354961"/>
            <a:ext cx="13300472" cy="760095"/>
          </a:xfrm>
          <a:prstGeom prst="rect">
            <a:avLst/>
          </a:prstGeom>
          <a:noFill/>
          <a:ln/>
        </p:spPr>
        <p:txBody>
          <a:bodyPr wrap="square" lIns="0" tIns="0" rIns="0" bIns="0" rtlCol="0" anchor="t"/>
          <a:lstStyle/>
          <a:p>
            <a:pPr indent="0" marL="0">
              <a:lnSpc>
                <a:spcPts val="2950"/>
              </a:lnSpc>
              <a:buNone/>
            </a:pPr>
            <a:r>
              <a:rPr lang="en-US" sz="1850" dirty="0">
                <a:solidFill>
                  <a:srgbClr val="333F70"/>
                </a:solidFill>
                <a:latin typeface="Open Sans" pitchFamily="34" charset="0"/>
                <a:ea typeface="Open Sans" pitchFamily="34" charset="-122"/>
                <a:cs typeface="Open Sans" pitchFamily="34" charset="-120"/>
              </a:rPr>
              <a:t>Frustration is the blocking or interference of the satisfaction of an aroused need through some barriers or obstruction. -</a:t>
            </a:r>
            <a:pPr indent="0" marL="0">
              <a:lnSpc>
                <a:spcPts val="2950"/>
              </a:lnSpc>
              <a:buNone/>
            </a:pPr>
            <a:r>
              <a:rPr lang="en-US" sz="1850" b="1" dirty="0">
                <a:solidFill>
                  <a:srgbClr val="333F70"/>
                </a:solidFill>
                <a:latin typeface="Open Sans" pitchFamily="34" charset="0"/>
                <a:ea typeface="Open Sans" pitchFamily="34" charset="-122"/>
                <a:cs typeface="Open Sans" pitchFamily="34" charset="-120"/>
              </a:rPr>
              <a:t>Symonds</a:t>
            </a:r>
            <a:endParaRPr lang="en-US" sz="1850" dirty="0"/>
          </a:p>
        </p:txBody>
      </p:sp>
      <p:sp>
        <p:nvSpPr>
          <p:cNvPr id="9" name="Text 6"/>
          <p:cNvSpPr/>
          <p:nvPr/>
        </p:nvSpPr>
        <p:spPr>
          <a:xfrm>
            <a:off x="664964" y="7328773"/>
            <a:ext cx="13300472" cy="380047"/>
          </a:xfrm>
          <a:prstGeom prst="rect">
            <a:avLst/>
          </a:prstGeom>
          <a:noFill/>
          <a:ln/>
        </p:spPr>
        <p:txBody>
          <a:bodyPr wrap="none" lIns="0" tIns="0" rIns="0" bIns="0" rtlCol="0" anchor="t"/>
          <a:lstStyle/>
          <a:p>
            <a:pPr indent="0" marL="0">
              <a:lnSpc>
                <a:spcPts val="2950"/>
              </a:lnSpc>
              <a:buNone/>
            </a:pPr>
            <a:r>
              <a:rPr lang="en-US" sz="1850" dirty="0">
                <a:solidFill>
                  <a:srgbClr val="333F70"/>
                </a:solidFill>
                <a:latin typeface="Open Sans" pitchFamily="34" charset="0"/>
                <a:ea typeface="Open Sans" pitchFamily="34" charset="-122"/>
                <a:cs typeface="Open Sans" pitchFamily="34" charset="-120"/>
              </a:rPr>
              <a:t>Frustration means emotional tension resulting from the blocking of a desire or need. -</a:t>
            </a:r>
            <a:pPr indent="0" marL="0">
              <a:lnSpc>
                <a:spcPts val="2950"/>
              </a:lnSpc>
              <a:buNone/>
            </a:pPr>
            <a:r>
              <a:rPr lang="en-US" sz="1850" b="1" dirty="0">
                <a:solidFill>
                  <a:srgbClr val="333F70"/>
                </a:solidFill>
                <a:latin typeface="Open Sans" pitchFamily="34" charset="0"/>
                <a:ea typeface="Open Sans" pitchFamily="34" charset="-122"/>
                <a:cs typeface="Open Sans" pitchFamily="34" charset="-120"/>
              </a:rPr>
              <a:t>Good</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804511"/>
            <a:ext cx="10855404" cy="708779"/>
          </a:xfrm>
          <a:prstGeom prst="rect">
            <a:avLst/>
          </a:prstGeom>
          <a:noFill/>
          <a:ln/>
        </p:spPr>
        <p:txBody>
          <a:bodyPr wrap="none" lIns="0" tIns="0" rIns="0" bIns="0" rtlCol="0" anchor="t"/>
          <a:lstStyle/>
          <a:p>
            <a:pPr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Characteristics of Frustration</a:t>
            </a:r>
            <a:endParaRPr lang="en-US" sz="4450" dirty="0"/>
          </a:p>
        </p:txBody>
      </p:sp>
      <p:sp>
        <p:nvSpPr>
          <p:cNvPr id="3" name="Shape 1"/>
          <p:cNvSpPr/>
          <p:nvPr/>
        </p:nvSpPr>
        <p:spPr>
          <a:xfrm>
            <a:off x="793790" y="3222069"/>
            <a:ext cx="510302" cy="510302"/>
          </a:xfrm>
          <a:prstGeom prst="roundRect">
            <a:avLst>
              <a:gd name="adj" fmla="val 18669"/>
            </a:avLst>
          </a:prstGeom>
          <a:solidFill>
            <a:srgbClr val="D6F5EE"/>
          </a:solidFill>
          <a:ln w="7620">
            <a:solidFill>
              <a:srgbClr val="BCDBD4"/>
            </a:solidFill>
            <a:prstDash val="solid"/>
          </a:ln>
        </p:spPr>
      </p:sp>
      <p:sp>
        <p:nvSpPr>
          <p:cNvPr id="4" name="Text 2"/>
          <p:cNvSpPr/>
          <p:nvPr/>
        </p:nvSpPr>
        <p:spPr>
          <a:xfrm>
            <a:off x="960477" y="3307080"/>
            <a:ext cx="176927" cy="340281"/>
          </a:xfrm>
          <a:prstGeom prst="rect">
            <a:avLst/>
          </a:prstGeom>
          <a:noFill/>
          <a:ln/>
        </p:spPr>
        <p:txBody>
          <a:bodyPr wrap="none" lIns="0" tIns="0" rIns="0" bIns="0" rtlCol="0" anchor="t"/>
          <a:lstStyle/>
          <a:p>
            <a:pPr algn="ctr" indent="0" marL="0">
              <a:lnSpc>
                <a:spcPts val="2650"/>
              </a:lnSpc>
              <a:buNone/>
            </a:pPr>
            <a:r>
              <a:rPr lang="en-US" sz="2650" b="1" dirty="0">
                <a:solidFill>
                  <a:srgbClr val="333F70"/>
                </a:solidFill>
                <a:latin typeface="Unbounded Bold" pitchFamily="34" charset="0"/>
                <a:ea typeface="Unbounded Bold" pitchFamily="34" charset="-122"/>
                <a:cs typeface="Unbounded Bold" pitchFamily="34" charset="-120"/>
              </a:rPr>
              <a:t>1</a:t>
            </a:r>
            <a:endParaRPr lang="en-US" sz="2650" dirty="0"/>
          </a:p>
        </p:txBody>
      </p:sp>
      <p:sp>
        <p:nvSpPr>
          <p:cNvPr id="5" name="Text 3"/>
          <p:cNvSpPr/>
          <p:nvPr/>
        </p:nvSpPr>
        <p:spPr>
          <a:xfrm>
            <a:off x="1530906" y="3222069"/>
            <a:ext cx="3459242" cy="1814036"/>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It produces an unpleasant emotional state (anger, despair, irritation and anxiety).</a:t>
            </a:r>
            <a:endParaRPr lang="en-US" sz="2200" dirty="0"/>
          </a:p>
        </p:txBody>
      </p:sp>
      <p:sp>
        <p:nvSpPr>
          <p:cNvPr id="6" name="Shape 4"/>
          <p:cNvSpPr/>
          <p:nvPr/>
        </p:nvSpPr>
        <p:spPr>
          <a:xfrm>
            <a:off x="5216962" y="3222069"/>
            <a:ext cx="510302" cy="510302"/>
          </a:xfrm>
          <a:prstGeom prst="roundRect">
            <a:avLst>
              <a:gd name="adj" fmla="val 18669"/>
            </a:avLst>
          </a:prstGeom>
          <a:solidFill>
            <a:srgbClr val="D6F5EE"/>
          </a:solidFill>
          <a:ln w="7620">
            <a:solidFill>
              <a:srgbClr val="BCDBD4"/>
            </a:solidFill>
            <a:prstDash val="solid"/>
          </a:ln>
        </p:spPr>
      </p:sp>
      <p:sp>
        <p:nvSpPr>
          <p:cNvPr id="7" name="Text 5"/>
          <p:cNvSpPr/>
          <p:nvPr/>
        </p:nvSpPr>
        <p:spPr>
          <a:xfrm>
            <a:off x="5330071" y="3307080"/>
            <a:ext cx="284083" cy="340281"/>
          </a:xfrm>
          <a:prstGeom prst="rect">
            <a:avLst/>
          </a:prstGeom>
          <a:noFill/>
          <a:ln/>
        </p:spPr>
        <p:txBody>
          <a:bodyPr wrap="none" lIns="0" tIns="0" rIns="0" bIns="0" rtlCol="0" anchor="t"/>
          <a:lstStyle/>
          <a:p>
            <a:pPr algn="ctr" indent="0" marL="0">
              <a:lnSpc>
                <a:spcPts val="2650"/>
              </a:lnSpc>
              <a:buNone/>
            </a:pPr>
            <a:r>
              <a:rPr lang="en-US" sz="2650" b="1" dirty="0">
                <a:solidFill>
                  <a:srgbClr val="333F70"/>
                </a:solidFill>
                <a:latin typeface="Unbounded Bold" pitchFamily="34" charset="0"/>
                <a:ea typeface="Unbounded Bold" pitchFamily="34" charset="-122"/>
                <a:cs typeface="Unbounded Bold" pitchFamily="34" charset="-120"/>
              </a:rPr>
              <a:t>2</a:t>
            </a:r>
            <a:endParaRPr lang="en-US" sz="2650" dirty="0"/>
          </a:p>
        </p:txBody>
      </p:sp>
      <p:sp>
        <p:nvSpPr>
          <p:cNvPr id="8" name="Text 6"/>
          <p:cNvSpPr/>
          <p:nvPr/>
        </p:nvSpPr>
        <p:spPr>
          <a:xfrm>
            <a:off x="5954078" y="3222069"/>
            <a:ext cx="3459242" cy="907018"/>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 Failure dominates attempts.</a:t>
            </a:r>
            <a:endParaRPr lang="en-US" sz="2200" dirty="0"/>
          </a:p>
        </p:txBody>
      </p:sp>
      <p:sp>
        <p:nvSpPr>
          <p:cNvPr id="9" name="Shape 7"/>
          <p:cNvSpPr/>
          <p:nvPr/>
        </p:nvSpPr>
        <p:spPr>
          <a:xfrm>
            <a:off x="9640133" y="3222069"/>
            <a:ext cx="510302" cy="510302"/>
          </a:xfrm>
          <a:prstGeom prst="roundRect">
            <a:avLst>
              <a:gd name="adj" fmla="val 18669"/>
            </a:avLst>
          </a:prstGeom>
          <a:solidFill>
            <a:srgbClr val="D6F5EE"/>
          </a:solidFill>
          <a:ln w="7620">
            <a:solidFill>
              <a:srgbClr val="BCDBD4"/>
            </a:solidFill>
            <a:prstDash val="solid"/>
          </a:ln>
        </p:spPr>
      </p:sp>
      <p:sp>
        <p:nvSpPr>
          <p:cNvPr id="10" name="Text 8"/>
          <p:cNvSpPr/>
          <p:nvPr/>
        </p:nvSpPr>
        <p:spPr>
          <a:xfrm>
            <a:off x="9752528" y="3307080"/>
            <a:ext cx="285512" cy="340281"/>
          </a:xfrm>
          <a:prstGeom prst="rect">
            <a:avLst/>
          </a:prstGeom>
          <a:noFill/>
          <a:ln/>
        </p:spPr>
        <p:txBody>
          <a:bodyPr wrap="none" lIns="0" tIns="0" rIns="0" bIns="0" rtlCol="0" anchor="t"/>
          <a:lstStyle/>
          <a:p>
            <a:pPr algn="ctr" indent="0" marL="0">
              <a:lnSpc>
                <a:spcPts val="2650"/>
              </a:lnSpc>
              <a:buNone/>
            </a:pPr>
            <a:r>
              <a:rPr lang="en-US" sz="2650" b="1" dirty="0">
                <a:solidFill>
                  <a:srgbClr val="333F70"/>
                </a:solidFill>
                <a:latin typeface="Unbounded Bold" pitchFamily="34" charset="0"/>
                <a:ea typeface="Unbounded Bold" pitchFamily="34" charset="-122"/>
                <a:cs typeface="Unbounded Bold" pitchFamily="34" charset="-120"/>
              </a:rPr>
              <a:t>3</a:t>
            </a:r>
            <a:endParaRPr lang="en-US" sz="2650" dirty="0"/>
          </a:p>
        </p:txBody>
      </p:sp>
      <p:sp>
        <p:nvSpPr>
          <p:cNvPr id="11" name="Text 9"/>
          <p:cNvSpPr/>
          <p:nvPr/>
        </p:nvSpPr>
        <p:spPr>
          <a:xfrm>
            <a:off x="10377249" y="3222069"/>
            <a:ext cx="3459242" cy="1360527"/>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Major obstacle in satisfaction of one's basic needs or goals.</a:t>
            </a:r>
            <a:endParaRPr lang="en-US" sz="2200" dirty="0"/>
          </a:p>
        </p:txBody>
      </p:sp>
      <p:sp>
        <p:nvSpPr>
          <p:cNvPr id="12" name="Shape 10"/>
          <p:cNvSpPr/>
          <p:nvPr/>
        </p:nvSpPr>
        <p:spPr>
          <a:xfrm>
            <a:off x="793790" y="5518071"/>
            <a:ext cx="510302" cy="510302"/>
          </a:xfrm>
          <a:prstGeom prst="roundRect">
            <a:avLst>
              <a:gd name="adj" fmla="val 18669"/>
            </a:avLst>
          </a:prstGeom>
          <a:solidFill>
            <a:srgbClr val="D6F5EE"/>
          </a:solidFill>
          <a:ln w="7620">
            <a:solidFill>
              <a:srgbClr val="BCDBD4"/>
            </a:solidFill>
            <a:prstDash val="solid"/>
          </a:ln>
        </p:spPr>
      </p:sp>
      <p:sp>
        <p:nvSpPr>
          <p:cNvPr id="13" name="Text 11"/>
          <p:cNvSpPr/>
          <p:nvPr/>
        </p:nvSpPr>
        <p:spPr>
          <a:xfrm>
            <a:off x="902494" y="5603081"/>
            <a:ext cx="292894" cy="340281"/>
          </a:xfrm>
          <a:prstGeom prst="rect">
            <a:avLst/>
          </a:prstGeom>
          <a:noFill/>
          <a:ln/>
        </p:spPr>
        <p:txBody>
          <a:bodyPr wrap="none" lIns="0" tIns="0" rIns="0" bIns="0" rtlCol="0" anchor="t"/>
          <a:lstStyle/>
          <a:p>
            <a:pPr algn="ctr" indent="0" marL="0">
              <a:lnSpc>
                <a:spcPts val="2650"/>
              </a:lnSpc>
              <a:buNone/>
            </a:pPr>
            <a:r>
              <a:rPr lang="en-US" sz="2650" b="1" dirty="0">
                <a:solidFill>
                  <a:srgbClr val="333F70"/>
                </a:solidFill>
                <a:latin typeface="Unbounded Bold" pitchFamily="34" charset="0"/>
                <a:ea typeface="Unbounded Bold" pitchFamily="34" charset="-122"/>
                <a:cs typeface="Unbounded Bold" pitchFamily="34" charset="-120"/>
              </a:rPr>
              <a:t>4</a:t>
            </a:r>
            <a:endParaRPr lang="en-US" sz="2650" dirty="0"/>
          </a:p>
        </p:txBody>
      </p:sp>
      <p:sp>
        <p:nvSpPr>
          <p:cNvPr id="14" name="Text 12"/>
          <p:cNvSpPr/>
          <p:nvPr/>
        </p:nvSpPr>
        <p:spPr>
          <a:xfrm>
            <a:off x="1530906" y="5518071"/>
            <a:ext cx="5670947" cy="907018"/>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Significance of the goal and strength of blockade increases degree.</a:t>
            </a:r>
            <a:endParaRPr lang="en-US" sz="2200" dirty="0"/>
          </a:p>
        </p:txBody>
      </p:sp>
      <p:sp>
        <p:nvSpPr>
          <p:cNvPr id="15" name="Shape 13"/>
          <p:cNvSpPr/>
          <p:nvPr/>
        </p:nvSpPr>
        <p:spPr>
          <a:xfrm>
            <a:off x="7428667" y="5518071"/>
            <a:ext cx="510302" cy="510302"/>
          </a:xfrm>
          <a:prstGeom prst="roundRect">
            <a:avLst>
              <a:gd name="adj" fmla="val 18669"/>
            </a:avLst>
          </a:prstGeom>
          <a:solidFill>
            <a:srgbClr val="D6F5EE"/>
          </a:solidFill>
          <a:ln w="7620">
            <a:solidFill>
              <a:srgbClr val="BCDBD4"/>
            </a:solidFill>
            <a:prstDash val="solid"/>
          </a:ln>
        </p:spPr>
      </p:sp>
      <p:sp>
        <p:nvSpPr>
          <p:cNvPr id="16" name="Text 14"/>
          <p:cNvSpPr/>
          <p:nvPr/>
        </p:nvSpPr>
        <p:spPr>
          <a:xfrm>
            <a:off x="7546538" y="5603081"/>
            <a:ext cx="274558" cy="340281"/>
          </a:xfrm>
          <a:prstGeom prst="rect">
            <a:avLst/>
          </a:prstGeom>
          <a:noFill/>
          <a:ln/>
        </p:spPr>
        <p:txBody>
          <a:bodyPr wrap="none" lIns="0" tIns="0" rIns="0" bIns="0" rtlCol="0" anchor="t"/>
          <a:lstStyle/>
          <a:p>
            <a:pPr algn="ctr" indent="0" marL="0">
              <a:lnSpc>
                <a:spcPts val="2650"/>
              </a:lnSpc>
              <a:buNone/>
            </a:pPr>
            <a:r>
              <a:rPr lang="en-US" sz="2650" b="1" dirty="0">
                <a:solidFill>
                  <a:srgbClr val="333F70"/>
                </a:solidFill>
                <a:latin typeface="Unbounded Bold" pitchFamily="34" charset="0"/>
                <a:ea typeface="Unbounded Bold" pitchFamily="34" charset="-122"/>
                <a:cs typeface="Unbounded Bold" pitchFamily="34" charset="-120"/>
              </a:rPr>
              <a:t>5</a:t>
            </a:r>
            <a:endParaRPr lang="en-US" sz="2650" dirty="0"/>
          </a:p>
        </p:txBody>
      </p:sp>
      <p:sp>
        <p:nvSpPr>
          <p:cNvPr id="17" name="Text 15"/>
          <p:cNvSpPr/>
          <p:nvPr/>
        </p:nvSpPr>
        <p:spPr>
          <a:xfrm>
            <a:off x="8165783" y="5518071"/>
            <a:ext cx="5670947" cy="453509"/>
          </a:xfrm>
          <a:prstGeom prst="rect">
            <a:avLst/>
          </a:prstGeom>
          <a:noFill/>
          <a:ln/>
        </p:spPr>
        <p:txBody>
          <a:bodyPr wrap="non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Cause lies in individual and environment.</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635318"/>
            <a:ext cx="7883842" cy="708779"/>
          </a:xfrm>
          <a:prstGeom prst="rect">
            <a:avLst/>
          </a:prstGeom>
          <a:noFill/>
          <a:ln/>
        </p:spPr>
        <p:txBody>
          <a:bodyPr wrap="none" lIns="0" tIns="0" rIns="0" bIns="0" rtlCol="0" anchor="t"/>
          <a:lstStyle/>
          <a:p>
            <a:pPr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Causes of Frustration</a:t>
            </a:r>
            <a:endParaRPr lang="en-US" sz="4450" dirty="0"/>
          </a:p>
        </p:txBody>
      </p:sp>
      <p:sp>
        <p:nvSpPr>
          <p:cNvPr id="3" name="Text 1"/>
          <p:cNvSpPr/>
          <p:nvPr/>
        </p:nvSpPr>
        <p:spPr>
          <a:xfrm>
            <a:off x="793790" y="1911072"/>
            <a:ext cx="2988469" cy="354330"/>
          </a:xfrm>
          <a:prstGeom prst="rect">
            <a:avLst/>
          </a:prstGeom>
          <a:noFill/>
          <a:ln/>
        </p:spPr>
        <p:txBody>
          <a:bodyPr wrap="none" lIns="0" tIns="0" rIns="0" bIns="0" rtlCol="0" anchor="t"/>
          <a:lstStyle/>
          <a:p>
            <a:pPr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External Factors</a:t>
            </a:r>
            <a:endParaRPr lang="en-US" sz="2200" dirty="0"/>
          </a:p>
        </p:txBody>
      </p:sp>
      <p:sp>
        <p:nvSpPr>
          <p:cNvPr id="4" name="Text 2"/>
          <p:cNvSpPr/>
          <p:nvPr/>
        </p:nvSpPr>
        <p:spPr>
          <a:xfrm>
            <a:off x="793790" y="2492216"/>
            <a:ext cx="6244709" cy="907018"/>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External factors: These are environmental factors, which causes frustration. Such as:</a:t>
            </a:r>
            <a:endParaRPr lang="en-US" sz="2200" dirty="0"/>
          </a:p>
        </p:txBody>
      </p:sp>
      <p:sp>
        <p:nvSpPr>
          <p:cNvPr id="5" name="Text 3"/>
          <p:cNvSpPr/>
          <p:nvPr/>
        </p:nvSpPr>
        <p:spPr>
          <a:xfrm>
            <a:off x="793790" y="3603308"/>
            <a:ext cx="6244709" cy="1360527"/>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a. Physical factors: Natural calamities and environmental situations, which we cannot control. </a:t>
            </a:r>
            <a:endParaRPr lang="en-US" sz="2200" dirty="0"/>
          </a:p>
        </p:txBody>
      </p:sp>
      <p:sp>
        <p:nvSpPr>
          <p:cNvPr id="6" name="Text 4"/>
          <p:cNvSpPr/>
          <p:nvPr/>
        </p:nvSpPr>
        <p:spPr>
          <a:xfrm>
            <a:off x="793790" y="5167908"/>
            <a:ext cx="6244709" cy="453509"/>
          </a:xfrm>
          <a:prstGeom prst="rect">
            <a:avLst/>
          </a:prstGeom>
          <a:noFill/>
          <a:ln/>
        </p:spPr>
        <p:txBody>
          <a:bodyPr wrap="non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For example, death of loved one.</a:t>
            </a:r>
            <a:endParaRPr lang="en-US" sz="2200" dirty="0"/>
          </a:p>
        </p:txBody>
      </p:sp>
      <p:sp>
        <p:nvSpPr>
          <p:cNvPr id="7" name="Text 5"/>
          <p:cNvSpPr/>
          <p:nvPr/>
        </p:nvSpPr>
        <p:spPr>
          <a:xfrm>
            <a:off x="793790" y="5825490"/>
            <a:ext cx="6244709" cy="907018"/>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b. Social factors: Conflict with people, customs, laws, etc.</a:t>
            </a:r>
            <a:endParaRPr lang="en-US" sz="2200" dirty="0"/>
          </a:p>
        </p:txBody>
      </p:sp>
      <p:sp>
        <p:nvSpPr>
          <p:cNvPr id="8" name="Text 6"/>
          <p:cNvSpPr/>
          <p:nvPr/>
        </p:nvSpPr>
        <p:spPr>
          <a:xfrm>
            <a:off x="793790" y="6936581"/>
            <a:ext cx="6244709" cy="453509"/>
          </a:xfrm>
          <a:prstGeom prst="rect">
            <a:avLst/>
          </a:prstGeom>
          <a:noFill/>
          <a:ln/>
        </p:spPr>
        <p:txBody>
          <a:bodyPr wrap="non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c. Economic factors: Financial loss.</a:t>
            </a:r>
            <a:endParaRPr lang="en-US" sz="2200" dirty="0"/>
          </a:p>
        </p:txBody>
      </p:sp>
      <p:sp>
        <p:nvSpPr>
          <p:cNvPr id="9" name="Text 7"/>
          <p:cNvSpPr/>
          <p:nvPr/>
        </p:nvSpPr>
        <p:spPr>
          <a:xfrm>
            <a:off x="7599521" y="1911072"/>
            <a:ext cx="2880836" cy="354330"/>
          </a:xfrm>
          <a:prstGeom prst="rect">
            <a:avLst/>
          </a:prstGeom>
          <a:noFill/>
          <a:ln/>
        </p:spPr>
        <p:txBody>
          <a:bodyPr wrap="none" lIns="0" tIns="0" rIns="0" bIns="0" rtlCol="0" anchor="t"/>
          <a:lstStyle/>
          <a:p>
            <a:pPr indent="0" marL="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Internal Factors</a:t>
            </a:r>
            <a:endParaRPr lang="en-US" sz="2200" dirty="0"/>
          </a:p>
        </p:txBody>
      </p:sp>
      <p:sp>
        <p:nvSpPr>
          <p:cNvPr id="10" name="Text 8"/>
          <p:cNvSpPr/>
          <p:nvPr/>
        </p:nvSpPr>
        <p:spPr>
          <a:xfrm>
            <a:off x="7599521" y="2492216"/>
            <a:ext cx="6244709" cy="907018"/>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These are personal factors that lads to frustration.</a:t>
            </a:r>
            <a:endParaRPr lang="en-US" sz="2200" dirty="0"/>
          </a:p>
        </p:txBody>
      </p:sp>
      <p:sp>
        <p:nvSpPr>
          <p:cNvPr id="11" name="Text 9"/>
          <p:cNvSpPr/>
          <p:nvPr/>
        </p:nvSpPr>
        <p:spPr>
          <a:xfrm>
            <a:off x="7599521" y="3603308"/>
            <a:ext cx="6244709" cy="453509"/>
          </a:xfrm>
          <a:prstGeom prst="rect">
            <a:avLst/>
          </a:prstGeom>
          <a:noFill/>
          <a:ln/>
        </p:spPr>
        <p:txBody>
          <a:bodyPr wrap="non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a. Physical abnormalities or defects.</a:t>
            </a:r>
            <a:endParaRPr lang="en-US" sz="2200" dirty="0"/>
          </a:p>
        </p:txBody>
      </p:sp>
      <p:sp>
        <p:nvSpPr>
          <p:cNvPr id="12" name="Text 10"/>
          <p:cNvSpPr/>
          <p:nvPr/>
        </p:nvSpPr>
        <p:spPr>
          <a:xfrm>
            <a:off x="7599521" y="4260890"/>
            <a:ext cx="6244709" cy="453509"/>
          </a:xfrm>
          <a:prstGeom prst="rect">
            <a:avLst/>
          </a:prstGeom>
          <a:noFill/>
          <a:ln/>
        </p:spPr>
        <p:txBody>
          <a:bodyPr wrap="non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b. Conflicts of motives within the individual.</a:t>
            </a:r>
            <a:endParaRPr lang="en-US" sz="2200" dirty="0"/>
          </a:p>
        </p:txBody>
      </p:sp>
      <p:sp>
        <p:nvSpPr>
          <p:cNvPr id="13" name="Text 11"/>
          <p:cNvSpPr/>
          <p:nvPr/>
        </p:nvSpPr>
        <p:spPr>
          <a:xfrm>
            <a:off x="7599521" y="4918472"/>
            <a:ext cx="6244709" cy="453509"/>
          </a:xfrm>
          <a:prstGeom prst="rect">
            <a:avLst/>
          </a:prstGeom>
          <a:noFill/>
          <a:ln/>
        </p:spPr>
        <p:txBody>
          <a:bodyPr wrap="non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c. Morality and high ideals.</a:t>
            </a:r>
            <a:endParaRPr lang="en-US" sz="2200" dirty="0"/>
          </a:p>
        </p:txBody>
      </p:sp>
      <p:sp>
        <p:nvSpPr>
          <p:cNvPr id="14" name="Text 12"/>
          <p:cNvSpPr/>
          <p:nvPr/>
        </p:nvSpPr>
        <p:spPr>
          <a:xfrm>
            <a:off x="7599521" y="5576054"/>
            <a:ext cx="6244709" cy="453509"/>
          </a:xfrm>
          <a:prstGeom prst="rect">
            <a:avLst/>
          </a:prstGeom>
          <a:noFill/>
          <a:ln/>
        </p:spPr>
        <p:txBody>
          <a:bodyPr wrap="non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d. High levels of aspiration.</a:t>
            </a:r>
            <a:endParaRPr lang="en-US" sz="2200" dirty="0"/>
          </a:p>
        </p:txBody>
      </p:sp>
      <p:sp>
        <p:nvSpPr>
          <p:cNvPr id="15" name="Text 13"/>
          <p:cNvSpPr/>
          <p:nvPr/>
        </p:nvSpPr>
        <p:spPr>
          <a:xfrm>
            <a:off x="7599521" y="6233636"/>
            <a:ext cx="6244709" cy="453509"/>
          </a:xfrm>
          <a:prstGeom prst="rect">
            <a:avLst/>
          </a:prstGeom>
          <a:noFill/>
          <a:ln/>
        </p:spPr>
        <p:txBody>
          <a:bodyPr wrap="non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e. Lack of persistence and sincerity.</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812965"/>
            <a:ext cx="7353776" cy="708779"/>
          </a:xfrm>
          <a:prstGeom prst="rect">
            <a:avLst/>
          </a:prstGeom>
          <a:noFill/>
          <a:ln/>
        </p:spPr>
        <p:txBody>
          <a:bodyPr wrap="none" lIns="0" tIns="0" rIns="0" bIns="0" rtlCol="0" anchor="t"/>
          <a:lstStyle/>
          <a:p>
            <a:pPr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Types of Frustration</a:t>
            </a:r>
            <a:endParaRPr lang="en-US" sz="4450" dirty="0"/>
          </a:p>
        </p:txBody>
      </p:sp>
      <p:sp>
        <p:nvSpPr>
          <p:cNvPr id="3" name="Text 1"/>
          <p:cNvSpPr/>
          <p:nvPr/>
        </p:nvSpPr>
        <p:spPr>
          <a:xfrm>
            <a:off x="793790" y="3088719"/>
            <a:ext cx="4240887" cy="425291"/>
          </a:xfrm>
          <a:prstGeom prst="rect">
            <a:avLst/>
          </a:prstGeom>
          <a:noFill/>
          <a:ln/>
        </p:spPr>
        <p:txBody>
          <a:bodyPr wrap="none" lIns="0" tIns="0" rIns="0" bIns="0" rtlCol="0" anchor="t"/>
          <a:lstStyle/>
          <a:p>
            <a:pPr indent="0" marL="0">
              <a:lnSpc>
                <a:spcPts val="3300"/>
              </a:lnSpc>
              <a:buNone/>
            </a:pPr>
            <a:r>
              <a:rPr lang="en-US" sz="2650" b="1" dirty="0">
                <a:solidFill>
                  <a:srgbClr val="333F70"/>
                </a:solidFill>
                <a:latin typeface="Unbounded Bold" pitchFamily="34" charset="0"/>
                <a:ea typeface="Unbounded Bold" pitchFamily="34" charset="-122"/>
                <a:cs typeface="Unbounded Bold" pitchFamily="34" charset="-120"/>
              </a:rPr>
              <a:t>Internal Frustration</a:t>
            </a:r>
            <a:endParaRPr lang="en-US" sz="2650" dirty="0"/>
          </a:p>
        </p:txBody>
      </p:sp>
      <p:sp>
        <p:nvSpPr>
          <p:cNvPr id="4" name="Text 2"/>
          <p:cNvSpPr/>
          <p:nvPr/>
        </p:nvSpPr>
        <p:spPr>
          <a:xfrm>
            <a:off x="793790" y="3740825"/>
            <a:ext cx="6244709" cy="1360527"/>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This type of frustration results within the individual, due to personal inadequacies and when person have competing goals.</a:t>
            </a:r>
            <a:endParaRPr lang="en-US" sz="2200" dirty="0"/>
          </a:p>
        </p:txBody>
      </p:sp>
      <p:sp>
        <p:nvSpPr>
          <p:cNvPr id="5" name="Text 3"/>
          <p:cNvSpPr/>
          <p:nvPr/>
        </p:nvSpPr>
        <p:spPr>
          <a:xfrm>
            <a:off x="793790" y="5305425"/>
            <a:ext cx="6244709" cy="907018"/>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Example: Lack of confidence, fear of social rejection. </a:t>
            </a:r>
            <a:endParaRPr lang="en-US" sz="2200" dirty="0"/>
          </a:p>
        </p:txBody>
      </p:sp>
      <p:sp>
        <p:nvSpPr>
          <p:cNvPr id="6" name="Text 4"/>
          <p:cNvSpPr/>
          <p:nvPr/>
        </p:nvSpPr>
        <p:spPr>
          <a:xfrm>
            <a:off x="7599521" y="3088719"/>
            <a:ext cx="4454485" cy="425291"/>
          </a:xfrm>
          <a:prstGeom prst="rect">
            <a:avLst/>
          </a:prstGeom>
          <a:noFill/>
          <a:ln/>
        </p:spPr>
        <p:txBody>
          <a:bodyPr wrap="none" lIns="0" tIns="0" rIns="0" bIns="0" rtlCol="0" anchor="t"/>
          <a:lstStyle/>
          <a:p>
            <a:pPr indent="0" marL="0">
              <a:lnSpc>
                <a:spcPts val="3300"/>
              </a:lnSpc>
              <a:buNone/>
            </a:pPr>
            <a:r>
              <a:rPr lang="en-US" sz="2650" b="1" dirty="0">
                <a:solidFill>
                  <a:srgbClr val="333F70"/>
                </a:solidFill>
                <a:latin typeface="Unbounded Bold" pitchFamily="34" charset="0"/>
                <a:ea typeface="Unbounded Bold" pitchFamily="34" charset="-122"/>
                <a:cs typeface="Unbounded Bold" pitchFamily="34" charset="-120"/>
              </a:rPr>
              <a:t>External Frustration </a:t>
            </a:r>
            <a:endParaRPr lang="en-US" sz="2650" dirty="0"/>
          </a:p>
        </p:txBody>
      </p:sp>
      <p:sp>
        <p:nvSpPr>
          <p:cNvPr id="7" name="Text 5"/>
          <p:cNvSpPr/>
          <p:nvPr/>
        </p:nvSpPr>
        <p:spPr>
          <a:xfrm>
            <a:off x="7599521" y="3740825"/>
            <a:ext cx="6244709" cy="907018"/>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It involves the condition which exists outside the individual and he cannot control.</a:t>
            </a:r>
            <a:endParaRPr lang="en-US" sz="2200" dirty="0"/>
          </a:p>
        </p:txBody>
      </p:sp>
      <p:sp>
        <p:nvSpPr>
          <p:cNvPr id="8" name="Text 6"/>
          <p:cNvSpPr/>
          <p:nvPr/>
        </p:nvSpPr>
        <p:spPr>
          <a:xfrm>
            <a:off x="7599521" y="4851916"/>
            <a:ext cx="6244709" cy="453509"/>
          </a:xfrm>
          <a:prstGeom prst="rect">
            <a:avLst/>
          </a:prstGeom>
          <a:noFill/>
          <a:ln/>
        </p:spPr>
        <p:txBody>
          <a:bodyPr wrap="non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Example: Standing in line, in traffic, roadblocks.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314093"/>
            <a:ext cx="7556421" cy="2126337"/>
          </a:xfrm>
          <a:prstGeom prst="rect">
            <a:avLst/>
          </a:prstGeom>
          <a:noFill/>
          <a:ln/>
        </p:spPr>
        <p:txBody>
          <a:bodyPr wrap="square" lIns="0" tIns="0" rIns="0" bIns="0" rtlCol="0" anchor="t"/>
          <a:lstStyle/>
          <a:p>
            <a:pPr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Measures to overcome Frustration</a:t>
            </a:r>
            <a:endParaRPr lang="en-US" sz="4450" dirty="0"/>
          </a:p>
        </p:txBody>
      </p:sp>
      <p:sp>
        <p:nvSpPr>
          <p:cNvPr id="4" name="Text 1"/>
          <p:cNvSpPr/>
          <p:nvPr/>
        </p:nvSpPr>
        <p:spPr>
          <a:xfrm>
            <a:off x="793790" y="3780592"/>
            <a:ext cx="7556421" cy="1360527"/>
          </a:xfrm>
          <a:prstGeom prst="rect">
            <a:avLst/>
          </a:prstGeom>
          <a:noFill/>
          <a:ln/>
        </p:spPr>
        <p:txBody>
          <a:bodyPr wrap="square" lIns="0" tIns="0" rIns="0" bIns="0" rtlCol="0" anchor="t"/>
          <a:lstStyle/>
          <a:p>
            <a:pPr indent="0" marL="0">
              <a:lnSpc>
                <a:spcPts val="3550"/>
              </a:lnSpc>
              <a:buNone/>
            </a:pPr>
            <a:r>
              <a:rPr lang="en-US" sz="2200" dirty="0">
                <a:solidFill>
                  <a:srgbClr val="333F70"/>
                </a:solidFill>
                <a:latin typeface="Open Sans" pitchFamily="34" charset="0"/>
                <a:ea typeface="Open Sans" pitchFamily="34" charset="-122"/>
                <a:cs typeface="Open Sans" pitchFamily="34" charset="-120"/>
              </a:rPr>
              <a:t>Frustration should be managed because unresolved frustration can lead to development of psychosomatic disorders. Steps to resolve frustration are:</a:t>
            </a:r>
            <a:endParaRPr lang="en-US" sz="2200" dirty="0"/>
          </a:p>
        </p:txBody>
      </p:sp>
      <p:sp>
        <p:nvSpPr>
          <p:cNvPr id="5" name="Text 2"/>
          <p:cNvSpPr/>
          <p:nvPr/>
        </p:nvSpPr>
        <p:spPr>
          <a:xfrm>
            <a:off x="793790" y="5396270"/>
            <a:ext cx="75564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Review the situation</a:t>
            </a:r>
            <a:endParaRPr lang="en-US" sz="1750" dirty="0"/>
          </a:p>
        </p:txBody>
      </p:sp>
      <p:sp>
        <p:nvSpPr>
          <p:cNvPr id="6" name="Text 3"/>
          <p:cNvSpPr/>
          <p:nvPr/>
        </p:nvSpPr>
        <p:spPr>
          <a:xfrm>
            <a:off x="793790" y="5929074"/>
            <a:ext cx="75564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Change goals</a:t>
            </a:r>
            <a:endParaRPr lang="en-US" sz="1750" dirty="0"/>
          </a:p>
        </p:txBody>
      </p:sp>
      <p:sp>
        <p:nvSpPr>
          <p:cNvPr id="7" name="Text 4"/>
          <p:cNvSpPr/>
          <p:nvPr/>
        </p:nvSpPr>
        <p:spPr>
          <a:xfrm>
            <a:off x="793790" y="6461879"/>
            <a:ext cx="75564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Choose alternative ways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0925" y="990362"/>
            <a:ext cx="5221010" cy="652582"/>
          </a:xfrm>
          <a:prstGeom prst="rect">
            <a:avLst/>
          </a:prstGeom>
          <a:noFill/>
          <a:ln/>
        </p:spPr>
        <p:txBody>
          <a:bodyPr wrap="none" lIns="0" tIns="0" rIns="0" bIns="0" rtlCol="0" anchor="t"/>
          <a:lstStyle/>
          <a:p>
            <a:pPr indent="0" marL="0">
              <a:lnSpc>
                <a:spcPts val="5100"/>
              </a:lnSpc>
              <a:buNone/>
            </a:pPr>
            <a:r>
              <a:rPr lang="en-US" sz="4100" b="1" dirty="0">
                <a:solidFill>
                  <a:srgbClr val="333F70"/>
                </a:solidFill>
                <a:latin typeface="Unbounded Bold" pitchFamily="34" charset="0"/>
                <a:ea typeface="Unbounded Bold" pitchFamily="34" charset="-122"/>
                <a:cs typeface="Unbounded Bold" pitchFamily="34" charset="-120"/>
              </a:rPr>
              <a:t>Conflict</a:t>
            </a:r>
            <a:endParaRPr lang="en-US" sz="4100" dirty="0"/>
          </a:p>
        </p:txBody>
      </p:sp>
      <p:sp>
        <p:nvSpPr>
          <p:cNvPr id="3" name="Text 1"/>
          <p:cNvSpPr/>
          <p:nvPr/>
        </p:nvSpPr>
        <p:spPr>
          <a:xfrm>
            <a:off x="730925" y="1851779"/>
            <a:ext cx="6329601" cy="1253014"/>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333F70"/>
                </a:solidFill>
                <a:latin typeface="Open Sans" pitchFamily="34" charset="0"/>
                <a:ea typeface="Open Sans" pitchFamily="34" charset="-122"/>
                <a:cs typeface="Open Sans" pitchFamily="34" charset="-120"/>
              </a:rPr>
              <a:t>The word conflict has been derived from Latin word Conflict' which means "strike two things at the same time".</a:t>
            </a:r>
            <a:endParaRPr lang="en-US" sz="1600" dirty="0"/>
          </a:p>
        </p:txBody>
      </p:sp>
      <p:sp>
        <p:nvSpPr>
          <p:cNvPr id="4" name="Text 2"/>
          <p:cNvSpPr/>
          <p:nvPr/>
        </p:nvSpPr>
        <p:spPr>
          <a:xfrm>
            <a:off x="730925" y="3177778"/>
            <a:ext cx="6329601" cy="835343"/>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333F70"/>
                </a:solidFill>
                <a:latin typeface="Open Sans" pitchFamily="34" charset="0"/>
                <a:ea typeface="Open Sans" pitchFamily="34" charset="-122"/>
                <a:cs typeface="Open Sans" pitchFamily="34" charset="-120"/>
              </a:rPr>
              <a:t> Conflict is an opposition between contradictory impulses or thoughts. </a:t>
            </a:r>
            <a:endParaRPr lang="en-US" sz="1600" dirty="0"/>
          </a:p>
        </p:txBody>
      </p:sp>
      <p:sp>
        <p:nvSpPr>
          <p:cNvPr id="5" name="Text 3"/>
          <p:cNvSpPr/>
          <p:nvPr/>
        </p:nvSpPr>
        <p:spPr>
          <a:xfrm>
            <a:off x="730925" y="4086106"/>
            <a:ext cx="6329601" cy="1253014"/>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333F70"/>
                </a:solidFill>
                <a:latin typeface="Open Sans" pitchFamily="34" charset="0"/>
                <a:ea typeface="Open Sans" pitchFamily="34" charset="-122"/>
                <a:cs typeface="Open Sans" pitchFamily="34" charset="-120"/>
              </a:rPr>
              <a:t>When there is disturbance in preferable state of harmony and stability in interdependent world, conflict arises.</a:t>
            </a:r>
            <a:endParaRPr lang="en-US" sz="1600" dirty="0"/>
          </a:p>
        </p:txBody>
      </p:sp>
      <p:sp>
        <p:nvSpPr>
          <p:cNvPr id="6" name="Text 4"/>
          <p:cNvSpPr/>
          <p:nvPr/>
        </p:nvSpPr>
        <p:spPr>
          <a:xfrm>
            <a:off x="730925" y="5412105"/>
            <a:ext cx="6329601" cy="417671"/>
          </a:xfrm>
          <a:prstGeom prst="rect">
            <a:avLst/>
          </a:prstGeom>
          <a:noFill/>
          <a:ln/>
        </p:spPr>
        <p:txBody>
          <a:bodyPr wrap="none" lIns="0" tIns="0" rIns="0" bIns="0" rtlCol="0" anchor="t"/>
          <a:lstStyle/>
          <a:p>
            <a:pPr algn="l" marL="342900" indent="-342900">
              <a:lnSpc>
                <a:spcPts val="2600"/>
              </a:lnSpc>
              <a:buSzPct val="100000"/>
              <a:buChar char="•"/>
            </a:pPr>
            <a:r>
              <a:rPr lang="en-US" sz="1600" dirty="0">
                <a:solidFill>
                  <a:srgbClr val="333F70"/>
                </a:solidFill>
                <a:latin typeface="Open Sans" pitchFamily="34" charset="0"/>
                <a:ea typeface="Open Sans" pitchFamily="34" charset="-122"/>
                <a:cs typeface="Open Sans" pitchFamily="34" charset="-120"/>
              </a:rPr>
              <a:t>Conflict is an important source of frustration.</a:t>
            </a:r>
            <a:endParaRPr lang="en-US" sz="1600" dirty="0"/>
          </a:p>
        </p:txBody>
      </p:sp>
      <p:sp>
        <p:nvSpPr>
          <p:cNvPr id="7" name="Text 5"/>
          <p:cNvSpPr/>
          <p:nvPr/>
        </p:nvSpPr>
        <p:spPr>
          <a:xfrm>
            <a:off x="730925" y="5902762"/>
            <a:ext cx="6329601" cy="835343"/>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333F70"/>
                </a:solidFill>
                <a:latin typeface="Open Sans" pitchFamily="34" charset="0"/>
                <a:ea typeface="Open Sans" pitchFamily="34" charset="-122"/>
                <a:cs typeface="Open Sans" pitchFamily="34" charset="-120"/>
              </a:rPr>
              <a:t>It results when two or more motives and drives are there.</a:t>
            </a:r>
            <a:endParaRPr lang="en-US" sz="1600" dirty="0"/>
          </a:p>
        </p:txBody>
      </p:sp>
      <p:sp>
        <p:nvSpPr>
          <p:cNvPr id="8" name="Text 6"/>
          <p:cNvSpPr/>
          <p:nvPr/>
        </p:nvSpPr>
        <p:spPr>
          <a:xfrm>
            <a:off x="730925" y="6925985"/>
            <a:ext cx="6329601" cy="334089"/>
          </a:xfrm>
          <a:prstGeom prst="rect">
            <a:avLst/>
          </a:prstGeom>
          <a:noFill/>
          <a:ln/>
        </p:spPr>
        <p:txBody>
          <a:bodyPr wrap="none" lIns="0" tIns="0" rIns="0" bIns="0" rtlCol="0" anchor="t"/>
          <a:lstStyle/>
          <a:p>
            <a:pPr indent="0" marL="0">
              <a:lnSpc>
                <a:spcPts val="2600"/>
              </a:lnSpc>
              <a:buNone/>
            </a:pPr>
            <a:endParaRPr lang="en-US" sz="1600" dirty="0"/>
          </a:p>
        </p:txBody>
      </p:sp>
      <p:pic>
        <p:nvPicPr>
          <p:cNvPr id="9" name="Image 0" descr="preencoded.png">    </p:cNvPr>
          <p:cNvPicPr>
            <a:picLocks noChangeAspect="1"/>
          </p:cNvPicPr>
          <p:nvPr/>
        </p:nvPicPr>
        <p:blipFill>
          <a:blip r:embed="rId1"/>
          <a:stretch>
            <a:fillRect/>
          </a:stretch>
        </p:blipFill>
        <p:spPr>
          <a:xfrm>
            <a:off x="7577495" y="2334578"/>
            <a:ext cx="6329601" cy="356032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699736"/>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3" name="Text 1"/>
          <p:cNvSpPr/>
          <p:nvPr/>
        </p:nvSpPr>
        <p:spPr>
          <a:xfrm>
            <a:off x="793790" y="2862143"/>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A conflict is the anticipated frustration entailed in the choice of either alternative.-</a:t>
            </a:r>
            <a:pPr algn="l" indent="0" marL="0">
              <a:lnSpc>
                <a:spcPts val="2850"/>
              </a:lnSpc>
              <a:buNone/>
            </a:pPr>
            <a:r>
              <a:rPr lang="en-US" sz="1750" b="1" dirty="0">
                <a:solidFill>
                  <a:srgbClr val="333F70"/>
                </a:solidFill>
                <a:latin typeface="Open Sans" pitchFamily="34" charset="0"/>
                <a:ea typeface="Open Sans" pitchFamily="34" charset="-122"/>
                <a:cs typeface="Open Sans" pitchFamily="34" charset="-120"/>
              </a:rPr>
              <a:t>Colman.</a:t>
            </a:r>
            <a:endParaRPr lang="en-US" sz="1750" dirty="0"/>
          </a:p>
        </p:txBody>
      </p:sp>
      <p:sp>
        <p:nvSpPr>
          <p:cNvPr id="4" name="Text 2"/>
          <p:cNvSpPr/>
          <p:nvPr/>
        </p:nvSpPr>
        <p:spPr>
          <a:xfrm>
            <a:off x="793790" y="3394948"/>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It can be sharp disagreement between ideas, purposes or interests within an individual or between two individuals.</a:t>
            </a:r>
            <a:endParaRPr lang="en-US" sz="1750" dirty="0"/>
          </a:p>
        </p:txBody>
      </p:sp>
      <p:sp>
        <p:nvSpPr>
          <p:cNvPr id="5" name="Text 3"/>
          <p:cNvSpPr/>
          <p:nvPr/>
        </p:nvSpPr>
        <p:spPr>
          <a:xfrm>
            <a:off x="793790" y="4381262"/>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Conflicts generally results in heated arguments, verbal and even physical abuses.</a:t>
            </a:r>
            <a:endParaRPr lang="en-US" sz="1750" dirty="0"/>
          </a:p>
        </p:txBody>
      </p:sp>
      <p:sp>
        <p:nvSpPr>
          <p:cNvPr id="6" name="Text 4"/>
          <p:cNvSpPr/>
          <p:nvPr/>
        </p:nvSpPr>
        <p:spPr>
          <a:xfrm>
            <a:off x="793790" y="4914067"/>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Conflicts between groups, communities and nations can cause death, population displacement, destruction of materials and disruption of social and economic systems.</a:t>
            </a:r>
            <a:endParaRPr lang="en-US" sz="1750" dirty="0"/>
          </a:p>
        </p:txBody>
      </p:sp>
      <p:sp>
        <p:nvSpPr>
          <p:cNvPr id="7" name="Text 5"/>
          <p:cNvSpPr/>
          <p:nvPr/>
        </p:nvSpPr>
        <p:spPr>
          <a:xfrm>
            <a:off x="793790" y="6076236"/>
            <a:ext cx="13042821" cy="453509"/>
          </a:xfrm>
          <a:prstGeom prst="rect">
            <a:avLst/>
          </a:prstGeom>
          <a:noFill/>
          <a:ln/>
        </p:spPr>
        <p:txBody>
          <a:bodyPr wrap="none" lIns="0" tIns="0" rIns="0" bIns="0" rtlCol="0" anchor="t"/>
          <a:lstStyle/>
          <a:p>
            <a:pPr indent="0" marL="0">
              <a:lnSpc>
                <a:spcPts val="3550"/>
              </a:lnSpc>
              <a:buNone/>
            </a:pP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89823" y="415290"/>
            <a:ext cx="4022884" cy="437317"/>
          </a:xfrm>
          <a:prstGeom prst="rect">
            <a:avLst/>
          </a:prstGeom>
          <a:noFill/>
          <a:ln/>
        </p:spPr>
        <p:txBody>
          <a:bodyPr wrap="none" lIns="0" tIns="0" rIns="0" bIns="0" rtlCol="0" anchor="t"/>
          <a:lstStyle/>
          <a:p>
            <a:pPr indent="0" marL="0">
              <a:lnSpc>
                <a:spcPts val="3400"/>
              </a:lnSpc>
              <a:buNone/>
            </a:pPr>
            <a:r>
              <a:rPr lang="en-US" sz="2750" b="1" dirty="0">
                <a:solidFill>
                  <a:srgbClr val="333F70"/>
                </a:solidFill>
                <a:latin typeface="Unbounded Bold" pitchFamily="34" charset="0"/>
                <a:ea typeface="Unbounded Bold" pitchFamily="34" charset="-122"/>
                <a:cs typeface="Unbounded Bold" pitchFamily="34" charset="-120"/>
              </a:rPr>
              <a:t>Types of Conflicts</a:t>
            </a:r>
            <a:endParaRPr lang="en-US" sz="2750" dirty="0"/>
          </a:p>
        </p:txBody>
      </p:sp>
      <p:pic>
        <p:nvPicPr>
          <p:cNvPr id="3" name="Image 0" descr="preencoded.png">    </p:cNvPr>
          <p:cNvPicPr>
            <a:picLocks noChangeAspect="1"/>
          </p:cNvPicPr>
          <p:nvPr/>
        </p:nvPicPr>
        <p:blipFill>
          <a:blip r:embed="rId1"/>
          <a:stretch>
            <a:fillRect/>
          </a:stretch>
        </p:blipFill>
        <p:spPr>
          <a:xfrm>
            <a:off x="489823" y="1219914"/>
            <a:ext cx="6085761" cy="4062174"/>
          </a:xfrm>
          <a:prstGeom prst="rect">
            <a:avLst/>
          </a:prstGeom>
        </p:spPr>
      </p:pic>
      <p:sp>
        <p:nvSpPr>
          <p:cNvPr id="4" name="Text 1"/>
          <p:cNvSpPr/>
          <p:nvPr/>
        </p:nvSpPr>
        <p:spPr>
          <a:xfrm>
            <a:off x="489823" y="5439489"/>
            <a:ext cx="3819763" cy="262295"/>
          </a:xfrm>
          <a:prstGeom prst="rect">
            <a:avLst/>
          </a:prstGeom>
          <a:noFill/>
          <a:ln/>
        </p:spPr>
        <p:txBody>
          <a:bodyPr wrap="none" lIns="0" tIns="0" rIns="0" bIns="0" rtlCol="0" anchor="t"/>
          <a:lstStyle/>
          <a:p>
            <a:pPr indent="0" marL="0">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Approach-Approach Conflict</a:t>
            </a:r>
            <a:endParaRPr lang="en-US" sz="1650" dirty="0"/>
          </a:p>
        </p:txBody>
      </p:sp>
      <p:sp>
        <p:nvSpPr>
          <p:cNvPr id="5" name="Text 2"/>
          <p:cNvSpPr/>
          <p:nvPr/>
        </p:nvSpPr>
        <p:spPr>
          <a:xfrm>
            <a:off x="489823" y="5841682"/>
            <a:ext cx="6654641" cy="559594"/>
          </a:xfrm>
          <a:prstGeom prst="rect">
            <a:avLst/>
          </a:prstGeom>
          <a:noFill/>
          <a:ln/>
        </p:spPr>
        <p:txBody>
          <a:bodyPr wrap="square" lIns="0" tIns="0" rIns="0" bIns="0" rtlCol="0" anchor="t"/>
          <a:lstStyle/>
          <a:p>
            <a:pPr algn="l" marL="342900" indent="-342900">
              <a:lnSpc>
                <a:spcPts val="1750"/>
              </a:lnSpc>
              <a:buSzPct val="100000"/>
              <a:buChar char="•"/>
            </a:pPr>
            <a:r>
              <a:rPr lang="en-US" sz="1100" dirty="0">
                <a:solidFill>
                  <a:srgbClr val="333F70"/>
                </a:solidFill>
                <a:latin typeface="Open Sans" pitchFamily="34" charset="0"/>
                <a:ea typeface="Open Sans" pitchFamily="34" charset="-122"/>
                <a:cs typeface="Open Sans" pitchFamily="34" charset="-120"/>
              </a:rPr>
              <a:t>This conflict arises when a person faces the problem of selecting among two or more equally attractive goals which are mutually exclusive.</a:t>
            </a:r>
            <a:endParaRPr lang="en-US" sz="1100" dirty="0"/>
          </a:p>
        </p:txBody>
      </p:sp>
      <p:sp>
        <p:nvSpPr>
          <p:cNvPr id="6" name="Text 3"/>
          <p:cNvSpPr/>
          <p:nvPr/>
        </p:nvSpPr>
        <p:spPr>
          <a:xfrm>
            <a:off x="489823" y="6450211"/>
            <a:ext cx="6654641" cy="559594"/>
          </a:xfrm>
          <a:prstGeom prst="rect">
            <a:avLst/>
          </a:prstGeom>
          <a:noFill/>
          <a:ln/>
        </p:spPr>
        <p:txBody>
          <a:bodyPr wrap="square" lIns="0" tIns="0" rIns="0" bIns="0" rtlCol="0" anchor="t"/>
          <a:lstStyle/>
          <a:p>
            <a:pPr algn="l" marL="342900" indent="-342900">
              <a:lnSpc>
                <a:spcPts val="1750"/>
              </a:lnSpc>
              <a:buSzPct val="100000"/>
              <a:buChar char="•"/>
            </a:pPr>
            <a:r>
              <a:rPr lang="en-US" sz="1100" dirty="0">
                <a:solidFill>
                  <a:srgbClr val="333F70"/>
                </a:solidFill>
                <a:latin typeface="Open Sans" pitchFamily="34" charset="0"/>
                <a:ea typeface="Open Sans" pitchFamily="34" charset="-122"/>
                <a:cs typeface="Open Sans" pitchFamily="34" charset="-120"/>
              </a:rPr>
              <a:t> Conflict arises in the mind of the person because he/ she can choose only one alternative at the cost of other equally positive alternative.</a:t>
            </a:r>
            <a:endParaRPr lang="en-US" sz="1100" dirty="0"/>
          </a:p>
        </p:txBody>
      </p:sp>
      <p:sp>
        <p:nvSpPr>
          <p:cNvPr id="7" name="Text 4"/>
          <p:cNvSpPr/>
          <p:nvPr/>
        </p:nvSpPr>
        <p:spPr>
          <a:xfrm>
            <a:off x="489823" y="7058739"/>
            <a:ext cx="6654641" cy="279797"/>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333F70"/>
                </a:solidFill>
                <a:latin typeface="Open Sans" pitchFamily="34" charset="0"/>
                <a:ea typeface="Open Sans" pitchFamily="34" charset="-122"/>
                <a:cs typeface="Open Sans" pitchFamily="34" charset="-120"/>
              </a:rPr>
              <a:t>Eg:- Choosing between two attractive vacation destinations.</a:t>
            </a:r>
            <a:endParaRPr lang="en-US" sz="1100" dirty="0"/>
          </a:p>
        </p:txBody>
      </p:sp>
      <p:sp>
        <p:nvSpPr>
          <p:cNvPr id="8" name="Text 5"/>
          <p:cNvSpPr/>
          <p:nvPr/>
        </p:nvSpPr>
        <p:spPr>
          <a:xfrm>
            <a:off x="489823" y="7464385"/>
            <a:ext cx="6654641" cy="223957"/>
          </a:xfrm>
          <a:prstGeom prst="rect">
            <a:avLst/>
          </a:prstGeom>
          <a:noFill/>
          <a:ln/>
        </p:spPr>
        <p:txBody>
          <a:bodyPr wrap="none" lIns="0" tIns="0" rIns="0" bIns="0" rtlCol="0" anchor="t"/>
          <a:lstStyle/>
          <a:p>
            <a:pPr indent="0" marL="0">
              <a:lnSpc>
                <a:spcPts val="1750"/>
              </a:lnSpc>
              <a:buNone/>
            </a:pPr>
            <a:endParaRPr lang="en-US" sz="1100" dirty="0"/>
          </a:p>
        </p:txBody>
      </p:sp>
      <p:pic>
        <p:nvPicPr>
          <p:cNvPr id="9" name="Image 1" descr="preencoded.png">    </p:cNvPr>
          <p:cNvPicPr>
            <a:picLocks noChangeAspect="1"/>
          </p:cNvPicPr>
          <p:nvPr/>
        </p:nvPicPr>
        <p:blipFill>
          <a:blip r:embed="rId2"/>
          <a:stretch>
            <a:fillRect/>
          </a:stretch>
        </p:blipFill>
        <p:spPr>
          <a:xfrm>
            <a:off x="7493556" y="1219914"/>
            <a:ext cx="6368177" cy="4062174"/>
          </a:xfrm>
          <a:prstGeom prst="rect">
            <a:avLst/>
          </a:prstGeom>
        </p:spPr>
      </p:pic>
      <p:sp>
        <p:nvSpPr>
          <p:cNvPr id="10" name="Text 6"/>
          <p:cNvSpPr/>
          <p:nvPr/>
        </p:nvSpPr>
        <p:spPr>
          <a:xfrm>
            <a:off x="7493556" y="5439489"/>
            <a:ext cx="3901202" cy="262295"/>
          </a:xfrm>
          <a:prstGeom prst="rect">
            <a:avLst/>
          </a:prstGeom>
          <a:noFill/>
          <a:ln/>
        </p:spPr>
        <p:txBody>
          <a:bodyPr wrap="none" lIns="0" tIns="0" rIns="0" bIns="0" rtlCol="0" anchor="t"/>
          <a:lstStyle/>
          <a:p>
            <a:pPr indent="0" marL="0">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Approach-Avoidance Conflict</a:t>
            </a:r>
            <a:endParaRPr lang="en-US" sz="1650" dirty="0"/>
          </a:p>
        </p:txBody>
      </p:sp>
      <p:sp>
        <p:nvSpPr>
          <p:cNvPr id="11" name="Text 7"/>
          <p:cNvSpPr/>
          <p:nvPr/>
        </p:nvSpPr>
        <p:spPr>
          <a:xfrm>
            <a:off x="7493556" y="5841682"/>
            <a:ext cx="6654641" cy="559594"/>
          </a:xfrm>
          <a:prstGeom prst="rect">
            <a:avLst/>
          </a:prstGeom>
          <a:noFill/>
          <a:ln/>
        </p:spPr>
        <p:txBody>
          <a:bodyPr wrap="square" lIns="0" tIns="0" rIns="0" bIns="0" rtlCol="0" anchor="t"/>
          <a:lstStyle/>
          <a:p>
            <a:pPr algn="l" marL="342900" indent="-342900">
              <a:lnSpc>
                <a:spcPts val="1750"/>
              </a:lnSpc>
              <a:buSzPct val="100000"/>
              <a:buChar char="•"/>
            </a:pPr>
            <a:r>
              <a:rPr lang="en-US" sz="1100" dirty="0">
                <a:solidFill>
                  <a:srgbClr val="333F70"/>
                </a:solidFill>
                <a:latin typeface="Open Sans" pitchFamily="34" charset="0"/>
                <a:ea typeface="Open Sans" pitchFamily="34" charset="-122"/>
                <a:cs typeface="Open Sans" pitchFamily="34" charset="-120"/>
              </a:rPr>
              <a:t>This conflict arises when a person has an alternative which has both positive and negative aspects.</a:t>
            </a:r>
            <a:endParaRPr lang="en-US" sz="1100" dirty="0"/>
          </a:p>
        </p:txBody>
      </p:sp>
      <p:sp>
        <p:nvSpPr>
          <p:cNvPr id="12" name="Text 8"/>
          <p:cNvSpPr/>
          <p:nvPr/>
        </p:nvSpPr>
        <p:spPr>
          <a:xfrm>
            <a:off x="7493556" y="6450211"/>
            <a:ext cx="6654641" cy="839391"/>
          </a:xfrm>
          <a:prstGeom prst="rect">
            <a:avLst/>
          </a:prstGeom>
          <a:noFill/>
          <a:ln/>
        </p:spPr>
        <p:txBody>
          <a:bodyPr wrap="square" lIns="0" tIns="0" rIns="0" bIns="0" rtlCol="0" anchor="t"/>
          <a:lstStyle/>
          <a:p>
            <a:pPr algn="l" marL="342900" indent="-342900">
              <a:lnSpc>
                <a:spcPts val="1750"/>
              </a:lnSpc>
              <a:buSzPct val="100000"/>
              <a:buChar char="•"/>
            </a:pPr>
            <a:r>
              <a:rPr lang="en-US" sz="1100" dirty="0">
                <a:solidFill>
                  <a:srgbClr val="333F70"/>
                </a:solidFill>
                <a:latin typeface="Open Sans" pitchFamily="34" charset="0"/>
                <a:ea typeface="Open Sans" pitchFamily="34" charset="-122"/>
                <a:cs typeface="Open Sans" pitchFamily="34" charset="-120"/>
              </a:rPr>
              <a:t>Eg:- a person gets job opportunity but at a place which he does not like. Therefore, he feels a conflict as he has got a job (positive aspect) but does not like the place of job (negative aspect).</a:t>
            </a:r>
            <a:endParaRPr lang="en-US" sz="1100" dirty="0"/>
          </a:p>
        </p:txBody>
      </p:sp>
      <p:sp>
        <p:nvSpPr>
          <p:cNvPr id="13" name="Text 9"/>
          <p:cNvSpPr/>
          <p:nvPr/>
        </p:nvSpPr>
        <p:spPr>
          <a:xfrm>
            <a:off x="7493556" y="7415451"/>
            <a:ext cx="6654641" cy="223957"/>
          </a:xfrm>
          <a:prstGeom prst="rect">
            <a:avLst/>
          </a:prstGeom>
          <a:noFill/>
          <a:ln/>
        </p:spPr>
        <p:txBody>
          <a:bodyPr wrap="none" lIns="0" tIns="0" rIns="0" bIns="0" rtlCol="0" anchor="t"/>
          <a:lstStyle/>
          <a:p>
            <a:pPr indent="0" marL="0">
              <a:lnSpc>
                <a:spcPts val="1750"/>
              </a:lnSpc>
              <a:buNone/>
            </a:pP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20422" y="408861"/>
            <a:ext cx="3717369" cy="464582"/>
          </a:xfrm>
          <a:prstGeom prst="rect">
            <a:avLst/>
          </a:prstGeom>
          <a:noFill/>
          <a:ln/>
        </p:spPr>
        <p:txBody>
          <a:bodyPr wrap="none" lIns="0" tIns="0" rIns="0" bIns="0" rtlCol="0" anchor="t"/>
          <a:lstStyle/>
          <a:p>
            <a:pPr indent="0" marL="0">
              <a:lnSpc>
                <a:spcPts val="3650"/>
              </a:lnSpc>
              <a:buNone/>
            </a:pPr>
            <a:endParaRPr lang="en-US" sz="2900" dirty="0"/>
          </a:p>
        </p:txBody>
      </p:sp>
      <p:pic>
        <p:nvPicPr>
          <p:cNvPr id="3" name="Image 0" descr="preencoded.png">    </p:cNvPr>
          <p:cNvPicPr>
            <a:picLocks noChangeAspect="1"/>
          </p:cNvPicPr>
          <p:nvPr/>
        </p:nvPicPr>
        <p:blipFill>
          <a:blip r:embed="rId1"/>
          <a:stretch>
            <a:fillRect/>
          </a:stretch>
        </p:blipFill>
        <p:spPr>
          <a:xfrm>
            <a:off x="520422" y="1263610"/>
            <a:ext cx="6613446" cy="4232553"/>
          </a:xfrm>
          <a:prstGeom prst="rect">
            <a:avLst/>
          </a:prstGeom>
        </p:spPr>
      </p:pic>
      <p:sp>
        <p:nvSpPr>
          <p:cNvPr id="4" name="Text 1"/>
          <p:cNvSpPr/>
          <p:nvPr/>
        </p:nvSpPr>
        <p:spPr>
          <a:xfrm>
            <a:off x="520422" y="5663327"/>
            <a:ext cx="4231124" cy="278725"/>
          </a:xfrm>
          <a:prstGeom prst="rect">
            <a:avLst/>
          </a:prstGeom>
          <a:noFill/>
          <a:ln/>
        </p:spPr>
        <p:txBody>
          <a:bodyPr wrap="none" lIns="0" tIns="0" rIns="0" bIns="0" rtlCol="0" anchor="t"/>
          <a:lstStyle/>
          <a:p>
            <a:pPr indent="0" marL="0">
              <a:lnSpc>
                <a:spcPts val="2150"/>
              </a:lnSpc>
              <a:buNone/>
            </a:pPr>
            <a:r>
              <a:rPr lang="en-US" sz="1750" b="1" dirty="0">
                <a:solidFill>
                  <a:srgbClr val="333F70"/>
                </a:solidFill>
                <a:latin typeface="Unbounded Bold" pitchFamily="34" charset="0"/>
                <a:ea typeface="Unbounded Bold" pitchFamily="34" charset="-122"/>
                <a:cs typeface="Unbounded Bold" pitchFamily="34" charset="-120"/>
              </a:rPr>
              <a:t>Avoidance-Avoidance Conflict</a:t>
            </a:r>
            <a:endParaRPr lang="en-US" sz="1750" dirty="0"/>
          </a:p>
        </p:txBody>
      </p:sp>
      <p:sp>
        <p:nvSpPr>
          <p:cNvPr id="5" name="Text 2"/>
          <p:cNvSpPr/>
          <p:nvPr/>
        </p:nvSpPr>
        <p:spPr>
          <a:xfrm>
            <a:off x="520422" y="6090642"/>
            <a:ext cx="6613446" cy="594598"/>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333F70"/>
                </a:solidFill>
                <a:latin typeface="Open Sans" pitchFamily="34" charset="0"/>
                <a:ea typeface="Open Sans" pitchFamily="34" charset="-122"/>
                <a:cs typeface="Open Sans" pitchFamily="34" charset="-120"/>
              </a:rPr>
              <a:t>This conflict arises when a person has to choose between two mutually exclusive goals, each of which possesses equally negative aspect. </a:t>
            </a:r>
            <a:endParaRPr lang="en-US" sz="1150" dirty="0"/>
          </a:p>
        </p:txBody>
      </p:sp>
      <p:sp>
        <p:nvSpPr>
          <p:cNvPr id="6" name="Text 3"/>
          <p:cNvSpPr/>
          <p:nvPr/>
        </p:nvSpPr>
        <p:spPr>
          <a:xfrm>
            <a:off x="520422" y="6737271"/>
            <a:ext cx="6613446" cy="594598"/>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333F70"/>
                </a:solidFill>
                <a:latin typeface="Open Sans" pitchFamily="34" charset="0"/>
                <a:ea typeface="Open Sans" pitchFamily="34" charset="-122"/>
                <a:cs typeface="Open Sans" pitchFamily="34" charset="-120"/>
              </a:rPr>
              <a:t>In such a case, unless another alternative is available, the conflict remains unresolved. </a:t>
            </a:r>
            <a:endParaRPr lang="en-US" sz="1150" dirty="0"/>
          </a:p>
        </p:txBody>
      </p:sp>
      <p:sp>
        <p:nvSpPr>
          <p:cNvPr id="7" name="Text 4"/>
          <p:cNvSpPr/>
          <p:nvPr/>
        </p:nvSpPr>
        <p:spPr>
          <a:xfrm>
            <a:off x="520422" y="7383899"/>
            <a:ext cx="6613446" cy="2972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33F70"/>
                </a:solidFill>
                <a:latin typeface="Open Sans" pitchFamily="34" charset="0"/>
                <a:ea typeface="Open Sans" pitchFamily="34" charset="-122"/>
                <a:cs typeface="Open Sans" pitchFamily="34" charset="-120"/>
              </a:rPr>
              <a:t>Eg:-Choosing between unemployment and a salary cut.</a:t>
            </a:r>
            <a:endParaRPr lang="en-US" sz="1150" dirty="0"/>
          </a:p>
        </p:txBody>
      </p:sp>
      <p:sp>
        <p:nvSpPr>
          <p:cNvPr id="8" name="Text 5"/>
          <p:cNvSpPr/>
          <p:nvPr/>
        </p:nvSpPr>
        <p:spPr>
          <a:xfrm>
            <a:off x="520422" y="7814905"/>
            <a:ext cx="6613446" cy="237887"/>
          </a:xfrm>
          <a:prstGeom prst="rect">
            <a:avLst/>
          </a:prstGeom>
          <a:noFill/>
          <a:ln/>
        </p:spPr>
        <p:txBody>
          <a:bodyPr wrap="none" lIns="0" tIns="0" rIns="0" bIns="0" rtlCol="0" anchor="t"/>
          <a:lstStyle/>
          <a:p>
            <a:pPr indent="0" marL="0">
              <a:lnSpc>
                <a:spcPts val="1850"/>
              </a:lnSpc>
              <a:buNone/>
            </a:pPr>
            <a:endParaRPr lang="en-US" sz="1150" dirty="0"/>
          </a:p>
        </p:txBody>
      </p:sp>
      <p:pic>
        <p:nvPicPr>
          <p:cNvPr id="9" name="Image 1" descr="preencoded.png">    </p:cNvPr>
          <p:cNvPicPr>
            <a:picLocks noChangeAspect="1"/>
          </p:cNvPicPr>
          <p:nvPr/>
        </p:nvPicPr>
        <p:blipFill>
          <a:blip r:embed="rId2"/>
          <a:stretch>
            <a:fillRect/>
          </a:stretch>
        </p:blipFill>
        <p:spPr>
          <a:xfrm>
            <a:off x="7504152" y="1263610"/>
            <a:ext cx="6613446" cy="4302800"/>
          </a:xfrm>
          <a:prstGeom prst="rect">
            <a:avLst/>
          </a:prstGeom>
        </p:spPr>
      </p:pic>
      <p:sp>
        <p:nvSpPr>
          <p:cNvPr id="10" name="Text 6"/>
          <p:cNvSpPr/>
          <p:nvPr/>
        </p:nvSpPr>
        <p:spPr>
          <a:xfrm>
            <a:off x="7504152" y="5733574"/>
            <a:ext cx="5331381" cy="278725"/>
          </a:xfrm>
          <a:prstGeom prst="rect">
            <a:avLst/>
          </a:prstGeom>
          <a:noFill/>
          <a:ln/>
        </p:spPr>
        <p:txBody>
          <a:bodyPr wrap="none" lIns="0" tIns="0" rIns="0" bIns="0" rtlCol="0" anchor="t"/>
          <a:lstStyle/>
          <a:p>
            <a:pPr indent="0" marL="0">
              <a:lnSpc>
                <a:spcPts val="2150"/>
              </a:lnSpc>
              <a:buNone/>
            </a:pPr>
            <a:r>
              <a:rPr lang="en-US" sz="1750" b="1" dirty="0">
                <a:solidFill>
                  <a:srgbClr val="333F70"/>
                </a:solidFill>
                <a:latin typeface="Unbounded Bold" pitchFamily="34" charset="0"/>
                <a:ea typeface="Unbounded Bold" pitchFamily="34" charset="-122"/>
                <a:cs typeface="Unbounded Bold" pitchFamily="34" charset="-120"/>
              </a:rPr>
              <a:t>Multiple Approach-Avoidance Conflict</a:t>
            </a:r>
            <a:endParaRPr lang="en-US" sz="1750" dirty="0"/>
          </a:p>
        </p:txBody>
      </p:sp>
      <p:sp>
        <p:nvSpPr>
          <p:cNvPr id="11" name="Text 7"/>
          <p:cNvSpPr/>
          <p:nvPr/>
        </p:nvSpPr>
        <p:spPr>
          <a:xfrm>
            <a:off x="7504152" y="6160889"/>
            <a:ext cx="6613446" cy="594598"/>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333F70"/>
                </a:solidFill>
                <a:latin typeface="Open Sans" pitchFamily="34" charset="0"/>
                <a:ea typeface="Open Sans" pitchFamily="34" charset="-122"/>
                <a:cs typeface="Open Sans" pitchFamily="34" charset="-120"/>
              </a:rPr>
              <a:t>A person has to choose between two or more alternatives, each of which has both positive and negative features. </a:t>
            </a:r>
            <a:endParaRPr lang="en-US" sz="1150" dirty="0"/>
          </a:p>
        </p:txBody>
      </p:sp>
      <p:sp>
        <p:nvSpPr>
          <p:cNvPr id="12" name="Text 8"/>
          <p:cNvSpPr/>
          <p:nvPr/>
        </p:nvSpPr>
        <p:spPr>
          <a:xfrm>
            <a:off x="7504152" y="6807517"/>
            <a:ext cx="6613446" cy="594598"/>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333F70"/>
                </a:solidFill>
                <a:latin typeface="Open Sans" pitchFamily="34" charset="0"/>
                <a:ea typeface="Open Sans" pitchFamily="34" charset="-122"/>
                <a:cs typeface="Open Sans" pitchFamily="34" charset="-120"/>
              </a:rPr>
              <a:t>This is the most difficult conflict to resolve and to make the right decision. </a:t>
            </a:r>
            <a:endParaRPr lang="en-US" sz="1150" dirty="0"/>
          </a:p>
        </p:txBody>
      </p:sp>
      <p:sp>
        <p:nvSpPr>
          <p:cNvPr id="13" name="Text 9"/>
          <p:cNvSpPr/>
          <p:nvPr/>
        </p:nvSpPr>
        <p:spPr>
          <a:xfrm>
            <a:off x="7504152" y="7454146"/>
            <a:ext cx="6613446" cy="2972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33F70"/>
                </a:solidFill>
                <a:latin typeface="Open Sans" pitchFamily="34" charset="0"/>
                <a:ea typeface="Open Sans" pitchFamily="34" charset="-122"/>
                <a:cs typeface="Open Sans" pitchFamily="34" charset="-120"/>
              </a:rPr>
              <a:t>Eg:- individual who wants to do higher education or to get married.</a:t>
            </a:r>
            <a:endParaRPr lang="en-US" sz="1150" dirty="0"/>
          </a:p>
        </p:txBody>
      </p:sp>
      <p:sp>
        <p:nvSpPr>
          <p:cNvPr id="14" name="Text 10"/>
          <p:cNvSpPr/>
          <p:nvPr/>
        </p:nvSpPr>
        <p:spPr>
          <a:xfrm>
            <a:off x="7504152" y="7885152"/>
            <a:ext cx="6613446" cy="237887"/>
          </a:xfrm>
          <a:prstGeom prst="rect">
            <a:avLst/>
          </a:prstGeom>
          <a:noFill/>
          <a:ln/>
        </p:spPr>
        <p:txBody>
          <a:bodyPr wrap="none" lIns="0" tIns="0" rIns="0" bIns="0" rtlCol="0" anchor="t"/>
          <a:lstStyle/>
          <a:p>
            <a:pPr indent="0" marL="0">
              <a:lnSpc>
                <a:spcPts val="1850"/>
              </a:lnSpc>
              <a:buNone/>
            </a:pP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3282" y="428268"/>
            <a:ext cx="7666196" cy="484942"/>
          </a:xfrm>
          <a:prstGeom prst="rect">
            <a:avLst/>
          </a:prstGeom>
          <a:noFill/>
          <a:ln/>
        </p:spPr>
        <p:txBody>
          <a:bodyPr wrap="none" lIns="0" tIns="0" rIns="0" bIns="0" rtlCol="0" anchor="t"/>
          <a:lstStyle/>
          <a:p>
            <a:pPr indent="0" marL="0">
              <a:lnSpc>
                <a:spcPts val="3800"/>
              </a:lnSpc>
              <a:buNone/>
            </a:pPr>
            <a:r>
              <a:rPr lang="en-US" sz="3050" b="1" dirty="0">
                <a:solidFill>
                  <a:srgbClr val="333F70"/>
                </a:solidFill>
                <a:latin typeface="Unbounded Bold" pitchFamily="34" charset="0"/>
                <a:ea typeface="Unbounded Bold" pitchFamily="34" charset="-122"/>
                <a:cs typeface="Unbounded Bold" pitchFamily="34" charset="-120"/>
              </a:rPr>
              <a:t>Measures to overcome Conflict</a:t>
            </a:r>
            <a:endParaRPr lang="en-US" sz="3050" dirty="0"/>
          </a:p>
        </p:txBody>
      </p:sp>
      <p:sp>
        <p:nvSpPr>
          <p:cNvPr id="3" name="Text 1"/>
          <p:cNvSpPr/>
          <p:nvPr/>
        </p:nvSpPr>
        <p:spPr>
          <a:xfrm>
            <a:off x="543282" y="1223605"/>
            <a:ext cx="13543836" cy="310515"/>
          </a:xfrm>
          <a:prstGeom prst="rect">
            <a:avLst/>
          </a:prstGeom>
          <a:noFill/>
          <a:ln/>
        </p:spPr>
        <p:txBody>
          <a:bodyPr wrap="none" lIns="0" tIns="0" rIns="0" bIns="0" rtlCol="0" anchor="t"/>
          <a:lstStyle/>
          <a:p>
            <a:pPr indent="0" marL="0">
              <a:lnSpc>
                <a:spcPts val="2400"/>
              </a:lnSpc>
              <a:buNone/>
            </a:pPr>
            <a:r>
              <a:rPr lang="en-US" sz="1500" dirty="0">
                <a:solidFill>
                  <a:srgbClr val="333F70"/>
                </a:solidFill>
                <a:latin typeface="Open Sans" pitchFamily="34" charset="0"/>
                <a:ea typeface="Open Sans" pitchFamily="34" charset="-122"/>
                <a:cs typeface="Open Sans" pitchFamily="34" charset="-120"/>
              </a:rPr>
              <a:t>The Thomas-Kilmann conflict model explains about handling a conflict.</a:t>
            </a:r>
            <a:endParaRPr lang="en-US" sz="1500" dirty="0"/>
          </a:p>
        </p:txBody>
      </p:sp>
      <p:sp>
        <p:nvSpPr>
          <p:cNvPr id="4" name="Text 2"/>
          <p:cNvSpPr/>
          <p:nvPr/>
        </p:nvSpPr>
        <p:spPr>
          <a:xfrm>
            <a:off x="543282" y="1708666"/>
            <a:ext cx="13543836" cy="310515"/>
          </a:xfrm>
          <a:prstGeom prst="rect">
            <a:avLst/>
          </a:prstGeom>
          <a:noFill/>
          <a:ln/>
        </p:spPr>
        <p:txBody>
          <a:bodyPr wrap="none" lIns="0" tIns="0" rIns="0" bIns="0" rtlCol="0" anchor="t"/>
          <a:lstStyle/>
          <a:p>
            <a:pPr indent="0" marL="0">
              <a:lnSpc>
                <a:spcPts val="2400"/>
              </a:lnSpc>
              <a:buNone/>
            </a:pPr>
            <a:r>
              <a:rPr lang="en-US" sz="1500" b="1" dirty="0">
                <a:solidFill>
                  <a:srgbClr val="333F70"/>
                </a:solidFill>
                <a:latin typeface="Open Sans" pitchFamily="34" charset="0"/>
                <a:ea typeface="Open Sans" pitchFamily="34" charset="-122"/>
                <a:cs typeface="Open Sans" pitchFamily="34" charset="-120"/>
              </a:rPr>
              <a:t>Accommodating:</a:t>
            </a:r>
            <a:pPr indent="0" marL="0">
              <a:lnSpc>
                <a:spcPts val="2400"/>
              </a:lnSpc>
              <a:buNone/>
            </a:pPr>
            <a:r>
              <a:rPr lang="en-US" sz="1500" dirty="0">
                <a:solidFill>
                  <a:srgbClr val="333F70"/>
                </a:solidFill>
                <a:latin typeface="Open Sans" pitchFamily="34" charset="0"/>
                <a:ea typeface="Open Sans" pitchFamily="34" charset="-122"/>
                <a:cs typeface="Open Sans" pitchFamily="34" charset="-120"/>
              </a:rPr>
              <a:t> This conflict management technique allows individual to cooperate at high degree but without assertiveness. </a:t>
            </a:r>
            <a:endParaRPr lang="en-US" sz="1500" dirty="0"/>
          </a:p>
        </p:txBody>
      </p:sp>
      <p:sp>
        <p:nvSpPr>
          <p:cNvPr id="5" name="Text 3"/>
          <p:cNvSpPr/>
          <p:nvPr/>
        </p:nvSpPr>
        <p:spPr>
          <a:xfrm>
            <a:off x="543282" y="2193727"/>
            <a:ext cx="13543836" cy="310515"/>
          </a:xfrm>
          <a:prstGeom prst="rect">
            <a:avLst/>
          </a:prstGeom>
          <a:noFill/>
          <a:ln/>
        </p:spPr>
        <p:txBody>
          <a:bodyPr wrap="none" lIns="0" tIns="0" rIns="0" bIns="0" rtlCol="0" anchor="t"/>
          <a:lstStyle/>
          <a:p>
            <a:pPr indent="0" marL="0">
              <a:lnSpc>
                <a:spcPts val="2400"/>
              </a:lnSpc>
              <a:buNone/>
            </a:pPr>
            <a:r>
              <a:rPr lang="en-US" sz="1500" dirty="0">
                <a:solidFill>
                  <a:srgbClr val="333F70"/>
                </a:solidFill>
                <a:latin typeface="Open Sans" pitchFamily="34" charset="0"/>
                <a:ea typeface="Open Sans" pitchFamily="34" charset="-122"/>
                <a:cs typeface="Open Sans" pitchFamily="34" charset="-120"/>
              </a:rPr>
              <a:t>This approach is effective for preserving future relations with others.</a:t>
            </a:r>
            <a:endParaRPr lang="en-US" sz="1500" dirty="0"/>
          </a:p>
        </p:txBody>
      </p:sp>
      <p:sp>
        <p:nvSpPr>
          <p:cNvPr id="6" name="Text 4"/>
          <p:cNvSpPr/>
          <p:nvPr/>
        </p:nvSpPr>
        <p:spPr>
          <a:xfrm>
            <a:off x="543282" y="2678787"/>
            <a:ext cx="13543836" cy="621030"/>
          </a:xfrm>
          <a:prstGeom prst="rect">
            <a:avLst/>
          </a:prstGeom>
          <a:noFill/>
          <a:ln/>
        </p:spPr>
        <p:txBody>
          <a:bodyPr wrap="square" lIns="0" tIns="0" rIns="0" bIns="0" rtlCol="0" anchor="t"/>
          <a:lstStyle/>
          <a:p>
            <a:pPr indent="0" marL="0">
              <a:lnSpc>
                <a:spcPts val="2400"/>
              </a:lnSpc>
              <a:buNone/>
            </a:pPr>
            <a:r>
              <a:rPr lang="en-US" sz="1500" b="1" dirty="0">
                <a:solidFill>
                  <a:srgbClr val="333F70"/>
                </a:solidFill>
                <a:latin typeface="Open Sans" pitchFamily="34" charset="0"/>
                <a:ea typeface="Open Sans" pitchFamily="34" charset="-122"/>
                <a:cs typeface="Open Sans" pitchFamily="34" charset="-120"/>
              </a:rPr>
              <a:t>Avoiding</a:t>
            </a:r>
            <a:pPr indent="0" marL="0">
              <a:lnSpc>
                <a:spcPts val="2400"/>
              </a:lnSpc>
              <a:buNone/>
            </a:pPr>
            <a:r>
              <a:rPr lang="en-US" sz="1500" dirty="0">
                <a:solidFill>
                  <a:srgbClr val="333F70"/>
                </a:solidFill>
                <a:latin typeface="Open Sans" pitchFamily="34" charset="0"/>
                <a:ea typeface="Open Sans" pitchFamily="34" charset="-122"/>
                <a:cs typeface="Open Sans" pitchFamily="34" charset="-120"/>
              </a:rPr>
              <a:t>: This style employ complete avoidance of situations. This style works for a trivial issue and when there is no chance of winning. In this, there is no assertiveness and no cooperativeness. </a:t>
            </a:r>
            <a:endParaRPr lang="en-US" sz="1500" dirty="0"/>
          </a:p>
        </p:txBody>
      </p:sp>
      <p:sp>
        <p:nvSpPr>
          <p:cNvPr id="7" name="Text 5"/>
          <p:cNvSpPr/>
          <p:nvPr/>
        </p:nvSpPr>
        <p:spPr>
          <a:xfrm>
            <a:off x="543282" y="3474363"/>
            <a:ext cx="13543836" cy="310515"/>
          </a:xfrm>
          <a:prstGeom prst="rect">
            <a:avLst/>
          </a:prstGeom>
          <a:noFill/>
          <a:ln/>
        </p:spPr>
        <p:txBody>
          <a:bodyPr wrap="none" lIns="0" tIns="0" rIns="0" bIns="0" rtlCol="0" anchor="t"/>
          <a:lstStyle/>
          <a:p>
            <a:pPr indent="0" marL="0">
              <a:lnSpc>
                <a:spcPts val="2400"/>
              </a:lnSpc>
              <a:buNone/>
            </a:pPr>
            <a:r>
              <a:rPr lang="en-US" sz="1500" dirty="0">
                <a:solidFill>
                  <a:srgbClr val="333F70"/>
                </a:solidFill>
                <a:latin typeface="Open Sans" pitchFamily="34" charset="0"/>
                <a:ea typeface="Open Sans" pitchFamily="34" charset="-122"/>
                <a:cs typeface="Open Sans" pitchFamily="34" charset="-120"/>
              </a:rPr>
              <a:t>This style is effective when conflict upset emotionally.</a:t>
            </a:r>
            <a:endParaRPr lang="en-US" sz="1500" dirty="0"/>
          </a:p>
        </p:txBody>
      </p:sp>
      <p:sp>
        <p:nvSpPr>
          <p:cNvPr id="8" name="Text 6"/>
          <p:cNvSpPr/>
          <p:nvPr/>
        </p:nvSpPr>
        <p:spPr>
          <a:xfrm>
            <a:off x="543282" y="3959423"/>
            <a:ext cx="13543836" cy="621030"/>
          </a:xfrm>
          <a:prstGeom prst="rect">
            <a:avLst/>
          </a:prstGeom>
          <a:noFill/>
          <a:ln/>
        </p:spPr>
        <p:txBody>
          <a:bodyPr wrap="square" lIns="0" tIns="0" rIns="0" bIns="0" rtlCol="0" anchor="t"/>
          <a:lstStyle/>
          <a:p>
            <a:pPr indent="0" marL="0">
              <a:lnSpc>
                <a:spcPts val="2400"/>
              </a:lnSpc>
              <a:buNone/>
            </a:pPr>
            <a:r>
              <a:rPr lang="en-US" sz="1500" b="1" dirty="0">
                <a:solidFill>
                  <a:srgbClr val="333F70"/>
                </a:solidFill>
                <a:latin typeface="Open Sans" pitchFamily="34" charset="0"/>
                <a:ea typeface="Open Sans" pitchFamily="34" charset="-122"/>
                <a:cs typeface="Open Sans" pitchFamily="34" charset="-120"/>
              </a:rPr>
              <a:t>Collaborating</a:t>
            </a:r>
            <a:pPr indent="0" marL="0">
              <a:lnSpc>
                <a:spcPts val="2400"/>
              </a:lnSpc>
              <a:buNone/>
            </a:pPr>
            <a:r>
              <a:rPr lang="en-US" sz="1500" dirty="0">
                <a:solidFill>
                  <a:srgbClr val="333F70"/>
                </a:solidFill>
                <a:latin typeface="Open Sans" pitchFamily="34" charset="0"/>
                <a:ea typeface="Open Sans" pitchFamily="34" charset="-122"/>
                <a:cs typeface="Open Sans" pitchFamily="34" charset="-120"/>
              </a:rPr>
              <a:t>: This style may be used when persons involved in the conflict ready to work with each other to achieve the goals. This style is used to seek 'win-win' paradigm.</a:t>
            </a:r>
            <a:endParaRPr lang="en-US" sz="1500" dirty="0"/>
          </a:p>
        </p:txBody>
      </p:sp>
      <p:sp>
        <p:nvSpPr>
          <p:cNvPr id="9" name="Text 7"/>
          <p:cNvSpPr/>
          <p:nvPr/>
        </p:nvSpPr>
        <p:spPr>
          <a:xfrm>
            <a:off x="543282" y="4754999"/>
            <a:ext cx="13543836" cy="310515"/>
          </a:xfrm>
          <a:prstGeom prst="rect">
            <a:avLst/>
          </a:prstGeom>
          <a:noFill/>
          <a:ln/>
        </p:spPr>
        <p:txBody>
          <a:bodyPr wrap="none" lIns="0" tIns="0" rIns="0" bIns="0" rtlCol="0" anchor="t"/>
          <a:lstStyle/>
          <a:p>
            <a:pPr indent="0" marL="0">
              <a:lnSpc>
                <a:spcPts val="2400"/>
              </a:lnSpc>
              <a:buNone/>
            </a:pPr>
            <a:r>
              <a:rPr lang="en-US" sz="1500" dirty="0">
                <a:solidFill>
                  <a:srgbClr val="333F70"/>
                </a:solidFill>
                <a:latin typeface="Open Sans" pitchFamily="34" charset="0"/>
                <a:ea typeface="Open Sans" pitchFamily="34" charset="-122"/>
                <a:cs typeface="Open Sans" pitchFamily="34" charset="-120"/>
              </a:rPr>
              <a:t> In this style, assertiveness and cooperation are high. </a:t>
            </a:r>
            <a:endParaRPr lang="en-US" sz="1500" dirty="0"/>
          </a:p>
        </p:txBody>
      </p:sp>
      <p:sp>
        <p:nvSpPr>
          <p:cNvPr id="10" name="Text 8"/>
          <p:cNvSpPr/>
          <p:nvPr/>
        </p:nvSpPr>
        <p:spPr>
          <a:xfrm>
            <a:off x="543282" y="5240060"/>
            <a:ext cx="13543836" cy="310515"/>
          </a:xfrm>
          <a:prstGeom prst="rect">
            <a:avLst/>
          </a:prstGeom>
          <a:noFill/>
          <a:ln/>
        </p:spPr>
        <p:txBody>
          <a:bodyPr wrap="none" lIns="0" tIns="0" rIns="0" bIns="0" rtlCol="0" anchor="t"/>
          <a:lstStyle/>
          <a:p>
            <a:pPr indent="0" marL="0">
              <a:lnSpc>
                <a:spcPts val="2400"/>
              </a:lnSpc>
              <a:buNone/>
            </a:pPr>
            <a:r>
              <a:rPr lang="en-US" sz="1500" b="1" dirty="0">
                <a:solidFill>
                  <a:srgbClr val="333F70"/>
                </a:solidFill>
                <a:latin typeface="Open Sans" pitchFamily="34" charset="0"/>
                <a:ea typeface="Open Sans" pitchFamily="34" charset="-122"/>
                <a:cs typeface="Open Sans" pitchFamily="34" charset="-120"/>
              </a:rPr>
              <a:t>Competing</a:t>
            </a:r>
            <a:pPr indent="0" marL="0">
              <a:lnSpc>
                <a:spcPts val="2400"/>
              </a:lnSpc>
              <a:buNone/>
            </a:pPr>
            <a:r>
              <a:rPr lang="en-US" sz="1500" dirty="0">
                <a:solidFill>
                  <a:srgbClr val="333F70"/>
                </a:solidFill>
                <a:latin typeface="Open Sans" pitchFamily="34" charset="0"/>
                <a:ea typeface="Open Sans" pitchFamily="34" charset="-122"/>
                <a:cs typeface="Open Sans" pitchFamily="34" charset="-120"/>
              </a:rPr>
              <a:t>: This style is based on 'win-lose' strategy. This approach requires high level of assertiveness without cooperation. </a:t>
            </a:r>
            <a:endParaRPr lang="en-US" sz="1500" dirty="0"/>
          </a:p>
        </p:txBody>
      </p:sp>
      <p:sp>
        <p:nvSpPr>
          <p:cNvPr id="11" name="Text 9"/>
          <p:cNvSpPr/>
          <p:nvPr/>
        </p:nvSpPr>
        <p:spPr>
          <a:xfrm>
            <a:off x="543282" y="5725120"/>
            <a:ext cx="13543836" cy="310515"/>
          </a:xfrm>
          <a:prstGeom prst="rect">
            <a:avLst/>
          </a:prstGeom>
          <a:noFill/>
          <a:ln/>
        </p:spPr>
        <p:txBody>
          <a:bodyPr wrap="none" lIns="0" tIns="0" rIns="0" bIns="0" rtlCol="0" anchor="t"/>
          <a:lstStyle/>
          <a:p>
            <a:pPr indent="0" marL="0">
              <a:lnSpc>
                <a:spcPts val="2400"/>
              </a:lnSpc>
              <a:buNone/>
            </a:pPr>
            <a:r>
              <a:rPr lang="en-US" sz="1500" dirty="0">
                <a:solidFill>
                  <a:srgbClr val="333F70"/>
                </a:solidFill>
                <a:latin typeface="Open Sans" pitchFamily="34" charset="0"/>
                <a:ea typeface="Open Sans" pitchFamily="34" charset="-122"/>
                <a:cs typeface="Open Sans" pitchFamily="34" charset="-120"/>
              </a:rPr>
              <a:t>This is effective when there is need to take quick decision.</a:t>
            </a:r>
            <a:endParaRPr lang="en-US" sz="1500" dirty="0"/>
          </a:p>
        </p:txBody>
      </p:sp>
      <p:sp>
        <p:nvSpPr>
          <p:cNvPr id="12" name="Text 10"/>
          <p:cNvSpPr/>
          <p:nvPr/>
        </p:nvSpPr>
        <p:spPr>
          <a:xfrm>
            <a:off x="543282" y="6210181"/>
            <a:ext cx="13543836" cy="621030"/>
          </a:xfrm>
          <a:prstGeom prst="rect">
            <a:avLst/>
          </a:prstGeom>
          <a:noFill/>
          <a:ln/>
        </p:spPr>
        <p:txBody>
          <a:bodyPr wrap="square" lIns="0" tIns="0" rIns="0" bIns="0" rtlCol="0" anchor="t"/>
          <a:lstStyle/>
          <a:p>
            <a:pPr indent="0" marL="0">
              <a:lnSpc>
                <a:spcPts val="2400"/>
              </a:lnSpc>
              <a:buNone/>
            </a:pPr>
            <a:r>
              <a:rPr lang="en-US" sz="1500" b="1" dirty="0">
                <a:solidFill>
                  <a:srgbClr val="333F70"/>
                </a:solidFill>
                <a:latin typeface="Open Sans" pitchFamily="34" charset="0"/>
                <a:ea typeface="Open Sans" pitchFamily="34" charset="-122"/>
                <a:cs typeface="Open Sans" pitchFamily="34" charset="-120"/>
              </a:rPr>
              <a:t>Compromising</a:t>
            </a:r>
            <a:pPr indent="0" marL="0">
              <a:lnSpc>
                <a:spcPts val="2400"/>
              </a:lnSpc>
              <a:buNone/>
            </a:pPr>
            <a:r>
              <a:rPr lang="en-US" sz="1500" dirty="0">
                <a:solidFill>
                  <a:srgbClr val="333F70"/>
                </a:solidFill>
                <a:latin typeface="Open Sans" pitchFamily="34" charset="0"/>
                <a:ea typeface="Open Sans" pitchFamily="34" charset="-122"/>
                <a:cs typeface="Open Sans" pitchFamily="34" charset="-120"/>
              </a:rPr>
              <a:t>: This is the 'lose-lose' strategy where neither they achieve that they really wants to achieve. This has moderate level of assertiveness and cooperation. </a:t>
            </a:r>
            <a:endParaRPr lang="en-US" sz="1500" dirty="0"/>
          </a:p>
        </p:txBody>
      </p:sp>
      <p:sp>
        <p:nvSpPr>
          <p:cNvPr id="13" name="Text 11"/>
          <p:cNvSpPr/>
          <p:nvPr/>
        </p:nvSpPr>
        <p:spPr>
          <a:xfrm>
            <a:off x="543282" y="7005757"/>
            <a:ext cx="13543836" cy="310515"/>
          </a:xfrm>
          <a:prstGeom prst="rect">
            <a:avLst/>
          </a:prstGeom>
          <a:noFill/>
          <a:ln/>
        </p:spPr>
        <p:txBody>
          <a:bodyPr wrap="none" lIns="0" tIns="0" rIns="0" bIns="0" rtlCol="0" anchor="t"/>
          <a:lstStyle/>
          <a:p>
            <a:pPr indent="0" marL="0">
              <a:lnSpc>
                <a:spcPts val="2400"/>
              </a:lnSpc>
              <a:buNone/>
            </a:pPr>
            <a:r>
              <a:rPr lang="en-US" sz="1500" dirty="0">
                <a:solidFill>
                  <a:srgbClr val="333F70"/>
                </a:solidFill>
                <a:latin typeface="Open Sans" pitchFamily="34" charset="0"/>
                <a:ea typeface="Open Sans" pitchFamily="34" charset="-122"/>
                <a:cs typeface="Open Sans" pitchFamily="34" charset="-120"/>
              </a:rPr>
              <a:t>There is need of temporary solution when both the individuals have equally important goals.</a:t>
            </a:r>
            <a:endParaRPr lang="en-US" sz="1500" dirty="0"/>
          </a:p>
        </p:txBody>
      </p:sp>
      <p:sp>
        <p:nvSpPr>
          <p:cNvPr id="14" name="Text 12"/>
          <p:cNvSpPr/>
          <p:nvPr/>
        </p:nvSpPr>
        <p:spPr>
          <a:xfrm>
            <a:off x="543282" y="7490817"/>
            <a:ext cx="13543836" cy="310515"/>
          </a:xfrm>
          <a:prstGeom prst="rect">
            <a:avLst/>
          </a:prstGeom>
          <a:noFill/>
          <a:ln/>
        </p:spPr>
        <p:txBody>
          <a:bodyPr wrap="none" lIns="0" tIns="0" rIns="0" bIns="0" rtlCol="0" anchor="t"/>
          <a:lstStyle/>
          <a:p>
            <a:pPr indent="0" marL="0">
              <a:lnSpc>
                <a:spcPts val="2400"/>
              </a:lnSpc>
              <a:buNone/>
            </a:pP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974771"/>
            <a:ext cx="12829580" cy="708779"/>
          </a:xfrm>
          <a:prstGeom prst="rect">
            <a:avLst/>
          </a:prstGeom>
          <a:noFill/>
          <a:ln/>
        </p:spPr>
        <p:txBody>
          <a:bodyPr wrap="none" lIns="0" tIns="0" rIns="0" bIns="0" rtlCol="0" anchor="t"/>
          <a:lstStyle/>
          <a:p>
            <a:pPr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Role of nurse in reducing frustration</a:t>
            </a:r>
            <a:endParaRPr lang="en-US" sz="4450" dirty="0"/>
          </a:p>
        </p:txBody>
      </p:sp>
      <p:sp>
        <p:nvSpPr>
          <p:cNvPr id="3" name="Text 1"/>
          <p:cNvSpPr/>
          <p:nvPr/>
        </p:nvSpPr>
        <p:spPr>
          <a:xfrm>
            <a:off x="793790" y="3137178"/>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Assess the cause of patient's frustration.</a:t>
            </a:r>
            <a:endParaRPr lang="en-US" sz="1750" dirty="0"/>
          </a:p>
        </p:txBody>
      </p:sp>
      <p:sp>
        <p:nvSpPr>
          <p:cNvPr id="4" name="Text 2"/>
          <p:cNvSpPr/>
          <p:nvPr/>
        </p:nvSpPr>
        <p:spPr>
          <a:xfrm>
            <a:off x="793790" y="3669982"/>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Do not be provocative.</a:t>
            </a:r>
            <a:endParaRPr lang="en-US" sz="1750" dirty="0"/>
          </a:p>
        </p:txBody>
      </p:sp>
      <p:sp>
        <p:nvSpPr>
          <p:cNvPr id="5" name="Text 3"/>
          <p:cNvSpPr/>
          <p:nvPr/>
        </p:nvSpPr>
        <p:spPr>
          <a:xfrm>
            <a:off x="793790" y="4202787"/>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Be concise-Use simple words as possible.</a:t>
            </a:r>
            <a:endParaRPr lang="en-US" sz="1750" dirty="0"/>
          </a:p>
        </p:txBody>
      </p:sp>
      <p:sp>
        <p:nvSpPr>
          <p:cNvPr id="6" name="Text 4"/>
          <p:cNvSpPr/>
          <p:nvPr/>
        </p:nvSpPr>
        <p:spPr>
          <a:xfrm>
            <a:off x="793790" y="4735592"/>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Identify wants and feelings of patients.</a:t>
            </a:r>
            <a:endParaRPr lang="en-US" sz="1750" dirty="0"/>
          </a:p>
        </p:txBody>
      </p:sp>
      <p:sp>
        <p:nvSpPr>
          <p:cNvPr id="7" name="Text 5"/>
          <p:cNvSpPr/>
          <p:nvPr/>
        </p:nvSpPr>
        <p:spPr>
          <a:xfrm>
            <a:off x="793790" y="5268397"/>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 Listen closely to what patient is saying.</a:t>
            </a:r>
            <a:endParaRPr lang="en-US" sz="1750" dirty="0"/>
          </a:p>
        </p:txBody>
      </p:sp>
      <p:sp>
        <p:nvSpPr>
          <p:cNvPr id="8" name="Text 6"/>
          <p:cNvSpPr/>
          <p:nvPr/>
        </p:nvSpPr>
        <p:spPr>
          <a:xfrm>
            <a:off x="793790" y="5801201"/>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Teach healthy life style techniques- meditation, progressive muscle relaxation technique etc.</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86157" y="581978"/>
            <a:ext cx="10006608" cy="612696"/>
          </a:xfrm>
          <a:prstGeom prst="rect">
            <a:avLst/>
          </a:prstGeom>
          <a:noFill/>
          <a:ln/>
        </p:spPr>
        <p:txBody>
          <a:bodyPr wrap="none" lIns="0" tIns="0" rIns="0" bIns="0" rtlCol="0" anchor="t"/>
          <a:lstStyle/>
          <a:p>
            <a:pPr indent="0" marL="0">
              <a:lnSpc>
                <a:spcPts val="4800"/>
              </a:lnSpc>
              <a:buNone/>
            </a:pPr>
            <a:r>
              <a:rPr lang="en-US" sz="3850" b="1" dirty="0">
                <a:solidFill>
                  <a:srgbClr val="333F70"/>
                </a:solidFill>
                <a:latin typeface="Unbounded Bold" pitchFamily="34" charset="0"/>
                <a:ea typeface="Unbounded Bold" pitchFamily="34" charset="-122"/>
                <a:cs typeface="Unbounded Bold" pitchFamily="34" charset="-120"/>
              </a:rPr>
              <a:t>Role of nurse in reducing conflict</a:t>
            </a:r>
            <a:endParaRPr lang="en-US" sz="3850" dirty="0"/>
          </a:p>
        </p:txBody>
      </p:sp>
      <p:sp>
        <p:nvSpPr>
          <p:cNvPr id="3" name="Text 1"/>
          <p:cNvSpPr/>
          <p:nvPr/>
        </p:nvSpPr>
        <p:spPr>
          <a:xfrm>
            <a:off x="686157" y="1586746"/>
            <a:ext cx="13258086" cy="391954"/>
          </a:xfrm>
          <a:prstGeom prst="rect">
            <a:avLst/>
          </a:prstGeom>
          <a:noFill/>
          <a:ln/>
        </p:spPr>
        <p:txBody>
          <a:bodyPr wrap="none" lIns="0" tIns="0" rIns="0" bIns="0" rtlCol="0" anchor="t"/>
          <a:lstStyle/>
          <a:p>
            <a:pPr algn="l" marL="342900" indent="-342900">
              <a:lnSpc>
                <a:spcPts val="2450"/>
              </a:lnSpc>
              <a:buSzPct val="100000"/>
              <a:buChar char="•"/>
            </a:pPr>
            <a:r>
              <a:rPr lang="en-US" sz="1500" dirty="0">
                <a:solidFill>
                  <a:srgbClr val="333F70"/>
                </a:solidFill>
                <a:latin typeface="Open Sans" pitchFamily="34" charset="0"/>
                <a:ea typeface="Open Sans" pitchFamily="34" charset="-122"/>
                <a:cs typeface="Open Sans" pitchFamily="34" charset="-120"/>
              </a:rPr>
              <a:t>Identify potential conflict.</a:t>
            </a:r>
            <a:endParaRPr lang="en-US" sz="1500" dirty="0"/>
          </a:p>
        </p:txBody>
      </p:sp>
      <p:sp>
        <p:nvSpPr>
          <p:cNvPr id="4" name="Text 2"/>
          <p:cNvSpPr/>
          <p:nvPr/>
        </p:nvSpPr>
        <p:spPr>
          <a:xfrm>
            <a:off x="686157" y="2047280"/>
            <a:ext cx="13258086" cy="391954"/>
          </a:xfrm>
          <a:prstGeom prst="rect">
            <a:avLst/>
          </a:prstGeom>
          <a:noFill/>
          <a:ln/>
        </p:spPr>
        <p:txBody>
          <a:bodyPr wrap="none" lIns="0" tIns="0" rIns="0" bIns="0" rtlCol="0" anchor="t"/>
          <a:lstStyle/>
          <a:p>
            <a:pPr algn="l" marL="342900" indent="-342900">
              <a:lnSpc>
                <a:spcPts val="2450"/>
              </a:lnSpc>
              <a:buSzPct val="100000"/>
              <a:buChar char="•"/>
            </a:pPr>
            <a:r>
              <a:rPr lang="en-US" sz="1500" dirty="0">
                <a:solidFill>
                  <a:srgbClr val="333F70"/>
                </a:solidFill>
                <a:latin typeface="Open Sans" pitchFamily="34" charset="0"/>
                <a:ea typeface="Open Sans" pitchFamily="34" charset="-122"/>
                <a:cs typeface="Open Sans" pitchFamily="34" charset="-120"/>
              </a:rPr>
              <a:t> Maintain therapeutic relationship with patient.</a:t>
            </a:r>
            <a:endParaRPr lang="en-US" sz="1500" dirty="0"/>
          </a:p>
        </p:txBody>
      </p:sp>
      <p:sp>
        <p:nvSpPr>
          <p:cNvPr id="5" name="Text 3"/>
          <p:cNvSpPr/>
          <p:nvPr/>
        </p:nvSpPr>
        <p:spPr>
          <a:xfrm>
            <a:off x="686157" y="2507813"/>
            <a:ext cx="13258086" cy="391954"/>
          </a:xfrm>
          <a:prstGeom prst="rect">
            <a:avLst/>
          </a:prstGeom>
          <a:noFill/>
          <a:ln/>
        </p:spPr>
        <p:txBody>
          <a:bodyPr wrap="none" lIns="0" tIns="0" rIns="0" bIns="0" rtlCol="0" anchor="t"/>
          <a:lstStyle/>
          <a:p>
            <a:pPr algn="l" marL="342900" indent="-342900">
              <a:lnSpc>
                <a:spcPts val="2450"/>
              </a:lnSpc>
              <a:buSzPct val="100000"/>
              <a:buChar char="•"/>
            </a:pPr>
            <a:r>
              <a:rPr lang="en-US" sz="1500" dirty="0">
                <a:solidFill>
                  <a:srgbClr val="333F70"/>
                </a:solidFill>
                <a:latin typeface="Open Sans" pitchFamily="34" charset="0"/>
                <a:ea typeface="Open Sans" pitchFamily="34" charset="-122"/>
                <a:cs typeface="Open Sans" pitchFamily="34" charset="-120"/>
              </a:rPr>
              <a:t> Develop an implementation plan- use Thomas-Kilmann conflict model.</a:t>
            </a:r>
            <a:endParaRPr lang="en-US" sz="1500" dirty="0"/>
          </a:p>
        </p:txBody>
      </p:sp>
      <p:sp>
        <p:nvSpPr>
          <p:cNvPr id="6" name="Text 4"/>
          <p:cNvSpPr/>
          <p:nvPr/>
        </p:nvSpPr>
        <p:spPr>
          <a:xfrm>
            <a:off x="686157" y="2968347"/>
            <a:ext cx="13258086" cy="391954"/>
          </a:xfrm>
          <a:prstGeom prst="rect">
            <a:avLst/>
          </a:prstGeom>
          <a:noFill/>
          <a:ln/>
        </p:spPr>
        <p:txBody>
          <a:bodyPr wrap="none" lIns="0" tIns="0" rIns="0" bIns="0" rtlCol="0" anchor="t"/>
          <a:lstStyle/>
          <a:p>
            <a:pPr algn="l" marL="342900" indent="-342900">
              <a:lnSpc>
                <a:spcPts val="2450"/>
              </a:lnSpc>
              <a:buSzPct val="100000"/>
              <a:buChar char="•"/>
            </a:pPr>
            <a:r>
              <a:rPr lang="en-US" sz="1500" dirty="0">
                <a:solidFill>
                  <a:srgbClr val="333F70"/>
                </a:solidFill>
                <a:latin typeface="Open Sans" pitchFamily="34" charset="0"/>
                <a:ea typeface="Open Sans" pitchFamily="34" charset="-122"/>
                <a:cs typeface="Open Sans" pitchFamily="34" charset="-120"/>
              </a:rPr>
              <a:t> Evaluate entire process of conflict resolution-whether it is resolved or not.</a:t>
            </a:r>
            <a:endParaRPr lang="en-US" sz="1500" dirty="0"/>
          </a:p>
        </p:txBody>
      </p:sp>
      <p:sp>
        <p:nvSpPr>
          <p:cNvPr id="7" name="Text 5"/>
          <p:cNvSpPr/>
          <p:nvPr/>
        </p:nvSpPr>
        <p:spPr>
          <a:xfrm>
            <a:off x="686157" y="3654266"/>
            <a:ext cx="10209967" cy="612696"/>
          </a:xfrm>
          <a:prstGeom prst="rect">
            <a:avLst/>
          </a:prstGeom>
          <a:noFill/>
          <a:ln/>
        </p:spPr>
        <p:txBody>
          <a:bodyPr wrap="none" lIns="0" tIns="0" rIns="0" bIns="0" rtlCol="0" anchor="t"/>
          <a:lstStyle/>
          <a:p>
            <a:pPr indent="0" marL="0">
              <a:lnSpc>
                <a:spcPts val="4800"/>
              </a:lnSpc>
              <a:buNone/>
            </a:pPr>
            <a:r>
              <a:rPr lang="en-US" sz="3850" b="1" dirty="0">
                <a:solidFill>
                  <a:srgbClr val="333F70"/>
                </a:solidFill>
                <a:latin typeface="Unbounded Bold" pitchFamily="34" charset="0"/>
                <a:ea typeface="Unbounded Bold" pitchFamily="34" charset="-122"/>
                <a:cs typeface="Unbounded Bold" pitchFamily="34" charset="-120"/>
              </a:rPr>
              <a:t>Role of nurse in enhancing coping</a:t>
            </a:r>
            <a:endParaRPr lang="en-US" sz="3850" dirty="0"/>
          </a:p>
        </p:txBody>
      </p:sp>
      <p:sp>
        <p:nvSpPr>
          <p:cNvPr id="8" name="Text 6"/>
          <p:cNvSpPr/>
          <p:nvPr/>
        </p:nvSpPr>
        <p:spPr>
          <a:xfrm>
            <a:off x="686157" y="4560927"/>
            <a:ext cx="13258086" cy="391954"/>
          </a:xfrm>
          <a:prstGeom prst="rect">
            <a:avLst/>
          </a:prstGeom>
          <a:noFill/>
          <a:ln/>
        </p:spPr>
        <p:txBody>
          <a:bodyPr wrap="none" lIns="0" tIns="0" rIns="0" bIns="0" rtlCol="0" anchor="t"/>
          <a:lstStyle/>
          <a:p>
            <a:pPr algn="l" marL="342900" indent="-342900">
              <a:lnSpc>
                <a:spcPts val="2450"/>
              </a:lnSpc>
              <a:buSzPct val="100000"/>
              <a:buChar char="•"/>
            </a:pPr>
            <a:r>
              <a:rPr lang="en-US" sz="1500" dirty="0">
                <a:solidFill>
                  <a:srgbClr val="333F70"/>
                </a:solidFill>
                <a:latin typeface="Open Sans" pitchFamily="34" charset="0"/>
                <a:ea typeface="Open Sans" pitchFamily="34" charset="-122"/>
                <a:cs typeface="Open Sans" pitchFamily="34" charset="-120"/>
              </a:rPr>
              <a:t>Teach the patient problem focused Intervention- identify the problem causing distress and solve.</a:t>
            </a:r>
            <a:endParaRPr lang="en-US" sz="1500" dirty="0"/>
          </a:p>
        </p:txBody>
      </p:sp>
      <p:sp>
        <p:nvSpPr>
          <p:cNvPr id="9" name="Text 7"/>
          <p:cNvSpPr/>
          <p:nvPr/>
        </p:nvSpPr>
        <p:spPr>
          <a:xfrm>
            <a:off x="686157" y="5021461"/>
            <a:ext cx="13258086" cy="391954"/>
          </a:xfrm>
          <a:prstGeom prst="rect">
            <a:avLst/>
          </a:prstGeom>
          <a:noFill/>
          <a:ln/>
        </p:spPr>
        <p:txBody>
          <a:bodyPr wrap="none" lIns="0" tIns="0" rIns="0" bIns="0" rtlCol="0" anchor="t"/>
          <a:lstStyle/>
          <a:p>
            <a:pPr algn="l" marL="342900" indent="-342900">
              <a:lnSpc>
                <a:spcPts val="2450"/>
              </a:lnSpc>
              <a:buSzPct val="100000"/>
              <a:buChar char="•"/>
            </a:pPr>
            <a:r>
              <a:rPr lang="en-US" sz="1500" dirty="0">
                <a:solidFill>
                  <a:srgbClr val="333F70"/>
                </a:solidFill>
                <a:latin typeface="Open Sans" pitchFamily="34" charset="0"/>
                <a:ea typeface="Open Sans" pitchFamily="34" charset="-122"/>
                <a:cs typeface="Open Sans" pitchFamily="34" charset="-120"/>
              </a:rPr>
              <a:t> Teach the patient emotion focused intervention- reduce the negative emotions related to problem.</a:t>
            </a:r>
            <a:endParaRPr lang="en-US" sz="1500" dirty="0"/>
          </a:p>
        </p:txBody>
      </p:sp>
      <p:sp>
        <p:nvSpPr>
          <p:cNvPr id="10" name="Text 8"/>
          <p:cNvSpPr/>
          <p:nvPr/>
        </p:nvSpPr>
        <p:spPr>
          <a:xfrm>
            <a:off x="686157" y="5481995"/>
            <a:ext cx="13258086" cy="783908"/>
          </a:xfrm>
          <a:prstGeom prst="rect">
            <a:avLst/>
          </a:prstGeom>
          <a:noFill/>
          <a:ln/>
        </p:spPr>
        <p:txBody>
          <a:bodyPr wrap="square" lIns="0" tIns="0" rIns="0" bIns="0" rtlCol="0" anchor="t"/>
          <a:lstStyle/>
          <a:p>
            <a:pPr algn="l" marL="342900" indent="-342900">
              <a:lnSpc>
                <a:spcPts val="2450"/>
              </a:lnSpc>
              <a:buSzPct val="100000"/>
              <a:buChar char="•"/>
            </a:pPr>
            <a:r>
              <a:rPr lang="en-US" sz="1500" dirty="0">
                <a:solidFill>
                  <a:srgbClr val="333F70"/>
                </a:solidFill>
                <a:latin typeface="Open Sans" pitchFamily="34" charset="0"/>
                <a:ea typeface="Open Sans" pitchFamily="34" charset="-122"/>
                <a:cs typeface="Open Sans" pitchFamily="34" charset="-120"/>
              </a:rPr>
              <a:t>Teach the patient meaning focused intervention- involves finding meaning in stressful situation by drawing on own beliefs and values.</a:t>
            </a:r>
            <a:endParaRPr lang="en-US" sz="1500" dirty="0"/>
          </a:p>
        </p:txBody>
      </p:sp>
      <p:sp>
        <p:nvSpPr>
          <p:cNvPr id="11" name="Text 9"/>
          <p:cNvSpPr/>
          <p:nvPr/>
        </p:nvSpPr>
        <p:spPr>
          <a:xfrm>
            <a:off x="686157" y="6334482"/>
            <a:ext cx="13258086" cy="391954"/>
          </a:xfrm>
          <a:prstGeom prst="rect">
            <a:avLst/>
          </a:prstGeom>
          <a:noFill/>
          <a:ln/>
        </p:spPr>
        <p:txBody>
          <a:bodyPr wrap="none" lIns="0" tIns="0" rIns="0" bIns="0" rtlCol="0" anchor="t"/>
          <a:lstStyle/>
          <a:p>
            <a:pPr algn="l" marL="342900" indent="-342900">
              <a:lnSpc>
                <a:spcPts val="2450"/>
              </a:lnSpc>
              <a:buSzPct val="100000"/>
              <a:buChar char="•"/>
            </a:pPr>
            <a:r>
              <a:rPr lang="en-US" sz="1500" dirty="0">
                <a:solidFill>
                  <a:srgbClr val="333F70"/>
                </a:solidFill>
                <a:latin typeface="Open Sans" pitchFamily="34" charset="0"/>
                <a:ea typeface="Open Sans" pitchFamily="34" charset="-122"/>
                <a:cs typeface="Open Sans" pitchFamily="34" charset="-120"/>
              </a:rPr>
              <a:t> Teach the patient social coping.</a:t>
            </a:r>
            <a:endParaRPr lang="en-US" sz="1500" dirty="0"/>
          </a:p>
        </p:txBody>
      </p:sp>
      <p:sp>
        <p:nvSpPr>
          <p:cNvPr id="12" name="Text 10"/>
          <p:cNvSpPr/>
          <p:nvPr/>
        </p:nvSpPr>
        <p:spPr>
          <a:xfrm>
            <a:off x="686157" y="6795016"/>
            <a:ext cx="13258086" cy="391954"/>
          </a:xfrm>
          <a:prstGeom prst="rect">
            <a:avLst/>
          </a:prstGeom>
          <a:noFill/>
          <a:ln/>
        </p:spPr>
        <p:txBody>
          <a:bodyPr wrap="none" lIns="0" tIns="0" rIns="0" bIns="0" rtlCol="0" anchor="t"/>
          <a:lstStyle/>
          <a:p>
            <a:pPr algn="l" marL="342900" indent="-342900">
              <a:lnSpc>
                <a:spcPts val="2450"/>
              </a:lnSpc>
              <a:buSzPct val="100000"/>
              <a:buChar char="•"/>
            </a:pPr>
            <a:r>
              <a:rPr lang="en-US" sz="1500" dirty="0">
                <a:solidFill>
                  <a:srgbClr val="333F70"/>
                </a:solidFill>
                <a:latin typeface="Open Sans" pitchFamily="34" charset="0"/>
                <a:ea typeface="Open Sans" pitchFamily="34" charset="-122"/>
                <a:cs typeface="Open Sans" pitchFamily="34" charset="-120"/>
              </a:rPr>
              <a:t> Teach the client new coping skills.</a:t>
            </a:r>
            <a:endParaRPr lang="en-US" sz="1500" dirty="0"/>
          </a:p>
        </p:txBody>
      </p:sp>
      <p:sp>
        <p:nvSpPr>
          <p:cNvPr id="13" name="Text 11"/>
          <p:cNvSpPr/>
          <p:nvPr/>
        </p:nvSpPr>
        <p:spPr>
          <a:xfrm>
            <a:off x="686157" y="7255550"/>
            <a:ext cx="13258086" cy="391954"/>
          </a:xfrm>
          <a:prstGeom prst="rect">
            <a:avLst/>
          </a:prstGeom>
          <a:noFill/>
          <a:ln/>
        </p:spPr>
        <p:txBody>
          <a:bodyPr wrap="none" lIns="0" tIns="0" rIns="0" bIns="0" rtlCol="0" anchor="t"/>
          <a:lstStyle/>
          <a:p>
            <a:pPr algn="l" marL="342900" indent="-342900">
              <a:lnSpc>
                <a:spcPts val="2450"/>
              </a:lnSpc>
              <a:buSzPct val="100000"/>
              <a:buChar char="•"/>
            </a:pPr>
            <a:r>
              <a:rPr lang="en-US" sz="1500" dirty="0">
                <a:solidFill>
                  <a:srgbClr val="333F70"/>
                </a:solidFill>
                <a:latin typeface="Open Sans" pitchFamily="34" charset="0"/>
                <a:ea typeface="Open Sans" pitchFamily="34" charset="-122"/>
                <a:cs typeface="Open Sans" pitchFamily="34" charset="-120"/>
              </a:rPr>
              <a:t> Assign home assignments to patient.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988457"/>
            <a:ext cx="5902285" cy="708779"/>
          </a:xfrm>
          <a:prstGeom prst="rect">
            <a:avLst/>
          </a:prstGeom>
          <a:noFill/>
          <a:ln/>
        </p:spPr>
        <p:txBody>
          <a:bodyPr wrap="none" lIns="0" tIns="0" rIns="0" bIns="0" rtlCol="0" anchor="t"/>
          <a:lstStyle/>
          <a:p>
            <a:pPr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Dealing with Ego</a:t>
            </a:r>
            <a:endParaRPr lang="en-US" sz="4450" dirty="0"/>
          </a:p>
        </p:txBody>
      </p:sp>
      <p:sp>
        <p:nvSpPr>
          <p:cNvPr id="3" name="Text 1"/>
          <p:cNvSpPr/>
          <p:nvPr/>
        </p:nvSpPr>
        <p:spPr>
          <a:xfrm>
            <a:off x="793790" y="2150864"/>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The ego is described as the "world's most powerful psychological agency". </a:t>
            </a:r>
            <a:endParaRPr lang="en-US" sz="1750" dirty="0"/>
          </a:p>
        </p:txBody>
      </p:sp>
      <p:sp>
        <p:nvSpPr>
          <p:cNvPr id="4" name="Text 2"/>
          <p:cNvSpPr/>
          <p:nvPr/>
        </p:nvSpPr>
        <p:spPr>
          <a:xfrm>
            <a:off x="793790" y="2683669"/>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According to psychology, the ego evolves and changes throughout one's life as a result of interactions with the social and physical world.</a:t>
            </a:r>
            <a:endParaRPr lang="en-US" sz="1750" dirty="0"/>
          </a:p>
        </p:txBody>
      </p:sp>
      <p:sp>
        <p:nvSpPr>
          <p:cNvPr id="5" name="Text 3"/>
          <p:cNvSpPr/>
          <p:nvPr/>
        </p:nvSpPr>
        <p:spPr>
          <a:xfrm>
            <a:off x="793790" y="3669982"/>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Individuals with chronic and severe ego deficits should use an ego supportive approach, so ego supportive treatment can help them develop positive ego functions and ego strengths. </a:t>
            </a:r>
            <a:endParaRPr lang="en-US" sz="1750" dirty="0"/>
          </a:p>
        </p:txBody>
      </p:sp>
      <p:sp>
        <p:nvSpPr>
          <p:cNvPr id="6" name="Text 4"/>
          <p:cNvSpPr/>
          <p:nvPr/>
        </p:nvSpPr>
        <p:spPr>
          <a:xfrm>
            <a:off x="793790" y="4656296"/>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33F70"/>
                </a:solidFill>
                <a:latin typeface="Open Sans" pitchFamily="34" charset="0"/>
                <a:ea typeface="Open Sans" pitchFamily="34" charset="-122"/>
                <a:cs typeface="Open Sans" pitchFamily="34" charset="-120"/>
              </a:rPr>
              <a:t>Most significant goals of ego support are:-</a:t>
            </a:r>
            <a:endParaRPr lang="en-US" sz="1750" dirty="0"/>
          </a:p>
        </p:txBody>
      </p:sp>
      <p:sp>
        <p:nvSpPr>
          <p:cNvPr id="7" name="Text 5"/>
          <p:cNvSpPr/>
          <p:nvPr/>
        </p:nvSpPr>
        <p:spPr>
          <a:xfrm>
            <a:off x="793790" y="5189101"/>
            <a:ext cx="13042821" cy="453509"/>
          </a:xfrm>
          <a:prstGeom prst="rect">
            <a:avLst/>
          </a:prstGeom>
          <a:noFill/>
          <a:ln/>
        </p:spPr>
        <p:txBody>
          <a:bodyPr wrap="none" lIns="0" tIns="0" rIns="0" bIns="0" rtlCol="0" anchor="t"/>
          <a:lstStyle/>
          <a:p>
            <a:pPr algn="l" marL="342900" indent="-342900">
              <a:lnSpc>
                <a:spcPts val="2850"/>
              </a:lnSpc>
              <a:buSzPct val="100000"/>
              <a:buFont typeface="+mj-lt"/>
              <a:buAutoNum type="arabicPeriod" startAt="1"/>
            </a:pPr>
            <a:r>
              <a:rPr lang="en-US" sz="1750" dirty="0">
                <a:solidFill>
                  <a:srgbClr val="333F70"/>
                </a:solidFill>
                <a:latin typeface="Open Sans" pitchFamily="34" charset="0"/>
                <a:ea typeface="Open Sans" pitchFamily="34" charset="-122"/>
                <a:cs typeface="Open Sans" pitchFamily="34" charset="-120"/>
              </a:rPr>
              <a:t>Support and restore ego.</a:t>
            </a:r>
            <a:endParaRPr lang="en-US" sz="1750" dirty="0"/>
          </a:p>
        </p:txBody>
      </p:sp>
      <p:sp>
        <p:nvSpPr>
          <p:cNvPr id="8" name="Text 6"/>
          <p:cNvSpPr/>
          <p:nvPr/>
        </p:nvSpPr>
        <p:spPr>
          <a:xfrm>
            <a:off x="793790" y="5721906"/>
            <a:ext cx="13042821" cy="453509"/>
          </a:xfrm>
          <a:prstGeom prst="rect">
            <a:avLst/>
          </a:prstGeom>
          <a:noFill/>
          <a:ln/>
        </p:spPr>
        <p:txBody>
          <a:bodyPr wrap="none" lIns="0" tIns="0" rIns="0" bIns="0" rtlCol="0" anchor="t"/>
          <a:lstStyle/>
          <a:p>
            <a:pPr algn="l" marL="342900" indent="-342900">
              <a:lnSpc>
                <a:spcPts val="2850"/>
              </a:lnSpc>
              <a:buSzPct val="100000"/>
              <a:buFont typeface="+mj-lt"/>
              <a:buAutoNum type="arabicPeriod" startAt="2"/>
            </a:pPr>
            <a:r>
              <a:rPr lang="en-US" sz="1750" dirty="0">
                <a:solidFill>
                  <a:srgbClr val="333F70"/>
                </a:solidFill>
                <a:latin typeface="Open Sans" pitchFamily="34" charset="0"/>
                <a:ea typeface="Open Sans" pitchFamily="34" charset="-122"/>
                <a:cs typeface="Open Sans" pitchFamily="34" charset="-120"/>
              </a:rPr>
              <a:t>Maintain and enhance individual's adaptive functions.</a:t>
            </a:r>
            <a:endParaRPr lang="en-US" sz="1750" dirty="0"/>
          </a:p>
        </p:txBody>
      </p:sp>
      <p:sp>
        <p:nvSpPr>
          <p:cNvPr id="9" name="Text 7"/>
          <p:cNvSpPr/>
          <p:nvPr/>
        </p:nvSpPr>
        <p:spPr>
          <a:xfrm>
            <a:off x="793790" y="6254710"/>
            <a:ext cx="13042821" cy="453509"/>
          </a:xfrm>
          <a:prstGeom prst="rect">
            <a:avLst/>
          </a:prstGeom>
          <a:noFill/>
          <a:ln/>
        </p:spPr>
        <p:txBody>
          <a:bodyPr wrap="none" lIns="0" tIns="0" rIns="0" bIns="0" rtlCol="0" anchor="t"/>
          <a:lstStyle/>
          <a:p>
            <a:pPr algn="l" marL="342900" indent="-342900">
              <a:lnSpc>
                <a:spcPts val="2850"/>
              </a:lnSpc>
              <a:buSzPct val="100000"/>
              <a:buFont typeface="+mj-lt"/>
              <a:buAutoNum type="arabicPeriod" startAt="3"/>
            </a:pPr>
            <a:r>
              <a:rPr lang="en-US" sz="1750" dirty="0">
                <a:solidFill>
                  <a:srgbClr val="333F70"/>
                </a:solidFill>
                <a:latin typeface="Open Sans" pitchFamily="34" charset="0"/>
                <a:ea typeface="Open Sans" pitchFamily="34" charset="-122"/>
                <a:cs typeface="Open Sans" pitchFamily="34" charset="-120"/>
              </a:rPr>
              <a:t>Strengthening and building ego where there are deficits and impairments.</a:t>
            </a:r>
            <a:endParaRPr lang="en-US" sz="1750" dirty="0"/>
          </a:p>
        </p:txBody>
      </p:sp>
      <p:sp>
        <p:nvSpPr>
          <p:cNvPr id="10" name="Text 8"/>
          <p:cNvSpPr/>
          <p:nvPr/>
        </p:nvSpPr>
        <p:spPr>
          <a:xfrm>
            <a:off x="793790" y="6787515"/>
            <a:ext cx="13042821" cy="453509"/>
          </a:xfrm>
          <a:prstGeom prst="rect">
            <a:avLst/>
          </a:prstGeom>
          <a:noFill/>
          <a:ln/>
        </p:spPr>
        <p:txBody>
          <a:bodyPr wrap="none" lIns="0" tIns="0" rIns="0" bIns="0" rtlCol="0" anchor="t"/>
          <a:lstStyle/>
          <a:p>
            <a:pPr algn="l" marL="342900" indent="-342900">
              <a:lnSpc>
                <a:spcPts val="2850"/>
              </a:lnSpc>
              <a:buSzPct val="100000"/>
              <a:buFont typeface="+mj-lt"/>
              <a:buAutoNum type="arabicPeriod" startAt="4"/>
            </a:pPr>
            <a:r>
              <a:rPr lang="en-US" sz="1750" dirty="0">
                <a:solidFill>
                  <a:srgbClr val="333F70"/>
                </a:solidFill>
                <a:latin typeface="Open Sans" pitchFamily="34" charset="0"/>
                <a:ea typeface="Open Sans" pitchFamily="34" charset="-122"/>
                <a:cs typeface="Open Sans" pitchFamily="34" charset="-120"/>
              </a:rPr>
              <a:t>Promote the use of higher levels of ego defense.</a:t>
            </a:r>
            <a:endParaRPr lang="en-US" sz="1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12589" y="559832"/>
            <a:ext cx="7467481" cy="508992"/>
          </a:xfrm>
          <a:prstGeom prst="rect">
            <a:avLst/>
          </a:prstGeom>
          <a:noFill/>
          <a:ln/>
        </p:spPr>
        <p:txBody>
          <a:bodyPr wrap="none" lIns="0" tIns="0" rIns="0" bIns="0" rtlCol="0" anchor="t"/>
          <a:lstStyle/>
          <a:p>
            <a:pPr indent="0" marL="0">
              <a:lnSpc>
                <a:spcPts val="4000"/>
              </a:lnSpc>
              <a:buNone/>
            </a:pPr>
            <a:r>
              <a:rPr lang="en-US" sz="3200" b="1" dirty="0">
                <a:solidFill>
                  <a:srgbClr val="333F70"/>
                </a:solidFill>
                <a:latin typeface="Unbounded Bold" pitchFamily="34" charset="0"/>
                <a:ea typeface="Unbounded Bold" pitchFamily="34" charset="-122"/>
                <a:cs typeface="Unbounded Bold" pitchFamily="34" charset="-120"/>
              </a:rPr>
              <a:t>Ego Supportive Interventions</a:t>
            </a:r>
            <a:endParaRPr lang="en-US" sz="3200" dirty="0"/>
          </a:p>
        </p:txBody>
      </p:sp>
      <p:sp>
        <p:nvSpPr>
          <p:cNvPr id="3" name="Text 1"/>
          <p:cNvSpPr/>
          <p:nvPr/>
        </p:nvSpPr>
        <p:spPr>
          <a:xfrm>
            <a:off x="712589" y="1476018"/>
            <a:ext cx="13205222" cy="814388"/>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333F70"/>
                </a:solidFill>
                <a:latin typeface="Open Sans" pitchFamily="34" charset="0"/>
                <a:ea typeface="Open Sans" pitchFamily="34" charset="-122"/>
                <a:cs typeface="Open Sans" pitchFamily="34" charset="-120"/>
              </a:rPr>
              <a:t>When we start to believe that we are special and that no one else is like us, we lose our potential to be genuinely creative. This is referred to as poisonous ego.</a:t>
            </a:r>
            <a:endParaRPr lang="en-US" sz="1600" dirty="0"/>
          </a:p>
        </p:txBody>
      </p:sp>
      <p:sp>
        <p:nvSpPr>
          <p:cNvPr id="4" name="Text 2"/>
          <p:cNvSpPr/>
          <p:nvPr/>
        </p:nvSpPr>
        <p:spPr>
          <a:xfrm>
            <a:off x="712589" y="2361605"/>
            <a:ext cx="13205222" cy="407194"/>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333F70"/>
                </a:solidFill>
                <a:latin typeface="Open Sans" pitchFamily="34" charset="0"/>
                <a:ea typeface="Open Sans" pitchFamily="34" charset="-122"/>
                <a:cs typeface="Open Sans" pitchFamily="34" charset="-120"/>
              </a:rPr>
              <a:t>It is important to keep toxic ego and selfishness away.</a:t>
            </a:r>
            <a:endParaRPr lang="en-US" sz="1600" dirty="0"/>
          </a:p>
        </p:txBody>
      </p:sp>
      <p:sp>
        <p:nvSpPr>
          <p:cNvPr id="5" name="Text 3"/>
          <p:cNvSpPr/>
          <p:nvPr/>
        </p:nvSpPr>
        <p:spPr>
          <a:xfrm>
            <a:off x="712589" y="2839998"/>
            <a:ext cx="13205222" cy="814388"/>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333F70"/>
                </a:solidFill>
                <a:latin typeface="Open Sans" pitchFamily="34" charset="0"/>
                <a:ea typeface="Open Sans" pitchFamily="34" charset="-122"/>
                <a:cs typeface="Open Sans" pitchFamily="34" charset="-120"/>
              </a:rPr>
              <a:t>Followings are the techniques with that one can deal with toxic ego effectively and keep oneself creative and humble:-</a:t>
            </a:r>
            <a:endParaRPr lang="en-US" sz="1600" dirty="0"/>
          </a:p>
        </p:txBody>
      </p:sp>
      <p:sp>
        <p:nvSpPr>
          <p:cNvPr id="6" name="Text 4"/>
          <p:cNvSpPr/>
          <p:nvPr/>
        </p:nvSpPr>
        <p:spPr>
          <a:xfrm>
            <a:off x="712589" y="3725585"/>
            <a:ext cx="13205222" cy="814388"/>
          </a:xfrm>
          <a:prstGeom prst="rect">
            <a:avLst/>
          </a:prstGeom>
          <a:noFill/>
          <a:ln/>
        </p:spPr>
        <p:txBody>
          <a:bodyPr wrap="square" lIns="0" tIns="0" rIns="0" bIns="0" rtlCol="0" anchor="t"/>
          <a:lstStyle/>
          <a:p>
            <a:pPr algn="l" indent="0" marL="0">
              <a:lnSpc>
                <a:spcPts val="2550"/>
              </a:lnSpc>
              <a:buNone/>
            </a:pPr>
            <a:r>
              <a:rPr lang="en-US" sz="1600" b="1" dirty="0">
                <a:solidFill>
                  <a:srgbClr val="333F70"/>
                </a:solidFill>
                <a:latin typeface="Open Sans" pitchFamily="34" charset="0"/>
                <a:ea typeface="Open Sans" pitchFamily="34" charset="-122"/>
                <a:cs typeface="Open Sans" pitchFamily="34" charset="-120"/>
              </a:rPr>
              <a:t>Adopt the beginner's mindset</a:t>
            </a:r>
            <a:pPr algn="l" indent="0" marL="0">
              <a:lnSpc>
                <a:spcPts val="2550"/>
              </a:lnSpc>
              <a:buNone/>
            </a:pPr>
            <a:r>
              <a:rPr lang="en-US" sz="1600" dirty="0">
                <a:solidFill>
                  <a:srgbClr val="333F70"/>
                </a:solidFill>
                <a:latin typeface="Open Sans" pitchFamily="34" charset="0"/>
                <a:ea typeface="Open Sans" pitchFamily="34" charset="-122"/>
                <a:cs typeface="Open Sans" pitchFamily="34" charset="-120"/>
              </a:rPr>
              <a:t>: With this one can remain free from social pressure and develop open mindset who is always ready to learn from the mistakes.</a:t>
            </a:r>
            <a:endParaRPr lang="en-US" sz="1600" dirty="0"/>
          </a:p>
        </p:txBody>
      </p:sp>
      <p:sp>
        <p:nvSpPr>
          <p:cNvPr id="7" name="Shape 5"/>
          <p:cNvSpPr/>
          <p:nvPr/>
        </p:nvSpPr>
        <p:spPr>
          <a:xfrm>
            <a:off x="712589" y="3801904"/>
            <a:ext cx="254437" cy="254437"/>
          </a:xfrm>
          <a:prstGeom prst="roundRect">
            <a:avLst>
              <a:gd name="adj" fmla="val 42010"/>
            </a:avLst>
          </a:prstGeom>
          <a:noFill/>
          <a:ln w="30480">
            <a:solidFill>
              <a:srgbClr val="26A688"/>
            </a:solidFill>
            <a:prstDash val="solid"/>
          </a:ln>
        </p:spPr>
      </p:sp>
      <p:sp>
        <p:nvSpPr>
          <p:cNvPr id="8" name="Text 6"/>
          <p:cNvSpPr/>
          <p:nvPr/>
        </p:nvSpPr>
        <p:spPr>
          <a:xfrm>
            <a:off x="712589" y="4611172"/>
            <a:ext cx="13205222" cy="814388"/>
          </a:xfrm>
          <a:prstGeom prst="rect">
            <a:avLst/>
          </a:prstGeom>
          <a:noFill/>
          <a:ln/>
        </p:spPr>
        <p:txBody>
          <a:bodyPr wrap="square" lIns="0" tIns="0" rIns="0" bIns="0" rtlCol="0" anchor="t"/>
          <a:lstStyle/>
          <a:p>
            <a:pPr algn="l" indent="0" marL="0">
              <a:lnSpc>
                <a:spcPts val="2550"/>
              </a:lnSpc>
              <a:buNone/>
            </a:pPr>
            <a:r>
              <a:rPr lang="en-US" sz="1600" b="1" dirty="0">
                <a:solidFill>
                  <a:srgbClr val="333F70"/>
                </a:solidFill>
                <a:latin typeface="Open Sans" pitchFamily="34" charset="0"/>
                <a:ea typeface="Open Sans" pitchFamily="34" charset="-122"/>
                <a:cs typeface="Open Sans" pitchFamily="34" charset="-120"/>
              </a:rPr>
              <a:t>Focus on the effort not the outcome</a:t>
            </a:r>
            <a:pPr algn="l" indent="0" marL="0">
              <a:lnSpc>
                <a:spcPts val="2550"/>
              </a:lnSpc>
              <a:buNone/>
            </a:pPr>
            <a:r>
              <a:rPr lang="en-US" sz="1600" dirty="0">
                <a:solidFill>
                  <a:srgbClr val="333F70"/>
                </a:solidFill>
                <a:latin typeface="Open Sans" pitchFamily="34" charset="0"/>
                <a:ea typeface="Open Sans" pitchFamily="34" charset="-122"/>
                <a:cs typeface="Open Sans" pitchFamily="34" charset="-120"/>
              </a:rPr>
              <a:t>: Do your best that is what matters and external rewards are just extra. </a:t>
            </a:r>
            <a:endParaRPr lang="en-US" sz="1600" dirty="0"/>
          </a:p>
        </p:txBody>
      </p:sp>
      <p:sp>
        <p:nvSpPr>
          <p:cNvPr id="9" name="Shape 7"/>
          <p:cNvSpPr/>
          <p:nvPr/>
        </p:nvSpPr>
        <p:spPr>
          <a:xfrm>
            <a:off x="712589" y="4687491"/>
            <a:ext cx="254437" cy="254437"/>
          </a:xfrm>
          <a:prstGeom prst="roundRect">
            <a:avLst>
              <a:gd name="adj" fmla="val 42010"/>
            </a:avLst>
          </a:prstGeom>
          <a:noFill/>
          <a:ln w="30480">
            <a:solidFill>
              <a:srgbClr val="26A688"/>
            </a:solidFill>
            <a:prstDash val="solid"/>
          </a:ln>
        </p:spPr>
      </p:sp>
      <p:sp>
        <p:nvSpPr>
          <p:cNvPr id="10" name="Text 8"/>
          <p:cNvSpPr/>
          <p:nvPr/>
        </p:nvSpPr>
        <p:spPr>
          <a:xfrm>
            <a:off x="712589" y="5496758"/>
            <a:ext cx="13205222" cy="814388"/>
          </a:xfrm>
          <a:prstGeom prst="rect">
            <a:avLst/>
          </a:prstGeom>
          <a:noFill/>
          <a:ln/>
        </p:spPr>
        <p:txBody>
          <a:bodyPr wrap="square" lIns="0" tIns="0" rIns="0" bIns="0" rtlCol="0" anchor="t"/>
          <a:lstStyle/>
          <a:p>
            <a:pPr algn="l" indent="0" marL="0">
              <a:lnSpc>
                <a:spcPts val="2550"/>
              </a:lnSpc>
              <a:buNone/>
            </a:pPr>
            <a:r>
              <a:rPr lang="en-US" sz="1600" b="1" dirty="0">
                <a:solidFill>
                  <a:srgbClr val="333F70"/>
                </a:solidFill>
                <a:latin typeface="Open Sans" pitchFamily="34" charset="0"/>
                <a:ea typeface="Open Sans" pitchFamily="34" charset="-122"/>
                <a:cs typeface="Open Sans" pitchFamily="34" charset="-120"/>
              </a:rPr>
              <a:t>Choose purpose over passion</a:t>
            </a:r>
            <a:pPr algn="l" indent="0" marL="0">
              <a:lnSpc>
                <a:spcPts val="2550"/>
              </a:lnSpc>
              <a:buNone/>
            </a:pPr>
            <a:r>
              <a:rPr lang="en-US" sz="1600" dirty="0">
                <a:solidFill>
                  <a:srgbClr val="333F70"/>
                </a:solidFill>
                <a:latin typeface="Open Sans" pitchFamily="34" charset="0"/>
                <a:ea typeface="Open Sans" pitchFamily="34" charset="-122"/>
                <a:cs typeface="Open Sans" pitchFamily="34" charset="-120"/>
              </a:rPr>
              <a:t>: Passion alone causes frustration and burnout, whereas passion combined with reason makes one more dedicated and have control over their direction.</a:t>
            </a:r>
            <a:endParaRPr lang="en-US" sz="1600" dirty="0"/>
          </a:p>
        </p:txBody>
      </p:sp>
      <p:sp>
        <p:nvSpPr>
          <p:cNvPr id="11" name="Shape 9"/>
          <p:cNvSpPr/>
          <p:nvPr/>
        </p:nvSpPr>
        <p:spPr>
          <a:xfrm>
            <a:off x="712589" y="5573078"/>
            <a:ext cx="254437" cy="254437"/>
          </a:xfrm>
          <a:prstGeom prst="roundRect">
            <a:avLst>
              <a:gd name="adj" fmla="val 42010"/>
            </a:avLst>
          </a:prstGeom>
          <a:noFill/>
          <a:ln w="30480">
            <a:solidFill>
              <a:srgbClr val="26A688"/>
            </a:solidFill>
            <a:prstDash val="solid"/>
          </a:ln>
        </p:spPr>
      </p:sp>
      <p:sp>
        <p:nvSpPr>
          <p:cNvPr id="12" name="Text 10"/>
          <p:cNvSpPr/>
          <p:nvPr/>
        </p:nvSpPr>
        <p:spPr>
          <a:xfrm>
            <a:off x="712589" y="6382345"/>
            <a:ext cx="13205222" cy="814388"/>
          </a:xfrm>
          <a:prstGeom prst="rect">
            <a:avLst/>
          </a:prstGeom>
          <a:noFill/>
          <a:ln/>
        </p:spPr>
        <p:txBody>
          <a:bodyPr wrap="square" lIns="0" tIns="0" rIns="0" bIns="0" rtlCol="0" anchor="t"/>
          <a:lstStyle/>
          <a:p>
            <a:pPr algn="l" indent="0" marL="0">
              <a:lnSpc>
                <a:spcPts val="2550"/>
              </a:lnSpc>
              <a:buNone/>
            </a:pPr>
            <a:r>
              <a:rPr lang="en-US" sz="1600" b="1" dirty="0">
                <a:solidFill>
                  <a:srgbClr val="333F70"/>
                </a:solidFill>
                <a:latin typeface="Open Sans" pitchFamily="34" charset="0"/>
                <a:ea typeface="Open Sans" pitchFamily="34" charset="-122"/>
                <a:cs typeface="Open Sans" pitchFamily="34" charset="-120"/>
              </a:rPr>
              <a:t>Leave the comfort zone</a:t>
            </a:r>
            <a:pPr algn="l" indent="0" marL="0">
              <a:lnSpc>
                <a:spcPts val="2550"/>
              </a:lnSpc>
              <a:buNone/>
            </a:pPr>
            <a:r>
              <a:rPr lang="en-US" sz="1600" dirty="0">
                <a:solidFill>
                  <a:srgbClr val="333F70"/>
                </a:solidFill>
                <a:latin typeface="Open Sans" pitchFamily="34" charset="0"/>
                <a:ea typeface="Open Sans" pitchFamily="34" charset="-122"/>
                <a:cs typeface="Open Sans" pitchFamily="34" charset="-120"/>
              </a:rPr>
              <a:t>: People talk endlessly on social media getting validation and attention with fake internet points and avoiding the uncertainty of doing the challenging work.</a:t>
            </a:r>
            <a:endParaRPr lang="en-US" sz="1600" dirty="0"/>
          </a:p>
        </p:txBody>
      </p:sp>
      <p:sp>
        <p:nvSpPr>
          <p:cNvPr id="13" name="Shape 11"/>
          <p:cNvSpPr/>
          <p:nvPr/>
        </p:nvSpPr>
        <p:spPr>
          <a:xfrm>
            <a:off x="712589" y="6458664"/>
            <a:ext cx="254437" cy="254437"/>
          </a:xfrm>
          <a:prstGeom prst="roundRect">
            <a:avLst>
              <a:gd name="adj" fmla="val 42010"/>
            </a:avLst>
          </a:prstGeom>
          <a:noFill/>
          <a:ln w="30480">
            <a:solidFill>
              <a:srgbClr val="26A688"/>
            </a:solidFill>
            <a:prstDash val="solid"/>
          </a:ln>
        </p:spPr>
      </p:sp>
      <p:sp>
        <p:nvSpPr>
          <p:cNvPr id="14" name="Text 12"/>
          <p:cNvSpPr/>
          <p:nvPr/>
        </p:nvSpPr>
        <p:spPr>
          <a:xfrm>
            <a:off x="712589" y="7267932"/>
            <a:ext cx="13205222" cy="407194"/>
          </a:xfrm>
          <a:prstGeom prst="rect">
            <a:avLst/>
          </a:prstGeom>
          <a:noFill/>
          <a:ln/>
        </p:spPr>
        <p:txBody>
          <a:bodyPr wrap="none" lIns="0" tIns="0" rIns="0" bIns="0" rtlCol="0" anchor="t"/>
          <a:lstStyle/>
          <a:p>
            <a:pPr algn="l" indent="0" marL="0">
              <a:lnSpc>
                <a:spcPts val="2550"/>
              </a:lnSpc>
              <a:buNone/>
            </a:pPr>
            <a:r>
              <a:rPr lang="en-US" sz="1600" b="1" dirty="0">
                <a:solidFill>
                  <a:srgbClr val="333F70"/>
                </a:solidFill>
                <a:latin typeface="Open Sans" pitchFamily="34" charset="0"/>
                <a:ea typeface="Open Sans" pitchFamily="34" charset="-122"/>
                <a:cs typeface="Open Sans" pitchFamily="34" charset="-120"/>
              </a:rPr>
              <a:t>Kill pride</a:t>
            </a:r>
            <a:pPr algn="l" indent="0" marL="0">
              <a:lnSpc>
                <a:spcPts val="2550"/>
              </a:lnSpc>
              <a:buNone/>
            </a:pPr>
            <a:r>
              <a:rPr lang="en-US" sz="1600" dirty="0">
                <a:solidFill>
                  <a:srgbClr val="333F70"/>
                </a:solidFill>
                <a:latin typeface="Open Sans" pitchFamily="34" charset="0"/>
                <a:ea typeface="Open Sans" pitchFamily="34" charset="-122"/>
                <a:cs typeface="Open Sans" pitchFamily="34" charset="-120"/>
              </a:rPr>
              <a:t>: You must remember that humility is the antidote to pride.</a:t>
            </a:r>
            <a:endParaRPr lang="en-US" sz="1600" dirty="0"/>
          </a:p>
        </p:txBody>
      </p:sp>
      <p:sp>
        <p:nvSpPr>
          <p:cNvPr id="15" name="Shape 13"/>
          <p:cNvSpPr/>
          <p:nvPr/>
        </p:nvSpPr>
        <p:spPr>
          <a:xfrm>
            <a:off x="712589" y="7344251"/>
            <a:ext cx="254437" cy="254437"/>
          </a:xfrm>
          <a:prstGeom prst="roundRect">
            <a:avLst>
              <a:gd name="adj" fmla="val 42010"/>
            </a:avLst>
          </a:prstGeom>
          <a:noFill/>
          <a:ln w="30480">
            <a:solidFill>
              <a:srgbClr val="26A688"/>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37235" y="579834"/>
            <a:ext cx="5265896" cy="658178"/>
          </a:xfrm>
          <a:prstGeom prst="rect">
            <a:avLst/>
          </a:prstGeom>
          <a:noFill/>
          <a:ln/>
        </p:spPr>
        <p:txBody>
          <a:bodyPr wrap="none" lIns="0" tIns="0" rIns="0" bIns="0" rtlCol="0" anchor="t"/>
          <a:lstStyle/>
          <a:p>
            <a:pPr indent="0" marL="0">
              <a:lnSpc>
                <a:spcPts val="5150"/>
              </a:lnSpc>
              <a:buNone/>
            </a:pPr>
            <a:endParaRPr lang="en-US" sz="4100" dirty="0"/>
          </a:p>
        </p:txBody>
      </p:sp>
      <p:sp>
        <p:nvSpPr>
          <p:cNvPr id="3" name="Text 1"/>
          <p:cNvSpPr/>
          <p:nvPr/>
        </p:nvSpPr>
        <p:spPr>
          <a:xfrm>
            <a:off x="737235" y="1659255"/>
            <a:ext cx="13155930" cy="1263372"/>
          </a:xfrm>
          <a:prstGeom prst="rect">
            <a:avLst/>
          </a:prstGeom>
          <a:noFill/>
          <a:ln/>
        </p:spPr>
        <p:txBody>
          <a:bodyPr wrap="square" lIns="0" tIns="0" rIns="0" bIns="0" rtlCol="0" anchor="t"/>
          <a:lstStyle/>
          <a:p>
            <a:pPr algn="l" indent="0" marL="0">
              <a:lnSpc>
                <a:spcPts val="2650"/>
              </a:lnSpc>
              <a:buNone/>
            </a:pPr>
            <a:r>
              <a:rPr lang="en-US" sz="1650" b="1" dirty="0">
                <a:solidFill>
                  <a:srgbClr val="333F70"/>
                </a:solidFill>
                <a:latin typeface="Open Sans" pitchFamily="34" charset="0"/>
                <a:ea typeface="Open Sans" pitchFamily="34" charset="-122"/>
                <a:cs typeface="Open Sans" pitchFamily="34" charset="-120"/>
              </a:rPr>
              <a:t>Learn to manage success</a:t>
            </a:r>
            <a:pPr algn="l" indent="0" marL="0">
              <a:lnSpc>
                <a:spcPts val="2650"/>
              </a:lnSpc>
              <a:buNone/>
            </a:pPr>
            <a:r>
              <a:rPr lang="en-US" sz="1650" dirty="0">
                <a:solidFill>
                  <a:srgbClr val="333F70"/>
                </a:solidFill>
                <a:latin typeface="Open Sans" pitchFamily="34" charset="0"/>
                <a:ea typeface="Open Sans" pitchFamily="34" charset="-122"/>
                <a:cs typeface="Open Sans" pitchFamily="34" charset="-120"/>
              </a:rPr>
              <a:t>: When one achieve success and think that success in the future is just the natural and expected every time. This is a straightforward path to failure and disappointment hence one must always focus on the present moment.</a:t>
            </a:r>
            <a:endParaRPr lang="en-US" sz="1650" dirty="0"/>
          </a:p>
        </p:txBody>
      </p:sp>
      <p:sp>
        <p:nvSpPr>
          <p:cNvPr id="4" name="Shape 2"/>
          <p:cNvSpPr/>
          <p:nvPr/>
        </p:nvSpPr>
        <p:spPr>
          <a:xfrm>
            <a:off x="737235" y="1738193"/>
            <a:ext cx="263247" cy="263247"/>
          </a:xfrm>
          <a:prstGeom prst="roundRect">
            <a:avLst>
              <a:gd name="adj" fmla="val 42008"/>
            </a:avLst>
          </a:prstGeom>
          <a:noFill/>
          <a:ln w="30480">
            <a:solidFill>
              <a:srgbClr val="26A688"/>
            </a:solidFill>
            <a:prstDash val="solid"/>
          </a:ln>
        </p:spPr>
      </p:sp>
      <p:sp>
        <p:nvSpPr>
          <p:cNvPr id="5" name="Text 3"/>
          <p:cNvSpPr/>
          <p:nvPr/>
        </p:nvSpPr>
        <p:spPr>
          <a:xfrm>
            <a:off x="737235" y="2996327"/>
            <a:ext cx="13155930" cy="842248"/>
          </a:xfrm>
          <a:prstGeom prst="rect">
            <a:avLst/>
          </a:prstGeom>
          <a:noFill/>
          <a:ln/>
        </p:spPr>
        <p:txBody>
          <a:bodyPr wrap="square" lIns="0" tIns="0" rIns="0" bIns="0" rtlCol="0" anchor="t"/>
          <a:lstStyle/>
          <a:p>
            <a:pPr algn="l" indent="0" marL="0">
              <a:lnSpc>
                <a:spcPts val="2650"/>
              </a:lnSpc>
              <a:buNone/>
            </a:pPr>
            <a:r>
              <a:rPr lang="en-US" sz="1650" b="1" dirty="0">
                <a:solidFill>
                  <a:srgbClr val="333F70"/>
                </a:solidFill>
                <a:latin typeface="Open Sans" pitchFamily="34" charset="0"/>
                <a:ea typeface="Open Sans" pitchFamily="34" charset="-122"/>
                <a:cs typeface="Open Sans" pitchFamily="34" charset="-120"/>
              </a:rPr>
              <a:t>Focused and avoid distraction</a:t>
            </a:r>
            <a:pPr algn="l" indent="0" marL="0">
              <a:lnSpc>
                <a:spcPts val="2650"/>
              </a:lnSpc>
              <a:buNone/>
            </a:pPr>
            <a:r>
              <a:rPr lang="en-US" sz="1650" dirty="0">
                <a:solidFill>
                  <a:srgbClr val="333F70"/>
                </a:solidFill>
                <a:latin typeface="Open Sans" pitchFamily="34" charset="0"/>
                <a:ea typeface="Open Sans" pitchFamily="34" charset="-122"/>
                <a:cs typeface="Open Sans" pitchFamily="34" charset="-120"/>
              </a:rPr>
              <a:t>: One need to understand his/her priorities and reject all the distraction. </a:t>
            </a:r>
            <a:endParaRPr lang="en-US" sz="1650" dirty="0"/>
          </a:p>
        </p:txBody>
      </p:sp>
      <p:sp>
        <p:nvSpPr>
          <p:cNvPr id="6" name="Shape 4"/>
          <p:cNvSpPr/>
          <p:nvPr/>
        </p:nvSpPr>
        <p:spPr>
          <a:xfrm>
            <a:off x="737235" y="3075265"/>
            <a:ext cx="263247" cy="263247"/>
          </a:xfrm>
          <a:prstGeom prst="roundRect">
            <a:avLst>
              <a:gd name="adj" fmla="val 42008"/>
            </a:avLst>
          </a:prstGeom>
          <a:noFill/>
          <a:ln w="30480">
            <a:solidFill>
              <a:srgbClr val="26A688"/>
            </a:solidFill>
            <a:prstDash val="solid"/>
          </a:ln>
        </p:spPr>
      </p:sp>
      <p:sp>
        <p:nvSpPr>
          <p:cNvPr id="7" name="Text 5"/>
          <p:cNvSpPr/>
          <p:nvPr/>
        </p:nvSpPr>
        <p:spPr>
          <a:xfrm>
            <a:off x="737235" y="3912275"/>
            <a:ext cx="13155930" cy="421124"/>
          </a:xfrm>
          <a:prstGeom prst="rect">
            <a:avLst/>
          </a:prstGeom>
          <a:noFill/>
          <a:ln/>
        </p:spPr>
        <p:txBody>
          <a:bodyPr wrap="none" lIns="0" tIns="0" rIns="0" bIns="0" rtlCol="0" anchor="t"/>
          <a:lstStyle/>
          <a:p>
            <a:pPr algn="l" indent="0" marL="0">
              <a:lnSpc>
                <a:spcPts val="2650"/>
              </a:lnSpc>
              <a:buNone/>
            </a:pPr>
            <a:r>
              <a:rPr lang="en-US" sz="1650" b="1" dirty="0">
                <a:solidFill>
                  <a:srgbClr val="333F70"/>
                </a:solidFill>
                <a:latin typeface="Open Sans" pitchFamily="34" charset="0"/>
                <a:ea typeface="Open Sans" pitchFamily="34" charset="-122"/>
                <a:cs typeface="Open Sans" pitchFamily="34" charset="-120"/>
              </a:rPr>
              <a:t>Let go of control</a:t>
            </a:r>
            <a:pPr algn="l" indent="0" marL="0">
              <a:lnSpc>
                <a:spcPts val="2650"/>
              </a:lnSpc>
              <a:buNone/>
            </a:pPr>
            <a:r>
              <a:rPr lang="en-US" sz="1650" dirty="0">
                <a:solidFill>
                  <a:srgbClr val="333F70"/>
                </a:solidFill>
                <a:latin typeface="Open Sans" pitchFamily="34" charset="0"/>
                <a:ea typeface="Open Sans" pitchFamily="34" charset="-122"/>
                <a:cs typeface="Open Sans" pitchFamily="34" charset="-120"/>
              </a:rPr>
              <a:t>: One must remember themselves of the limits of their authority and reach. </a:t>
            </a:r>
            <a:endParaRPr lang="en-US" sz="1650" dirty="0"/>
          </a:p>
        </p:txBody>
      </p:sp>
      <p:sp>
        <p:nvSpPr>
          <p:cNvPr id="8" name="Shape 6"/>
          <p:cNvSpPr/>
          <p:nvPr/>
        </p:nvSpPr>
        <p:spPr>
          <a:xfrm>
            <a:off x="737235" y="3991213"/>
            <a:ext cx="263247" cy="263247"/>
          </a:xfrm>
          <a:prstGeom prst="roundRect">
            <a:avLst>
              <a:gd name="adj" fmla="val 42008"/>
            </a:avLst>
          </a:prstGeom>
          <a:noFill/>
          <a:ln w="30480">
            <a:solidFill>
              <a:srgbClr val="26A688"/>
            </a:solidFill>
            <a:prstDash val="solid"/>
          </a:ln>
        </p:spPr>
      </p:sp>
      <p:sp>
        <p:nvSpPr>
          <p:cNvPr id="9" name="Text 7"/>
          <p:cNvSpPr/>
          <p:nvPr/>
        </p:nvSpPr>
        <p:spPr>
          <a:xfrm>
            <a:off x="737235" y="4407098"/>
            <a:ext cx="13155930" cy="421124"/>
          </a:xfrm>
          <a:prstGeom prst="rect">
            <a:avLst/>
          </a:prstGeom>
          <a:noFill/>
          <a:ln/>
        </p:spPr>
        <p:txBody>
          <a:bodyPr wrap="none" lIns="0" tIns="0" rIns="0" bIns="0" rtlCol="0" anchor="t"/>
          <a:lstStyle/>
          <a:p>
            <a:pPr algn="l" indent="0" marL="0">
              <a:lnSpc>
                <a:spcPts val="2650"/>
              </a:lnSpc>
              <a:buNone/>
            </a:pPr>
            <a:r>
              <a:rPr lang="en-US" sz="1650" b="1" dirty="0">
                <a:solidFill>
                  <a:srgbClr val="333F70"/>
                </a:solidFill>
                <a:latin typeface="Open Sans" pitchFamily="34" charset="0"/>
                <a:ea typeface="Open Sans" pitchFamily="34" charset="-122"/>
                <a:cs typeface="Open Sans" pitchFamily="34" charset="-120"/>
              </a:rPr>
              <a:t>Help subordinates</a:t>
            </a:r>
            <a:pPr algn="l" indent="0" marL="0">
              <a:lnSpc>
                <a:spcPts val="2650"/>
              </a:lnSpc>
              <a:buNone/>
            </a:pPr>
            <a:r>
              <a:rPr lang="en-US" sz="1650" dirty="0">
                <a:solidFill>
                  <a:srgbClr val="333F70"/>
                </a:solidFill>
                <a:latin typeface="Open Sans" pitchFamily="34" charset="0"/>
                <a:ea typeface="Open Sans" pitchFamily="34" charset="-122"/>
                <a:cs typeface="Open Sans" pitchFamily="34" charset="-120"/>
              </a:rPr>
              <a:t>: Help team member professionally and personally. </a:t>
            </a:r>
            <a:endParaRPr lang="en-US" sz="1650" dirty="0"/>
          </a:p>
        </p:txBody>
      </p:sp>
      <p:sp>
        <p:nvSpPr>
          <p:cNvPr id="10" name="Shape 8"/>
          <p:cNvSpPr/>
          <p:nvPr/>
        </p:nvSpPr>
        <p:spPr>
          <a:xfrm>
            <a:off x="737235" y="4486037"/>
            <a:ext cx="263247" cy="263247"/>
          </a:xfrm>
          <a:prstGeom prst="roundRect">
            <a:avLst>
              <a:gd name="adj" fmla="val 42008"/>
            </a:avLst>
          </a:prstGeom>
          <a:noFill/>
          <a:ln w="30480">
            <a:solidFill>
              <a:srgbClr val="26A688"/>
            </a:solidFill>
            <a:prstDash val="solid"/>
          </a:ln>
        </p:spPr>
      </p:sp>
      <p:sp>
        <p:nvSpPr>
          <p:cNvPr id="11" name="Text 9"/>
          <p:cNvSpPr/>
          <p:nvPr/>
        </p:nvSpPr>
        <p:spPr>
          <a:xfrm>
            <a:off x="737235" y="4901922"/>
            <a:ext cx="13155930" cy="421124"/>
          </a:xfrm>
          <a:prstGeom prst="rect">
            <a:avLst/>
          </a:prstGeom>
          <a:noFill/>
          <a:ln/>
        </p:spPr>
        <p:txBody>
          <a:bodyPr wrap="none" lIns="0" tIns="0" rIns="0" bIns="0" rtlCol="0" anchor="t"/>
          <a:lstStyle/>
          <a:p>
            <a:pPr algn="l" indent="0" marL="0">
              <a:lnSpc>
                <a:spcPts val="2650"/>
              </a:lnSpc>
              <a:buNone/>
            </a:pPr>
            <a:r>
              <a:rPr lang="en-US" sz="1650" b="1" dirty="0">
                <a:solidFill>
                  <a:srgbClr val="333F70"/>
                </a:solidFill>
                <a:latin typeface="Open Sans" pitchFamily="34" charset="0"/>
                <a:ea typeface="Open Sans" pitchFamily="34" charset="-122"/>
                <a:cs typeface="Open Sans" pitchFamily="34" charset="-120"/>
              </a:rPr>
              <a:t>Active listening</a:t>
            </a:r>
            <a:pPr algn="l" indent="0" marL="0">
              <a:lnSpc>
                <a:spcPts val="2650"/>
              </a:lnSpc>
              <a:buNone/>
            </a:pPr>
            <a:r>
              <a:rPr lang="en-US" sz="1650" dirty="0">
                <a:solidFill>
                  <a:srgbClr val="333F70"/>
                </a:solidFill>
                <a:latin typeface="Open Sans" pitchFamily="34" charset="0"/>
                <a:ea typeface="Open Sans" pitchFamily="34" charset="-122"/>
                <a:cs typeface="Open Sans" pitchFamily="34" charset="-120"/>
              </a:rPr>
              <a:t>: listen to understand, not to reply. This will help one learn new things too.</a:t>
            </a:r>
            <a:endParaRPr lang="en-US" sz="1650" dirty="0"/>
          </a:p>
        </p:txBody>
      </p:sp>
      <p:sp>
        <p:nvSpPr>
          <p:cNvPr id="12" name="Shape 10"/>
          <p:cNvSpPr/>
          <p:nvPr/>
        </p:nvSpPr>
        <p:spPr>
          <a:xfrm>
            <a:off x="737235" y="4980861"/>
            <a:ext cx="263247" cy="263247"/>
          </a:xfrm>
          <a:prstGeom prst="roundRect">
            <a:avLst>
              <a:gd name="adj" fmla="val 42008"/>
            </a:avLst>
          </a:prstGeom>
          <a:noFill/>
          <a:ln w="30480">
            <a:solidFill>
              <a:srgbClr val="26A688"/>
            </a:solidFill>
            <a:prstDash val="solid"/>
          </a:ln>
        </p:spPr>
      </p:sp>
      <p:sp>
        <p:nvSpPr>
          <p:cNvPr id="13" name="Text 11"/>
          <p:cNvSpPr/>
          <p:nvPr/>
        </p:nvSpPr>
        <p:spPr>
          <a:xfrm>
            <a:off x="737235" y="5396746"/>
            <a:ext cx="13155930" cy="421124"/>
          </a:xfrm>
          <a:prstGeom prst="rect">
            <a:avLst/>
          </a:prstGeom>
          <a:noFill/>
          <a:ln/>
        </p:spPr>
        <p:txBody>
          <a:bodyPr wrap="none" lIns="0" tIns="0" rIns="0" bIns="0" rtlCol="0" anchor="t"/>
          <a:lstStyle/>
          <a:p>
            <a:pPr algn="l" indent="0" marL="0">
              <a:lnSpc>
                <a:spcPts val="2650"/>
              </a:lnSpc>
              <a:buNone/>
            </a:pPr>
            <a:r>
              <a:rPr lang="en-US" sz="1650" b="1" dirty="0">
                <a:solidFill>
                  <a:srgbClr val="333F70"/>
                </a:solidFill>
                <a:latin typeface="Open Sans" pitchFamily="34" charset="0"/>
                <a:ea typeface="Open Sans" pitchFamily="34" charset="-122"/>
                <a:cs typeface="Open Sans" pitchFamily="34" charset="-120"/>
              </a:rPr>
              <a:t>Step down if required:</a:t>
            </a:r>
            <a:pPr algn="l" indent="0" marL="0">
              <a:lnSpc>
                <a:spcPts val="2650"/>
              </a:lnSpc>
              <a:buNone/>
            </a:pPr>
            <a:r>
              <a:rPr lang="en-US" sz="1650" dirty="0">
                <a:solidFill>
                  <a:srgbClr val="333F70"/>
                </a:solidFill>
                <a:latin typeface="Open Sans" pitchFamily="34" charset="0"/>
                <a:ea typeface="Open Sans" pitchFamily="34" charset="-122"/>
                <a:cs typeface="Open Sans" pitchFamily="34" charset="-120"/>
              </a:rPr>
              <a:t> Stepping down definitely helps in curbing the ego and facing reality.</a:t>
            </a:r>
            <a:endParaRPr lang="en-US" sz="1650" dirty="0"/>
          </a:p>
        </p:txBody>
      </p:sp>
      <p:sp>
        <p:nvSpPr>
          <p:cNvPr id="14" name="Shape 12"/>
          <p:cNvSpPr/>
          <p:nvPr/>
        </p:nvSpPr>
        <p:spPr>
          <a:xfrm>
            <a:off x="737235" y="5475684"/>
            <a:ext cx="263247" cy="263247"/>
          </a:xfrm>
          <a:prstGeom prst="roundRect">
            <a:avLst>
              <a:gd name="adj" fmla="val 42008"/>
            </a:avLst>
          </a:prstGeom>
          <a:noFill/>
          <a:ln w="30480">
            <a:solidFill>
              <a:srgbClr val="26A688"/>
            </a:solidFill>
            <a:prstDash val="solid"/>
          </a:ln>
        </p:spPr>
      </p:sp>
      <p:sp>
        <p:nvSpPr>
          <p:cNvPr id="15" name="Text 13"/>
          <p:cNvSpPr/>
          <p:nvPr/>
        </p:nvSpPr>
        <p:spPr>
          <a:xfrm>
            <a:off x="737235" y="5891570"/>
            <a:ext cx="13155930" cy="842248"/>
          </a:xfrm>
          <a:prstGeom prst="rect">
            <a:avLst/>
          </a:prstGeom>
          <a:noFill/>
          <a:ln/>
        </p:spPr>
        <p:txBody>
          <a:bodyPr wrap="square" lIns="0" tIns="0" rIns="0" bIns="0" rtlCol="0" anchor="t"/>
          <a:lstStyle/>
          <a:p>
            <a:pPr algn="l" indent="0" marL="0">
              <a:lnSpc>
                <a:spcPts val="2650"/>
              </a:lnSpc>
              <a:buNone/>
            </a:pPr>
            <a:r>
              <a:rPr lang="en-US" sz="1650" b="1" dirty="0">
                <a:solidFill>
                  <a:srgbClr val="333F70"/>
                </a:solidFill>
                <a:latin typeface="Open Sans" pitchFamily="34" charset="0"/>
                <a:ea typeface="Open Sans" pitchFamily="34" charset="-122"/>
                <a:cs typeface="Open Sans" pitchFamily="34" charset="-120"/>
              </a:rPr>
              <a:t>Be empathetic</a:t>
            </a:r>
            <a:pPr algn="l" indent="0" marL="0">
              <a:lnSpc>
                <a:spcPts val="2650"/>
              </a:lnSpc>
              <a:buNone/>
            </a:pPr>
            <a:r>
              <a:rPr lang="en-US" sz="1650" dirty="0">
                <a:solidFill>
                  <a:srgbClr val="333F70"/>
                </a:solidFill>
                <a:latin typeface="Open Sans" pitchFamily="34" charset="0"/>
                <a:ea typeface="Open Sans" pitchFamily="34" charset="-122"/>
                <a:cs typeface="Open Sans" pitchFamily="34" charset="-120"/>
              </a:rPr>
              <a:t>: it is better to see things from both sides of the spectrum. This way, one can make a fair decision.</a:t>
            </a:r>
            <a:endParaRPr lang="en-US" sz="1650" dirty="0"/>
          </a:p>
        </p:txBody>
      </p:sp>
      <p:sp>
        <p:nvSpPr>
          <p:cNvPr id="16" name="Shape 14"/>
          <p:cNvSpPr/>
          <p:nvPr/>
        </p:nvSpPr>
        <p:spPr>
          <a:xfrm>
            <a:off x="737235" y="5970508"/>
            <a:ext cx="263247" cy="263247"/>
          </a:xfrm>
          <a:prstGeom prst="roundRect">
            <a:avLst>
              <a:gd name="adj" fmla="val 42008"/>
            </a:avLst>
          </a:prstGeom>
          <a:noFill/>
          <a:ln w="30480">
            <a:solidFill>
              <a:srgbClr val="26A688"/>
            </a:solidFill>
            <a:prstDash val="solid"/>
          </a:ln>
        </p:spPr>
      </p:sp>
      <p:sp>
        <p:nvSpPr>
          <p:cNvPr id="17" name="Text 15"/>
          <p:cNvSpPr/>
          <p:nvPr/>
        </p:nvSpPr>
        <p:spPr>
          <a:xfrm>
            <a:off x="737235" y="6807517"/>
            <a:ext cx="13155930" cy="842248"/>
          </a:xfrm>
          <a:prstGeom prst="rect">
            <a:avLst/>
          </a:prstGeom>
          <a:noFill/>
          <a:ln/>
        </p:spPr>
        <p:txBody>
          <a:bodyPr wrap="square" lIns="0" tIns="0" rIns="0" bIns="0" rtlCol="0" anchor="t"/>
          <a:lstStyle/>
          <a:p>
            <a:pPr algn="l" indent="0" marL="0">
              <a:lnSpc>
                <a:spcPts val="2650"/>
              </a:lnSpc>
              <a:buNone/>
            </a:pPr>
            <a:r>
              <a:rPr lang="en-US" sz="1650" b="1" dirty="0">
                <a:solidFill>
                  <a:srgbClr val="333F70"/>
                </a:solidFill>
                <a:latin typeface="Open Sans" pitchFamily="34" charset="0"/>
                <a:ea typeface="Open Sans" pitchFamily="34" charset="-122"/>
                <a:cs typeface="Open Sans" pitchFamily="34" charset="-120"/>
              </a:rPr>
              <a:t>Stop complaining</a:t>
            </a:r>
            <a:pPr algn="l" indent="0" marL="0">
              <a:lnSpc>
                <a:spcPts val="2650"/>
              </a:lnSpc>
              <a:buNone/>
            </a:pPr>
            <a:r>
              <a:rPr lang="en-US" sz="1650" dirty="0">
                <a:solidFill>
                  <a:srgbClr val="333F70"/>
                </a:solidFill>
                <a:latin typeface="Open Sans" pitchFamily="34" charset="0"/>
                <a:ea typeface="Open Sans" pitchFamily="34" charset="-122"/>
                <a:cs typeface="Open Sans" pitchFamily="34" charset="-120"/>
              </a:rPr>
              <a:t>: If you look at life positively, it is great. So, instead of moaning, be grateful for what you have. That will help you stay grounded.</a:t>
            </a:r>
            <a:endParaRPr lang="en-US" sz="1650" dirty="0"/>
          </a:p>
        </p:txBody>
      </p:sp>
      <p:sp>
        <p:nvSpPr>
          <p:cNvPr id="18" name="Shape 16"/>
          <p:cNvSpPr/>
          <p:nvPr/>
        </p:nvSpPr>
        <p:spPr>
          <a:xfrm>
            <a:off x="737235" y="6886456"/>
            <a:ext cx="263247" cy="263247"/>
          </a:xfrm>
          <a:prstGeom prst="roundRect">
            <a:avLst>
              <a:gd name="adj" fmla="val 42008"/>
            </a:avLst>
          </a:prstGeom>
          <a:noFill/>
          <a:ln w="30480">
            <a:solidFill>
              <a:srgbClr val="26A688"/>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2024-12-08T13:40:34Z</dcterms:created>
  <dcterms:modified xsi:type="dcterms:W3CDTF">2024-12-08T13:40:34Z</dcterms:modified>
</cp:coreProperties>
</file>