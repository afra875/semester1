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rata"/>
      <p:regular r:id="rId15"/>
    </p:embeddedFont>
    <p:embeddedFont>
      <p:font typeface="Prata"/>
      <p:regular r:id="rId16"/>
    </p:embeddedFont>
    <p:embeddedFont>
      <p:font typeface="Raleway"/>
      <p:regular r:id="rId17"/>
    </p:embeddedFont>
    <p:embeddedFont>
      <p:font typeface="Raleway"/>
      <p:regular r:id="rId18"/>
    </p:embeddedFont>
    <p:embeddedFont>
      <p:font typeface="Raleway"/>
      <p:regular r:id="rId19"/>
    </p:embeddedFont>
    <p:embeddedFont>
      <p:font typeface="Raleway"/>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3-1.png"/><Relationship Id="rId2" Type="http://schemas.openxmlformats.org/officeDocument/2006/relationships/image" Target="../media/image-1003-2.pn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png"/><Relationship Id="rId2" Type="http://schemas.openxmlformats.org/officeDocument/2006/relationships/image" Target="../media/image-1004-2.png"/><Relationship Id="rId4"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5-1.png"/><Relationship Id="rId2" Type="http://schemas.openxmlformats.org/officeDocument/2006/relationships/image" Target="../media/image-1005-2.png"/><Relationship Id="rId4"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6-1.png"/><Relationship Id="rId2" Type="http://schemas.openxmlformats.org/officeDocument/2006/relationships/image" Target="../media/image-1006-2.png"/><Relationship Id="rId4"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7-1.png"/><Relationship Id="rId2" Type="http://schemas.openxmlformats.org/officeDocument/2006/relationships/image" Target="../media/image-1007-2.pn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8-1.png"/><Relationship Id="rId2" Type="http://schemas.openxmlformats.org/officeDocument/2006/relationships/image" Target="../media/image-1008-2.png"/><Relationship Id="rId4"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9-1.png"/><Relationship Id="rId2" Type="http://schemas.openxmlformats.org/officeDocument/2006/relationships/image" Target="../media/image-1009-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1B1C1D"/>
          </a:solidFill>
          <a:ln/>
        </p:spPr>
      </p:sp>
      <p:pic>
        <p:nvPicPr>
          <p:cNvPr id="4" name="Image 1" descr="preencoded.png">
            <a:hlinkClick r:id="rId3" tooltip=""/>
          </p:cNvPr>
          <p:cNvPicPr>
            <a:picLocks noChangeAspect="1"/>
          </p:cNvPicPr>
          <p:nvPr/>
        </p:nvPicPr>
        <p:blipFill>
          <a:blip r:embed="rId2"/>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16806"/>
            <a:ext cx="7556421" cy="2934653"/>
          </a:xfrm>
          <a:prstGeom prst="rect">
            <a:avLst/>
          </a:prstGeom>
          <a:noFill/>
          <a:ln/>
        </p:spPr>
        <p:txBody>
          <a:bodyPr wrap="square" lIns="0" tIns="0" rIns="0" bIns="0" rtlCol="0" anchor="t"/>
          <a:lstStyle/>
          <a:p>
            <a:pPr indent="0" marL="0">
              <a:lnSpc>
                <a:spcPts val="7700"/>
              </a:lnSpc>
              <a:buNone/>
            </a:pPr>
            <a:r>
              <a:rPr lang="en-US" sz="6150" dirty="0">
                <a:solidFill>
                  <a:srgbClr val="F2E782"/>
                </a:solidFill>
                <a:latin typeface="Prata" pitchFamily="34" charset="0"/>
                <a:ea typeface="Prata" pitchFamily="34" charset="-122"/>
                <a:cs typeface="Prata" pitchFamily="34" charset="-120"/>
              </a:rPr>
              <a:t>MENTAL HEALTH AND MENTAL HYGIENE</a:t>
            </a:r>
            <a:endParaRPr lang="en-US" sz="6150" dirty="0"/>
          </a:p>
        </p:txBody>
      </p:sp>
      <p:sp>
        <p:nvSpPr>
          <p:cNvPr id="4" name="Text 1"/>
          <p:cNvSpPr/>
          <p:nvPr/>
        </p:nvSpPr>
        <p:spPr>
          <a:xfrm>
            <a:off x="6280190" y="4391620"/>
            <a:ext cx="7556421" cy="2721054"/>
          </a:xfrm>
          <a:prstGeom prst="rect">
            <a:avLst/>
          </a:prstGeom>
          <a:noFill/>
          <a:ln/>
        </p:spPr>
        <p:txBody>
          <a:bodyPr wrap="square" lIns="0" tIns="0" rIns="0" bIns="0" rtlCol="0" anchor="t"/>
          <a:lstStyle/>
          <a:p>
            <a:pPr indent="0" marL="0">
              <a:lnSpc>
                <a:spcPts val="3550"/>
              </a:lnSpc>
              <a:buNone/>
            </a:pPr>
            <a:r>
              <a:rPr lang="en-US" sz="2200" dirty="0">
                <a:solidFill>
                  <a:srgbClr val="CFCBBF"/>
                </a:solidFill>
                <a:latin typeface="Raleway" pitchFamily="34" charset="0"/>
                <a:ea typeface="Raleway" pitchFamily="34" charset="-122"/>
                <a:cs typeface="Raleway" pitchFamily="34" charset="-120"/>
              </a:rPr>
              <a:t>Mental health is an essential aspect of overall well-being, encompassing our emotional, psychological, and social states. It's not merely the absence of illness but a state of positive functioning, allowing us to cope with life's challenges, build meaningful relationships, and contribute to our communities.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60095" y="597218"/>
            <a:ext cx="6822996" cy="678656"/>
          </a:xfrm>
          <a:prstGeom prst="rect">
            <a:avLst/>
          </a:prstGeom>
          <a:noFill/>
          <a:ln/>
        </p:spPr>
        <p:txBody>
          <a:bodyPr wrap="none" lIns="0" tIns="0" rIns="0" bIns="0" rtlCol="0" anchor="t"/>
          <a:lstStyle/>
          <a:p>
            <a:pPr indent="0" marL="0">
              <a:lnSpc>
                <a:spcPts val="5300"/>
              </a:lnSpc>
              <a:buNone/>
            </a:pPr>
            <a:r>
              <a:rPr lang="en-US" sz="4250" dirty="0">
                <a:solidFill>
                  <a:srgbClr val="F2E782"/>
                </a:solidFill>
                <a:latin typeface="Prata" pitchFamily="34" charset="0"/>
                <a:ea typeface="Prata" pitchFamily="34" charset="-122"/>
                <a:cs typeface="Prata" pitchFamily="34" charset="-120"/>
              </a:rPr>
              <a:t>WHO Definition of Health</a:t>
            </a:r>
            <a:endParaRPr lang="en-US" sz="4250" dirty="0"/>
          </a:p>
        </p:txBody>
      </p:sp>
      <p:sp>
        <p:nvSpPr>
          <p:cNvPr id="3" name="Text 1"/>
          <p:cNvSpPr/>
          <p:nvPr/>
        </p:nvSpPr>
        <p:spPr>
          <a:xfrm>
            <a:off x="760095" y="1710214"/>
            <a:ext cx="13110210" cy="1737360"/>
          </a:xfrm>
          <a:prstGeom prst="rect">
            <a:avLst/>
          </a:prstGeom>
          <a:noFill/>
          <a:ln/>
        </p:spPr>
        <p:txBody>
          <a:bodyPr wrap="square" lIns="0" tIns="0" rIns="0" bIns="0" rtlCol="0" anchor="t"/>
          <a:lstStyle/>
          <a:p>
            <a:pPr indent="0" marL="0">
              <a:lnSpc>
                <a:spcPts val="3400"/>
              </a:lnSpc>
              <a:buNone/>
            </a:pPr>
            <a:r>
              <a:rPr lang="en-US" sz="2100" dirty="0">
                <a:solidFill>
                  <a:srgbClr val="CFCBBF"/>
                </a:solidFill>
                <a:latin typeface="Raleway" pitchFamily="34" charset="0"/>
                <a:ea typeface="Raleway" pitchFamily="34" charset="-122"/>
                <a:cs typeface="Raleway" pitchFamily="34" charset="-120"/>
              </a:rPr>
              <a:t>The World Health Organization (WHO) defines health as "a state of complete physical, mental and social well-being and not merely the absence of disease or infirmity." This definition emphasizes the interconnectedness of our physical, mental, and social well-being, highlighting the importance of mental health as a crucial component of overall health.</a:t>
            </a:r>
            <a:endParaRPr lang="en-US" sz="2100" dirty="0"/>
          </a:p>
        </p:txBody>
      </p:sp>
      <p:sp>
        <p:nvSpPr>
          <p:cNvPr id="4" name="Shape 2"/>
          <p:cNvSpPr/>
          <p:nvPr/>
        </p:nvSpPr>
        <p:spPr>
          <a:xfrm>
            <a:off x="760095" y="3691890"/>
            <a:ext cx="4225290" cy="3944303"/>
          </a:xfrm>
          <a:prstGeom prst="roundRect">
            <a:avLst>
              <a:gd name="adj" fmla="val 826"/>
            </a:avLst>
          </a:prstGeom>
          <a:solidFill>
            <a:srgbClr val="3A3B3C"/>
          </a:solidFill>
          <a:ln/>
        </p:spPr>
      </p:sp>
      <p:sp>
        <p:nvSpPr>
          <p:cNvPr id="5" name="Text 3"/>
          <p:cNvSpPr/>
          <p:nvPr/>
        </p:nvSpPr>
        <p:spPr>
          <a:xfrm>
            <a:off x="977265" y="3909060"/>
            <a:ext cx="2714625" cy="339328"/>
          </a:xfrm>
          <a:prstGeom prst="rect">
            <a:avLst/>
          </a:prstGeom>
          <a:noFill/>
          <a:ln/>
        </p:spPr>
        <p:txBody>
          <a:bodyPr wrap="none" lIns="0" tIns="0" rIns="0" bIns="0" rtlCol="0" anchor="t"/>
          <a:lstStyle/>
          <a:p>
            <a:pPr indent="0" marL="0">
              <a:lnSpc>
                <a:spcPts val="2650"/>
              </a:lnSpc>
              <a:buNone/>
            </a:pPr>
            <a:r>
              <a:rPr lang="en-US" sz="2100" dirty="0">
                <a:solidFill>
                  <a:srgbClr val="CFCBBF"/>
                </a:solidFill>
                <a:latin typeface="Prata" pitchFamily="34" charset="0"/>
                <a:ea typeface="Prata" pitchFamily="34" charset="-122"/>
                <a:cs typeface="Prata" pitchFamily="34" charset="-120"/>
              </a:rPr>
              <a:t>Physical Well-being</a:t>
            </a:r>
            <a:endParaRPr lang="en-US" sz="2100" dirty="0"/>
          </a:p>
        </p:txBody>
      </p:sp>
      <p:sp>
        <p:nvSpPr>
          <p:cNvPr id="6" name="Text 4"/>
          <p:cNvSpPr/>
          <p:nvPr/>
        </p:nvSpPr>
        <p:spPr>
          <a:xfrm>
            <a:off x="977265" y="4378643"/>
            <a:ext cx="3790950" cy="1737360"/>
          </a:xfrm>
          <a:prstGeom prst="rect">
            <a:avLst/>
          </a:prstGeom>
          <a:noFill/>
          <a:ln/>
        </p:spPr>
        <p:txBody>
          <a:bodyPr wrap="square" lIns="0" tIns="0" rIns="0" bIns="0" rtlCol="0" anchor="t"/>
          <a:lstStyle/>
          <a:p>
            <a:pPr indent="0" marL="0">
              <a:lnSpc>
                <a:spcPts val="3400"/>
              </a:lnSpc>
              <a:buNone/>
            </a:pPr>
            <a:r>
              <a:rPr lang="en-US" sz="2100" dirty="0">
                <a:solidFill>
                  <a:srgbClr val="CFCBBF"/>
                </a:solidFill>
                <a:latin typeface="Raleway" pitchFamily="34" charset="0"/>
                <a:ea typeface="Raleway" pitchFamily="34" charset="-122"/>
                <a:cs typeface="Raleway" pitchFamily="34" charset="-120"/>
              </a:rPr>
              <a:t>Includes our physical health, including our body's ability to function properly and resist disease.</a:t>
            </a:r>
            <a:endParaRPr lang="en-US" sz="2100" dirty="0"/>
          </a:p>
        </p:txBody>
      </p:sp>
      <p:sp>
        <p:nvSpPr>
          <p:cNvPr id="7" name="Shape 5"/>
          <p:cNvSpPr/>
          <p:nvPr/>
        </p:nvSpPr>
        <p:spPr>
          <a:xfrm>
            <a:off x="5202555" y="3691890"/>
            <a:ext cx="4225290" cy="3944303"/>
          </a:xfrm>
          <a:prstGeom prst="roundRect">
            <a:avLst>
              <a:gd name="adj" fmla="val 826"/>
            </a:avLst>
          </a:prstGeom>
          <a:solidFill>
            <a:srgbClr val="3A3B3C"/>
          </a:solidFill>
          <a:ln/>
        </p:spPr>
      </p:sp>
      <p:sp>
        <p:nvSpPr>
          <p:cNvPr id="8" name="Text 6"/>
          <p:cNvSpPr/>
          <p:nvPr/>
        </p:nvSpPr>
        <p:spPr>
          <a:xfrm>
            <a:off x="5419725" y="3909060"/>
            <a:ext cx="2714625" cy="339328"/>
          </a:xfrm>
          <a:prstGeom prst="rect">
            <a:avLst/>
          </a:prstGeom>
          <a:noFill/>
          <a:ln/>
        </p:spPr>
        <p:txBody>
          <a:bodyPr wrap="none" lIns="0" tIns="0" rIns="0" bIns="0" rtlCol="0" anchor="t"/>
          <a:lstStyle/>
          <a:p>
            <a:pPr indent="0" marL="0">
              <a:lnSpc>
                <a:spcPts val="2650"/>
              </a:lnSpc>
              <a:buNone/>
            </a:pPr>
            <a:r>
              <a:rPr lang="en-US" sz="2100" dirty="0">
                <a:solidFill>
                  <a:srgbClr val="CFCBBF"/>
                </a:solidFill>
                <a:latin typeface="Prata" pitchFamily="34" charset="0"/>
                <a:ea typeface="Prata" pitchFamily="34" charset="-122"/>
                <a:cs typeface="Prata" pitchFamily="34" charset="-120"/>
              </a:rPr>
              <a:t>Mental Well-being</a:t>
            </a:r>
            <a:endParaRPr lang="en-US" sz="2100" dirty="0"/>
          </a:p>
        </p:txBody>
      </p:sp>
      <p:sp>
        <p:nvSpPr>
          <p:cNvPr id="9" name="Text 7"/>
          <p:cNvSpPr/>
          <p:nvPr/>
        </p:nvSpPr>
        <p:spPr>
          <a:xfrm>
            <a:off x="5419725" y="4378643"/>
            <a:ext cx="3790950" cy="2171700"/>
          </a:xfrm>
          <a:prstGeom prst="rect">
            <a:avLst/>
          </a:prstGeom>
          <a:noFill/>
          <a:ln/>
        </p:spPr>
        <p:txBody>
          <a:bodyPr wrap="square" lIns="0" tIns="0" rIns="0" bIns="0" rtlCol="0" anchor="t"/>
          <a:lstStyle/>
          <a:p>
            <a:pPr indent="0" marL="0">
              <a:lnSpc>
                <a:spcPts val="3400"/>
              </a:lnSpc>
              <a:buNone/>
            </a:pPr>
            <a:r>
              <a:rPr lang="en-US" sz="2100" dirty="0">
                <a:solidFill>
                  <a:srgbClr val="CFCBBF"/>
                </a:solidFill>
                <a:latin typeface="Raleway" pitchFamily="34" charset="0"/>
                <a:ea typeface="Raleway" pitchFamily="34" charset="-122"/>
                <a:cs typeface="Raleway" pitchFamily="34" charset="-120"/>
              </a:rPr>
              <a:t>Encompasses our emotional, psychological, and cognitive states, including our ability to cope with stress, manage emotions, and think clearly.</a:t>
            </a:r>
            <a:endParaRPr lang="en-US" sz="2100" dirty="0"/>
          </a:p>
        </p:txBody>
      </p:sp>
      <p:sp>
        <p:nvSpPr>
          <p:cNvPr id="10" name="Shape 8"/>
          <p:cNvSpPr/>
          <p:nvPr/>
        </p:nvSpPr>
        <p:spPr>
          <a:xfrm>
            <a:off x="9645015" y="3691890"/>
            <a:ext cx="4225290" cy="3944303"/>
          </a:xfrm>
          <a:prstGeom prst="roundRect">
            <a:avLst>
              <a:gd name="adj" fmla="val 826"/>
            </a:avLst>
          </a:prstGeom>
          <a:solidFill>
            <a:srgbClr val="3A3B3C"/>
          </a:solidFill>
          <a:ln/>
        </p:spPr>
      </p:sp>
      <p:sp>
        <p:nvSpPr>
          <p:cNvPr id="11" name="Text 9"/>
          <p:cNvSpPr/>
          <p:nvPr/>
        </p:nvSpPr>
        <p:spPr>
          <a:xfrm>
            <a:off x="9862185" y="3909060"/>
            <a:ext cx="2714625" cy="339328"/>
          </a:xfrm>
          <a:prstGeom prst="rect">
            <a:avLst/>
          </a:prstGeom>
          <a:noFill/>
          <a:ln/>
        </p:spPr>
        <p:txBody>
          <a:bodyPr wrap="none" lIns="0" tIns="0" rIns="0" bIns="0" rtlCol="0" anchor="t"/>
          <a:lstStyle/>
          <a:p>
            <a:pPr indent="0" marL="0">
              <a:lnSpc>
                <a:spcPts val="2650"/>
              </a:lnSpc>
              <a:buNone/>
            </a:pPr>
            <a:r>
              <a:rPr lang="en-US" sz="2100" dirty="0">
                <a:solidFill>
                  <a:srgbClr val="CFCBBF"/>
                </a:solidFill>
                <a:latin typeface="Prata" pitchFamily="34" charset="0"/>
                <a:ea typeface="Prata" pitchFamily="34" charset="-122"/>
                <a:cs typeface="Prata" pitchFamily="34" charset="-120"/>
              </a:rPr>
              <a:t>Social Well-being</a:t>
            </a:r>
            <a:endParaRPr lang="en-US" sz="2100" dirty="0"/>
          </a:p>
        </p:txBody>
      </p:sp>
      <p:sp>
        <p:nvSpPr>
          <p:cNvPr id="12" name="Text 10"/>
          <p:cNvSpPr/>
          <p:nvPr/>
        </p:nvSpPr>
        <p:spPr>
          <a:xfrm>
            <a:off x="9862185" y="4378643"/>
            <a:ext cx="3790950" cy="3040380"/>
          </a:xfrm>
          <a:prstGeom prst="rect">
            <a:avLst/>
          </a:prstGeom>
          <a:noFill/>
          <a:ln/>
        </p:spPr>
        <p:txBody>
          <a:bodyPr wrap="square" lIns="0" tIns="0" rIns="0" bIns="0" rtlCol="0" anchor="t"/>
          <a:lstStyle/>
          <a:p>
            <a:pPr indent="0" marL="0">
              <a:lnSpc>
                <a:spcPts val="3400"/>
              </a:lnSpc>
              <a:buNone/>
            </a:pPr>
            <a:r>
              <a:rPr lang="en-US" sz="2100" dirty="0">
                <a:solidFill>
                  <a:srgbClr val="CFCBBF"/>
                </a:solidFill>
                <a:latin typeface="Raleway" pitchFamily="34" charset="0"/>
                <a:ea typeface="Raleway" pitchFamily="34" charset="-122"/>
                <a:cs typeface="Raleway" pitchFamily="34" charset="-120"/>
              </a:rPr>
              <a:t>Relates to our relationships with others, including our ability to build and maintain healthy relationships, contribute to our communities, and feel a sense of belonging.</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86527" y="618053"/>
            <a:ext cx="6962775" cy="702231"/>
          </a:xfrm>
          <a:prstGeom prst="rect">
            <a:avLst/>
          </a:prstGeom>
          <a:noFill/>
          <a:ln/>
        </p:spPr>
        <p:txBody>
          <a:bodyPr wrap="none" lIns="0" tIns="0" rIns="0" bIns="0" rtlCol="0" anchor="t"/>
          <a:lstStyle/>
          <a:p>
            <a:pPr indent="0" marL="0">
              <a:lnSpc>
                <a:spcPts val="5500"/>
              </a:lnSpc>
              <a:buNone/>
            </a:pPr>
            <a:r>
              <a:rPr lang="en-US" sz="4400" dirty="0">
                <a:solidFill>
                  <a:srgbClr val="F2E782"/>
                </a:solidFill>
                <a:latin typeface="Prata" pitchFamily="34" charset="0"/>
                <a:ea typeface="Prata" pitchFamily="34" charset="-122"/>
                <a:cs typeface="Prata" pitchFamily="34" charset="-120"/>
              </a:rPr>
              <a:t>Concept of Mental Health</a:t>
            </a:r>
            <a:endParaRPr lang="en-US" sz="4400" dirty="0"/>
          </a:p>
        </p:txBody>
      </p:sp>
      <p:sp>
        <p:nvSpPr>
          <p:cNvPr id="3" name="Text 1"/>
          <p:cNvSpPr/>
          <p:nvPr/>
        </p:nvSpPr>
        <p:spPr>
          <a:xfrm>
            <a:off x="786527" y="1657350"/>
            <a:ext cx="13057346" cy="1348740"/>
          </a:xfrm>
          <a:prstGeom prst="rect">
            <a:avLst/>
          </a:prstGeom>
          <a:noFill/>
          <a:ln/>
        </p:spPr>
        <p:txBody>
          <a:bodyPr wrap="square" lIns="0" tIns="0" rIns="0" bIns="0" rtlCol="0" anchor="t"/>
          <a:lstStyle/>
          <a:p>
            <a:pPr indent="0" marL="0">
              <a:lnSpc>
                <a:spcPts val="3500"/>
              </a:lnSpc>
              <a:buNone/>
            </a:pPr>
            <a:r>
              <a:rPr lang="en-US" sz="2200" dirty="0">
                <a:solidFill>
                  <a:srgbClr val="CFCBBF"/>
                </a:solidFill>
                <a:latin typeface="Raleway" pitchFamily="34" charset="0"/>
                <a:ea typeface="Raleway" pitchFamily="34" charset="-122"/>
                <a:cs typeface="Raleway" pitchFamily="34" charset="-120"/>
              </a:rPr>
              <a:t>Mental health is a state of well-being in which a person understands his/her own abilities, can cope up with the normal stressors of life, can work productively and fruitfully, and is able to make a contribution to his/her community, lifestyle and health behaviours.</a:t>
            </a:r>
            <a:endParaRPr lang="en-US" sz="2200" dirty="0"/>
          </a:p>
        </p:txBody>
      </p:sp>
      <p:sp>
        <p:nvSpPr>
          <p:cNvPr id="4" name="Text 2"/>
          <p:cNvSpPr/>
          <p:nvPr/>
        </p:nvSpPr>
        <p:spPr>
          <a:xfrm>
            <a:off x="786527" y="3258860"/>
            <a:ext cx="13057346" cy="359569"/>
          </a:xfrm>
          <a:prstGeom prst="rect">
            <a:avLst/>
          </a:prstGeom>
          <a:noFill/>
          <a:ln/>
        </p:spPr>
        <p:txBody>
          <a:bodyPr wrap="none" lIns="0" tIns="0" rIns="0" bIns="0" rtlCol="0" anchor="t"/>
          <a:lstStyle/>
          <a:p>
            <a:pPr indent="0" marL="0">
              <a:lnSpc>
                <a:spcPts val="2800"/>
              </a:lnSpc>
              <a:buNone/>
            </a:pPr>
            <a:endParaRPr lang="en-US" sz="1750" dirty="0"/>
          </a:p>
        </p:txBody>
      </p:sp>
      <p:sp>
        <p:nvSpPr>
          <p:cNvPr id="5" name="Text 3"/>
          <p:cNvSpPr/>
          <p:nvPr/>
        </p:nvSpPr>
        <p:spPr>
          <a:xfrm>
            <a:off x="786527" y="4095869"/>
            <a:ext cx="3371136" cy="421243"/>
          </a:xfrm>
          <a:prstGeom prst="rect">
            <a:avLst/>
          </a:prstGeom>
          <a:noFill/>
          <a:ln/>
        </p:spPr>
        <p:txBody>
          <a:bodyPr wrap="none" lIns="0" tIns="0" rIns="0" bIns="0" rtlCol="0" anchor="t"/>
          <a:lstStyle/>
          <a:p>
            <a:pPr indent="0" marL="0">
              <a:lnSpc>
                <a:spcPts val="3300"/>
              </a:lnSpc>
              <a:buNone/>
            </a:pPr>
            <a:r>
              <a:rPr lang="en-US" sz="2650" dirty="0">
                <a:solidFill>
                  <a:srgbClr val="F2E782"/>
                </a:solidFill>
                <a:latin typeface="Prata" pitchFamily="34" charset="0"/>
                <a:ea typeface="Prata" pitchFamily="34" charset="-122"/>
                <a:cs typeface="Prata" pitchFamily="34" charset="-120"/>
              </a:rPr>
              <a:t>Robinson, 1983</a:t>
            </a:r>
            <a:endParaRPr lang="en-US" sz="2650" dirty="0"/>
          </a:p>
        </p:txBody>
      </p:sp>
      <p:sp>
        <p:nvSpPr>
          <p:cNvPr id="6" name="Text 4"/>
          <p:cNvSpPr/>
          <p:nvPr/>
        </p:nvSpPr>
        <p:spPr>
          <a:xfrm>
            <a:off x="786527" y="4741783"/>
            <a:ext cx="6254591" cy="2247900"/>
          </a:xfrm>
          <a:prstGeom prst="rect">
            <a:avLst/>
          </a:prstGeom>
          <a:noFill/>
          <a:ln/>
        </p:spPr>
        <p:txBody>
          <a:bodyPr wrap="square" lIns="0" tIns="0" rIns="0" bIns="0" rtlCol="0" anchor="t"/>
          <a:lstStyle/>
          <a:p>
            <a:pPr indent="0" marL="0">
              <a:lnSpc>
                <a:spcPts val="3500"/>
              </a:lnSpc>
              <a:buNone/>
            </a:pPr>
            <a:r>
              <a:rPr lang="en-US" sz="2200" dirty="0">
                <a:solidFill>
                  <a:srgbClr val="CFCBBF"/>
                </a:solidFill>
                <a:latin typeface="Raleway" pitchFamily="34" charset="0"/>
                <a:ea typeface="Raleway" pitchFamily="34" charset="-122"/>
                <a:cs typeface="Raleway" pitchFamily="34" charset="-120"/>
              </a:rPr>
              <a:t>Mental health is the successful adaptation to stressors from the internal or external environment, evidenced by thoughts, feelings and behaviours that are age-appropriate and congruent with local and cultural norms.</a:t>
            </a:r>
            <a:endParaRPr lang="en-US" sz="2200" dirty="0"/>
          </a:p>
        </p:txBody>
      </p:sp>
      <p:sp>
        <p:nvSpPr>
          <p:cNvPr id="7" name="Text 5"/>
          <p:cNvSpPr/>
          <p:nvPr/>
        </p:nvSpPr>
        <p:spPr>
          <a:xfrm>
            <a:off x="7596902" y="4095869"/>
            <a:ext cx="6254591" cy="842486"/>
          </a:xfrm>
          <a:prstGeom prst="rect">
            <a:avLst/>
          </a:prstGeom>
          <a:noFill/>
          <a:ln/>
        </p:spPr>
        <p:txBody>
          <a:bodyPr wrap="square" lIns="0" tIns="0" rIns="0" bIns="0" rtlCol="0" anchor="t"/>
          <a:lstStyle/>
          <a:p>
            <a:pPr indent="0" marL="0">
              <a:lnSpc>
                <a:spcPts val="3300"/>
              </a:lnSpc>
              <a:buNone/>
            </a:pPr>
            <a:r>
              <a:rPr lang="en-US" sz="2650" dirty="0">
                <a:solidFill>
                  <a:srgbClr val="F2E782"/>
                </a:solidFill>
                <a:latin typeface="Prata" pitchFamily="34" charset="0"/>
                <a:ea typeface="Prata" pitchFamily="34" charset="-122"/>
                <a:cs typeface="Prata" pitchFamily="34" charset="-120"/>
              </a:rPr>
              <a:t>American Psychiatric Association, 2004</a:t>
            </a:r>
            <a:endParaRPr lang="en-US" sz="2650" dirty="0"/>
          </a:p>
        </p:txBody>
      </p:sp>
      <p:sp>
        <p:nvSpPr>
          <p:cNvPr id="8" name="Text 6"/>
          <p:cNvSpPr/>
          <p:nvPr/>
        </p:nvSpPr>
        <p:spPr>
          <a:xfrm>
            <a:off x="7596902" y="5163026"/>
            <a:ext cx="6254591" cy="2247900"/>
          </a:xfrm>
          <a:prstGeom prst="rect">
            <a:avLst/>
          </a:prstGeom>
          <a:noFill/>
          <a:ln/>
        </p:spPr>
        <p:txBody>
          <a:bodyPr wrap="square" lIns="0" tIns="0" rIns="0" bIns="0" rtlCol="0" anchor="t"/>
          <a:lstStyle/>
          <a:p>
            <a:pPr indent="0" marL="0">
              <a:lnSpc>
                <a:spcPts val="3500"/>
              </a:lnSpc>
              <a:buNone/>
            </a:pPr>
            <a:r>
              <a:rPr lang="en-US" sz="2200" dirty="0">
                <a:solidFill>
                  <a:srgbClr val="CFCBBF"/>
                </a:solidFill>
                <a:latin typeface="Raleway" pitchFamily="34" charset="0"/>
                <a:ea typeface="Raleway" pitchFamily="34" charset="-122"/>
                <a:cs typeface="Raleway" pitchFamily="34" charset="-120"/>
              </a:rPr>
              <a:t>Simultaneous success at working, loving and creating with the capacity for mature and flexible resolution of the conflicts between instincts, conscience, important other people and reality.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2229803"/>
            <a:ext cx="7427952" cy="708779"/>
          </a:xfrm>
          <a:prstGeom prst="rect">
            <a:avLst/>
          </a:prstGeom>
          <a:noFill/>
          <a:ln/>
        </p:spPr>
        <p:txBody>
          <a:bodyPr wrap="none" lIns="0" tIns="0" rIns="0" bIns="0" rtlCol="0" anchor="t"/>
          <a:lstStyle/>
          <a:p>
            <a:pPr indent="0" marL="0">
              <a:lnSpc>
                <a:spcPts val="5550"/>
              </a:lnSpc>
              <a:buNone/>
            </a:pPr>
            <a:r>
              <a:rPr lang="en-US" sz="4450" dirty="0">
                <a:solidFill>
                  <a:srgbClr val="F2E782"/>
                </a:solidFill>
                <a:latin typeface="Prata" pitchFamily="34" charset="0"/>
                <a:ea typeface="Prata" pitchFamily="34" charset="-122"/>
                <a:cs typeface="Prata" pitchFamily="34" charset="-120"/>
              </a:rPr>
              <a:t>Concept of Mental Hygiene</a:t>
            </a:r>
            <a:endParaRPr lang="en-US" sz="4450" dirty="0"/>
          </a:p>
        </p:txBody>
      </p:sp>
      <p:sp>
        <p:nvSpPr>
          <p:cNvPr id="4" name="Text 1"/>
          <p:cNvSpPr/>
          <p:nvPr/>
        </p:nvSpPr>
        <p:spPr>
          <a:xfrm>
            <a:off x="793790" y="3278743"/>
            <a:ext cx="7556421" cy="2721054"/>
          </a:xfrm>
          <a:prstGeom prst="rect">
            <a:avLst/>
          </a:prstGeom>
          <a:noFill/>
          <a:ln/>
        </p:spPr>
        <p:txBody>
          <a:bodyPr wrap="square" lIns="0" tIns="0" rIns="0" bIns="0" rtlCol="0" anchor="t"/>
          <a:lstStyle/>
          <a:p>
            <a:pPr indent="0" marL="0">
              <a:lnSpc>
                <a:spcPts val="3550"/>
              </a:lnSpc>
              <a:buNone/>
            </a:pPr>
            <a:r>
              <a:rPr lang="en-US" sz="2200" dirty="0">
                <a:solidFill>
                  <a:srgbClr val="CFCBBF"/>
                </a:solidFill>
                <a:latin typeface="Raleway" pitchFamily="34" charset="0"/>
                <a:ea typeface="Raleway" pitchFamily="34" charset="-122"/>
                <a:cs typeface="Raleway" pitchFamily="34" charset="-120"/>
              </a:rPr>
              <a:t>Mental hygiene is the science of maintaining mental health and preventing the development of mental disorders. It is a branch of psychiatry that deals with the science and practice of maintaining and restoring mental health, and of preventing mental disorder through education, early treatment, and public health measures.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27447" y="414338"/>
            <a:ext cx="5724168" cy="470892"/>
          </a:xfrm>
          <a:prstGeom prst="rect">
            <a:avLst/>
          </a:prstGeom>
          <a:noFill/>
          <a:ln/>
        </p:spPr>
        <p:txBody>
          <a:bodyPr wrap="none" lIns="0" tIns="0" rIns="0" bIns="0" rtlCol="0" anchor="t"/>
          <a:lstStyle/>
          <a:p>
            <a:pPr indent="0" marL="0">
              <a:lnSpc>
                <a:spcPts val="3700"/>
              </a:lnSpc>
              <a:buNone/>
            </a:pPr>
            <a:r>
              <a:rPr lang="en-US" sz="2950" dirty="0">
                <a:solidFill>
                  <a:srgbClr val="F2E782"/>
                </a:solidFill>
                <a:latin typeface="Prata" pitchFamily="34" charset="0"/>
                <a:ea typeface="Prata" pitchFamily="34" charset="-122"/>
                <a:cs typeface="Prata" pitchFamily="34" charset="-120"/>
              </a:rPr>
              <a:t>Components of Mental Hygiene</a:t>
            </a:r>
            <a:endParaRPr lang="en-US" sz="2950" dirty="0"/>
          </a:p>
        </p:txBody>
      </p:sp>
      <p:sp>
        <p:nvSpPr>
          <p:cNvPr id="3" name="Shape 1"/>
          <p:cNvSpPr/>
          <p:nvPr/>
        </p:nvSpPr>
        <p:spPr>
          <a:xfrm>
            <a:off x="745808" y="1186577"/>
            <a:ext cx="15240" cy="6628686"/>
          </a:xfrm>
          <a:prstGeom prst="roundRect">
            <a:avLst>
              <a:gd name="adj" fmla="val 148331"/>
            </a:avLst>
          </a:prstGeom>
          <a:solidFill>
            <a:srgbClr val="535455"/>
          </a:solidFill>
          <a:ln/>
        </p:spPr>
      </p:sp>
      <p:sp>
        <p:nvSpPr>
          <p:cNvPr id="4" name="Shape 2"/>
          <p:cNvSpPr/>
          <p:nvPr/>
        </p:nvSpPr>
        <p:spPr>
          <a:xfrm>
            <a:off x="907673" y="1517809"/>
            <a:ext cx="527447" cy="15240"/>
          </a:xfrm>
          <a:prstGeom prst="roundRect">
            <a:avLst>
              <a:gd name="adj" fmla="val 148331"/>
            </a:avLst>
          </a:prstGeom>
          <a:solidFill>
            <a:srgbClr val="535455"/>
          </a:solidFill>
          <a:ln/>
        </p:spPr>
      </p:sp>
      <p:sp>
        <p:nvSpPr>
          <p:cNvPr id="5" name="Shape 3"/>
          <p:cNvSpPr/>
          <p:nvPr/>
        </p:nvSpPr>
        <p:spPr>
          <a:xfrm>
            <a:off x="583942" y="1356003"/>
            <a:ext cx="338971" cy="338971"/>
          </a:xfrm>
          <a:prstGeom prst="roundRect">
            <a:avLst>
              <a:gd name="adj" fmla="val 6669"/>
            </a:avLst>
          </a:prstGeom>
          <a:solidFill>
            <a:srgbClr val="3A3B3C"/>
          </a:solidFill>
          <a:ln/>
        </p:spPr>
      </p:sp>
      <p:sp>
        <p:nvSpPr>
          <p:cNvPr id="6" name="Text 4"/>
          <p:cNvSpPr/>
          <p:nvPr/>
        </p:nvSpPr>
        <p:spPr>
          <a:xfrm>
            <a:off x="714435" y="1412438"/>
            <a:ext cx="77986" cy="226100"/>
          </a:xfrm>
          <a:prstGeom prst="rect">
            <a:avLst/>
          </a:prstGeom>
          <a:noFill/>
          <a:ln/>
        </p:spPr>
        <p:txBody>
          <a:bodyPr wrap="none" lIns="0" tIns="0" rIns="0" bIns="0" rtlCol="0" anchor="t"/>
          <a:lstStyle/>
          <a:p>
            <a:pPr algn="ctr" indent="0" marL="0">
              <a:lnSpc>
                <a:spcPts val="1750"/>
              </a:lnSpc>
              <a:buNone/>
            </a:pPr>
            <a:r>
              <a:rPr lang="en-US" sz="1750" dirty="0">
                <a:solidFill>
                  <a:srgbClr val="CFCBBF"/>
                </a:solidFill>
                <a:latin typeface="Prata" pitchFamily="34" charset="0"/>
                <a:ea typeface="Prata" pitchFamily="34" charset="-122"/>
                <a:cs typeface="Prata" pitchFamily="34" charset="-120"/>
              </a:rPr>
              <a:t>1</a:t>
            </a:r>
            <a:endParaRPr lang="en-US" sz="1750" dirty="0"/>
          </a:p>
        </p:txBody>
      </p:sp>
      <p:sp>
        <p:nvSpPr>
          <p:cNvPr id="7" name="Text 5"/>
          <p:cNvSpPr/>
          <p:nvPr/>
        </p:nvSpPr>
        <p:spPr>
          <a:xfrm>
            <a:off x="1582222" y="1337191"/>
            <a:ext cx="1883688" cy="235387"/>
          </a:xfrm>
          <a:prstGeom prst="rect">
            <a:avLst/>
          </a:prstGeom>
          <a:noFill/>
          <a:ln/>
        </p:spPr>
        <p:txBody>
          <a:bodyPr wrap="none" lIns="0" tIns="0" rIns="0" bIns="0" rtlCol="0" anchor="t"/>
          <a:lstStyle/>
          <a:p>
            <a:pPr algn="l" indent="0" marL="0">
              <a:lnSpc>
                <a:spcPts val="1850"/>
              </a:lnSpc>
              <a:buNone/>
            </a:pPr>
            <a:r>
              <a:rPr lang="en-US" sz="1450" dirty="0">
                <a:solidFill>
                  <a:srgbClr val="CFCBBF"/>
                </a:solidFill>
                <a:latin typeface="Prata" pitchFamily="34" charset="0"/>
                <a:ea typeface="Prata" pitchFamily="34" charset="-122"/>
                <a:cs typeface="Prata" pitchFamily="34" charset="-120"/>
              </a:rPr>
              <a:t>Preservation</a:t>
            </a:r>
            <a:endParaRPr lang="en-US" sz="1450" dirty="0"/>
          </a:p>
        </p:txBody>
      </p:sp>
      <p:sp>
        <p:nvSpPr>
          <p:cNvPr id="8" name="Text 6"/>
          <p:cNvSpPr/>
          <p:nvPr/>
        </p:nvSpPr>
        <p:spPr>
          <a:xfrm>
            <a:off x="1582222" y="1662946"/>
            <a:ext cx="12520732" cy="904042"/>
          </a:xfrm>
          <a:prstGeom prst="rect">
            <a:avLst/>
          </a:prstGeom>
          <a:noFill/>
          <a:ln/>
        </p:spPr>
        <p:txBody>
          <a:bodyPr wrap="square" lIns="0" tIns="0" rIns="0" bIns="0" rtlCol="0" anchor="t"/>
          <a:lstStyle/>
          <a:p>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It includes the activities which prevent the penetration of risk factors into populations in order to stop the appearance of risk factors in the population. It is also known as primordial prevention. It includes strategies such as health education (adapting healthy life style and discouraging harmful habits), environmental modification (smoking, eating patterns, physical exercise), etc.</a:t>
            </a:r>
            <a:endParaRPr lang="en-US" sz="1450" dirty="0"/>
          </a:p>
        </p:txBody>
      </p:sp>
      <p:sp>
        <p:nvSpPr>
          <p:cNvPr id="9" name="Shape 7"/>
          <p:cNvSpPr/>
          <p:nvPr/>
        </p:nvSpPr>
        <p:spPr>
          <a:xfrm>
            <a:off x="907673" y="3199448"/>
            <a:ext cx="527447" cy="15240"/>
          </a:xfrm>
          <a:prstGeom prst="roundRect">
            <a:avLst>
              <a:gd name="adj" fmla="val 148331"/>
            </a:avLst>
          </a:prstGeom>
          <a:solidFill>
            <a:srgbClr val="535455"/>
          </a:solidFill>
          <a:ln/>
        </p:spPr>
      </p:sp>
      <p:sp>
        <p:nvSpPr>
          <p:cNvPr id="10" name="Shape 8"/>
          <p:cNvSpPr/>
          <p:nvPr/>
        </p:nvSpPr>
        <p:spPr>
          <a:xfrm>
            <a:off x="583942" y="3037642"/>
            <a:ext cx="338971" cy="338971"/>
          </a:xfrm>
          <a:prstGeom prst="roundRect">
            <a:avLst>
              <a:gd name="adj" fmla="val 6669"/>
            </a:avLst>
          </a:prstGeom>
          <a:solidFill>
            <a:srgbClr val="3A3B3C"/>
          </a:solidFill>
          <a:ln/>
        </p:spPr>
      </p:sp>
      <p:sp>
        <p:nvSpPr>
          <p:cNvPr id="11" name="Text 9"/>
          <p:cNvSpPr/>
          <p:nvPr/>
        </p:nvSpPr>
        <p:spPr>
          <a:xfrm>
            <a:off x="684074" y="3094077"/>
            <a:ext cx="138589" cy="226100"/>
          </a:xfrm>
          <a:prstGeom prst="rect">
            <a:avLst/>
          </a:prstGeom>
          <a:noFill/>
          <a:ln/>
        </p:spPr>
        <p:txBody>
          <a:bodyPr wrap="none" lIns="0" tIns="0" rIns="0" bIns="0" rtlCol="0" anchor="t"/>
          <a:lstStyle/>
          <a:p>
            <a:pPr algn="ctr" indent="0" marL="0">
              <a:lnSpc>
                <a:spcPts val="1750"/>
              </a:lnSpc>
              <a:buNone/>
            </a:pPr>
            <a:r>
              <a:rPr lang="en-US" sz="1750" dirty="0">
                <a:solidFill>
                  <a:srgbClr val="CFCBBF"/>
                </a:solidFill>
                <a:latin typeface="Prata" pitchFamily="34" charset="0"/>
                <a:ea typeface="Prata" pitchFamily="34" charset="-122"/>
                <a:cs typeface="Prata" pitchFamily="34" charset="-120"/>
              </a:rPr>
              <a:t>2</a:t>
            </a:r>
            <a:endParaRPr lang="en-US" sz="1750" dirty="0"/>
          </a:p>
        </p:txBody>
      </p:sp>
      <p:sp>
        <p:nvSpPr>
          <p:cNvPr id="12" name="Text 10"/>
          <p:cNvSpPr/>
          <p:nvPr/>
        </p:nvSpPr>
        <p:spPr>
          <a:xfrm>
            <a:off x="1582222" y="3018830"/>
            <a:ext cx="1883688" cy="235387"/>
          </a:xfrm>
          <a:prstGeom prst="rect">
            <a:avLst/>
          </a:prstGeom>
          <a:noFill/>
          <a:ln/>
        </p:spPr>
        <p:txBody>
          <a:bodyPr wrap="none" lIns="0" tIns="0" rIns="0" bIns="0" rtlCol="0" anchor="t"/>
          <a:lstStyle/>
          <a:p>
            <a:pPr algn="l" indent="0" marL="0">
              <a:lnSpc>
                <a:spcPts val="1850"/>
              </a:lnSpc>
              <a:buNone/>
            </a:pPr>
            <a:r>
              <a:rPr lang="en-US" sz="1450" dirty="0">
                <a:solidFill>
                  <a:srgbClr val="CFCBBF"/>
                </a:solidFill>
                <a:latin typeface="Prata" pitchFamily="34" charset="0"/>
                <a:ea typeface="Prata" pitchFamily="34" charset="-122"/>
                <a:cs typeface="Prata" pitchFamily="34" charset="-120"/>
              </a:rPr>
              <a:t>Prevention</a:t>
            </a:r>
            <a:endParaRPr lang="en-US" sz="1450" dirty="0"/>
          </a:p>
        </p:txBody>
      </p:sp>
      <p:sp>
        <p:nvSpPr>
          <p:cNvPr id="13" name="Text 11"/>
          <p:cNvSpPr/>
          <p:nvPr/>
        </p:nvSpPr>
        <p:spPr>
          <a:xfrm>
            <a:off x="1582222" y="3344585"/>
            <a:ext cx="12520732" cy="904042"/>
          </a:xfrm>
          <a:prstGeom prst="rect">
            <a:avLst/>
          </a:prstGeom>
          <a:noFill/>
          <a:ln/>
        </p:spPr>
        <p:txBody>
          <a:bodyPr wrap="square" lIns="0" tIns="0" rIns="0" bIns="0" rtlCol="0" anchor="t"/>
          <a:lstStyle/>
          <a:p>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It includes the actions which are taken before the onset of disease. Strategies includes identifying risk and protective factors of mental health and illness, reducing stressors and enhancing resilience, interventions to reduce hazard and improve quality of life, dealing with family disruption, etc.</a:t>
            </a:r>
            <a:endParaRPr lang="en-US" sz="1450" dirty="0"/>
          </a:p>
        </p:txBody>
      </p:sp>
      <p:sp>
        <p:nvSpPr>
          <p:cNvPr id="14" name="Shape 12"/>
          <p:cNvSpPr/>
          <p:nvPr/>
        </p:nvSpPr>
        <p:spPr>
          <a:xfrm>
            <a:off x="907673" y="4881086"/>
            <a:ext cx="527447" cy="15240"/>
          </a:xfrm>
          <a:prstGeom prst="roundRect">
            <a:avLst>
              <a:gd name="adj" fmla="val 148331"/>
            </a:avLst>
          </a:prstGeom>
          <a:solidFill>
            <a:srgbClr val="535455"/>
          </a:solidFill>
          <a:ln/>
        </p:spPr>
      </p:sp>
      <p:sp>
        <p:nvSpPr>
          <p:cNvPr id="15" name="Shape 13"/>
          <p:cNvSpPr/>
          <p:nvPr/>
        </p:nvSpPr>
        <p:spPr>
          <a:xfrm>
            <a:off x="583942" y="4719280"/>
            <a:ext cx="338971" cy="338971"/>
          </a:xfrm>
          <a:prstGeom prst="roundRect">
            <a:avLst>
              <a:gd name="adj" fmla="val 6669"/>
            </a:avLst>
          </a:prstGeom>
          <a:solidFill>
            <a:srgbClr val="3A3B3C"/>
          </a:solidFill>
          <a:ln/>
        </p:spPr>
      </p:sp>
      <p:sp>
        <p:nvSpPr>
          <p:cNvPr id="16" name="Text 14"/>
          <p:cNvSpPr/>
          <p:nvPr/>
        </p:nvSpPr>
        <p:spPr>
          <a:xfrm>
            <a:off x="683359" y="4775716"/>
            <a:ext cx="140137" cy="226100"/>
          </a:xfrm>
          <a:prstGeom prst="rect">
            <a:avLst/>
          </a:prstGeom>
          <a:noFill/>
          <a:ln/>
        </p:spPr>
        <p:txBody>
          <a:bodyPr wrap="none" lIns="0" tIns="0" rIns="0" bIns="0" rtlCol="0" anchor="t"/>
          <a:lstStyle/>
          <a:p>
            <a:pPr algn="ctr" indent="0" marL="0">
              <a:lnSpc>
                <a:spcPts val="1750"/>
              </a:lnSpc>
              <a:buNone/>
            </a:pPr>
            <a:r>
              <a:rPr lang="en-US" sz="1750" dirty="0">
                <a:solidFill>
                  <a:srgbClr val="CFCBBF"/>
                </a:solidFill>
                <a:latin typeface="Prata" pitchFamily="34" charset="0"/>
                <a:ea typeface="Prata" pitchFamily="34" charset="-122"/>
                <a:cs typeface="Prata" pitchFamily="34" charset="-120"/>
              </a:rPr>
              <a:t>3</a:t>
            </a:r>
            <a:endParaRPr lang="en-US" sz="1750" dirty="0"/>
          </a:p>
        </p:txBody>
      </p:sp>
      <p:sp>
        <p:nvSpPr>
          <p:cNvPr id="17" name="Text 15"/>
          <p:cNvSpPr/>
          <p:nvPr/>
        </p:nvSpPr>
        <p:spPr>
          <a:xfrm>
            <a:off x="1582222" y="4700468"/>
            <a:ext cx="2536627" cy="235387"/>
          </a:xfrm>
          <a:prstGeom prst="rect">
            <a:avLst/>
          </a:prstGeom>
          <a:noFill/>
          <a:ln/>
        </p:spPr>
        <p:txBody>
          <a:bodyPr wrap="none" lIns="0" tIns="0" rIns="0" bIns="0" rtlCol="0" anchor="t"/>
          <a:lstStyle/>
          <a:p>
            <a:pPr algn="l" indent="0" marL="0">
              <a:lnSpc>
                <a:spcPts val="1850"/>
              </a:lnSpc>
              <a:buNone/>
            </a:pPr>
            <a:r>
              <a:rPr lang="en-US" sz="1450" dirty="0">
                <a:solidFill>
                  <a:srgbClr val="CFCBBF"/>
                </a:solidFill>
                <a:latin typeface="Prata" pitchFamily="34" charset="0"/>
                <a:ea typeface="Prata" pitchFamily="34" charset="-122"/>
                <a:cs typeface="Prata" pitchFamily="34" charset="-120"/>
              </a:rPr>
              <a:t>Mental Health Maintenance</a:t>
            </a:r>
            <a:endParaRPr lang="en-US" sz="1450" dirty="0"/>
          </a:p>
        </p:txBody>
      </p:sp>
      <p:sp>
        <p:nvSpPr>
          <p:cNvPr id="18" name="Text 16"/>
          <p:cNvSpPr/>
          <p:nvPr/>
        </p:nvSpPr>
        <p:spPr>
          <a:xfrm>
            <a:off x="1582222" y="5026223"/>
            <a:ext cx="12520732" cy="602694"/>
          </a:xfrm>
          <a:prstGeom prst="rect">
            <a:avLst/>
          </a:prstGeom>
          <a:noFill/>
          <a:ln/>
        </p:spPr>
        <p:txBody>
          <a:bodyPr wrap="square" lIns="0" tIns="0" rIns="0" bIns="0" rtlCol="0" anchor="t"/>
          <a:lstStyle/>
          <a:p>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Seeks to identify specific mental illness or conditions at an early stage with prompt intervention to prevent or limit disability, to prevent catastrophic effects. Common strategy includes early diagnosis and prompt treatment.</a:t>
            </a:r>
            <a:endParaRPr lang="en-US" sz="1450" dirty="0"/>
          </a:p>
        </p:txBody>
      </p:sp>
      <p:sp>
        <p:nvSpPr>
          <p:cNvPr id="19" name="Shape 17"/>
          <p:cNvSpPr/>
          <p:nvPr/>
        </p:nvSpPr>
        <p:spPr>
          <a:xfrm>
            <a:off x="907673" y="6261378"/>
            <a:ext cx="527447" cy="15240"/>
          </a:xfrm>
          <a:prstGeom prst="roundRect">
            <a:avLst>
              <a:gd name="adj" fmla="val 148331"/>
            </a:avLst>
          </a:prstGeom>
          <a:solidFill>
            <a:srgbClr val="535455"/>
          </a:solidFill>
          <a:ln/>
        </p:spPr>
      </p:sp>
      <p:sp>
        <p:nvSpPr>
          <p:cNvPr id="20" name="Shape 18"/>
          <p:cNvSpPr/>
          <p:nvPr/>
        </p:nvSpPr>
        <p:spPr>
          <a:xfrm>
            <a:off x="583942" y="6099572"/>
            <a:ext cx="338971" cy="338971"/>
          </a:xfrm>
          <a:prstGeom prst="roundRect">
            <a:avLst>
              <a:gd name="adj" fmla="val 6669"/>
            </a:avLst>
          </a:prstGeom>
          <a:solidFill>
            <a:srgbClr val="3A3B3C"/>
          </a:solidFill>
          <a:ln/>
        </p:spPr>
      </p:sp>
      <p:sp>
        <p:nvSpPr>
          <p:cNvPr id="21" name="Text 19"/>
          <p:cNvSpPr/>
          <p:nvPr/>
        </p:nvSpPr>
        <p:spPr>
          <a:xfrm>
            <a:off x="687288" y="6156008"/>
            <a:ext cx="132278" cy="226100"/>
          </a:xfrm>
          <a:prstGeom prst="rect">
            <a:avLst/>
          </a:prstGeom>
          <a:noFill/>
          <a:ln/>
        </p:spPr>
        <p:txBody>
          <a:bodyPr wrap="none" lIns="0" tIns="0" rIns="0" bIns="0" rtlCol="0" anchor="t"/>
          <a:lstStyle/>
          <a:p>
            <a:pPr algn="ctr" indent="0" marL="0">
              <a:lnSpc>
                <a:spcPts val="1750"/>
              </a:lnSpc>
              <a:buNone/>
            </a:pPr>
            <a:r>
              <a:rPr lang="en-US" sz="1750" dirty="0">
                <a:solidFill>
                  <a:srgbClr val="CFCBBF"/>
                </a:solidFill>
                <a:latin typeface="Prata" pitchFamily="34" charset="0"/>
                <a:ea typeface="Prata" pitchFamily="34" charset="-122"/>
                <a:cs typeface="Prata" pitchFamily="34" charset="-120"/>
              </a:rPr>
              <a:t>4</a:t>
            </a:r>
            <a:endParaRPr lang="en-US" sz="1750" dirty="0"/>
          </a:p>
        </p:txBody>
      </p:sp>
      <p:sp>
        <p:nvSpPr>
          <p:cNvPr id="22" name="Text 20"/>
          <p:cNvSpPr/>
          <p:nvPr/>
        </p:nvSpPr>
        <p:spPr>
          <a:xfrm>
            <a:off x="1582222" y="6080760"/>
            <a:ext cx="2481263" cy="235387"/>
          </a:xfrm>
          <a:prstGeom prst="rect">
            <a:avLst/>
          </a:prstGeom>
          <a:noFill/>
          <a:ln/>
        </p:spPr>
        <p:txBody>
          <a:bodyPr wrap="none" lIns="0" tIns="0" rIns="0" bIns="0" rtlCol="0" anchor="t"/>
          <a:lstStyle/>
          <a:p>
            <a:pPr algn="l" indent="0" marL="0">
              <a:lnSpc>
                <a:spcPts val="1850"/>
              </a:lnSpc>
              <a:buNone/>
            </a:pPr>
            <a:r>
              <a:rPr lang="en-US" sz="1450" dirty="0">
                <a:solidFill>
                  <a:srgbClr val="CFCBBF"/>
                </a:solidFill>
                <a:latin typeface="Prata" pitchFamily="34" charset="0"/>
                <a:ea typeface="Prata" pitchFamily="34" charset="-122"/>
                <a:cs typeface="Prata" pitchFamily="34" charset="-120"/>
              </a:rPr>
              <a:t>Curative and Rehabilitation</a:t>
            </a:r>
            <a:endParaRPr lang="en-US" sz="1450" dirty="0"/>
          </a:p>
        </p:txBody>
      </p:sp>
      <p:sp>
        <p:nvSpPr>
          <p:cNvPr id="23" name="Text 21"/>
          <p:cNvSpPr/>
          <p:nvPr/>
        </p:nvSpPr>
        <p:spPr>
          <a:xfrm>
            <a:off x="1582222" y="6406515"/>
            <a:ext cx="12520732" cy="602694"/>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FCBBF"/>
                </a:solidFill>
                <a:latin typeface="Raleway" pitchFamily="34" charset="0"/>
                <a:ea typeface="Raleway" pitchFamily="34" charset="-122"/>
                <a:cs typeface="Raleway" pitchFamily="34" charset="-120"/>
              </a:rPr>
              <a:t>Curative measures: Action which stops the progress of a disease by focusing on early detection and treatment of mental health disorders with the objective to cure of disease by intervening before the illness become troublesome to treat.</a:t>
            </a:r>
            <a:endParaRPr lang="en-US" sz="1150" dirty="0"/>
          </a:p>
        </p:txBody>
      </p:sp>
      <p:sp>
        <p:nvSpPr>
          <p:cNvPr id="24" name="Text 22"/>
          <p:cNvSpPr/>
          <p:nvPr/>
        </p:nvSpPr>
        <p:spPr>
          <a:xfrm>
            <a:off x="1582222" y="7061954"/>
            <a:ext cx="12520732" cy="602694"/>
          </a:xfrm>
          <a:prstGeom prst="rect">
            <a:avLst/>
          </a:prstGeom>
          <a:noFill/>
          <a:ln/>
        </p:spPr>
        <p:txBody>
          <a:bodyPr wrap="square" lIns="0" tIns="0" rIns="0" bIns="0" rtlCol="0" anchor="t"/>
          <a:lstStyle/>
          <a:p>
            <a:pPr algn="l" marL="342900" indent="-342900">
              <a:lnSpc>
                <a:spcPts val="1850"/>
              </a:lnSpc>
              <a:buSzPct val="100000"/>
              <a:buChar char="•"/>
            </a:pPr>
            <a:r>
              <a:rPr lang="en-US" sz="1150" dirty="0">
                <a:solidFill>
                  <a:srgbClr val="CFCBBF"/>
                </a:solidFill>
                <a:latin typeface="Raleway" pitchFamily="34" charset="0"/>
                <a:ea typeface="Raleway" pitchFamily="34" charset="-122"/>
                <a:cs typeface="Raleway" pitchFamily="34" charset="-120"/>
              </a:rPr>
              <a:t>Strategies are utilized to decrease negative affect of existent illness by re-establishing work and lessening complications. These strategies incorporate mediations that avoid relapse, advance restoration and decrease the severity of the disorder.</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55320" y="777478"/>
            <a:ext cx="9462730" cy="585192"/>
          </a:xfrm>
          <a:prstGeom prst="rect">
            <a:avLst/>
          </a:prstGeom>
          <a:noFill/>
          <a:ln/>
        </p:spPr>
        <p:txBody>
          <a:bodyPr wrap="none" lIns="0" tIns="0" rIns="0" bIns="0" rtlCol="0" anchor="t"/>
          <a:lstStyle/>
          <a:p>
            <a:pPr indent="0" marL="0">
              <a:lnSpc>
                <a:spcPts val="4600"/>
              </a:lnSpc>
              <a:buNone/>
            </a:pPr>
            <a:r>
              <a:rPr lang="en-US" sz="3650" dirty="0">
                <a:solidFill>
                  <a:srgbClr val="F2E782"/>
                </a:solidFill>
                <a:latin typeface="Prata" pitchFamily="34" charset="0"/>
                <a:ea typeface="Prata" pitchFamily="34" charset="-122"/>
                <a:cs typeface="Prata" pitchFamily="34" charset="-120"/>
              </a:rPr>
              <a:t>Characteristics of mentally healthy person</a:t>
            </a:r>
            <a:endParaRPr lang="en-US" sz="3650" dirty="0"/>
          </a:p>
        </p:txBody>
      </p:sp>
      <p:sp>
        <p:nvSpPr>
          <p:cNvPr id="3" name="Text 1"/>
          <p:cNvSpPr/>
          <p:nvPr/>
        </p:nvSpPr>
        <p:spPr>
          <a:xfrm>
            <a:off x="655320" y="1737122"/>
            <a:ext cx="13319760" cy="1497806"/>
          </a:xfrm>
          <a:prstGeom prst="rect">
            <a:avLst/>
          </a:prstGeom>
          <a:noFill/>
          <a:ln/>
        </p:spPr>
        <p:txBody>
          <a:bodyPr wrap="square" lIns="0" tIns="0" rIns="0" bIns="0" rtlCol="0" anchor="t"/>
          <a:lstStyle/>
          <a:p>
            <a:pPr indent="0" marL="0">
              <a:lnSpc>
                <a:spcPts val="2900"/>
              </a:lnSpc>
              <a:buNone/>
            </a:pPr>
            <a:r>
              <a:rPr lang="en-US" sz="1800" dirty="0">
                <a:solidFill>
                  <a:srgbClr val="CFCBBF"/>
                </a:solidFill>
                <a:latin typeface="Raleway" pitchFamily="34" charset="0"/>
                <a:ea typeface="Raleway" pitchFamily="34" charset="-122"/>
                <a:cs typeface="Raleway" pitchFamily="34" charset="-120"/>
              </a:rPr>
              <a:t>A healthy person is not only physically healthy but also mentally healthy. The modern concept of health extends beyond the proper functioning of the body. It includes a sound, efficient mind and controlled emotions. It involves the efficient and harmonious functioning of body and mind. Good mental health is not simply the absence of diagnosable mental health problems. Good mental health is characterized by a person's ability to full fill a number of key functions and activities.</a:t>
            </a:r>
            <a:endParaRPr lang="en-US" sz="1800" dirty="0"/>
          </a:p>
        </p:txBody>
      </p:sp>
      <p:sp>
        <p:nvSpPr>
          <p:cNvPr id="4" name="Text 2"/>
          <p:cNvSpPr/>
          <p:nvPr/>
        </p:nvSpPr>
        <p:spPr>
          <a:xfrm>
            <a:off x="655320" y="3445550"/>
            <a:ext cx="13319760" cy="748903"/>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B05EF1"/>
                </a:solidFill>
                <a:latin typeface="Raleway" pitchFamily="34" charset="0"/>
                <a:ea typeface="Raleway" pitchFamily="34" charset="-122"/>
                <a:cs typeface="Raleway" pitchFamily="34" charset="-120"/>
              </a:rPr>
              <a:t>Own philosophy of life</a:t>
            </a:r>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 A mentally healthy person formulates his/her own values keeping in view the demands of society. This philosophy guides him in his/her various activities of life.</a:t>
            </a:r>
            <a:endParaRPr lang="en-US" sz="1450" dirty="0"/>
          </a:p>
        </p:txBody>
      </p:sp>
      <p:sp>
        <p:nvSpPr>
          <p:cNvPr id="5" name="Text 3"/>
          <p:cNvSpPr/>
          <p:nvPr/>
        </p:nvSpPr>
        <p:spPr>
          <a:xfrm>
            <a:off x="655320" y="4259937"/>
            <a:ext cx="13319760" cy="748903"/>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F44444"/>
                </a:solidFill>
                <a:latin typeface="Raleway" pitchFamily="34" charset="0"/>
                <a:ea typeface="Raleway" pitchFamily="34" charset="-122"/>
                <a:cs typeface="Raleway" pitchFamily="34" charset="-120"/>
              </a:rPr>
              <a:t>Sense of self-evaluation</a:t>
            </a:r>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 A well-adjusted person knows about his/her capacities, motives, strong points and limitations. He/she carefully evaluates his/her behavior and accepts his/her mistakes.</a:t>
            </a:r>
            <a:endParaRPr lang="en-US" sz="1450" dirty="0"/>
          </a:p>
        </p:txBody>
      </p:sp>
      <p:sp>
        <p:nvSpPr>
          <p:cNvPr id="6" name="Text 4"/>
          <p:cNvSpPr/>
          <p:nvPr/>
        </p:nvSpPr>
        <p:spPr>
          <a:xfrm>
            <a:off x="655320" y="5074325"/>
            <a:ext cx="13319760" cy="748903"/>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5CC97B"/>
                </a:solidFill>
                <a:latin typeface="Raleway" pitchFamily="34" charset="0"/>
                <a:ea typeface="Raleway" pitchFamily="34" charset="-122"/>
                <a:cs typeface="Raleway" pitchFamily="34" charset="-120"/>
              </a:rPr>
              <a:t>Open minded</a:t>
            </a:r>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 Exercises his/her wise judgment well as he/she knows the strength and Imitations well, he/she choose those social and individual tasks which are neither too difficult nor too easy. </a:t>
            </a:r>
            <a:endParaRPr lang="en-US" sz="1450" dirty="0"/>
          </a:p>
        </p:txBody>
      </p:sp>
      <p:sp>
        <p:nvSpPr>
          <p:cNvPr id="7" name="Text 5"/>
          <p:cNvSpPr/>
          <p:nvPr/>
        </p:nvSpPr>
        <p:spPr>
          <a:xfrm>
            <a:off x="655320" y="5888712"/>
            <a:ext cx="13319760" cy="748903"/>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FFA44F"/>
                </a:solidFill>
                <a:latin typeface="Raleway" pitchFamily="34" charset="0"/>
                <a:ea typeface="Raleway" pitchFamily="34" charset="-122"/>
                <a:cs typeface="Raleway" pitchFamily="34" charset="-120"/>
              </a:rPr>
              <a:t>Emotionally mature</a:t>
            </a:r>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 He/she is emotionally mature and stable and expresses his/her emotion according to the accepted social norms and exercises proper control over them.</a:t>
            </a:r>
            <a:endParaRPr lang="en-US" sz="1450" dirty="0"/>
          </a:p>
        </p:txBody>
      </p:sp>
      <p:sp>
        <p:nvSpPr>
          <p:cNvPr id="8" name="Text 6"/>
          <p:cNvSpPr/>
          <p:nvPr/>
        </p:nvSpPr>
        <p:spPr>
          <a:xfrm>
            <a:off x="655320" y="6703100"/>
            <a:ext cx="13319760" cy="748903"/>
          </a:xfrm>
          <a:prstGeom prst="rect">
            <a:avLst/>
          </a:prstGeom>
          <a:noFill/>
          <a:ln/>
        </p:spPr>
        <p:txBody>
          <a:bodyPr wrap="square" lIns="0" tIns="0" rIns="0" bIns="0" rtlCol="0" anchor="t"/>
          <a:lstStyle/>
          <a:p>
            <a:pPr algn="l" marL="342900" indent="-342900">
              <a:lnSpc>
                <a:spcPts val="2350"/>
              </a:lnSpc>
              <a:buSzPct val="100000"/>
              <a:buChar char="•"/>
            </a:pPr>
            <a:r>
              <a:rPr lang="en-US" sz="1450" b="1" dirty="0">
                <a:solidFill>
                  <a:srgbClr val="5E98F1"/>
                </a:solidFill>
                <a:latin typeface="Raleway" pitchFamily="34" charset="0"/>
                <a:ea typeface="Raleway" pitchFamily="34" charset="-122"/>
                <a:cs typeface="Raleway" pitchFamily="34" charset="-120"/>
              </a:rPr>
              <a:t>A balanced self-regarding sentiment</a:t>
            </a:r>
            <a:pPr algn="l" indent="0" marL="0">
              <a:lnSpc>
                <a:spcPts val="2350"/>
              </a:lnSpc>
              <a:buNone/>
            </a:pPr>
            <a:r>
              <a:rPr lang="en-US" sz="1450" dirty="0">
                <a:solidFill>
                  <a:srgbClr val="CFCBBF"/>
                </a:solidFill>
                <a:latin typeface="Raleway" pitchFamily="34" charset="0"/>
                <a:ea typeface="Raleway" pitchFamily="34" charset="-122"/>
                <a:cs typeface="Raleway" pitchFamily="34" charset="-120"/>
              </a:rPr>
              <a:t>: He/ she has a proper sense of personal respect. He/she thinks that he/she is an important member of the social group and can contribute something for its progress and welfare.</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50689" y="589836"/>
            <a:ext cx="5362813" cy="670322"/>
          </a:xfrm>
          <a:prstGeom prst="rect">
            <a:avLst/>
          </a:prstGeom>
          <a:noFill/>
          <a:ln/>
        </p:spPr>
        <p:txBody>
          <a:bodyPr wrap="none" lIns="0" tIns="0" rIns="0" bIns="0" rtlCol="0" anchor="t"/>
          <a:lstStyle/>
          <a:p>
            <a:pPr indent="0" marL="0">
              <a:lnSpc>
                <a:spcPts val="5250"/>
              </a:lnSpc>
              <a:buNone/>
            </a:pPr>
            <a:endParaRPr lang="en-US" sz="4200" dirty="0"/>
          </a:p>
        </p:txBody>
      </p:sp>
      <p:sp>
        <p:nvSpPr>
          <p:cNvPr id="3" name="Text 1"/>
          <p:cNvSpPr/>
          <p:nvPr/>
        </p:nvSpPr>
        <p:spPr>
          <a:xfrm>
            <a:off x="750689" y="1689140"/>
            <a:ext cx="13129022" cy="1286947"/>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F9D933"/>
                </a:solidFill>
                <a:latin typeface="Raleway" pitchFamily="34" charset="0"/>
                <a:ea typeface="Raleway" pitchFamily="34" charset="-122"/>
                <a:cs typeface="Raleway" pitchFamily="34" charset="-120"/>
              </a:rPr>
              <a:t>Socially adjustable</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We are all social beings. This social life reality refers social give and take. A mentally healthy person knows the art of social living and social give and take which helps to form and maintain good relationships with others.</a:t>
            </a:r>
            <a:endParaRPr lang="en-US" sz="1650" dirty="0"/>
          </a:p>
        </p:txBody>
      </p:sp>
      <p:sp>
        <p:nvSpPr>
          <p:cNvPr id="4" name="Text 2"/>
          <p:cNvSpPr/>
          <p:nvPr/>
        </p:nvSpPr>
        <p:spPr>
          <a:xfrm>
            <a:off x="750689" y="3051096"/>
            <a:ext cx="13129022" cy="857964"/>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FAA1A1"/>
                </a:solidFill>
                <a:latin typeface="Raleway" pitchFamily="34" charset="0"/>
                <a:ea typeface="Raleway" pitchFamily="34" charset="-122"/>
                <a:cs typeface="Raleway" pitchFamily="34" charset="-120"/>
              </a:rPr>
              <a:t>A realistic approach</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His/her approach for the various problems of life is realistic. He/she is not cowed down by imaginary fears or pitfall which may come.</a:t>
            </a:r>
            <a:endParaRPr lang="en-US" sz="1650" dirty="0"/>
          </a:p>
        </p:txBody>
      </p:sp>
      <p:sp>
        <p:nvSpPr>
          <p:cNvPr id="5" name="Text 3"/>
          <p:cNvSpPr/>
          <p:nvPr/>
        </p:nvSpPr>
        <p:spPr>
          <a:xfrm>
            <a:off x="750689" y="3984069"/>
            <a:ext cx="13129022" cy="857964"/>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AFCBF8"/>
                </a:solidFill>
                <a:latin typeface="Raleway" pitchFamily="34" charset="0"/>
                <a:ea typeface="Raleway" pitchFamily="34" charset="-122"/>
                <a:cs typeface="Raleway" pitchFamily="34" charset="-120"/>
              </a:rPr>
              <a:t>Intellectually sound</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He/she has adequately developed intellectual powers. These enable him/her to think independently and to take proper decision at the proper time.</a:t>
            </a:r>
            <a:endParaRPr lang="en-US" sz="1650" dirty="0"/>
          </a:p>
        </p:txBody>
      </p:sp>
      <p:sp>
        <p:nvSpPr>
          <p:cNvPr id="6" name="Text 4"/>
          <p:cNvSpPr/>
          <p:nvPr/>
        </p:nvSpPr>
        <p:spPr>
          <a:xfrm>
            <a:off x="750689" y="4917043"/>
            <a:ext cx="13129022" cy="857964"/>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5E208E"/>
                </a:solidFill>
                <a:latin typeface="Raleway" pitchFamily="34" charset="0"/>
                <a:ea typeface="Raleway" pitchFamily="34" charset="-122"/>
                <a:cs typeface="Raleway" pitchFamily="34" charset="-120"/>
              </a:rPr>
              <a:t>Bravery facing failures</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Life is a game of see- saw. A person with perfect mental balance has enough courage and power to cope with failures and uncertainty in his/her life.</a:t>
            </a:r>
            <a:endParaRPr lang="en-US" sz="1650" dirty="0"/>
          </a:p>
        </p:txBody>
      </p:sp>
      <p:sp>
        <p:nvSpPr>
          <p:cNvPr id="7" name="Text 5"/>
          <p:cNvSpPr/>
          <p:nvPr/>
        </p:nvSpPr>
        <p:spPr>
          <a:xfrm>
            <a:off x="750689" y="5850017"/>
            <a:ext cx="13129022" cy="857964"/>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F44444"/>
                </a:solidFill>
                <a:latin typeface="Raleway" pitchFamily="34" charset="0"/>
                <a:ea typeface="Raleway" pitchFamily="34" charset="-122"/>
                <a:cs typeface="Raleway" pitchFamily="34" charset="-120"/>
              </a:rPr>
              <a:t>Punctuality</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A person with sound mental health has desirable social and health habits. He/she does not forget his/her commitments and is regular and punctual in performing his/her duties.</a:t>
            </a:r>
            <a:endParaRPr lang="en-US" sz="1650" dirty="0"/>
          </a:p>
        </p:txBody>
      </p:sp>
      <p:sp>
        <p:nvSpPr>
          <p:cNvPr id="8" name="Text 6"/>
          <p:cNvSpPr/>
          <p:nvPr/>
        </p:nvSpPr>
        <p:spPr>
          <a:xfrm>
            <a:off x="750689" y="6782991"/>
            <a:ext cx="13129022" cy="857964"/>
          </a:xfrm>
          <a:prstGeom prst="rect">
            <a:avLst/>
          </a:prstGeom>
          <a:noFill/>
          <a:ln/>
        </p:spPr>
        <p:txBody>
          <a:bodyPr wrap="square" lIns="0" tIns="0" rIns="0" bIns="0" rtlCol="0" anchor="t"/>
          <a:lstStyle/>
          <a:p>
            <a:pPr algn="l" marL="342900" indent="-342900">
              <a:lnSpc>
                <a:spcPts val="2700"/>
              </a:lnSpc>
              <a:buSzPct val="100000"/>
              <a:buChar char="•"/>
            </a:pPr>
            <a:r>
              <a:rPr lang="en-US" sz="1650" b="1" dirty="0">
                <a:solidFill>
                  <a:srgbClr val="FFD1A7"/>
                </a:solidFill>
                <a:latin typeface="Raleway" pitchFamily="34" charset="0"/>
                <a:ea typeface="Raleway" pitchFamily="34" charset="-122"/>
                <a:cs typeface="Raleway" pitchFamily="34" charset="-120"/>
              </a:rPr>
              <a:t>Varied interests</a:t>
            </a:r>
            <a:pPr algn="l" indent="0" marL="0">
              <a:lnSpc>
                <a:spcPts val="2700"/>
              </a:lnSpc>
              <a:buNone/>
            </a:pPr>
            <a:r>
              <a:rPr lang="en-US" sz="1650" dirty="0">
                <a:solidFill>
                  <a:srgbClr val="CFCBBF"/>
                </a:solidFill>
                <a:latin typeface="Raleway" pitchFamily="34" charset="0"/>
                <a:ea typeface="Raleway" pitchFamily="34" charset="-122"/>
                <a:cs typeface="Raleway" pitchFamily="34" charset="-120"/>
              </a:rPr>
              <a:t>: Various types of interest attract him. These provide him with variety and happiness in life. He/she performs his/ her daily duties with grace and balance.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206" y="394692"/>
            <a:ext cx="6208633" cy="448508"/>
          </a:xfrm>
          <a:prstGeom prst="rect">
            <a:avLst/>
          </a:prstGeom>
          <a:noFill/>
          <a:ln/>
        </p:spPr>
        <p:txBody>
          <a:bodyPr wrap="none" lIns="0" tIns="0" rIns="0" bIns="0" rtlCol="0" anchor="t"/>
          <a:lstStyle/>
          <a:p>
            <a:pPr indent="0" marL="0">
              <a:lnSpc>
                <a:spcPts val="3500"/>
              </a:lnSpc>
              <a:buNone/>
            </a:pPr>
            <a:r>
              <a:rPr lang="en-US" sz="2800" dirty="0">
                <a:solidFill>
                  <a:srgbClr val="F2E782"/>
                </a:solidFill>
                <a:latin typeface="Prata" pitchFamily="34" charset="0"/>
                <a:ea typeface="Prata" pitchFamily="34" charset="-122"/>
                <a:cs typeface="Prata" pitchFamily="34" charset="-120"/>
              </a:rPr>
              <a:t>Warning signs of poor mental health</a:t>
            </a:r>
            <a:endParaRPr lang="en-US" sz="2800" dirty="0"/>
          </a:p>
        </p:txBody>
      </p:sp>
      <p:sp>
        <p:nvSpPr>
          <p:cNvPr id="3" name="Text 1"/>
          <p:cNvSpPr/>
          <p:nvPr/>
        </p:nvSpPr>
        <p:spPr>
          <a:xfrm>
            <a:off x="502206" y="1130141"/>
            <a:ext cx="13625989" cy="861179"/>
          </a:xfrm>
          <a:prstGeom prst="rect">
            <a:avLst/>
          </a:prstGeom>
          <a:noFill/>
          <a:ln/>
        </p:spPr>
        <p:txBody>
          <a:bodyPr wrap="square" lIns="0" tIns="0" rIns="0" bIns="0" rtlCol="0" anchor="t"/>
          <a:lstStyle/>
          <a:p>
            <a:pPr indent="0" marL="0">
              <a:lnSpc>
                <a:spcPts val="2250"/>
              </a:lnSpc>
              <a:buNone/>
            </a:pPr>
            <a:r>
              <a:rPr lang="en-US" sz="1400" dirty="0">
                <a:solidFill>
                  <a:srgbClr val="CFCBBF"/>
                </a:solidFill>
                <a:latin typeface="Raleway" pitchFamily="34" charset="0"/>
                <a:ea typeface="Raleway" pitchFamily="34" charset="-122"/>
                <a:cs typeface="Raleway" pitchFamily="34" charset="-120"/>
              </a:rPr>
              <a:t>When an individual is not able to view himself/ herself clearly or has a distorted view about self, is unable to maintain satisfying personal relationships with others, and is unable to adapt his/her environment, a mental illness occurs. In other words, a mentally unhealthy person loses his/her ability to respond in a distorted way to changing situations.</a:t>
            </a:r>
            <a:endParaRPr lang="en-US" sz="1400" dirty="0"/>
          </a:p>
        </p:txBody>
      </p:sp>
      <p:sp>
        <p:nvSpPr>
          <p:cNvPr id="4" name="Text 2"/>
          <p:cNvSpPr/>
          <p:nvPr/>
        </p:nvSpPr>
        <p:spPr>
          <a:xfrm>
            <a:off x="502206" y="215276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Irregular and abnormal physiological conditions</a:t>
            </a:r>
            <a:endParaRPr lang="en-US" sz="1100" dirty="0"/>
          </a:p>
        </p:txBody>
      </p:sp>
      <p:sp>
        <p:nvSpPr>
          <p:cNvPr id="5" name="Text 3"/>
          <p:cNvSpPr/>
          <p:nvPr/>
        </p:nvSpPr>
        <p:spPr>
          <a:xfrm>
            <a:off x="502206" y="248995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Sleep problems-sleeplessness, nightmares</a:t>
            </a:r>
            <a:endParaRPr lang="en-US" sz="1100" dirty="0"/>
          </a:p>
        </p:txBody>
      </p:sp>
      <p:sp>
        <p:nvSpPr>
          <p:cNvPr id="6" name="Text 4"/>
          <p:cNvSpPr/>
          <p:nvPr/>
        </p:nvSpPr>
        <p:spPr>
          <a:xfrm>
            <a:off x="502206" y="282713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Restlessness</a:t>
            </a:r>
            <a:endParaRPr lang="en-US" sz="1100" dirty="0"/>
          </a:p>
        </p:txBody>
      </p:sp>
      <p:sp>
        <p:nvSpPr>
          <p:cNvPr id="7" name="Text 5"/>
          <p:cNvSpPr/>
          <p:nvPr/>
        </p:nvSpPr>
        <p:spPr>
          <a:xfrm>
            <a:off x="502206" y="316432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Excessive anxiety and worry</a:t>
            </a:r>
            <a:endParaRPr lang="en-US" sz="1100" dirty="0"/>
          </a:p>
        </p:txBody>
      </p:sp>
      <p:sp>
        <p:nvSpPr>
          <p:cNvPr id="8" name="Text 6"/>
          <p:cNvSpPr/>
          <p:nvPr/>
        </p:nvSpPr>
        <p:spPr>
          <a:xfrm>
            <a:off x="502206" y="350150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Withdrawal from social activities</a:t>
            </a:r>
            <a:endParaRPr lang="en-US" sz="1100" dirty="0"/>
          </a:p>
        </p:txBody>
      </p:sp>
      <p:sp>
        <p:nvSpPr>
          <p:cNvPr id="9" name="Text 7"/>
          <p:cNvSpPr/>
          <p:nvPr/>
        </p:nvSpPr>
        <p:spPr>
          <a:xfrm>
            <a:off x="502206" y="383869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Several physical ailments without any cause (vague and ongoing aches in different parts of the body)</a:t>
            </a:r>
            <a:endParaRPr lang="en-US" sz="1100" dirty="0"/>
          </a:p>
        </p:txBody>
      </p:sp>
      <p:sp>
        <p:nvSpPr>
          <p:cNvPr id="10" name="Text 8"/>
          <p:cNvSpPr/>
          <p:nvPr/>
        </p:nvSpPr>
        <p:spPr>
          <a:xfrm>
            <a:off x="502206" y="417587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Increased or decreased appetite</a:t>
            </a:r>
            <a:endParaRPr lang="en-US" sz="1100" dirty="0"/>
          </a:p>
        </p:txBody>
      </p:sp>
      <p:sp>
        <p:nvSpPr>
          <p:cNvPr id="11" name="Text 9"/>
          <p:cNvSpPr/>
          <p:nvPr/>
        </p:nvSpPr>
        <p:spPr>
          <a:xfrm>
            <a:off x="502206" y="451306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 Heightened emotionality, outbursts and irritability</a:t>
            </a:r>
            <a:endParaRPr lang="en-US" sz="1100" dirty="0"/>
          </a:p>
        </p:txBody>
      </p:sp>
      <p:sp>
        <p:nvSpPr>
          <p:cNvPr id="12" name="Text 10"/>
          <p:cNvSpPr/>
          <p:nvPr/>
        </p:nvSpPr>
        <p:spPr>
          <a:xfrm>
            <a:off x="502206" y="485024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Intolerance to criticisms</a:t>
            </a:r>
            <a:endParaRPr lang="en-US" sz="1100" dirty="0"/>
          </a:p>
        </p:txBody>
      </p:sp>
      <p:sp>
        <p:nvSpPr>
          <p:cNvPr id="13" name="Text 11"/>
          <p:cNvSpPr/>
          <p:nvPr/>
        </p:nvSpPr>
        <p:spPr>
          <a:xfrm>
            <a:off x="502206" y="518743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Excessive use of alcohol and other drugs</a:t>
            </a:r>
            <a:endParaRPr lang="en-US" sz="1100" dirty="0"/>
          </a:p>
        </p:txBody>
      </p:sp>
      <p:sp>
        <p:nvSpPr>
          <p:cNvPr id="14" name="Text 12"/>
          <p:cNvSpPr/>
          <p:nvPr/>
        </p:nvSpPr>
        <p:spPr>
          <a:xfrm>
            <a:off x="502206" y="552461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 Procrastination</a:t>
            </a:r>
            <a:endParaRPr lang="en-US" sz="1100" dirty="0"/>
          </a:p>
        </p:txBody>
      </p:sp>
      <p:sp>
        <p:nvSpPr>
          <p:cNvPr id="15" name="Text 13"/>
          <p:cNvSpPr/>
          <p:nvPr/>
        </p:nvSpPr>
        <p:spPr>
          <a:xfrm>
            <a:off x="502206" y="586180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Nervousness</a:t>
            </a:r>
            <a:endParaRPr lang="en-US" sz="1100" dirty="0"/>
          </a:p>
        </p:txBody>
      </p:sp>
      <p:sp>
        <p:nvSpPr>
          <p:cNvPr id="16" name="Text 14"/>
          <p:cNvSpPr/>
          <p:nvPr/>
        </p:nvSpPr>
        <p:spPr>
          <a:xfrm>
            <a:off x="502206" y="619898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Poor academic performance/work culture</a:t>
            </a:r>
            <a:endParaRPr lang="en-US" sz="1100" dirty="0"/>
          </a:p>
        </p:txBody>
      </p:sp>
      <p:sp>
        <p:nvSpPr>
          <p:cNvPr id="17" name="Text 15"/>
          <p:cNvSpPr/>
          <p:nvPr/>
        </p:nvSpPr>
        <p:spPr>
          <a:xfrm>
            <a:off x="502206" y="653617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 Unusual behaviours like shyness, anger, sadness</a:t>
            </a:r>
            <a:endParaRPr lang="en-US" sz="1100" dirty="0"/>
          </a:p>
        </p:txBody>
      </p:sp>
      <p:sp>
        <p:nvSpPr>
          <p:cNvPr id="18" name="Text 16"/>
          <p:cNvSpPr/>
          <p:nvPr/>
        </p:nvSpPr>
        <p:spPr>
          <a:xfrm>
            <a:off x="502206" y="687335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Lack of interest in what is happening around</a:t>
            </a:r>
            <a:endParaRPr lang="en-US" sz="1100" dirty="0"/>
          </a:p>
        </p:txBody>
      </p:sp>
      <p:sp>
        <p:nvSpPr>
          <p:cNvPr id="19" name="Text 17"/>
          <p:cNvSpPr/>
          <p:nvPr/>
        </p:nvSpPr>
        <p:spPr>
          <a:xfrm>
            <a:off x="502206" y="7210544"/>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Exhibiting mood swings</a:t>
            </a:r>
            <a:endParaRPr lang="en-US" sz="1100" dirty="0"/>
          </a:p>
        </p:txBody>
      </p:sp>
      <p:sp>
        <p:nvSpPr>
          <p:cNvPr id="20" name="Text 18"/>
          <p:cNvSpPr/>
          <p:nvPr/>
        </p:nvSpPr>
        <p:spPr>
          <a:xfrm>
            <a:off x="502206" y="7547729"/>
            <a:ext cx="13625989" cy="287060"/>
          </a:xfrm>
          <a:prstGeom prst="rect">
            <a:avLst/>
          </a:prstGeom>
          <a:noFill/>
          <a:ln/>
        </p:spPr>
        <p:txBody>
          <a:bodyPr wrap="none" lIns="0" tIns="0" rIns="0" bIns="0" rtlCol="0" anchor="t"/>
          <a:lstStyle/>
          <a:p>
            <a:pPr algn="l" marL="342900" indent="-342900">
              <a:lnSpc>
                <a:spcPts val="1800"/>
              </a:lnSpc>
              <a:buSzPct val="100000"/>
              <a:buChar char="•"/>
            </a:pPr>
            <a:r>
              <a:rPr lang="en-US" sz="1100" dirty="0">
                <a:solidFill>
                  <a:srgbClr val="CFCBBF"/>
                </a:solidFill>
                <a:latin typeface="Raleway" pitchFamily="34" charset="0"/>
                <a:ea typeface="Raleway" pitchFamily="34" charset="-122"/>
                <a:cs typeface="Raleway" pitchFamily="34" charset="-120"/>
              </a:rPr>
              <a:t>Feeling of tiredness, lethargic and fatigued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2024-12-01T17:54:21Z</dcterms:created>
  <dcterms:modified xsi:type="dcterms:W3CDTF">2024-12-01T17:54:21Z</dcterms:modified>
</cp:coreProperties>
</file>