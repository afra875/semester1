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4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7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46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4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2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2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4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6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0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3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3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DAE10-E0E3-4702-9201-48ED68B82044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1D769-8C14-4541-8E5D-1CE3DA33F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4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88522"/>
            <a:ext cx="9144000" cy="1146384"/>
          </a:xfrm>
        </p:spPr>
        <p:txBody>
          <a:bodyPr/>
          <a:lstStyle/>
          <a:p>
            <a:r>
              <a:rPr lang="en-US" dirty="0" smtClean="0"/>
              <a:t>CIRCULATORY  SHOCK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HYPOVOLEMIC SHOCK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3298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154"/>
            <a:ext cx="11126638" cy="6512943"/>
          </a:xfrm>
        </p:spPr>
        <p:txBody>
          <a:bodyPr/>
          <a:lstStyle/>
          <a:p>
            <a:r>
              <a:rPr lang="en-US" dirty="0" smtClean="0"/>
              <a:t>Due to decreased circulating blood volume , the amount of fluid in vascular system is inadequate to fill it.</a:t>
            </a:r>
          </a:p>
          <a:p>
            <a:pPr marL="0" indent="0">
              <a:buNone/>
            </a:pPr>
            <a:r>
              <a:rPr lang="en-US" dirty="0" smtClean="0"/>
              <a:t>                                                    CAUSES</a:t>
            </a:r>
          </a:p>
          <a:p>
            <a:pPr marL="0" indent="0">
              <a:buNone/>
            </a:pPr>
            <a:r>
              <a:rPr lang="en-US" dirty="0" smtClean="0"/>
              <a:t>A, HEMORRHAGIC SHOCK-Excess blood loss[most important cause]</a:t>
            </a:r>
          </a:p>
          <a:p>
            <a:pPr marL="0" indent="0">
              <a:buNone/>
            </a:pPr>
            <a:r>
              <a:rPr lang="en-US" dirty="0" smtClean="0"/>
              <a:t>B. TRAUMATIC SHOCK– Trauma/ Injury</a:t>
            </a:r>
          </a:p>
          <a:p>
            <a:pPr marL="0" indent="0">
              <a:buNone/>
            </a:pPr>
            <a:r>
              <a:rPr lang="en-US" dirty="0" smtClean="0"/>
              <a:t>C. SURGICAL SHOCK—External /internal blood loss by rupture blood vessel</a:t>
            </a:r>
          </a:p>
          <a:p>
            <a:pPr marL="0" indent="0">
              <a:buNone/>
            </a:pPr>
            <a:r>
              <a:rPr lang="en-US" dirty="0" smtClean="0"/>
              <a:t>D. BURN SHOCK- Burn and fluid loss</a:t>
            </a:r>
          </a:p>
          <a:p>
            <a:pPr marL="0" indent="0">
              <a:buNone/>
            </a:pPr>
            <a:r>
              <a:rPr lang="en-US" dirty="0" smtClean="0"/>
              <a:t>E. DEHYDRATION SHOCK-Dehydration as in sever vomiting and diarrhea.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 STAGES OF SHOCK</a:t>
            </a:r>
          </a:p>
          <a:p>
            <a:pPr marL="0" indent="0">
              <a:buNone/>
            </a:pPr>
            <a:r>
              <a:rPr lang="en-US" dirty="0" smtClean="0"/>
              <a:t>I. INITIAL STAGE</a:t>
            </a:r>
          </a:p>
          <a:p>
            <a:pPr marL="0" indent="0">
              <a:buNone/>
            </a:pPr>
            <a:r>
              <a:rPr lang="en-US" dirty="0" smtClean="0"/>
              <a:t>II. COMPENSATORY STAGE –Two types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1.IMMEDIATE COMPENSATORY MECHANISMS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2. DELAYED COMPENSATORY MECHANISMS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7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649" y="77638"/>
            <a:ext cx="11619781" cy="6581954"/>
          </a:xfrm>
        </p:spPr>
        <p:txBody>
          <a:bodyPr>
            <a:normAutofit/>
          </a:bodyPr>
          <a:lstStyle/>
          <a:p>
            <a:r>
              <a:rPr lang="en-US" dirty="0" smtClean="0"/>
              <a:t>                     IMMEDIATE COMPENSATORY MECHANISM</a:t>
            </a:r>
          </a:p>
          <a:p>
            <a:pPr marL="0" indent="0">
              <a:buNone/>
            </a:pPr>
            <a:r>
              <a:rPr lang="en-US" sz="2000" dirty="0" smtClean="0"/>
              <a:t>1.Baroreceptor reflex mechanism</a:t>
            </a:r>
          </a:p>
          <a:p>
            <a:pPr marL="0" indent="0">
              <a:buNone/>
            </a:pPr>
            <a:r>
              <a:rPr lang="en-US" sz="2000" dirty="0" smtClean="0"/>
              <a:t>2. Chemoreceptor reflex mechanism</a:t>
            </a:r>
          </a:p>
          <a:p>
            <a:pPr marL="0" indent="0">
              <a:buNone/>
            </a:pPr>
            <a:r>
              <a:rPr lang="en-US" sz="2000" dirty="0" smtClean="0"/>
              <a:t>3.CNS Ischemic response</a:t>
            </a:r>
          </a:p>
          <a:p>
            <a:pPr marL="0" indent="0">
              <a:buNone/>
            </a:pPr>
            <a:r>
              <a:rPr lang="en-US" sz="2000" dirty="0" smtClean="0"/>
              <a:t>4.Increased sympathetic activity </a:t>
            </a:r>
          </a:p>
          <a:p>
            <a:pPr marL="0" indent="0">
              <a:buNone/>
            </a:pPr>
            <a:r>
              <a:rPr lang="en-US" sz="2000" dirty="0" smtClean="0"/>
              <a:t>5. Increase in ANGIOTENSIN II&amp; ALDOSTERONE</a:t>
            </a:r>
          </a:p>
          <a:p>
            <a:pPr marL="0" indent="0">
              <a:buNone/>
            </a:pPr>
            <a:r>
              <a:rPr lang="en-US" sz="2000" dirty="0" smtClean="0"/>
              <a:t>6.Decrease in GFR</a:t>
            </a:r>
          </a:p>
          <a:p>
            <a:pPr marL="0" indent="0">
              <a:buNone/>
            </a:pPr>
            <a:r>
              <a:rPr lang="en-US" sz="2000" dirty="0" smtClean="0"/>
              <a:t>7.Increase in respiratory and muscle pump</a:t>
            </a:r>
          </a:p>
          <a:p>
            <a:pPr marL="0" indent="0">
              <a:buNone/>
            </a:pPr>
            <a:r>
              <a:rPr lang="en-US" sz="2000" dirty="0" smtClean="0"/>
              <a:t>8.Increase in splenic contraction[Blood is diverted to vital organs]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DELAYED COMPENSATORY MECHANISM</a:t>
            </a:r>
          </a:p>
          <a:p>
            <a:pPr marL="514350" indent="-514350">
              <a:buAutoNum type="arabicPeriod"/>
            </a:pPr>
            <a:r>
              <a:rPr lang="en-US" sz="2000" dirty="0" smtClean="0"/>
              <a:t>Increased thirst</a:t>
            </a:r>
          </a:p>
          <a:p>
            <a:pPr marL="514350" indent="-514350">
              <a:buAutoNum type="arabicPeriod"/>
            </a:pPr>
            <a:r>
              <a:rPr lang="en-US" sz="2000" dirty="0"/>
              <a:t>I</a:t>
            </a:r>
            <a:r>
              <a:rPr lang="en-US" sz="2000" dirty="0" smtClean="0"/>
              <a:t>ncreased water &amp; salt absorption</a:t>
            </a:r>
          </a:p>
          <a:p>
            <a:pPr marL="514350" indent="-514350">
              <a:buAutoNum type="arabicPeriod"/>
            </a:pPr>
            <a:r>
              <a:rPr lang="en-US" sz="2000" dirty="0" smtClean="0"/>
              <a:t>Increase in RBC count, plasma proteins [to maintain colloidal osmotic pressure]</a:t>
            </a:r>
          </a:p>
          <a:p>
            <a:pPr marL="514350" indent="-514350">
              <a:buAutoNum type="arabicPeriod"/>
            </a:pPr>
            <a:r>
              <a:rPr lang="en-US" sz="2000" dirty="0" smtClean="0"/>
              <a:t>Increase in2,3 DPG &amp; increased release of oxygen from </a:t>
            </a:r>
            <a:r>
              <a:rPr lang="en-US" sz="2000" dirty="0" err="1" smtClean="0"/>
              <a:t>Hb</a:t>
            </a:r>
            <a:r>
              <a:rPr lang="en-US" sz="2000" dirty="0" smtClean="0"/>
              <a:t> to tissues.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1909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70" y="103517"/>
            <a:ext cx="11982090" cy="668547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III.                                                     </a:t>
            </a:r>
            <a:r>
              <a:rPr lang="en-US" sz="4000" dirty="0" smtClean="0"/>
              <a:t>PROGRESSIVE STAGE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Shock becomes worse until death. It is reversible with outside </a:t>
            </a:r>
            <a:r>
              <a:rPr lang="en-US" dirty="0" err="1" smtClean="0"/>
              <a:t>therapy.It</a:t>
            </a:r>
            <a:r>
              <a:rPr lang="en-US" dirty="0" smtClean="0"/>
              <a:t> </a:t>
            </a:r>
            <a:r>
              <a:rPr lang="en-US" dirty="0" err="1" smtClean="0"/>
              <a:t>incude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1.Cardiac depression&amp; decrease in coronary circulation</a:t>
            </a:r>
          </a:p>
          <a:p>
            <a:pPr marL="0" indent="0">
              <a:buNone/>
            </a:pPr>
            <a:r>
              <a:rPr lang="en-US" dirty="0" smtClean="0"/>
              <a:t>2.Fall in BP</a:t>
            </a:r>
          </a:p>
          <a:p>
            <a:pPr marL="0" indent="0">
              <a:buNone/>
            </a:pPr>
            <a:r>
              <a:rPr lang="en-US" dirty="0" smtClean="0"/>
              <a:t>3. Ischemia of VMN.</a:t>
            </a:r>
          </a:p>
          <a:p>
            <a:pPr marL="0" indent="0">
              <a:buNone/>
            </a:pPr>
            <a:r>
              <a:rPr lang="en-US" dirty="0" smtClean="0"/>
              <a:t>4. Sluggish blood flow and blood clot in small vessels</a:t>
            </a:r>
          </a:p>
          <a:p>
            <a:pPr marL="0" indent="0">
              <a:buNone/>
            </a:pPr>
            <a:r>
              <a:rPr lang="en-US" dirty="0" smtClean="0"/>
              <a:t>5. INTESTINE- Endotoxins cause dilatation of blood vessels.</a:t>
            </a:r>
          </a:p>
          <a:p>
            <a:pPr marL="0" indent="0">
              <a:buNone/>
            </a:pPr>
            <a:r>
              <a:rPr lang="en-US" dirty="0" smtClean="0"/>
              <a:t>6.LIVER- Decrease metabolism and detoxification failure</a:t>
            </a:r>
          </a:p>
          <a:p>
            <a:pPr marL="0" indent="0">
              <a:buNone/>
            </a:pPr>
            <a:r>
              <a:rPr lang="en-US" dirty="0" smtClean="0"/>
              <a:t>7.LUNGS– Pulmonary edema</a:t>
            </a:r>
          </a:p>
          <a:p>
            <a:pPr marL="0" indent="0">
              <a:buNone/>
            </a:pPr>
            <a:r>
              <a:rPr lang="en-US" dirty="0" smtClean="0"/>
              <a:t>8. kidney- renal failure</a:t>
            </a:r>
          </a:p>
          <a:p>
            <a:pPr marL="0" indent="0">
              <a:buNone/>
            </a:pPr>
            <a:r>
              <a:rPr lang="en-US" dirty="0" smtClean="0"/>
              <a:t>9.AT CELLULAR LEVEL– Na –K PUMP fails, </a:t>
            </a:r>
            <a:r>
              <a:rPr lang="en-US" dirty="0" err="1" smtClean="0"/>
              <a:t>autodigestion</a:t>
            </a:r>
            <a:r>
              <a:rPr lang="en-US" dirty="0" smtClean="0"/>
              <a:t> of cell by lysosome, mitochondrial activity depressed, glucose metabolism depressed.</a:t>
            </a:r>
          </a:p>
          <a:p>
            <a:pPr marL="0" indent="0">
              <a:buNone/>
            </a:pPr>
            <a:endParaRPr lang="en-US" dirty="0" smtClean="0"/>
          </a:p>
          <a:p>
            <a:pPr marL="1028700" indent="-1028700">
              <a:buAutoNum type="romanUcPeriod" startAt="4"/>
            </a:pPr>
            <a:r>
              <a:rPr lang="en-US" sz="4500" dirty="0" smtClean="0"/>
              <a:t>IRREVERSIBLE STAGE- </a:t>
            </a:r>
          </a:p>
          <a:p>
            <a:pPr marL="0" indent="0">
              <a:buNone/>
            </a:pPr>
            <a:r>
              <a:rPr lang="en-US" sz="4500" dirty="0"/>
              <a:t> </a:t>
            </a:r>
            <a:r>
              <a:rPr lang="en-US" sz="4500" dirty="0" smtClean="0"/>
              <a:t>                      </a:t>
            </a:r>
            <a:r>
              <a:rPr lang="en-US" sz="3200" dirty="0" smtClean="0"/>
              <a:t>If not properly treated </a:t>
            </a:r>
            <a:r>
              <a:rPr lang="en-US" sz="3200" dirty="0" smtClean="0"/>
              <a:t>during</a:t>
            </a:r>
            <a:r>
              <a:rPr lang="en-US" sz="3200" dirty="0" smtClean="0"/>
              <a:t> second stage ,patient </a:t>
            </a:r>
            <a:r>
              <a:rPr lang="en-US" sz="3200" dirty="0"/>
              <a:t>g</a:t>
            </a:r>
            <a:r>
              <a:rPr lang="en-US" sz="3200" dirty="0" smtClean="0"/>
              <a:t>oes into this stage.</a:t>
            </a:r>
          </a:p>
          <a:p>
            <a:pPr marL="514350" indent="-514350">
              <a:buAutoNum type="arabicPeriod"/>
            </a:pPr>
            <a:r>
              <a:rPr lang="en-US" sz="3200" dirty="0" smtClean="0"/>
              <a:t>Depletion of ATP in liver and heart.</a:t>
            </a:r>
          </a:p>
          <a:p>
            <a:pPr marL="514350" indent="-514350">
              <a:buAutoNum type="arabicPeriod"/>
            </a:pPr>
            <a:r>
              <a:rPr lang="en-US" sz="3200" dirty="0" smtClean="0"/>
              <a:t>Severe cerebral ischemia and depression of VMN &amp; CIC</a:t>
            </a:r>
          </a:p>
          <a:p>
            <a:pPr marL="514350" indent="-514350">
              <a:buAutoNum type="arabicPeriod"/>
            </a:pPr>
            <a:r>
              <a:rPr lang="en-US" sz="3200" dirty="0" smtClean="0"/>
              <a:t>Bradycardia, decrease in B P, decrease in pulse rate and </a:t>
            </a:r>
            <a:r>
              <a:rPr lang="en-US" sz="3200" dirty="0" err="1" smtClean="0"/>
              <a:t>payient</a:t>
            </a:r>
            <a:r>
              <a:rPr lang="en-US" sz="3200" dirty="0" smtClean="0"/>
              <a:t> finally dies.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5328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094234" cy="6858000"/>
          </a:xfrm>
        </p:spPr>
        <p:txBody>
          <a:bodyPr/>
          <a:lstStyle/>
          <a:p>
            <a:r>
              <a:rPr lang="en-US" dirty="0" smtClean="0"/>
              <a:t>                                    TREATMENT</a:t>
            </a:r>
          </a:p>
          <a:p>
            <a:pPr marL="0" indent="0">
              <a:buNone/>
            </a:pPr>
            <a:r>
              <a:rPr lang="en-US" sz="2000" dirty="0" smtClean="0"/>
              <a:t>1.In hemorrhagic , traumatic and surgical shock – rapid blood transfusion with compatible blood.</a:t>
            </a:r>
          </a:p>
          <a:p>
            <a:pPr marL="0" indent="0">
              <a:buNone/>
            </a:pPr>
            <a:r>
              <a:rPr lang="en-US" sz="2000" dirty="0" smtClean="0"/>
              <a:t>2. In burn shock &amp; Dehydration shock plasma expanders like dextran can be used.</a:t>
            </a:r>
          </a:p>
          <a:p>
            <a:pPr marL="0" indent="0">
              <a:buNone/>
            </a:pPr>
            <a:r>
              <a:rPr lang="en-US" sz="2000" dirty="0" smtClean="0"/>
              <a:t>Ringer lactate can be given in large doses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76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369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CIRCULATORY  SHOCK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CIRCULATORY  SHOCK</dc:title>
  <dc:creator>user</dc:creator>
  <cp:lastModifiedBy>user</cp:lastModifiedBy>
  <cp:revision>18</cp:revision>
  <dcterms:created xsi:type="dcterms:W3CDTF">2024-12-29T07:34:10Z</dcterms:created>
  <dcterms:modified xsi:type="dcterms:W3CDTF">2024-12-29T11:23:43Z</dcterms:modified>
</cp:coreProperties>
</file>