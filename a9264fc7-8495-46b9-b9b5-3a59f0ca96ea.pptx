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7-1.png"/><Relationship Id="rId2" Type="http://schemas.openxmlformats.org/officeDocument/2006/relationships/image" Target="../media/image-1017-2.png"/><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8-1.png"/><Relationship Id="rId2" Type="http://schemas.openxmlformats.org/officeDocument/2006/relationships/image" Target="../media/image-1018-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9-1.png"/><Relationship Id="rId2" Type="http://schemas.openxmlformats.org/officeDocument/2006/relationships/image" Target="../media/image-1019-2.png"/><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0-1.png"/><Relationship Id="rId2" Type="http://schemas.openxmlformats.org/officeDocument/2006/relationships/image" Target="../media/image-1020-2.png"/><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1-1.png"/><Relationship Id="rId2" Type="http://schemas.openxmlformats.org/officeDocument/2006/relationships/image" Target="../media/image-1021-2.png"/><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2-1.png"/><Relationship Id="rId2" Type="http://schemas.openxmlformats.org/officeDocument/2006/relationships/image" Target="../media/image-1022-2.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3-1.png"/><Relationship Id="rId2" Type="http://schemas.openxmlformats.org/officeDocument/2006/relationships/image" Target="../media/image-1023-2.png"/><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4-1.png"/><Relationship Id="rId2" Type="http://schemas.openxmlformats.org/officeDocument/2006/relationships/image" Target="../media/image-1024-2.png"/><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5-1.png"/><Relationship Id="rId2" Type="http://schemas.openxmlformats.org/officeDocument/2006/relationships/image" Target="../media/image-1025-2.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6-1.png"/><Relationship Id="rId2" Type="http://schemas.openxmlformats.org/officeDocument/2006/relationships/image" Target="../media/image-1026-2.png"/><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7-1.png"/><Relationship Id="rId2" Type="http://schemas.openxmlformats.org/officeDocument/2006/relationships/image" Target="../media/image-1027-2.png"/><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8-1.png"/><Relationship Id="rId2" Type="http://schemas.openxmlformats.org/officeDocument/2006/relationships/image" Target="../media/image-1028-2.png"/><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9-1.png"/><Relationship Id="rId2" Type="http://schemas.openxmlformats.org/officeDocument/2006/relationships/image" Target="../media/image-1029-2.png"/><Relationship Id="rId4"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0-1.png"/><Relationship Id="rId2" Type="http://schemas.openxmlformats.org/officeDocument/2006/relationships/image" Target="../media/image-1030-2.png"/><Relationship Id="rId4"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1-1.png"/><Relationship Id="rId2" Type="http://schemas.openxmlformats.org/officeDocument/2006/relationships/image" Target="../media/image-1031-2.png"/><Relationship Id="rId4"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32-1.png"/><Relationship Id="rId2" Type="http://schemas.openxmlformats.org/officeDocument/2006/relationships/image" Target="../media/image-103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456498"/>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PERSONALITY</a:t>
            </a:r>
            <a:endParaRPr lang="en-US" sz="4450" dirty="0"/>
          </a:p>
        </p:txBody>
      </p:sp>
      <p:sp>
        <p:nvSpPr>
          <p:cNvPr id="4" name="Text 1"/>
          <p:cNvSpPr/>
          <p:nvPr/>
        </p:nvSpPr>
        <p:spPr>
          <a:xfrm>
            <a:off x="793790" y="3505438"/>
            <a:ext cx="7556421" cy="2267545"/>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This presentation explores the fascinating world of personality, diving into its origins, classifications, and key types. We'll delve into the nuances of different personality frameworks, uncovering insights into how individuals interact with the world.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89952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The Word's Origin</a:t>
            </a:r>
            <a:endParaRPr lang="en-US" sz="2200" dirty="0"/>
          </a:p>
        </p:txBody>
      </p:sp>
      <p:sp>
        <p:nvSpPr>
          <p:cNvPr id="4" name="Text 2"/>
          <p:cNvSpPr/>
          <p:nvPr/>
        </p:nvSpPr>
        <p:spPr>
          <a:xfrm>
            <a:off x="793790" y="2480667"/>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The word personality is derived from the Latin word </a:t>
            </a:r>
            <a:pPr indent="0" marL="0">
              <a:lnSpc>
                <a:spcPts val="3550"/>
              </a:lnSpc>
              <a:buNone/>
            </a:pPr>
            <a:r>
              <a:rPr lang="en-US" sz="2200" b="1" dirty="0">
                <a:solidFill>
                  <a:srgbClr val="2A2742"/>
                </a:solidFill>
                <a:latin typeface="Arimo" pitchFamily="34" charset="0"/>
                <a:ea typeface="Arimo" pitchFamily="34" charset="-122"/>
                <a:cs typeface="Arimo" pitchFamily="34" charset="-120"/>
              </a:rPr>
              <a:t>Persona </a:t>
            </a:r>
            <a:pPr indent="0" marL="0">
              <a:lnSpc>
                <a:spcPts val="3550"/>
              </a:lnSpc>
              <a:buNone/>
            </a:pPr>
            <a:r>
              <a:rPr lang="en-US" sz="2200" dirty="0">
                <a:solidFill>
                  <a:srgbClr val="2A2742"/>
                </a:solidFill>
                <a:latin typeface="Arimo" pitchFamily="34" charset="0"/>
                <a:ea typeface="Arimo" pitchFamily="34" charset="-122"/>
                <a:cs typeface="Arimo" pitchFamily="34" charset="-120"/>
              </a:rPr>
              <a:t>which means </a:t>
            </a:r>
            <a:pPr indent="0" marL="0">
              <a:lnSpc>
                <a:spcPts val="3550"/>
              </a:lnSpc>
              <a:buNone/>
            </a:pPr>
            <a:r>
              <a:rPr lang="en-US" sz="2200" b="1" dirty="0">
                <a:solidFill>
                  <a:srgbClr val="2A2742"/>
                </a:solidFill>
                <a:latin typeface="Arimo" pitchFamily="34" charset="0"/>
                <a:ea typeface="Arimo" pitchFamily="34" charset="-122"/>
                <a:cs typeface="Arimo" pitchFamily="34" charset="-120"/>
              </a:rPr>
              <a:t>to speak through</a:t>
            </a:r>
            <a:pPr indent="0" marL="0">
              <a:lnSpc>
                <a:spcPts val="3550"/>
              </a:lnSpc>
              <a:buNone/>
            </a:pPr>
            <a:r>
              <a:rPr lang="en-US" sz="2200" dirty="0">
                <a:solidFill>
                  <a:srgbClr val="2A2742"/>
                </a:solidFill>
                <a:latin typeface="Arimo" pitchFamily="34" charset="0"/>
                <a:ea typeface="Arimo" pitchFamily="34" charset="-122"/>
                <a:cs typeface="Arimo" pitchFamily="34" charset="-120"/>
              </a:rPr>
              <a:t>.</a:t>
            </a:r>
            <a:endParaRPr lang="en-US" sz="2200" dirty="0"/>
          </a:p>
        </p:txBody>
      </p:sp>
      <p:sp>
        <p:nvSpPr>
          <p:cNvPr id="5" name="Text 3"/>
          <p:cNvSpPr/>
          <p:nvPr/>
        </p:nvSpPr>
        <p:spPr>
          <a:xfrm>
            <a:off x="7599521" y="1899523"/>
            <a:ext cx="3386376"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Definitions of Personality</a:t>
            </a:r>
            <a:endParaRPr lang="en-US" sz="2200" dirty="0"/>
          </a:p>
        </p:txBody>
      </p:sp>
      <p:sp>
        <p:nvSpPr>
          <p:cNvPr id="6" name="Text 4"/>
          <p:cNvSpPr/>
          <p:nvPr/>
        </p:nvSpPr>
        <p:spPr>
          <a:xfrm>
            <a:off x="7599521" y="2480667"/>
            <a:ext cx="6244709" cy="1814036"/>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According to </a:t>
            </a:r>
            <a:pPr indent="0" marL="0">
              <a:lnSpc>
                <a:spcPts val="3550"/>
              </a:lnSpc>
              <a:buNone/>
            </a:pPr>
            <a:r>
              <a:rPr lang="en-US" sz="2200" b="1" dirty="0">
                <a:solidFill>
                  <a:srgbClr val="2A2742"/>
                </a:solidFill>
                <a:latin typeface="Arimo" pitchFamily="34" charset="0"/>
                <a:ea typeface="Arimo" pitchFamily="34" charset="-122"/>
                <a:cs typeface="Arimo" pitchFamily="34" charset="-120"/>
              </a:rPr>
              <a:t>Allport </a:t>
            </a:r>
            <a:pPr indent="0" marL="0">
              <a:lnSpc>
                <a:spcPts val="3550"/>
              </a:lnSpc>
              <a:buNone/>
            </a:pPr>
            <a:r>
              <a:rPr lang="en-US" sz="2200" dirty="0">
                <a:solidFill>
                  <a:srgbClr val="2A2742"/>
                </a:solidFill>
                <a:latin typeface="Arimo" pitchFamily="34" charset="0"/>
                <a:ea typeface="Arimo" pitchFamily="34" charset="-122"/>
                <a:cs typeface="Arimo" pitchFamily="34" charset="-120"/>
              </a:rPr>
              <a:t>personality is the dynamic organisation within the individual of those psycho physical systems that determine his characteristic behaviour and thought. </a:t>
            </a:r>
            <a:endParaRPr lang="en-US" sz="2200" dirty="0"/>
          </a:p>
        </p:txBody>
      </p:sp>
      <p:sp>
        <p:nvSpPr>
          <p:cNvPr id="7" name="Text 5"/>
          <p:cNvSpPr/>
          <p:nvPr/>
        </p:nvSpPr>
        <p:spPr>
          <a:xfrm>
            <a:off x="7599521" y="4498777"/>
            <a:ext cx="6244709" cy="2267545"/>
          </a:xfrm>
          <a:prstGeom prst="rect">
            <a:avLst/>
          </a:prstGeom>
          <a:noFill/>
          <a:ln/>
        </p:spPr>
        <p:txBody>
          <a:bodyPr wrap="square" lIns="0" tIns="0" rIns="0" bIns="0" rtlCol="0" anchor="t"/>
          <a:lstStyle/>
          <a:p>
            <a:pPr indent="0" marL="0">
              <a:lnSpc>
                <a:spcPts val="3550"/>
              </a:lnSpc>
              <a:buNone/>
            </a:pPr>
            <a:r>
              <a:rPr lang="en-US" sz="2200" b="1" dirty="0">
                <a:solidFill>
                  <a:srgbClr val="2A2742"/>
                </a:solidFill>
                <a:latin typeface="Arimo" pitchFamily="34" charset="0"/>
                <a:ea typeface="Arimo" pitchFamily="34" charset="-122"/>
                <a:cs typeface="Arimo" pitchFamily="34" charset="-120"/>
              </a:rPr>
              <a:t>Eysenck</a:t>
            </a:r>
            <a:pPr indent="0" marL="0">
              <a:lnSpc>
                <a:spcPts val="3550"/>
              </a:lnSpc>
              <a:buNone/>
            </a:pPr>
            <a:r>
              <a:rPr lang="en-US" sz="2200" dirty="0">
                <a:solidFill>
                  <a:srgbClr val="2A2742"/>
                </a:solidFill>
                <a:latin typeface="Arimo" pitchFamily="34" charset="0"/>
                <a:ea typeface="Arimo" pitchFamily="34" charset="-122"/>
                <a:cs typeface="Arimo" pitchFamily="34" charset="-120"/>
              </a:rPr>
              <a:t> defines personality is the more or less stable and enduring organisation of a person's character, temperament ,intellect and physic which determines his unique adjustment to the environment.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5434"/>
          </a:xfrm>
          <a:prstGeom prst="rect">
            <a:avLst/>
          </a:prstGeom>
        </p:spPr>
      </p:pic>
      <p:pic>
        <p:nvPicPr>
          <p:cNvPr id="3" name="Image 1" descr="preencoded.png">    </p:cNvPr>
          <p:cNvPicPr>
            <a:picLocks noChangeAspect="1"/>
          </p:cNvPicPr>
          <p:nvPr/>
        </p:nvPicPr>
        <p:blipFill>
          <a:blip r:embed="rId2"/>
          <a:stretch>
            <a:fillRect/>
          </a:stretch>
        </p:blipFill>
        <p:spPr>
          <a:xfrm>
            <a:off x="9507736" y="268843"/>
            <a:ext cx="4758928" cy="7697748"/>
          </a:xfrm>
          <a:prstGeom prst="rect">
            <a:avLst/>
          </a:prstGeom>
        </p:spPr>
      </p:pic>
      <p:sp>
        <p:nvSpPr>
          <p:cNvPr id="4" name="Text 0"/>
          <p:cNvSpPr/>
          <p:nvPr/>
        </p:nvSpPr>
        <p:spPr>
          <a:xfrm>
            <a:off x="752713" y="591383"/>
            <a:ext cx="7638574" cy="1344216"/>
          </a:xfrm>
          <a:prstGeom prst="rect">
            <a:avLst/>
          </a:prstGeom>
          <a:noFill/>
          <a:ln/>
        </p:spPr>
        <p:txBody>
          <a:bodyPr wrap="square" lIns="0" tIns="0" rIns="0" bIns="0" rtlCol="0" anchor="t"/>
          <a:lstStyle/>
          <a:p>
            <a:pPr indent="0" marL="0">
              <a:lnSpc>
                <a:spcPts val="5250"/>
              </a:lnSpc>
              <a:buNone/>
            </a:pPr>
            <a:r>
              <a:rPr lang="en-US" sz="4200" b="1" dirty="0">
                <a:solidFill>
                  <a:srgbClr val="231971"/>
                </a:solidFill>
                <a:latin typeface="Outfit Extra Bold" pitchFamily="34" charset="0"/>
                <a:ea typeface="Outfit Extra Bold" pitchFamily="34" charset="-122"/>
                <a:cs typeface="Outfit Extra Bold" pitchFamily="34" charset="-120"/>
              </a:rPr>
              <a:t>CLASSIFICATION OF PERSONALITY</a:t>
            </a:r>
            <a:endParaRPr lang="en-US" sz="4200" dirty="0"/>
          </a:p>
        </p:txBody>
      </p:sp>
      <p:sp>
        <p:nvSpPr>
          <p:cNvPr id="5" name="Text 1"/>
          <p:cNvSpPr/>
          <p:nvPr/>
        </p:nvSpPr>
        <p:spPr>
          <a:xfrm>
            <a:off x="752713" y="2258139"/>
            <a:ext cx="5657969" cy="672108"/>
          </a:xfrm>
          <a:prstGeom prst="rect">
            <a:avLst/>
          </a:prstGeom>
          <a:noFill/>
          <a:ln/>
        </p:spPr>
        <p:txBody>
          <a:bodyPr wrap="none" lIns="0" tIns="0" rIns="0" bIns="0" rtlCol="0" anchor="t"/>
          <a:lstStyle/>
          <a:p>
            <a:pPr indent="0" marL="0">
              <a:lnSpc>
                <a:spcPts val="5250"/>
              </a:lnSpc>
              <a:buNone/>
            </a:pPr>
            <a:r>
              <a:rPr lang="en-US" sz="4200" b="1" dirty="0">
                <a:solidFill>
                  <a:srgbClr val="231971"/>
                </a:solidFill>
                <a:latin typeface="Outfit Extra Bold" pitchFamily="34" charset="0"/>
                <a:ea typeface="Outfit Extra Bold" pitchFamily="34" charset="-122"/>
                <a:cs typeface="Outfit Extra Bold" pitchFamily="34" charset="-120"/>
              </a:rPr>
              <a:t>HIPPOCRATES' TYPES</a:t>
            </a:r>
            <a:endParaRPr lang="en-US" sz="4200" dirty="0"/>
          </a:p>
        </p:txBody>
      </p:sp>
      <p:sp>
        <p:nvSpPr>
          <p:cNvPr id="6" name="Shape 2"/>
          <p:cNvSpPr/>
          <p:nvPr/>
        </p:nvSpPr>
        <p:spPr>
          <a:xfrm>
            <a:off x="752713" y="3252787"/>
            <a:ext cx="7638574" cy="4391263"/>
          </a:xfrm>
          <a:prstGeom prst="roundRect">
            <a:avLst>
              <a:gd name="adj" fmla="val 2057"/>
            </a:avLst>
          </a:prstGeom>
          <a:noFill/>
          <a:ln w="7620">
            <a:solidFill>
              <a:srgbClr val="000000">
                <a:alpha val="8000"/>
              </a:srgbClr>
            </a:solidFill>
            <a:prstDash val="solid"/>
          </a:ln>
        </p:spPr>
      </p:sp>
      <p:sp>
        <p:nvSpPr>
          <p:cNvPr id="7" name="Shape 3"/>
          <p:cNvSpPr/>
          <p:nvPr/>
        </p:nvSpPr>
        <p:spPr>
          <a:xfrm>
            <a:off x="760333" y="3260408"/>
            <a:ext cx="7622500" cy="1133237"/>
          </a:xfrm>
          <a:prstGeom prst="rect">
            <a:avLst/>
          </a:prstGeom>
          <a:solidFill>
            <a:srgbClr val="FFFFFF">
              <a:alpha val="4000"/>
            </a:srgbClr>
          </a:solidFill>
          <a:ln/>
        </p:spPr>
      </p:sp>
      <p:sp>
        <p:nvSpPr>
          <p:cNvPr id="8" name="Text 4"/>
          <p:cNvSpPr/>
          <p:nvPr/>
        </p:nvSpPr>
        <p:spPr>
          <a:xfrm>
            <a:off x="976193" y="3396972"/>
            <a:ext cx="2106692" cy="430054"/>
          </a:xfrm>
          <a:prstGeom prst="rect">
            <a:avLst/>
          </a:prstGeom>
          <a:noFill/>
          <a:ln/>
        </p:spPr>
        <p:txBody>
          <a:bodyPr wrap="none" lIns="0" tIns="0" rIns="0" bIns="0" rtlCol="0" anchor="t"/>
          <a:lstStyle/>
          <a:p>
            <a:pPr indent="0" marL="0">
              <a:lnSpc>
                <a:spcPts val="3350"/>
              </a:lnSpc>
              <a:buNone/>
            </a:pPr>
            <a:r>
              <a:rPr lang="en-US" sz="2100" b="1" dirty="0">
                <a:solidFill>
                  <a:srgbClr val="2A2742"/>
                </a:solidFill>
                <a:latin typeface="Arimo" pitchFamily="34" charset="0"/>
                <a:ea typeface="Arimo" pitchFamily="34" charset="-122"/>
                <a:cs typeface="Arimo" pitchFamily="34" charset="-120"/>
              </a:rPr>
              <a:t>FLUID</a:t>
            </a:r>
            <a:endParaRPr lang="en-US" sz="2100" dirty="0"/>
          </a:p>
        </p:txBody>
      </p:sp>
      <p:sp>
        <p:nvSpPr>
          <p:cNvPr id="9" name="Text 5"/>
          <p:cNvSpPr/>
          <p:nvPr/>
        </p:nvSpPr>
        <p:spPr>
          <a:xfrm>
            <a:off x="3520559" y="3396972"/>
            <a:ext cx="2102882" cy="860108"/>
          </a:xfrm>
          <a:prstGeom prst="rect">
            <a:avLst/>
          </a:prstGeom>
          <a:noFill/>
          <a:ln/>
        </p:spPr>
        <p:txBody>
          <a:bodyPr wrap="square" lIns="0" tIns="0" rIns="0" bIns="0" rtlCol="0" anchor="t"/>
          <a:lstStyle/>
          <a:p>
            <a:pPr indent="0" marL="0">
              <a:lnSpc>
                <a:spcPts val="3350"/>
              </a:lnSpc>
              <a:buNone/>
            </a:pPr>
            <a:r>
              <a:rPr lang="en-US" sz="2100" b="1" dirty="0">
                <a:solidFill>
                  <a:srgbClr val="2A2742"/>
                </a:solidFill>
                <a:latin typeface="Arimo" pitchFamily="34" charset="0"/>
                <a:ea typeface="Arimo" pitchFamily="34" charset="-122"/>
                <a:cs typeface="Arimo" pitchFamily="34" charset="-120"/>
              </a:rPr>
              <a:t>PERSONALITY TYPE</a:t>
            </a:r>
            <a:endParaRPr lang="en-US" sz="2100" dirty="0"/>
          </a:p>
        </p:txBody>
      </p:sp>
      <p:sp>
        <p:nvSpPr>
          <p:cNvPr id="10" name="Text 6"/>
          <p:cNvSpPr/>
          <p:nvPr/>
        </p:nvSpPr>
        <p:spPr>
          <a:xfrm>
            <a:off x="6061115" y="3396972"/>
            <a:ext cx="2106692" cy="860108"/>
          </a:xfrm>
          <a:prstGeom prst="rect">
            <a:avLst/>
          </a:prstGeom>
          <a:noFill/>
          <a:ln/>
        </p:spPr>
        <p:txBody>
          <a:bodyPr wrap="square" lIns="0" tIns="0" rIns="0" bIns="0" rtlCol="0" anchor="t"/>
          <a:lstStyle/>
          <a:p>
            <a:pPr indent="0" marL="0">
              <a:lnSpc>
                <a:spcPts val="3350"/>
              </a:lnSpc>
              <a:buNone/>
            </a:pPr>
            <a:r>
              <a:rPr lang="en-US" sz="2100" b="1" dirty="0">
                <a:solidFill>
                  <a:srgbClr val="2A2742"/>
                </a:solidFill>
                <a:latin typeface="Arimo" pitchFamily="34" charset="0"/>
                <a:ea typeface="Arimo" pitchFamily="34" charset="-122"/>
                <a:cs typeface="Arimo" pitchFamily="34" charset="-120"/>
              </a:rPr>
              <a:t>CHARACTERISTICS</a:t>
            </a:r>
            <a:endParaRPr lang="en-US" sz="2100" dirty="0"/>
          </a:p>
        </p:txBody>
      </p:sp>
      <p:sp>
        <p:nvSpPr>
          <p:cNvPr id="11" name="Shape 7"/>
          <p:cNvSpPr/>
          <p:nvPr/>
        </p:nvSpPr>
        <p:spPr>
          <a:xfrm>
            <a:off x="760333" y="4393644"/>
            <a:ext cx="7622500" cy="1133237"/>
          </a:xfrm>
          <a:prstGeom prst="rect">
            <a:avLst/>
          </a:prstGeom>
          <a:solidFill>
            <a:srgbClr val="000000">
              <a:alpha val="4000"/>
            </a:srgbClr>
          </a:solidFill>
          <a:ln/>
        </p:spPr>
      </p:sp>
      <p:sp>
        <p:nvSpPr>
          <p:cNvPr id="12" name="Text 8"/>
          <p:cNvSpPr/>
          <p:nvPr/>
        </p:nvSpPr>
        <p:spPr>
          <a:xfrm>
            <a:off x="976193" y="4530209"/>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Blood</a:t>
            </a:r>
            <a:endParaRPr lang="en-US" sz="2100" dirty="0"/>
          </a:p>
        </p:txBody>
      </p:sp>
      <p:sp>
        <p:nvSpPr>
          <p:cNvPr id="13" name="Text 9"/>
          <p:cNvSpPr/>
          <p:nvPr/>
        </p:nvSpPr>
        <p:spPr>
          <a:xfrm>
            <a:off x="3520559" y="4530209"/>
            <a:ext cx="210288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Sanguine</a:t>
            </a:r>
            <a:endParaRPr lang="en-US" sz="2100" dirty="0"/>
          </a:p>
        </p:txBody>
      </p:sp>
      <p:sp>
        <p:nvSpPr>
          <p:cNvPr id="14" name="Text 10"/>
          <p:cNvSpPr/>
          <p:nvPr/>
        </p:nvSpPr>
        <p:spPr>
          <a:xfrm>
            <a:off x="6061115" y="4530209"/>
            <a:ext cx="2106692" cy="860108"/>
          </a:xfrm>
          <a:prstGeom prst="rect">
            <a:avLst/>
          </a:prstGeom>
          <a:noFill/>
          <a:ln/>
        </p:spPr>
        <p:txBody>
          <a:bodyPr wrap="squar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cheerful, optimistic</a:t>
            </a:r>
            <a:endParaRPr lang="en-US" sz="2100" dirty="0"/>
          </a:p>
        </p:txBody>
      </p:sp>
      <p:sp>
        <p:nvSpPr>
          <p:cNvPr id="15" name="Shape 11"/>
          <p:cNvSpPr/>
          <p:nvPr/>
        </p:nvSpPr>
        <p:spPr>
          <a:xfrm>
            <a:off x="760333" y="5526881"/>
            <a:ext cx="7622500" cy="703183"/>
          </a:xfrm>
          <a:prstGeom prst="rect">
            <a:avLst/>
          </a:prstGeom>
          <a:solidFill>
            <a:srgbClr val="FFFFFF">
              <a:alpha val="4000"/>
            </a:srgbClr>
          </a:solidFill>
          <a:ln/>
        </p:spPr>
      </p:sp>
      <p:sp>
        <p:nvSpPr>
          <p:cNvPr id="16" name="Text 12"/>
          <p:cNvSpPr/>
          <p:nvPr/>
        </p:nvSpPr>
        <p:spPr>
          <a:xfrm>
            <a:off x="976193" y="5663446"/>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Yellow bile</a:t>
            </a:r>
            <a:endParaRPr lang="en-US" sz="2100" dirty="0"/>
          </a:p>
        </p:txBody>
      </p:sp>
      <p:sp>
        <p:nvSpPr>
          <p:cNvPr id="17" name="Text 13"/>
          <p:cNvSpPr/>
          <p:nvPr/>
        </p:nvSpPr>
        <p:spPr>
          <a:xfrm>
            <a:off x="3520559" y="5663446"/>
            <a:ext cx="210288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Choleric</a:t>
            </a:r>
            <a:endParaRPr lang="en-US" sz="2100" dirty="0"/>
          </a:p>
        </p:txBody>
      </p:sp>
      <p:sp>
        <p:nvSpPr>
          <p:cNvPr id="18" name="Text 14"/>
          <p:cNvSpPr/>
          <p:nvPr/>
        </p:nvSpPr>
        <p:spPr>
          <a:xfrm>
            <a:off x="6061115" y="5663446"/>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angry, Irritable</a:t>
            </a:r>
            <a:endParaRPr lang="en-US" sz="2100" dirty="0"/>
          </a:p>
        </p:txBody>
      </p:sp>
      <p:sp>
        <p:nvSpPr>
          <p:cNvPr id="19" name="Shape 15"/>
          <p:cNvSpPr/>
          <p:nvPr/>
        </p:nvSpPr>
        <p:spPr>
          <a:xfrm>
            <a:off x="760333" y="6230064"/>
            <a:ext cx="7622500" cy="703183"/>
          </a:xfrm>
          <a:prstGeom prst="rect">
            <a:avLst/>
          </a:prstGeom>
          <a:solidFill>
            <a:srgbClr val="000000">
              <a:alpha val="4000"/>
            </a:srgbClr>
          </a:solidFill>
          <a:ln/>
        </p:spPr>
      </p:sp>
      <p:sp>
        <p:nvSpPr>
          <p:cNvPr id="20" name="Text 16"/>
          <p:cNvSpPr/>
          <p:nvPr/>
        </p:nvSpPr>
        <p:spPr>
          <a:xfrm>
            <a:off x="976193" y="6366629"/>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Phlegm</a:t>
            </a:r>
            <a:endParaRPr lang="en-US" sz="2100" dirty="0"/>
          </a:p>
        </p:txBody>
      </p:sp>
      <p:sp>
        <p:nvSpPr>
          <p:cNvPr id="21" name="Text 17"/>
          <p:cNvSpPr/>
          <p:nvPr/>
        </p:nvSpPr>
        <p:spPr>
          <a:xfrm>
            <a:off x="3520559" y="6366629"/>
            <a:ext cx="210288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Phlegmatic</a:t>
            </a:r>
            <a:endParaRPr lang="en-US" sz="2100" dirty="0"/>
          </a:p>
        </p:txBody>
      </p:sp>
      <p:sp>
        <p:nvSpPr>
          <p:cNvPr id="22" name="Text 18"/>
          <p:cNvSpPr/>
          <p:nvPr/>
        </p:nvSpPr>
        <p:spPr>
          <a:xfrm>
            <a:off x="6061115" y="6366629"/>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cold, calm</a:t>
            </a:r>
            <a:endParaRPr lang="en-US" sz="2100" dirty="0"/>
          </a:p>
        </p:txBody>
      </p:sp>
      <p:sp>
        <p:nvSpPr>
          <p:cNvPr id="23" name="Shape 19"/>
          <p:cNvSpPr/>
          <p:nvPr/>
        </p:nvSpPr>
        <p:spPr>
          <a:xfrm>
            <a:off x="760333" y="6933248"/>
            <a:ext cx="7622500" cy="703183"/>
          </a:xfrm>
          <a:prstGeom prst="rect">
            <a:avLst/>
          </a:prstGeom>
          <a:solidFill>
            <a:srgbClr val="FFFFFF">
              <a:alpha val="4000"/>
            </a:srgbClr>
          </a:solidFill>
          <a:ln/>
        </p:spPr>
      </p:sp>
      <p:sp>
        <p:nvSpPr>
          <p:cNvPr id="24" name="Text 20"/>
          <p:cNvSpPr/>
          <p:nvPr/>
        </p:nvSpPr>
        <p:spPr>
          <a:xfrm>
            <a:off x="976193" y="7069812"/>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Black bile</a:t>
            </a:r>
            <a:endParaRPr lang="en-US" sz="2100" dirty="0"/>
          </a:p>
        </p:txBody>
      </p:sp>
      <p:sp>
        <p:nvSpPr>
          <p:cNvPr id="25" name="Text 21"/>
          <p:cNvSpPr/>
          <p:nvPr/>
        </p:nvSpPr>
        <p:spPr>
          <a:xfrm>
            <a:off x="3520559" y="7069812"/>
            <a:ext cx="210288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Melancholic</a:t>
            </a:r>
            <a:endParaRPr lang="en-US" sz="2100" dirty="0"/>
          </a:p>
        </p:txBody>
      </p:sp>
      <p:sp>
        <p:nvSpPr>
          <p:cNvPr id="26" name="Text 22"/>
          <p:cNvSpPr/>
          <p:nvPr/>
        </p:nvSpPr>
        <p:spPr>
          <a:xfrm>
            <a:off x="6061115" y="7069812"/>
            <a:ext cx="2106692" cy="430054"/>
          </a:xfrm>
          <a:prstGeom prst="rect">
            <a:avLst/>
          </a:prstGeom>
          <a:noFill/>
          <a:ln/>
        </p:spPr>
        <p:txBody>
          <a:bodyPr wrap="none" lIns="0" tIns="0" rIns="0" bIns="0" rtlCol="0" anchor="t"/>
          <a:lstStyle/>
          <a:p>
            <a:pPr indent="0" marL="0">
              <a:lnSpc>
                <a:spcPts val="3350"/>
              </a:lnSpc>
              <a:buNone/>
            </a:pPr>
            <a:r>
              <a:rPr lang="en-US" sz="2100" dirty="0">
                <a:solidFill>
                  <a:srgbClr val="2A2742"/>
                </a:solidFill>
                <a:latin typeface="Arimo" pitchFamily="34" charset="0"/>
                <a:ea typeface="Arimo" pitchFamily="34" charset="-122"/>
                <a:cs typeface="Arimo" pitchFamily="34" charset="-120"/>
              </a:rPr>
              <a:t>sad, pessimistic</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8669" y="611862"/>
            <a:ext cx="5720477" cy="695325"/>
          </a:xfrm>
          <a:prstGeom prst="rect">
            <a:avLst/>
          </a:prstGeom>
          <a:noFill/>
          <a:ln/>
        </p:spPr>
        <p:txBody>
          <a:bodyPr wrap="none" lIns="0" tIns="0" rIns="0" bIns="0" rtlCol="0" anchor="t"/>
          <a:lstStyle/>
          <a:p>
            <a:pPr indent="0" marL="0">
              <a:lnSpc>
                <a:spcPts val="5450"/>
              </a:lnSpc>
              <a:buNone/>
            </a:pPr>
            <a:r>
              <a:rPr lang="en-US" sz="4350" b="1" dirty="0">
                <a:solidFill>
                  <a:srgbClr val="231971"/>
                </a:solidFill>
                <a:latin typeface="Outfit Extra Bold" pitchFamily="34" charset="0"/>
                <a:ea typeface="Outfit Extra Bold" pitchFamily="34" charset="-122"/>
                <a:cs typeface="Outfit Extra Bold" pitchFamily="34" charset="-120"/>
              </a:rPr>
              <a:t>KRETSCHMER'S TYPE</a:t>
            </a:r>
            <a:endParaRPr lang="en-US" sz="4350" dirty="0"/>
          </a:p>
        </p:txBody>
      </p:sp>
      <p:sp>
        <p:nvSpPr>
          <p:cNvPr id="3" name="Text 1"/>
          <p:cNvSpPr/>
          <p:nvPr/>
        </p:nvSpPr>
        <p:spPr>
          <a:xfrm>
            <a:off x="778669" y="1640919"/>
            <a:ext cx="13073063" cy="444937"/>
          </a:xfrm>
          <a:prstGeom prst="rect">
            <a:avLst/>
          </a:prstGeom>
          <a:noFill/>
          <a:ln/>
        </p:spPr>
        <p:txBody>
          <a:bodyPr wrap="non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According to Kretchmer there is a close relationship between one's body structure and personality.</a:t>
            </a:r>
            <a:endParaRPr lang="en-US" sz="2150" dirty="0"/>
          </a:p>
        </p:txBody>
      </p:sp>
      <p:sp>
        <p:nvSpPr>
          <p:cNvPr id="4" name="Shape 2"/>
          <p:cNvSpPr/>
          <p:nvPr/>
        </p:nvSpPr>
        <p:spPr>
          <a:xfrm>
            <a:off x="778669" y="2336125"/>
            <a:ext cx="13073063" cy="5281851"/>
          </a:xfrm>
          <a:prstGeom prst="roundRect">
            <a:avLst>
              <a:gd name="adj" fmla="val 1769"/>
            </a:avLst>
          </a:prstGeom>
          <a:noFill/>
          <a:ln w="7620">
            <a:solidFill>
              <a:srgbClr val="000000">
                <a:alpha val="8000"/>
              </a:srgbClr>
            </a:solidFill>
            <a:prstDash val="solid"/>
          </a:ln>
        </p:spPr>
      </p:sp>
      <p:sp>
        <p:nvSpPr>
          <p:cNvPr id="5" name="Shape 3"/>
          <p:cNvSpPr/>
          <p:nvPr/>
        </p:nvSpPr>
        <p:spPr>
          <a:xfrm>
            <a:off x="786289" y="2343745"/>
            <a:ext cx="13057823" cy="727115"/>
          </a:xfrm>
          <a:prstGeom prst="rect">
            <a:avLst/>
          </a:prstGeom>
          <a:solidFill>
            <a:srgbClr val="FFFFFF">
              <a:alpha val="4000"/>
            </a:srgbClr>
          </a:solidFill>
          <a:ln/>
        </p:spPr>
      </p:sp>
      <p:sp>
        <p:nvSpPr>
          <p:cNvPr id="6" name="Text 4"/>
          <p:cNvSpPr/>
          <p:nvPr/>
        </p:nvSpPr>
        <p:spPr>
          <a:xfrm>
            <a:off x="1008817" y="2484834"/>
            <a:ext cx="5928717" cy="444937"/>
          </a:xfrm>
          <a:prstGeom prst="rect">
            <a:avLst/>
          </a:prstGeom>
          <a:noFill/>
          <a:ln/>
        </p:spPr>
        <p:txBody>
          <a:bodyPr wrap="none" lIns="0" tIns="0" rIns="0" bIns="0" rtlCol="0" anchor="t"/>
          <a:lstStyle/>
          <a:p>
            <a:pPr indent="0" marL="0">
              <a:lnSpc>
                <a:spcPts val="3500"/>
              </a:lnSpc>
              <a:buNone/>
            </a:pPr>
            <a:r>
              <a:rPr lang="en-US" sz="2150" b="1" dirty="0">
                <a:solidFill>
                  <a:srgbClr val="2A2742"/>
                </a:solidFill>
                <a:latin typeface="Arimo" pitchFamily="34" charset="0"/>
                <a:ea typeface="Arimo" pitchFamily="34" charset="-122"/>
                <a:cs typeface="Arimo" pitchFamily="34" charset="-120"/>
              </a:rPr>
              <a:t>BODY TYPE</a:t>
            </a:r>
            <a:endParaRPr lang="en-US" sz="2150" dirty="0"/>
          </a:p>
        </p:txBody>
      </p:sp>
      <p:sp>
        <p:nvSpPr>
          <p:cNvPr id="7" name="Text 5"/>
          <p:cNvSpPr/>
          <p:nvPr/>
        </p:nvSpPr>
        <p:spPr>
          <a:xfrm>
            <a:off x="7389971" y="2484834"/>
            <a:ext cx="6231731" cy="444937"/>
          </a:xfrm>
          <a:prstGeom prst="rect">
            <a:avLst/>
          </a:prstGeom>
          <a:noFill/>
          <a:ln/>
        </p:spPr>
        <p:txBody>
          <a:bodyPr wrap="none" lIns="0" tIns="0" rIns="0" bIns="0" rtlCol="0" anchor="t"/>
          <a:lstStyle/>
          <a:p>
            <a:pPr indent="0" marL="0">
              <a:lnSpc>
                <a:spcPts val="3500"/>
              </a:lnSpc>
              <a:buNone/>
            </a:pPr>
            <a:r>
              <a:rPr lang="en-US" sz="2150" b="1" dirty="0">
                <a:solidFill>
                  <a:srgbClr val="2A2742"/>
                </a:solidFill>
                <a:latin typeface="Arimo" pitchFamily="34" charset="0"/>
                <a:ea typeface="Arimo" pitchFamily="34" charset="-122"/>
                <a:cs typeface="Arimo" pitchFamily="34" charset="-120"/>
              </a:rPr>
              <a:t>PERSONALITY TYPE</a:t>
            </a:r>
            <a:endParaRPr lang="en-US" sz="2150" dirty="0"/>
          </a:p>
        </p:txBody>
      </p:sp>
      <p:sp>
        <p:nvSpPr>
          <p:cNvPr id="8" name="Shape 6"/>
          <p:cNvSpPr/>
          <p:nvPr/>
        </p:nvSpPr>
        <p:spPr>
          <a:xfrm>
            <a:off x="786289" y="3070860"/>
            <a:ext cx="13057823" cy="1616988"/>
          </a:xfrm>
          <a:prstGeom prst="rect">
            <a:avLst/>
          </a:prstGeom>
          <a:solidFill>
            <a:srgbClr val="000000">
              <a:alpha val="4000"/>
            </a:srgbClr>
          </a:solidFill>
          <a:ln/>
        </p:spPr>
      </p:sp>
      <p:sp>
        <p:nvSpPr>
          <p:cNvPr id="9" name="Text 7"/>
          <p:cNvSpPr/>
          <p:nvPr/>
        </p:nvSpPr>
        <p:spPr>
          <a:xfrm>
            <a:off x="1008817" y="3211949"/>
            <a:ext cx="5928717" cy="444937"/>
          </a:xfrm>
          <a:prstGeom prst="rect">
            <a:avLst/>
          </a:prstGeom>
          <a:noFill/>
          <a:ln/>
        </p:spPr>
        <p:txBody>
          <a:bodyPr wrap="none" lIns="0" tIns="0" rIns="0" bIns="0" rtlCol="0" anchor="t"/>
          <a:lstStyle/>
          <a:p>
            <a:pPr indent="0" marL="0">
              <a:lnSpc>
                <a:spcPts val="3500"/>
              </a:lnSpc>
              <a:buNone/>
            </a:pPr>
            <a:r>
              <a:rPr lang="en-US" sz="2150" b="1" dirty="0">
                <a:solidFill>
                  <a:srgbClr val="2A2742"/>
                </a:solidFill>
                <a:latin typeface="Arimo" pitchFamily="34" charset="0"/>
                <a:ea typeface="Arimo" pitchFamily="34" charset="-122"/>
                <a:cs typeface="Arimo" pitchFamily="34" charset="-120"/>
              </a:rPr>
              <a:t>Asthenic / Leptosomatic</a:t>
            </a:r>
            <a:endParaRPr lang="en-US" sz="2150" dirty="0"/>
          </a:p>
        </p:txBody>
      </p:sp>
      <p:sp>
        <p:nvSpPr>
          <p:cNvPr id="10" name="Text 8"/>
          <p:cNvSpPr/>
          <p:nvPr/>
        </p:nvSpPr>
        <p:spPr>
          <a:xfrm>
            <a:off x="1008817" y="3790355"/>
            <a:ext cx="5928717" cy="444937"/>
          </a:xfrm>
          <a:prstGeom prst="rect">
            <a:avLst/>
          </a:prstGeom>
          <a:noFill/>
          <a:ln/>
        </p:spPr>
        <p:txBody>
          <a:bodyPr wrap="non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Body is tall ,thin narrowly build.</a:t>
            </a:r>
            <a:endParaRPr lang="en-US" sz="2150" dirty="0"/>
          </a:p>
        </p:txBody>
      </p:sp>
      <p:sp>
        <p:nvSpPr>
          <p:cNvPr id="11" name="Text 9"/>
          <p:cNvSpPr/>
          <p:nvPr/>
        </p:nvSpPr>
        <p:spPr>
          <a:xfrm>
            <a:off x="7389971" y="3211949"/>
            <a:ext cx="6231731" cy="1334810"/>
          </a:xfrm>
          <a:prstGeom prst="rect">
            <a:avLst/>
          </a:prstGeom>
          <a:noFill/>
          <a:ln/>
        </p:spPr>
        <p:txBody>
          <a:bodyPr wrap="squar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The individual is generally reserved with drawn sensitive to criticism and makes only very few friends.</a:t>
            </a:r>
            <a:endParaRPr lang="en-US" sz="2150" dirty="0"/>
          </a:p>
        </p:txBody>
      </p:sp>
      <p:sp>
        <p:nvSpPr>
          <p:cNvPr id="12" name="Shape 10"/>
          <p:cNvSpPr/>
          <p:nvPr/>
        </p:nvSpPr>
        <p:spPr>
          <a:xfrm>
            <a:off x="786289" y="4687848"/>
            <a:ext cx="13057823" cy="1305520"/>
          </a:xfrm>
          <a:prstGeom prst="rect">
            <a:avLst/>
          </a:prstGeom>
          <a:solidFill>
            <a:srgbClr val="FFFFFF">
              <a:alpha val="4000"/>
            </a:srgbClr>
          </a:solidFill>
          <a:ln/>
        </p:spPr>
      </p:sp>
      <p:sp>
        <p:nvSpPr>
          <p:cNvPr id="13" name="Text 11"/>
          <p:cNvSpPr/>
          <p:nvPr/>
        </p:nvSpPr>
        <p:spPr>
          <a:xfrm>
            <a:off x="1008817" y="4828937"/>
            <a:ext cx="5928717" cy="444937"/>
          </a:xfrm>
          <a:prstGeom prst="rect">
            <a:avLst/>
          </a:prstGeom>
          <a:noFill/>
          <a:ln/>
        </p:spPr>
        <p:txBody>
          <a:bodyPr wrap="none" lIns="0" tIns="0" rIns="0" bIns="0" rtlCol="0" anchor="t"/>
          <a:lstStyle/>
          <a:p>
            <a:pPr indent="0" marL="0">
              <a:lnSpc>
                <a:spcPts val="3500"/>
              </a:lnSpc>
              <a:buNone/>
            </a:pPr>
            <a:r>
              <a:rPr lang="en-US" sz="2150" b="1" dirty="0">
                <a:solidFill>
                  <a:srgbClr val="2A2742"/>
                </a:solidFill>
                <a:latin typeface="Arimo" pitchFamily="34" charset="0"/>
                <a:ea typeface="Arimo" pitchFamily="34" charset="-122"/>
                <a:cs typeface="Arimo" pitchFamily="34" charset="-120"/>
              </a:rPr>
              <a:t>Pyknic</a:t>
            </a:r>
            <a:endParaRPr lang="en-US" sz="2150" dirty="0"/>
          </a:p>
        </p:txBody>
      </p:sp>
      <p:sp>
        <p:nvSpPr>
          <p:cNvPr id="14" name="Text 12"/>
          <p:cNvSpPr/>
          <p:nvPr/>
        </p:nvSpPr>
        <p:spPr>
          <a:xfrm>
            <a:off x="1008817" y="5407343"/>
            <a:ext cx="5928717" cy="444937"/>
          </a:xfrm>
          <a:prstGeom prst="rect">
            <a:avLst/>
          </a:prstGeom>
          <a:noFill/>
          <a:ln/>
        </p:spPr>
        <p:txBody>
          <a:bodyPr wrap="non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Short, round and fat type of body.</a:t>
            </a:r>
            <a:endParaRPr lang="en-US" sz="2150" dirty="0"/>
          </a:p>
        </p:txBody>
      </p:sp>
      <p:sp>
        <p:nvSpPr>
          <p:cNvPr id="15" name="Text 13"/>
          <p:cNvSpPr/>
          <p:nvPr/>
        </p:nvSpPr>
        <p:spPr>
          <a:xfrm>
            <a:off x="7389971" y="4828937"/>
            <a:ext cx="6231731" cy="889873"/>
          </a:xfrm>
          <a:prstGeom prst="rect">
            <a:avLst/>
          </a:prstGeom>
          <a:noFill/>
          <a:ln/>
        </p:spPr>
        <p:txBody>
          <a:bodyPr wrap="squar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Good natured, sociable, Jolly ,fun loving and hilarious.</a:t>
            </a:r>
            <a:endParaRPr lang="en-US" sz="2150" dirty="0"/>
          </a:p>
        </p:txBody>
      </p:sp>
      <p:sp>
        <p:nvSpPr>
          <p:cNvPr id="16" name="Shape 14"/>
          <p:cNvSpPr/>
          <p:nvPr/>
        </p:nvSpPr>
        <p:spPr>
          <a:xfrm>
            <a:off x="786289" y="5993368"/>
            <a:ext cx="13057823" cy="1616988"/>
          </a:xfrm>
          <a:prstGeom prst="rect">
            <a:avLst/>
          </a:prstGeom>
          <a:solidFill>
            <a:srgbClr val="000000">
              <a:alpha val="4000"/>
            </a:srgbClr>
          </a:solidFill>
          <a:ln/>
        </p:spPr>
      </p:sp>
      <p:sp>
        <p:nvSpPr>
          <p:cNvPr id="17" name="Text 15"/>
          <p:cNvSpPr/>
          <p:nvPr/>
        </p:nvSpPr>
        <p:spPr>
          <a:xfrm>
            <a:off x="1008817" y="6134457"/>
            <a:ext cx="5928717" cy="444937"/>
          </a:xfrm>
          <a:prstGeom prst="rect">
            <a:avLst/>
          </a:prstGeom>
          <a:noFill/>
          <a:ln/>
        </p:spPr>
        <p:txBody>
          <a:bodyPr wrap="none" lIns="0" tIns="0" rIns="0" bIns="0" rtlCol="0" anchor="t"/>
          <a:lstStyle/>
          <a:p>
            <a:pPr indent="0" marL="0">
              <a:lnSpc>
                <a:spcPts val="3500"/>
              </a:lnSpc>
              <a:buNone/>
            </a:pPr>
            <a:r>
              <a:rPr lang="en-US" sz="2150" b="1" dirty="0">
                <a:solidFill>
                  <a:srgbClr val="2A2742"/>
                </a:solidFill>
                <a:latin typeface="Arimo" pitchFamily="34" charset="0"/>
                <a:ea typeface="Arimo" pitchFamily="34" charset="-122"/>
                <a:cs typeface="Arimo" pitchFamily="34" charset="-120"/>
              </a:rPr>
              <a:t>Athletic</a:t>
            </a:r>
            <a:endParaRPr lang="en-US" sz="2150" dirty="0"/>
          </a:p>
        </p:txBody>
      </p:sp>
      <p:sp>
        <p:nvSpPr>
          <p:cNvPr id="18" name="Text 16"/>
          <p:cNvSpPr/>
          <p:nvPr/>
        </p:nvSpPr>
        <p:spPr>
          <a:xfrm>
            <a:off x="1008817" y="6712863"/>
            <a:ext cx="5928717" cy="444937"/>
          </a:xfrm>
          <a:prstGeom prst="rect">
            <a:avLst/>
          </a:prstGeom>
          <a:noFill/>
          <a:ln/>
        </p:spPr>
        <p:txBody>
          <a:bodyPr wrap="non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 well developed muscular body structure.</a:t>
            </a:r>
            <a:endParaRPr lang="en-US" sz="2150" dirty="0"/>
          </a:p>
        </p:txBody>
      </p:sp>
      <p:sp>
        <p:nvSpPr>
          <p:cNvPr id="19" name="Text 17"/>
          <p:cNvSpPr/>
          <p:nvPr/>
        </p:nvSpPr>
        <p:spPr>
          <a:xfrm>
            <a:off x="7389971" y="6134457"/>
            <a:ext cx="6231731" cy="1334810"/>
          </a:xfrm>
          <a:prstGeom prst="rect">
            <a:avLst/>
          </a:prstGeom>
          <a:noFill/>
          <a:ln/>
        </p:spPr>
        <p:txBody>
          <a:bodyPr wrap="square" lIns="0" tIns="0" rIns="0" bIns="0" rtlCol="0" anchor="t"/>
          <a:lstStyle/>
          <a:p>
            <a:pPr indent="0" marL="0">
              <a:lnSpc>
                <a:spcPts val="3500"/>
              </a:lnSpc>
              <a:buNone/>
            </a:pPr>
            <a:r>
              <a:rPr lang="en-US" sz="2150" dirty="0">
                <a:solidFill>
                  <a:srgbClr val="2A2742"/>
                </a:solidFill>
                <a:latin typeface="Arimo" pitchFamily="34" charset="0"/>
                <a:ea typeface="Arimo" pitchFamily="34" charset="-122"/>
                <a:cs typeface="Arimo" pitchFamily="34" charset="-120"/>
              </a:rPr>
              <a:t>Energetic, optimistic ,adjustable and generally interested in action rather than ideas and imaginations.</a:t>
            </a:r>
            <a:endParaRPr lang="en-US" sz="2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739384"/>
            <a:ext cx="10913745"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CLASSIFICATION BY WILLIAM SHELDON</a:t>
            </a:r>
            <a:endParaRPr lang="en-US" sz="4450" dirty="0"/>
          </a:p>
        </p:txBody>
      </p:sp>
      <p:sp>
        <p:nvSpPr>
          <p:cNvPr id="3" name="Text 1"/>
          <p:cNvSpPr/>
          <p:nvPr/>
        </p:nvSpPr>
        <p:spPr>
          <a:xfrm>
            <a:off x="793790" y="2901791"/>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Sheldon classified personality into three based on body type and temperament.</a:t>
            </a:r>
            <a:endParaRPr lang="en-US" sz="2200" dirty="0"/>
          </a:p>
        </p:txBody>
      </p:sp>
      <p:sp>
        <p:nvSpPr>
          <p:cNvPr id="4" name="Text 2"/>
          <p:cNvSpPr/>
          <p:nvPr/>
        </p:nvSpPr>
        <p:spPr>
          <a:xfrm>
            <a:off x="793790" y="3610451"/>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Endomorphic</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The endomorph is short and plum and sociable. He assumed to be relaxed and even tempered. Endomorph is associated with viscerotonic temperament.</a:t>
            </a:r>
            <a:endParaRPr lang="en-US" sz="1750" dirty="0"/>
          </a:p>
        </p:txBody>
      </p:sp>
      <p:sp>
        <p:nvSpPr>
          <p:cNvPr id="5" name="Text 3"/>
          <p:cNvSpPr/>
          <p:nvPr/>
        </p:nvSpPr>
        <p:spPr>
          <a:xfrm>
            <a:off x="793790" y="4596765"/>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Ectomorphic</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The ectomorph is tall, lean and thin and said to be restrained and self- conscious. Ectomorph is associated with cerebrotonic temperament.</a:t>
            </a:r>
            <a:endParaRPr lang="en-US" sz="1750" dirty="0"/>
          </a:p>
        </p:txBody>
      </p:sp>
      <p:sp>
        <p:nvSpPr>
          <p:cNvPr id="6" name="Text 4"/>
          <p:cNvSpPr/>
          <p:nvPr/>
        </p:nvSpPr>
        <p:spPr>
          <a:xfrm>
            <a:off x="793790" y="5583079"/>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Mesomorphic</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The mesomorph is muscular and heavily set, he likes physical activities. Mesomorph is associated with somatotonic temperament.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20153"/>
            <a:ext cx="10368915"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TYPE-A  AND TYPE -B PERSONALITIES</a:t>
            </a:r>
            <a:endParaRPr lang="en-US" sz="4450" dirty="0"/>
          </a:p>
        </p:txBody>
      </p:sp>
      <p:sp>
        <p:nvSpPr>
          <p:cNvPr id="3" name="Text 1"/>
          <p:cNvSpPr/>
          <p:nvPr/>
        </p:nvSpPr>
        <p:spPr>
          <a:xfrm>
            <a:off x="793790" y="2382560"/>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Proposed by Meyer Friedman and Rosenman.</a:t>
            </a:r>
            <a:endParaRPr lang="en-US" sz="2200" dirty="0"/>
          </a:p>
        </p:txBody>
      </p:sp>
      <p:sp>
        <p:nvSpPr>
          <p:cNvPr id="4" name="Shape 2"/>
          <p:cNvSpPr/>
          <p:nvPr/>
        </p:nvSpPr>
        <p:spPr>
          <a:xfrm>
            <a:off x="793790" y="3091220"/>
            <a:ext cx="6408063" cy="3918228"/>
          </a:xfrm>
          <a:prstGeom prst="roundRect">
            <a:avLst>
              <a:gd name="adj" fmla="val 2431"/>
            </a:avLst>
          </a:prstGeom>
          <a:solidFill>
            <a:srgbClr val="E9E6FA"/>
          </a:solidFill>
          <a:ln w="7620">
            <a:solidFill>
              <a:srgbClr val="BDB8DF"/>
            </a:solidFill>
            <a:prstDash val="solid"/>
          </a:ln>
        </p:spPr>
      </p:sp>
      <p:sp>
        <p:nvSpPr>
          <p:cNvPr id="5" name="Text 3"/>
          <p:cNvSpPr/>
          <p:nvPr/>
        </p:nvSpPr>
        <p:spPr>
          <a:xfrm>
            <a:off x="1028224" y="3325654"/>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TYPE-A</a:t>
            </a:r>
            <a:endParaRPr lang="en-US" sz="2200" dirty="0"/>
          </a:p>
        </p:txBody>
      </p:sp>
      <p:sp>
        <p:nvSpPr>
          <p:cNvPr id="6" name="Text 4"/>
          <p:cNvSpPr/>
          <p:nvPr/>
        </p:nvSpPr>
        <p:spPr>
          <a:xfrm>
            <a:off x="1028224" y="3816072"/>
            <a:ext cx="5939195"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People characterised under type A personality are seen to process high motivation and achievement orientation.</a:t>
            </a:r>
            <a:endParaRPr lang="en-US" sz="1750" dirty="0"/>
          </a:p>
        </p:txBody>
      </p:sp>
      <p:sp>
        <p:nvSpPr>
          <p:cNvPr id="7" name="Text 5"/>
          <p:cNvSpPr/>
          <p:nvPr/>
        </p:nvSpPr>
        <p:spPr>
          <a:xfrm>
            <a:off x="1028224" y="5255895"/>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 Time urgency(set time limit)</a:t>
            </a:r>
            <a:endParaRPr lang="en-US" sz="1750" dirty="0"/>
          </a:p>
        </p:txBody>
      </p:sp>
      <p:sp>
        <p:nvSpPr>
          <p:cNvPr id="8" name="Text 6"/>
          <p:cNvSpPr/>
          <p:nvPr/>
        </p:nvSpPr>
        <p:spPr>
          <a:xfrm>
            <a:off x="1028224" y="5788700"/>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Workaholics- tend to perform maximum.</a:t>
            </a:r>
            <a:endParaRPr lang="en-US" sz="1750" dirty="0"/>
          </a:p>
        </p:txBody>
      </p:sp>
      <p:sp>
        <p:nvSpPr>
          <p:cNvPr id="9" name="Text 7"/>
          <p:cNvSpPr/>
          <p:nvPr/>
        </p:nvSpPr>
        <p:spPr>
          <a:xfrm>
            <a:off x="1028224" y="6321504"/>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Ambitious and competitive.</a:t>
            </a:r>
            <a:endParaRPr lang="en-US" sz="1750" dirty="0"/>
          </a:p>
        </p:txBody>
      </p:sp>
      <p:sp>
        <p:nvSpPr>
          <p:cNvPr id="10" name="Shape 8"/>
          <p:cNvSpPr/>
          <p:nvPr/>
        </p:nvSpPr>
        <p:spPr>
          <a:xfrm>
            <a:off x="7428667" y="3091220"/>
            <a:ext cx="6408063" cy="3918228"/>
          </a:xfrm>
          <a:prstGeom prst="roundRect">
            <a:avLst>
              <a:gd name="adj" fmla="val 2431"/>
            </a:avLst>
          </a:prstGeom>
          <a:solidFill>
            <a:srgbClr val="E9E6FA"/>
          </a:solidFill>
          <a:ln w="7620">
            <a:solidFill>
              <a:srgbClr val="BDB8DF"/>
            </a:solidFill>
            <a:prstDash val="solid"/>
          </a:ln>
        </p:spPr>
      </p:sp>
      <p:sp>
        <p:nvSpPr>
          <p:cNvPr id="11" name="Text 9"/>
          <p:cNvSpPr/>
          <p:nvPr/>
        </p:nvSpPr>
        <p:spPr>
          <a:xfrm>
            <a:off x="7663101" y="3325654"/>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TYPE-B</a:t>
            </a:r>
            <a:endParaRPr lang="en-US" sz="2200" dirty="0"/>
          </a:p>
        </p:txBody>
      </p:sp>
      <p:sp>
        <p:nvSpPr>
          <p:cNvPr id="12" name="Text 10"/>
          <p:cNvSpPr/>
          <p:nvPr/>
        </p:nvSpPr>
        <p:spPr>
          <a:xfrm>
            <a:off x="7663101" y="3816072"/>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Easy going.</a:t>
            </a:r>
            <a:endParaRPr lang="en-US" sz="1750" dirty="0"/>
          </a:p>
        </p:txBody>
      </p:sp>
      <p:sp>
        <p:nvSpPr>
          <p:cNvPr id="13" name="Text 11"/>
          <p:cNvSpPr/>
          <p:nvPr/>
        </p:nvSpPr>
        <p:spPr>
          <a:xfrm>
            <a:off x="7663101" y="4348877"/>
            <a:ext cx="5939195"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do not experience the competitive drive and urgency for time.</a:t>
            </a:r>
            <a:endParaRPr lang="en-US" sz="1750" dirty="0"/>
          </a:p>
        </p:txBody>
      </p:sp>
      <p:sp>
        <p:nvSpPr>
          <p:cNvPr id="14" name="Text 12"/>
          <p:cNvSpPr/>
          <p:nvPr/>
        </p:nvSpPr>
        <p:spPr>
          <a:xfrm>
            <a:off x="7663101" y="5335191"/>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Work consistently without stress.</a:t>
            </a:r>
            <a:endParaRPr lang="en-US" sz="1750" dirty="0"/>
          </a:p>
        </p:txBody>
      </p:sp>
      <p:sp>
        <p:nvSpPr>
          <p:cNvPr id="15" name="Text 13"/>
          <p:cNvSpPr/>
          <p:nvPr/>
        </p:nvSpPr>
        <p:spPr>
          <a:xfrm>
            <a:off x="7663101" y="5867995"/>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Enjoys achievements.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20153"/>
            <a:ext cx="10368915"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TYPE-A  AND TYPE -B PERSONALITIES</a:t>
            </a:r>
            <a:endParaRPr lang="en-US" sz="4450" dirty="0"/>
          </a:p>
        </p:txBody>
      </p:sp>
      <p:sp>
        <p:nvSpPr>
          <p:cNvPr id="3" name="Text 1"/>
          <p:cNvSpPr/>
          <p:nvPr/>
        </p:nvSpPr>
        <p:spPr>
          <a:xfrm>
            <a:off x="793790" y="2382560"/>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Proposed by Meyer Friedman and Rosenman.</a:t>
            </a:r>
            <a:endParaRPr lang="en-US" sz="2200" dirty="0"/>
          </a:p>
        </p:txBody>
      </p:sp>
      <p:sp>
        <p:nvSpPr>
          <p:cNvPr id="4" name="Shape 2"/>
          <p:cNvSpPr/>
          <p:nvPr/>
        </p:nvSpPr>
        <p:spPr>
          <a:xfrm>
            <a:off x="793790" y="3091220"/>
            <a:ext cx="6408063" cy="3918228"/>
          </a:xfrm>
          <a:prstGeom prst="roundRect">
            <a:avLst>
              <a:gd name="adj" fmla="val 2431"/>
            </a:avLst>
          </a:prstGeom>
          <a:solidFill>
            <a:srgbClr val="E9E6FA"/>
          </a:solidFill>
          <a:ln w="7620">
            <a:solidFill>
              <a:srgbClr val="BDB8DF"/>
            </a:solidFill>
            <a:prstDash val="solid"/>
          </a:ln>
        </p:spPr>
      </p:sp>
      <p:sp>
        <p:nvSpPr>
          <p:cNvPr id="5" name="Text 3"/>
          <p:cNvSpPr/>
          <p:nvPr/>
        </p:nvSpPr>
        <p:spPr>
          <a:xfrm>
            <a:off x="1028224" y="3325654"/>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TYPE-A</a:t>
            </a:r>
            <a:endParaRPr lang="en-US" sz="2200" dirty="0"/>
          </a:p>
        </p:txBody>
      </p:sp>
      <p:sp>
        <p:nvSpPr>
          <p:cNvPr id="6" name="Text 4"/>
          <p:cNvSpPr/>
          <p:nvPr/>
        </p:nvSpPr>
        <p:spPr>
          <a:xfrm>
            <a:off x="1028224" y="3816072"/>
            <a:ext cx="5939195"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People characterised under type A personality are seen to process high motivation and achievement orientation.</a:t>
            </a:r>
            <a:endParaRPr lang="en-US" sz="1750" dirty="0"/>
          </a:p>
        </p:txBody>
      </p:sp>
      <p:sp>
        <p:nvSpPr>
          <p:cNvPr id="7" name="Text 5"/>
          <p:cNvSpPr/>
          <p:nvPr/>
        </p:nvSpPr>
        <p:spPr>
          <a:xfrm>
            <a:off x="1028224" y="5255895"/>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 Time urgency(set time limit)</a:t>
            </a:r>
            <a:endParaRPr lang="en-US" sz="1750" dirty="0"/>
          </a:p>
        </p:txBody>
      </p:sp>
      <p:sp>
        <p:nvSpPr>
          <p:cNvPr id="8" name="Text 6"/>
          <p:cNvSpPr/>
          <p:nvPr/>
        </p:nvSpPr>
        <p:spPr>
          <a:xfrm>
            <a:off x="1028224" y="5788700"/>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Workaholics- tend to perform maximum.</a:t>
            </a:r>
            <a:endParaRPr lang="en-US" sz="1750" dirty="0"/>
          </a:p>
        </p:txBody>
      </p:sp>
      <p:sp>
        <p:nvSpPr>
          <p:cNvPr id="9" name="Text 7"/>
          <p:cNvSpPr/>
          <p:nvPr/>
        </p:nvSpPr>
        <p:spPr>
          <a:xfrm>
            <a:off x="1028224" y="6321504"/>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Ambitious and competitive.</a:t>
            </a:r>
            <a:endParaRPr lang="en-US" sz="1750" dirty="0"/>
          </a:p>
        </p:txBody>
      </p:sp>
      <p:sp>
        <p:nvSpPr>
          <p:cNvPr id="10" name="Shape 8"/>
          <p:cNvSpPr/>
          <p:nvPr/>
        </p:nvSpPr>
        <p:spPr>
          <a:xfrm>
            <a:off x="7428667" y="3091220"/>
            <a:ext cx="6408063" cy="3918228"/>
          </a:xfrm>
          <a:prstGeom prst="roundRect">
            <a:avLst>
              <a:gd name="adj" fmla="val 2431"/>
            </a:avLst>
          </a:prstGeom>
          <a:solidFill>
            <a:srgbClr val="E9E6FA"/>
          </a:solidFill>
          <a:ln w="7620">
            <a:solidFill>
              <a:srgbClr val="BDB8DF"/>
            </a:solidFill>
            <a:prstDash val="solid"/>
          </a:ln>
        </p:spPr>
      </p:sp>
      <p:sp>
        <p:nvSpPr>
          <p:cNvPr id="11" name="Text 9"/>
          <p:cNvSpPr/>
          <p:nvPr/>
        </p:nvSpPr>
        <p:spPr>
          <a:xfrm>
            <a:off x="7663101" y="3325654"/>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TYPE-B</a:t>
            </a:r>
            <a:endParaRPr lang="en-US" sz="2200" dirty="0"/>
          </a:p>
        </p:txBody>
      </p:sp>
      <p:sp>
        <p:nvSpPr>
          <p:cNvPr id="12" name="Text 10"/>
          <p:cNvSpPr/>
          <p:nvPr/>
        </p:nvSpPr>
        <p:spPr>
          <a:xfrm>
            <a:off x="7663101" y="3816072"/>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Easy going.</a:t>
            </a:r>
            <a:endParaRPr lang="en-US" sz="1750" dirty="0"/>
          </a:p>
        </p:txBody>
      </p:sp>
      <p:sp>
        <p:nvSpPr>
          <p:cNvPr id="13" name="Text 11"/>
          <p:cNvSpPr/>
          <p:nvPr/>
        </p:nvSpPr>
        <p:spPr>
          <a:xfrm>
            <a:off x="7663101" y="4348877"/>
            <a:ext cx="5939195"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do not experience the competitive drive and urgency for time.</a:t>
            </a:r>
            <a:endParaRPr lang="en-US" sz="1750" dirty="0"/>
          </a:p>
        </p:txBody>
      </p:sp>
      <p:sp>
        <p:nvSpPr>
          <p:cNvPr id="14" name="Text 12"/>
          <p:cNvSpPr/>
          <p:nvPr/>
        </p:nvSpPr>
        <p:spPr>
          <a:xfrm>
            <a:off x="7663101" y="5335191"/>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Work consistently without stress.</a:t>
            </a:r>
            <a:endParaRPr lang="en-US" sz="1750" dirty="0"/>
          </a:p>
        </p:txBody>
      </p:sp>
      <p:sp>
        <p:nvSpPr>
          <p:cNvPr id="15" name="Text 13"/>
          <p:cNvSpPr/>
          <p:nvPr/>
        </p:nvSpPr>
        <p:spPr>
          <a:xfrm>
            <a:off x="7663101" y="5867995"/>
            <a:ext cx="5939195"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Enjoys achievements.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6165" y="1012388"/>
            <a:ext cx="5330071" cy="666274"/>
          </a:xfrm>
          <a:prstGeom prst="rect">
            <a:avLst/>
          </a:prstGeom>
          <a:noFill/>
          <a:ln/>
        </p:spPr>
        <p:txBody>
          <a:bodyPr wrap="none" lIns="0" tIns="0" rIns="0" bIns="0" rtlCol="0" anchor="t"/>
          <a:lstStyle/>
          <a:p>
            <a:pPr indent="0" marL="0">
              <a:lnSpc>
                <a:spcPts val="5200"/>
              </a:lnSpc>
              <a:buNone/>
            </a:pPr>
            <a:r>
              <a:rPr lang="en-US" sz="4150" b="1" dirty="0">
                <a:solidFill>
                  <a:srgbClr val="231971"/>
                </a:solidFill>
                <a:latin typeface="Outfit Extra Bold" pitchFamily="34" charset="0"/>
                <a:ea typeface="Outfit Extra Bold" pitchFamily="34" charset="-122"/>
                <a:cs typeface="Outfit Extra Bold" pitchFamily="34" charset="-120"/>
              </a:rPr>
              <a:t>EYSENCK'S TYPES</a:t>
            </a:r>
            <a:endParaRPr lang="en-US" sz="4150" dirty="0"/>
          </a:p>
        </p:txBody>
      </p:sp>
      <p:sp>
        <p:nvSpPr>
          <p:cNvPr id="3" name="Shape 1"/>
          <p:cNvSpPr/>
          <p:nvPr/>
        </p:nvSpPr>
        <p:spPr>
          <a:xfrm>
            <a:off x="746165" y="2344817"/>
            <a:ext cx="373023" cy="373023"/>
          </a:xfrm>
          <a:prstGeom prst="roundRect">
            <a:avLst>
              <a:gd name="adj" fmla="val 24006"/>
            </a:avLst>
          </a:prstGeom>
          <a:solidFill>
            <a:srgbClr val="E9E6FA"/>
          </a:solidFill>
          <a:ln w="7620">
            <a:solidFill>
              <a:srgbClr val="BDB8DF"/>
            </a:solidFill>
            <a:prstDash val="solid"/>
          </a:ln>
        </p:spPr>
      </p:sp>
      <p:sp>
        <p:nvSpPr>
          <p:cNvPr id="4" name="Text 2"/>
          <p:cNvSpPr/>
          <p:nvPr/>
        </p:nvSpPr>
        <p:spPr>
          <a:xfrm>
            <a:off x="1332309" y="2344817"/>
            <a:ext cx="2664976" cy="333018"/>
          </a:xfrm>
          <a:prstGeom prst="rect">
            <a:avLst/>
          </a:prstGeom>
          <a:noFill/>
          <a:ln/>
        </p:spPr>
        <p:txBody>
          <a:bodyPr wrap="none" lIns="0" tIns="0" rIns="0" bIns="0" rtlCol="0" anchor="t"/>
          <a:lstStyle/>
          <a:p>
            <a:pPr indent="0" marL="0">
              <a:lnSpc>
                <a:spcPts val="2600"/>
              </a:lnSpc>
              <a:buNone/>
            </a:pPr>
            <a:r>
              <a:rPr lang="en-US" sz="2050" b="1" dirty="0">
                <a:solidFill>
                  <a:srgbClr val="2A2742"/>
                </a:solidFill>
                <a:latin typeface="Outfit Extra Bold" pitchFamily="34" charset="0"/>
                <a:ea typeface="Outfit Extra Bold" pitchFamily="34" charset="-122"/>
                <a:cs typeface="Outfit Extra Bold" pitchFamily="34" charset="-120"/>
              </a:rPr>
              <a:t>Introversion</a:t>
            </a:r>
            <a:endParaRPr lang="en-US" sz="2050" dirty="0"/>
          </a:p>
        </p:txBody>
      </p:sp>
      <p:sp>
        <p:nvSpPr>
          <p:cNvPr id="5" name="Text 3"/>
          <p:cNvSpPr/>
          <p:nvPr/>
        </p:nvSpPr>
        <p:spPr>
          <a:xfrm>
            <a:off x="1332309" y="2805708"/>
            <a:ext cx="3651171" cy="2131219"/>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A typical introvert is quiet ,retiring sort of a person, introspective, fond of books or computer rather than people .</a:t>
            </a:r>
            <a:endParaRPr lang="en-US" sz="1650" dirty="0"/>
          </a:p>
        </p:txBody>
      </p:sp>
      <p:sp>
        <p:nvSpPr>
          <p:cNvPr id="6" name="Text 4"/>
          <p:cNvSpPr/>
          <p:nvPr/>
        </p:nvSpPr>
        <p:spPr>
          <a:xfrm>
            <a:off x="1332309" y="5011460"/>
            <a:ext cx="3651171" cy="1278731"/>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are reserved and distant except to intimate friends . </a:t>
            </a:r>
            <a:endParaRPr lang="en-US" sz="1650" dirty="0"/>
          </a:p>
        </p:txBody>
      </p:sp>
      <p:sp>
        <p:nvSpPr>
          <p:cNvPr id="7" name="Text 5"/>
          <p:cNvSpPr/>
          <p:nvPr/>
        </p:nvSpPr>
        <p:spPr>
          <a:xfrm>
            <a:off x="1332309" y="6364724"/>
            <a:ext cx="3651171" cy="852488"/>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keep feelings under close control.</a:t>
            </a:r>
            <a:endParaRPr lang="en-US" sz="1650" dirty="0"/>
          </a:p>
        </p:txBody>
      </p:sp>
      <p:sp>
        <p:nvSpPr>
          <p:cNvPr id="8" name="Shape 6"/>
          <p:cNvSpPr/>
          <p:nvPr/>
        </p:nvSpPr>
        <p:spPr>
          <a:xfrm>
            <a:off x="5196602" y="2344817"/>
            <a:ext cx="373023" cy="373023"/>
          </a:xfrm>
          <a:prstGeom prst="roundRect">
            <a:avLst>
              <a:gd name="adj" fmla="val 24006"/>
            </a:avLst>
          </a:prstGeom>
          <a:solidFill>
            <a:srgbClr val="E9E6FA"/>
          </a:solidFill>
          <a:ln w="7620">
            <a:solidFill>
              <a:srgbClr val="BDB8DF"/>
            </a:solidFill>
            <a:prstDash val="solid"/>
          </a:ln>
        </p:spPr>
      </p:sp>
      <p:sp>
        <p:nvSpPr>
          <p:cNvPr id="9" name="Text 7"/>
          <p:cNvSpPr/>
          <p:nvPr/>
        </p:nvSpPr>
        <p:spPr>
          <a:xfrm>
            <a:off x="5782747" y="2344817"/>
            <a:ext cx="2664976" cy="333018"/>
          </a:xfrm>
          <a:prstGeom prst="rect">
            <a:avLst/>
          </a:prstGeom>
          <a:noFill/>
          <a:ln/>
        </p:spPr>
        <p:txBody>
          <a:bodyPr wrap="none" lIns="0" tIns="0" rIns="0" bIns="0" rtlCol="0" anchor="t"/>
          <a:lstStyle/>
          <a:p>
            <a:pPr indent="0" marL="0">
              <a:lnSpc>
                <a:spcPts val="2600"/>
              </a:lnSpc>
              <a:buNone/>
            </a:pPr>
            <a:r>
              <a:rPr lang="en-US" sz="2050" b="1" dirty="0">
                <a:solidFill>
                  <a:srgbClr val="2A2742"/>
                </a:solidFill>
                <a:latin typeface="Outfit Extra Bold" pitchFamily="34" charset="0"/>
                <a:ea typeface="Outfit Extra Bold" pitchFamily="34" charset="-122"/>
                <a:cs typeface="Outfit Extra Bold" pitchFamily="34" charset="-120"/>
              </a:rPr>
              <a:t>Extroversion</a:t>
            </a:r>
            <a:endParaRPr lang="en-US" sz="2050" dirty="0"/>
          </a:p>
        </p:txBody>
      </p:sp>
      <p:sp>
        <p:nvSpPr>
          <p:cNvPr id="10" name="Text 8"/>
          <p:cNvSpPr/>
          <p:nvPr/>
        </p:nvSpPr>
        <p:spPr>
          <a:xfrm>
            <a:off x="5782747" y="2805708"/>
            <a:ext cx="3651171" cy="1278731"/>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A typical extrovert is sociable ,likes to party, have many friends.</a:t>
            </a:r>
            <a:endParaRPr lang="en-US" sz="1650" dirty="0"/>
          </a:p>
        </p:txBody>
      </p:sp>
      <p:sp>
        <p:nvSpPr>
          <p:cNvPr id="11" name="Text 9"/>
          <p:cNvSpPr/>
          <p:nvPr/>
        </p:nvSpPr>
        <p:spPr>
          <a:xfrm>
            <a:off x="5782747" y="4158972"/>
            <a:ext cx="3651171" cy="852488"/>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crave for excitement ,takes chances.</a:t>
            </a:r>
            <a:endParaRPr lang="en-US" sz="1650" dirty="0"/>
          </a:p>
        </p:txBody>
      </p:sp>
      <p:sp>
        <p:nvSpPr>
          <p:cNvPr id="12" name="Text 10"/>
          <p:cNvSpPr/>
          <p:nvPr/>
        </p:nvSpPr>
        <p:spPr>
          <a:xfrm>
            <a:off x="5782747" y="5085993"/>
            <a:ext cx="3651171" cy="1704975"/>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are fond of practical jokes, always have a ready answer and generally like changes.</a:t>
            </a:r>
            <a:endParaRPr lang="en-US" sz="1650" dirty="0"/>
          </a:p>
        </p:txBody>
      </p:sp>
      <p:sp>
        <p:nvSpPr>
          <p:cNvPr id="13" name="Shape 11"/>
          <p:cNvSpPr/>
          <p:nvPr/>
        </p:nvSpPr>
        <p:spPr>
          <a:xfrm>
            <a:off x="9647039" y="2344817"/>
            <a:ext cx="373023" cy="373023"/>
          </a:xfrm>
          <a:prstGeom prst="roundRect">
            <a:avLst>
              <a:gd name="adj" fmla="val 24006"/>
            </a:avLst>
          </a:prstGeom>
          <a:solidFill>
            <a:srgbClr val="E9E6FA"/>
          </a:solidFill>
          <a:ln w="7620">
            <a:solidFill>
              <a:srgbClr val="BDB8DF"/>
            </a:solidFill>
            <a:prstDash val="solid"/>
          </a:ln>
        </p:spPr>
      </p:sp>
      <p:sp>
        <p:nvSpPr>
          <p:cNvPr id="14" name="Text 12"/>
          <p:cNvSpPr/>
          <p:nvPr/>
        </p:nvSpPr>
        <p:spPr>
          <a:xfrm>
            <a:off x="10233184" y="2344817"/>
            <a:ext cx="2664976" cy="333018"/>
          </a:xfrm>
          <a:prstGeom prst="rect">
            <a:avLst/>
          </a:prstGeom>
          <a:noFill/>
          <a:ln/>
        </p:spPr>
        <p:txBody>
          <a:bodyPr wrap="none" lIns="0" tIns="0" rIns="0" bIns="0" rtlCol="0" anchor="t"/>
          <a:lstStyle/>
          <a:p>
            <a:pPr indent="0" marL="0">
              <a:lnSpc>
                <a:spcPts val="2600"/>
              </a:lnSpc>
              <a:buNone/>
            </a:pPr>
            <a:r>
              <a:rPr lang="en-US" sz="2050" b="1" dirty="0">
                <a:solidFill>
                  <a:srgbClr val="2A2742"/>
                </a:solidFill>
                <a:latin typeface="Outfit Extra Bold" pitchFamily="34" charset="0"/>
                <a:ea typeface="Outfit Extra Bold" pitchFamily="34" charset="-122"/>
                <a:cs typeface="Outfit Extra Bold" pitchFamily="34" charset="-120"/>
              </a:rPr>
              <a:t>Neuroticism</a:t>
            </a:r>
            <a:endParaRPr lang="en-US" sz="2050" dirty="0"/>
          </a:p>
        </p:txBody>
      </p:sp>
      <p:sp>
        <p:nvSpPr>
          <p:cNvPr id="15" name="Text 13"/>
          <p:cNvSpPr/>
          <p:nvPr/>
        </p:nvSpPr>
        <p:spPr>
          <a:xfrm>
            <a:off x="10233184" y="2805708"/>
            <a:ext cx="3651171" cy="1278731"/>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Neurotic person is anxious, worrying individual , moody and frequently depressed.</a:t>
            </a:r>
            <a:endParaRPr lang="en-US" sz="1650" dirty="0"/>
          </a:p>
        </p:txBody>
      </p:sp>
      <p:sp>
        <p:nvSpPr>
          <p:cNvPr id="16" name="Text 14"/>
          <p:cNvSpPr/>
          <p:nvPr/>
        </p:nvSpPr>
        <p:spPr>
          <a:xfrm>
            <a:off x="10233184" y="4158972"/>
            <a:ext cx="3651171" cy="1278731"/>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are overtly emotional, reacting strongly to all sorts of stimuli.</a:t>
            </a:r>
            <a:endParaRPr lang="en-US" sz="1650" dirty="0"/>
          </a:p>
        </p:txBody>
      </p:sp>
      <p:sp>
        <p:nvSpPr>
          <p:cNvPr id="17" name="Text 15"/>
          <p:cNvSpPr/>
          <p:nvPr/>
        </p:nvSpPr>
        <p:spPr>
          <a:xfrm>
            <a:off x="10233184" y="5512237"/>
            <a:ext cx="3651171" cy="1278731"/>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A2742"/>
                </a:solidFill>
                <a:latin typeface="Arimo" pitchFamily="34" charset="0"/>
                <a:ea typeface="Arimo" pitchFamily="34" charset="-122"/>
                <a:cs typeface="Arimo" pitchFamily="34" charset="-120"/>
              </a:rPr>
              <a:t>They are at risk of loss of sleep and suffering from psychosomatic disorders.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325642"/>
            <a:ext cx="396835" cy="396835"/>
          </a:xfrm>
          <a:prstGeom prst="roundRect">
            <a:avLst>
              <a:gd name="adj" fmla="val 24007"/>
            </a:avLst>
          </a:prstGeom>
          <a:solidFill>
            <a:srgbClr val="E9E6FA"/>
          </a:solidFill>
          <a:ln w="7620">
            <a:solidFill>
              <a:srgbClr val="BDB8DF"/>
            </a:solidFill>
            <a:prstDash val="solid"/>
          </a:ln>
        </p:spPr>
      </p:sp>
      <p:sp>
        <p:nvSpPr>
          <p:cNvPr id="3" name="Text 1"/>
          <p:cNvSpPr/>
          <p:nvPr/>
        </p:nvSpPr>
        <p:spPr>
          <a:xfrm>
            <a:off x="1417439" y="1325642"/>
            <a:ext cx="3402330" cy="425291"/>
          </a:xfrm>
          <a:prstGeom prst="rect">
            <a:avLst/>
          </a:prstGeom>
          <a:noFill/>
          <a:ln/>
        </p:spPr>
        <p:txBody>
          <a:bodyPr wrap="none" lIns="0" tIns="0" rIns="0" bIns="0" rtlCol="0" anchor="t"/>
          <a:lstStyle/>
          <a:p>
            <a:pPr indent="0" marL="0">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Psychoticism</a:t>
            </a:r>
            <a:endParaRPr lang="en-US" sz="2650" dirty="0"/>
          </a:p>
        </p:txBody>
      </p:sp>
      <p:sp>
        <p:nvSpPr>
          <p:cNvPr id="4" name="Text 2"/>
          <p:cNvSpPr/>
          <p:nvPr/>
        </p:nvSpPr>
        <p:spPr>
          <a:xfrm>
            <a:off x="1417439" y="1887022"/>
            <a:ext cx="5784413"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 person with strong psychotic tendency may be solitary, not caring for people and troublesome and difficult fitting anywhere.</a:t>
            </a:r>
            <a:endParaRPr lang="en-US" sz="1750" dirty="0"/>
          </a:p>
        </p:txBody>
      </p:sp>
      <p:sp>
        <p:nvSpPr>
          <p:cNvPr id="5" name="Text 3"/>
          <p:cNvSpPr/>
          <p:nvPr/>
        </p:nvSpPr>
        <p:spPr>
          <a:xfrm>
            <a:off x="1417439" y="3326844"/>
            <a:ext cx="5784413"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may be cruel and in human ,lacking in feelings and empathy .</a:t>
            </a:r>
            <a:endParaRPr lang="en-US" sz="1750" dirty="0"/>
          </a:p>
        </p:txBody>
      </p:sp>
      <p:sp>
        <p:nvSpPr>
          <p:cNvPr id="6" name="Text 4"/>
          <p:cNvSpPr/>
          <p:nvPr/>
        </p:nvSpPr>
        <p:spPr>
          <a:xfrm>
            <a:off x="1417439" y="4313158"/>
            <a:ext cx="5784413"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are aggressive even to loved ones, they may have a liking for odd and unusual things.</a:t>
            </a:r>
            <a:endParaRPr lang="en-US" sz="1750" dirty="0"/>
          </a:p>
        </p:txBody>
      </p:sp>
      <p:sp>
        <p:nvSpPr>
          <p:cNvPr id="7" name="Text 5"/>
          <p:cNvSpPr/>
          <p:nvPr/>
        </p:nvSpPr>
        <p:spPr>
          <a:xfrm>
            <a:off x="1417439" y="5752981"/>
            <a:ext cx="5784413"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like to make fool of other people and to upset them.</a:t>
            </a:r>
            <a:endParaRPr lang="en-US" sz="1750" dirty="0"/>
          </a:p>
        </p:txBody>
      </p:sp>
      <p:sp>
        <p:nvSpPr>
          <p:cNvPr id="8" name="Text 6"/>
          <p:cNvSpPr/>
          <p:nvPr/>
        </p:nvSpPr>
        <p:spPr>
          <a:xfrm>
            <a:off x="1417439" y="6796088"/>
            <a:ext cx="5784413" cy="362903"/>
          </a:xfrm>
          <a:prstGeom prst="rect">
            <a:avLst/>
          </a:prstGeom>
          <a:noFill/>
          <a:ln/>
        </p:spPr>
        <p:txBody>
          <a:bodyPr wrap="none" lIns="0" tIns="0" rIns="0" bIns="0" rtlCol="0" anchor="t"/>
          <a:lstStyle/>
          <a:p>
            <a:pPr indent="0" marL="0">
              <a:lnSpc>
                <a:spcPts val="2850"/>
              </a:lnSpc>
              <a:buNone/>
            </a:pPr>
            <a:endParaRPr lang="en-US" sz="1750" dirty="0"/>
          </a:p>
        </p:txBody>
      </p:sp>
      <p:sp>
        <p:nvSpPr>
          <p:cNvPr id="9" name="Shape 7"/>
          <p:cNvSpPr/>
          <p:nvPr/>
        </p:nvSpPr>
        <p:spPr>
          <a:xfrm>
            <a:off x="7428667" y="1325642"/>
            <a:ext cx="396835" cy="396835"/>
          </a:xfrm>
          <a:prstGeom prst="roundRect">
            <a:avLst>
              <a:gd name="adj" fmla="val 24007"/>
            </a:avLst>
          </a:prstGeom>
          <a:solidFill>
            <a:srgbClr val="E9E6FA"/>
          </a:solidFill>
          <a:ln w="7620">
            <a:solidFill>
              <a:srgbClr val="BDB8DF"/>
            </a:solidFill>
            <a:prstDash val="solid"/>
          </a:ln>
        </p:spPr>
      </p:sp>
      <p:sp>
        <p:nvSpPr>
          <p:cNvPr id="10" name="Text 8"/>
          <p:cNvSpPr/>
          <p:nvPr/>
        </p:nvSpPr>
        <p:spPr>
          <a:xfrm>
            <a:off x="8052316" y="1325642"/>
            <a:ext cx="3402330" cy="425291"/>
          </a:xfrm>
          <a:prstGeom prst="rect">
            <a:avLst/>
          </a:prstGeom>
          <a:noFill/>
          <a:ln/>
        </p:spPr>
        <p:txBody>
          <a:bodyPr wrap="none" lIns="0" tIns="0" rIns="0" bIns="0" rtlCol="0" anchor="t"/>
          <a:lstStyle/>
          <a:p>
            <a:pPr indent="0" marL="0">
              <a:lnSpc>
                <a:spcPts val="3300"/>
              </a:lnSpc>
              <a:buNone/>
            </a:pPr>
            <a:r>
              <a:rPr lang="en-US" sz="2650" b="1" dirty="0">
                <a:solidFill>
                  <a:srgbClr val="2A2742"/>
                </a:solidFill>
                <a:latin typeface="Outfit Extra Bold" pitchFamily="34" charset="0"/>
                <a:ea typeface="Outfit Extra Bold" pitchFamily="34" charset="-122"/>
                <a:cs typeface="Outfit Extra Bold" pitchFamily="34" charset="-120"/>
              </a:rPr>
              <a:t>Lie tendency</a:t>
            </a:r>
            <a:endParaRPr lang="en-US" sz="2650" dirty="0"/>
          </a:p>
        </p:txBody>
      </p:sp>
      <p:sp>
        <p:nvSpPr>
          <p:cNvPr id="11" name="Text 9"/>
          <p:cNvSpPr/>
          <p:nvPr/>
        </p:nvSpPr>
        <p:spPr>
          <a:xfrm>
            <a:off x="8052316" y="1887022"/>
            <a:ext cx="5784413"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 This dimension of personality has the tendency of dissimilation.</a:t>
            </a:r>
            <a:endParaRPr lang="en-US" sz="1750" dirty="0"/>
          </a:p>
        </p:txBody>
      </p:sp>
      <p:sp>
        <p:nvSpPr>
          <p:cNvPr id="12" name="Text 10"/>
          <p:cNvSpPr/>
          <p:nvPr/>
        </p:nvSpPr>
        <p:spPr>
          <a:xfrm>
            <a:off x="8052316" y="2873335"/>
            <a:ext cx="5784413"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individual fakes the fact for getting social approval.</a:t>
            </a:r>
            <a:endParaRPr lang="en-US" sz="1750" dirty="0"/>
          </a:p>
        </p:txBody>
      </p:sp>
      <p:sp>
        <p:nvSpPr>
          <p:cNvPr id="13" name="Text 11"/>
          <p:cNvSpPr/>
          <p:nvPr/>
        </p:nvSpPr>
        <p:spPr>
          <a:xfrm>
            <a:off x="8052316" y="3859649"/>
            <a:ext cx="5784413" cy="181403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To project the good side of a person’s behaviour they may manipulate the real bad habits and tendencies in front of others.</a:t>
            </a:r>
            <a:endParaRPr lang="en-US" sz="1750" dirty="0"/>
          </a:p>
        </p:txBody>
      </p:sp>
      <p:sp>
        <p:nvSpPr>
          <p:cNvPr id="14" name="Text 12"/>
          <p:cNvSpPr/>
          <p:nvPr/>
        </p:nvSpPr>
        <p:spPr>
          <a:xfrm>
            <a:off x="8052316" y="5809774"/>
            <a:ext cx="5784413"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2241" y="836057"/>
            <a:ext cx="9963269" cy="698421"/>
          </a:xfrm>
          <a:prstGeom prst="rect">
            <a:avLst/>
          </a:prstGeom>
          <a:noFill/>
          <a:ln/>
        </p:spPr>
        <p:txBody>
          <a:bodyPr wrap="none" lIns="0" tIns="0" rIns="0" bIns="0" rtlCol="0" anchor="t"/>
          <a:lstStyle/>
          <a:p>
            <a:pPr indent="0" marL="0">
              <a:lnSpc>
                <a:spcPts val="5450"/>
              </a:lnSpc>
              <a:buNone/>
            </a:pPr>
            <a:r>
              <a:rPr lang="en-US" sz="4350" b="1" dirty="0">
                <a:solidFill>
                  <a:srgbClr val="231971"/>
                </a:solidFill>
                <a:latin typeface="Outfit Extra Bold" pitchFamily="34" charset="0"/>
                <a:ea typeface="Outfit Extra Bold" pitchFamily="34" charset="-122"/>
                <a:cs typeface="Outfit Extra Bold" pitchFamily="34" charset="-120"/>
              </a:rPr>
              <a:t>CARL JUNG'S TYPE OF PERSONALITY</a:t>
            </a:r>
            <a:endParaRPr lang="en-US" sz="4350" dirty="0"/>
          </a:p>
        </p:txBody>
      </p:sp>
      <p:pic>
        <p:nvPicPr>
          <p:cNvPr id="3" name="Image 0" descr="preencoded.png">    </p:cNvPr>
          <p:cNvPicPr>
            <a:picLocks noChangeAspect="1"/>
          </p:cNvPicPr>
          <p:nvPr/>
        </p:nvPicPr>
        <p:blipFill>
          <a:blip r:embed="rId1"/>
          <a:stretch>
            <a:fillRect/>
          </a:stretch>
        </p:blipFill>
        <p:spPr>
          <a:xfrm>
            <a:off x="782241" y="1869638"/>
            <a:ext cx="558760" cy="558760"/>
          </a:xfrm>
          <a:prstGeom prst="rect">
            <a:avLst/>
          </a:prstGeom>
        </p:spPr>
      </p:pic>
      <p:sp>
        <p:nvSpPr>
          <p:cNvPr id="4" name="Text 1"/>
          <p:cNvSpPr/>
          <p:nvPr/>
        </p:nvSpPr>
        <p:spPr>
          <a:xfrm>
            <a:off x="782241" y="2651879"/>
            <a:ext cx="2793921" cy="349210"/>
          </a:xfrm>
          <a:prstGeom prst="rect">
            <a:avLst/>
          </a:prstGeom>
          <a:noFill/>
          <a:ln/>
        </p:spPr>
        <p:txBody>
          <a:bodyPr wrap="none" lIns="0" tIns="0" rIns="0" bIns="0" rtlCol="0" anchor="t"/>
          <a:lstStyle/>
          <a:p>
            <a:pPr algn="l" indent="0" marL="0">
              <a:lnSpc>
                <a:spcPts val="2700"/>
              </a:lnSpc>
              <a:buNone/>
            </a:pPr>
            <a:r>
              <a:rPr lang="en-US" sz="2150" b="1" dirty="0">
                <a:solidFill>
                  <a:srgbClr val="2A2742"/>
                </a:solidFill>
                <a:latin typeface="Outfit Extra Bold" pitchFamily="34" charset="0"/>
                <a:ea typeface="Outfit Extra Bold" pitchFamily="34" charset="-122"/>
                <a:cs typeface="Outfit Extra Bold" pitchFamily="34" charset="-120"/>
              </a:rPr>
              <a:t>Introverts</a:t>
            </a:r>
            <a:endParaRPr lang="en-US" sz="2150" dirty="0"/>
          </a:p>
        </p:txBody>
      </p:sp>
      <p:sp>
        <p:nvSpPr>
          <p:cNvPr id="5" name="Text 2"/>
          <p:cNvSpPr/>
          <p:nvPr/>
        </p:nvSpPr>
        <p:spPr>
          <a:xfrm>
            <a:off x="782241" y="3135154"/>
            <a:ext cx="6365319" cy="89415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Generally more imaginative and theoretical type of people.</a:t>
            </a:r>
            <a:endParaRPr lang="en-US" sz="1750" dirty="0"/>
          </a:p>
        </p:txBody>
      </p:sp>
      <p:sp>
        <p:nvSpPr>
          <p:cNvPr id="6" name="Text 3"/>
          <p:cNvSpPr/>
          <p:nvPr/>
        </p:nvSpPr>
        <p:spPr>
          <a:xfrm>
            <a:off x="782241" y="4107537"/>
            <a:ext cx="6365319" cy="134123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They are slightly afraid of external realities. many of them are cool, interested in books, magazines and better in writing than speaking.</a:t>
            </a:r>
            <a:endParaRPr lang="en-US" sz="1750" dirty="0"/>
          </a:p>
        </p:txBody>
      </p:sp>
      <p:sp>
        <p:nvSpPr>
          <p:cNvPr id="7" name="Text 4"/>
          <p:cNvSpPr/>
          <p:nvPr/>
        </p:nvSpPr>
        <p:spPr>
          <a:xfrm>
            <a:off x="782241" y="5527000"/>
            <a:ext cx="6365319" cy="134123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Even though they have strong feelings likes and dislikes, they do not always express their feelings to others.</a:t>
            </a:r>
            <a:endParaRPr lang="en-US" sz="1750" dirty="0"/>
          </a:p>
        </p:txBody>
      </p:sp>
      <p:pic>
        <p:nvPicPr>
          <p:cNvPr id="8" name="Image 1" descr="preencoded.png">    </p:cNvPr>
          <p:cNvPicPr>
            <a:picLocks noChangeAspect="1"/>
          </p:cNvPicPr>
          <p:nvPr/>
        </p:nvPicPr>
        <p:blipFill>
          <a:blip r:embed="rId2"/>
          <a:stretch>
            <a:fillRect/>
          </a:stretch>
        </p:blipFill>
        <p:spPr>
          <a:xfrm>
            <a:off x="7482721" y="1869638"/>
            <a:ext cx="558760" cy="558760"/>
          </a:xfrm>
          <a:prstGeom prst="rect">
            <a:avLst/>
          </a:prstGeom>
        </p:spPr>
      </p:pic>
      <p:sp>
        <p:nvSpPr>
          <p:cNvPr id="9" name="Text 5"/>
          <p:cNvSpPr/>
          <p:nvPr/>
        </p:nvSpPr>
        <p:spPr>
          <a:xfrm>
            <a:off x="7482721" y="2651879"/>
            <a:ext cx="2793921" cy="349210"/>
          </a:xfrm>
          <a:prstGeom prst="rect">
            <a:avLst/>
          </a:prstGeom>
          <a:noFill/>
          <a:ln/>
        </p:spPr>
        <p:txBody>
          <a:bodyPr wrap="none" lIns="0" tIns="0" rIns="0" bIns="0" rtlCol="0" anchor="t"/>
          <a:lstStyle/>
          <a:p>
            <a:pPr algn="l" indent="0" marL="0">
              <a:lnSpc>
                <a:spcPts val="2700"/>
              </a:lnSpc>
              <a:buNone/>
            </a:pPr>
            <a:r>
              <a:rPr lang="en-US" sz="2150" b="1" dirty="0">
                <a:solidFill>
                  <a:srgbClr val="2A2742"/>
                </a:solidFill>
                <a:latin typeface="Outfit Extra Bold" pitchFamily="34" charset="0"/>
                <a:ea typeface="Outfit Extra Bold" pitchFamily="34" charset="-122"/>
                <a:cs typeface="Outfit Extra Bold" pitchFamily="34" charset="-120"/>
              </a:rPr>
              <a:t>Extroverts</a:t>
            </a:r>
            <a:endParaRPr lang="en-US" sz="2150" dirty="0"/>
          </a:p>
        </p:txBody>
      </p:sp>
      <p:sp>
        <p:nvSpPr>
          <p:cNvPr id="10" name="Text 6"/>
          <p:cNvSpPr/>
          <p:nvPr/>
        </p:nvSpPr>
        <p:spPr>
          <a:xfrm>
            <a:off x="7482721" y="3135154"/>
            <a:ext cx="6365438" cy="89415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Extroverts are outgoing, enjoy being in social situations, and thrive on interaction.</a:t>
            </a:r>
            <a:endParaRPr lang="en-US" sz="1750" dirty="0"/>
          </a:p>
        </p:txBody>
      </p:sp>
      <p:sp>
        <p:nvSpPr>
          <p:cNvPr id="11" name="Text 7"/>
          <p:cNvSpPr/>
          <p:nvPr/>
        </p:nvSpPr>
        <p:spPr>
          <a:xfrm>
            <a:off x="7482721" y="4107537"/>
            <a:ext cx="6365438" cy="89415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Generally realistic and practical and try to verify theoretical knowledge with factual information .</a:t>
            </a:r>
            <a:endParaRPr lang="en-US" sz="1750" dirty="0"/>
          </a:p>
        </p:txBody>
      </p:sp>
      <p:sp>
        <p:nvSpPr>
          <p:cNvPr id="12" name="Text 8"/>
          <p:cNvSpPr/>
          <p:nvPr/>
        </p:nvSpPr>
        <p:spPr>
          <a:xfrm>
            <a:off x="7482721" y="5079921"/>
            <a:ext cx="6365438" cy="89415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They take calculated risks, like changes and optimistic.</a:t>
            </a:r>
            <a:endParaRPr lang="en-US" sz="1750" dirty="0"/>
          </a:p>
        </p:txBody>
      </p:sp>
      <p:sp>
        <p:nvSpPr>
          <p:cNvPr id="13" name="Text 9"/>
          <p:cNvSpPr/>
          <p:nvPr/>
        </p:nvSpPr>
        <p:spPr>
          <a:xfrm>
            <a:off x="7482721" y="6052304"/>
            <a:ext cx="6365438" cy="134123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2A2742"/>
                </a:solidFill>
                <a:latin typeface="Arimo" pitchFamily="34" charset="0"/>
                <a:ea typeface="Arimo" pitchFamily="34" charset="-122"/>
                <a:cs typeface="Arimo" pitchFamily="34" charset="-120"/>
              </a:rPr>
              <a:t>Extroverts are social, outspoken and they are interested in sports and games and demand constant emotional sensation.</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206579"/>
            <a:ext cx="5828586"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FIVE FACTOR MODEL</a:t>
            </a:r>
            <a:endParaRPr lang="en-US" sz="4450" dirty="0"/>
          </a:p>
        </p:txBody>
      </p:sp>
      <p:sp>
        <p:nvSpPr>
          <p:cNvPr id="3" name="Text 1"/>
          <p:cNvSpPr/>
          <p:nvPr/>
        </p:nvSpPr>
        <p:spPr>
          <a:xfrm>
            <a:off x="793790" y="2368987"/>
            <a:ext cx="13042821" cy="907018"/>
          </a:xfrm>
          <a:prstGeom prst="rect">
            <a:avLst/>
          </a:prstGeom>
          <a:noFill/>
          <a:ln/>
        </p:spPr>
        <p:txBody>
          <a:bodyPr wrap="square" lIns="0" tIns="0" rIns="0" bIns="0" rtlCol="0" anchor="t"/>
          <a:lstStyle/>
          <a:p>
            <a:pPr indent="0" marL="0">
              <a:lnSpc>
                <a:spcPts val="3550"/>
              </a:lnSpc>
              <a:buNone/>
            </a:pPr>
            <a:r>
              <a:rPr lang="en-US" sz="2200" b="1" dirty="0">
                <a:solidFill>
                  <a:srgbClr val="2A2742"/>
                </a:solidFill>
                <a:latin typeface="Arimo" pitchFamily="34" charset="0"/>
                <a:ea typeface="Arimo" pitchFamily="34" charset="-122"/>
                <a:cs typeface="Arimo" pitchFamily="34" charset="-120"/>
              </a:rPr>
              <a:t>Paul Costa and Robert McCrae</a:t>
            </a:r>
            <a:pPr indent="0" marL="0">
              <a:lnSpc>
                <a:spcPts val="3550"/>
              </a:lnSpc>
              <a:buNone/>
            </a:pPr>
            <a:r>
              <a:rPr lang="en-US" sz="2200" dirty="0">
                <a:solidFill>
                  <a:srgbClr val="2A2742"/>
                </a:solidFill>
                <a:latin typeface="Arimo" pitchFamily="34" charset="0"/>
                <a:ea typeface="Arimo" pitchFamily="34" charset="-122"/>
                <a:cs typeface="Arimo" pitchFamily="34" charset="-120"/>
              </a:rPr>
              <a:t> have introduced 5 factor model of personality ,also called </a:t>
            </a:r>
            <a:pPr indent="0" marL="0">
              <a:lnSpc>
                <a:spcPts val="3550"/>
              </a:lnSpc>
              <a:buNone/>
            </a:pPr>
            <a:r>
              <a:rPr lang="en-US" sz="2200" b="1" dirty="0">
                <a:solidFill>
                  <a:srgbClr val="2A2742"/>
                </a:solidFill>
                <a:latin typeface="Arimo" pitchFamily="34" charset="0"/>
                <a:ea typeface="Arimo" pitchFamily="34" charset="-122"/>
                <a:cs typeface="Arimo" pitchFamily="34" charset="-120"/>
              </a:rPr>
              <a:t>Big five factors.</a:t>
            </a:r>
            <a:endParaRPr lang="en-US" sz="2200" dirty="0"/>
          </a:p>
        </p:txBody>
      </p:sp>
      <p:sp>
        <p:nvSpPr>
          <p:cNvPr id="4" name="Text 2"/>
          <p:cNvSpPr/>
          <p:nvPr/>
        </p:nvSpPr>
        <p:spPr>
          <a:xfrm>
            <a:off x="793790" y="353115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Openness to experience -</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people with this factor are imaginative, curious ,open to new ideas and interested in cultural pursuits.</a:t>
            </a:r>
            <a:endParaRPr lang="en-US" sz="1750" dirty="0"/>
          </a:p>
        </p:txBody>
      </p:sp>
      <p:sp>
        <p:nvSpPr>
          <p:cNvPr id="5" name="Text 3"/>
          <p:cNvSpPr/>
          <p:nvPr/>
        </p:nvSpPr>
        <p:spPr>
          <a:xfrm>
            <a:off x="793790" y="4517469"/>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Conscientiousness</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this people are achievement oriented ,dependable, responsible, prudent, hard working and self controlled.</a:t>
            </a:r>
            <a:endParaRPr lang="en-US" sz="1750" dirty="0"/>
          </a:p>
        </p:txBody>
      </p:sp>
      <p:sp>
        <p:nvSpPr>
          <p:cNvPr id="6" name="Text 4"/>
          <p:cNvSpPr/>
          <p:nvPr/>
        </p:nvSpPr>
        <p:spPr>
          <a:xfrm>
            <a:off x="793790" y="550378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Extraversion- </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extroverts are sociable, active, outgoing and fun loving.</a:t>
            </a:r>
            <a:endParaRPr lang="en-US" sz="1750" dirty="0"/>
          </a:p>
        </p:txBody>
      </p:sp>
      <p:sp>
        <p:nvSpPr>
          <p:cNvPr id="7" name="Text 5"/>
          <p:cNvSpPr/>
          <p:nvPr/>
        </p:nvSpPr>
        <p:spPr>
          <a:xfrm>
            <a:off x="793790" y="603658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Agreeableness</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-these people are helpful, cooperative, friendly, caring and nurturing.</a:t>
            </a:r>
            <a:endParaRPr lang="en-US" sz="1750" dirty="0"/>
          </a:p>
        </p:txBody>
      </p:sp>
      <p:sp>
        <p:nvSpPr>
          <p:cNvPr id="8" name="Text 6"/>
          <p:cNvSpPr/>
          <p:nvPr/>
        </p:nvSpPr>
        <p:spPr>
          <a:xfrm>
            <a:off x="793790" y="656939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Neuroticism</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 -they are emotionally unstable , anxious, worried, irritable and hypertensive.</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46296"/>
            <a:ext cx="13042821" cy="1417558"/>
          </a:xfrm>
          <a:prstGeom prst="rect">
            <a:avLst/>
          </a:prstGeom>
          <a:noFill/>
          <a:ln/>
        </p:spPr>
        <p:txBody>
          <a:bodyPr wrap="squar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MEASUREMENT AND EVALUATION OF PERSONALITY</a:t>
            </a:r>
            <a:endParaRPr lang="en-US" sz="4450" dirty="0"/>
          </a:p>
        </p:txBody>
      </p:sp>
      <p:sp>
        <p:nvSpPr>
          <p:cNvPr id="3" name="Text 1"/>
          <p:cNvSpPr/>
          <p:nvPr/>
        </p:nvSpPr>
        <p:spPr>
          <a:xfrm>
            <a:off x="793790" y="2717483"/>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The assessment of personality is broadly classified into two :-</a:t>
            </a:r>
            <a:endParaRPr lang="en-US" sz="2200" dirty="0"/>
          </a:p>
        </p:txBody>
      </p:sp>
      <p:sp>
        <p:nvSpPr>
          <p:cNvPr id="4" name="Text 2"/>
          <p:cNvSpPr/>
          <p:nvPr/>
        </p:nvSpPr>
        <p:spPr>
          <a:xfrm>
            <a:off x="793790" y="3426142"/>
            <a:ext cx="13042821" cy="453509"/>
          </a:xfrm>
          <a:prstGeom prst="rect">
            <a:avLst/>
          </a:prstGeom>
          <a:noFill/>
          <a:ln/>
        </p:spPr>
        <p:txBody>
          <a:bodyPr wrap="none" lIns="0" tIns="0" rIns="0" bIns="0" rtlCol="0" anchor="t"/>
          <a:lstStyle/>
          <a:p>
            <a:pPr indent="0" marL="0">
              <a:lnSpc>
                <a:spcPts val="3550"/>
              </a:lnSpc>
              <a:buNone/>
            </a:pPr>
            <a:r>
              <a:rPr lang="en-US" sz="2200" b="1" dirty="0">
                <a:solidFill>
                  <a:srgbClr val="2A2742"/>
                </a:solidFill>
                <a:latin typeface="Arimo" pitchFamily="34" charset="0"/>
                <a:ea typeface="Arimo" pitchFamily="34" charset="-122"/>
                <a:cs typeface="Arimo" pitchFamily="34" charset="-120"/>
              </a:rPr>
              <a:t>Objective assessment methods and Projective assessment techniques.</a:t>
            </a:r>
            <a:endParaRPr lang="en-US" sz="2200" dirty="0"/>
          </a:p>
        </p:txBody>
      </p:sp>
      <p:sp>
        <p:nvSpPr>
          <p:cNvPr id="5" name="Text 3"/>
          <p:cNvSpPr/>
          <p:nvPr/>
        </p:nvSpPr>
        <p:spPr>
          <a:xfrm>
            <a:off x="793790" y="4219813"/>
            <a:ext cx="3617714" cy="850583"/>
          </a:xfrm>
          <a:prstGeom prst="rect">
            <a:avLst/>
          </a:prstGeom>
          <a:noFill/>
          <a:ln/>
        </p:spPr>
        <p:txBody>
          <a:bodyPr wrap="square" lIns="0" tIns="0" rIns="0" bIns="0" rtlCol="0" anchor="t"/>
          <a:lstStyle/>
          <a:p>
            <a:pPr algn="l" indent="0" marL="0">
              <a:lnSpc>
                <a:spcPts val="3300"/>
              </a:lnSpc>
              <a:buNone/>
            </a:pPr>
            <a:r>
              <a:rPr lang="en-US" sz="2650" b="1" dirty="0">
                <a:solidFill>
                  <a:srgbClr val="231971"/>
                </a:solidFill>
                <a:latin typeface="Outfit Extra Bold" pitchFamily="34" charset="0"/>
                <a:ea typeface="Outfit Extra Bold" pitchFamily="34" charset="-122"/>
                <a:cs typeface="Outfit Extra Bold" pitchFamily="34" charset="-120"/>
              </a:rPr>
              <a:t> </a:t>
            </a:r>
            <a:pPr algn="l" indent="0" marL="0">
              <a:lnSpc>
                <a:spcPts val="3300"/>
              </a:lnSpc>
              <a:buNone/>
            </a:pPr>
            <a:r>
              <a:rPr lang="en-US" sz="2650" b="1" dirty="0">
                <a:solidFill>
                  <a:srgbClr val="231971"/>
                </a:solidFill>
                <a:latin typeface="Outfit Extra Bold" pitchFamily="34" charset="0"/>
                <a:ea typeface="Outfit Extra Bold" pitchFamily="34" charset="-122"/>
                <a:cs typeface="Outfit Extra Bold" pitchFamily="34" charset="-120"/>
              </a:rPr>
              <a:t>
</a:t>
            </a:r>
            <a:pPr algn="l" indent="0" marL="0">
              <a:lnSpc>
                <a:spcPts val="3300"/>
              </a:lnSpc>
              <a:buNone/>
            </a:pPr>
            <a:r>
              <a:rPr lang="en-US" sz="2650" b="1" dirty="0">
                <a:solidFill>
                  <a:srgbClr val="231971"/>
                </a:solidFill>
                <a:latin typeface="Outfit Extra Bold" pitchFamily="34" charset="0"/>
                <a:ea typeface="Outfit Extra Bold" pitchFamily="34" charset="-122"/>
                <a:cs typeface="Outfit Extra Bold" pitchFamily="34" charset="-120"/>
              </a:rPr>
              <a:t>OBJECTIVE METHODS</a:t>
            </a:r>
            <a:endParaRPr lang="en-US" sz="2650" dirty="0"/>
          </a:p>
        </p:txBody>
      </p:sp>
      <p:sp>
        <p:nvSpPr>
          <p:cNvPr id="6" name="Text 4"/>
          <p:cNvSpPr/>
          <p:nvPr/>
        </p:nvSpPr>
        <p:spPr>
          <a:xfrm>
            <a:off x="793790" y="541055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In objective assessment method the standardised measurement devices are used. </a:t>
            </a:r>
            <a:endParaRPr lang="en-US" sz="1750" dirty="0"/>
          </a:p>
        </p:txBody>
      </p:sp>
      <p:sp>
        <p:nvSpPr>
          <p:cNvPr id="7" name="Text 5"/>
          <p:cNvSpPr/>
          <p:nvPr/>
        </p:nvSpPr>
        <p:spPr>
          <a:xfrm>
            <a:off x="793790" y="594336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question items are clearly sighted.</a:t>
            </a:r>
            <a:endParaRPr lang="en-US" sz="1750" dirty="0"/>
          </a:p>
        </p:txBody>
      </p:sp>
      <p:sp>
        <p:nvSpPr>
          <p:cNvPr id="8" name="Text 6"/>
          <p:cNvSpPr/>
          <p:nvPr/>
        </p:nvSpPr>
        <p:spPr>
          <a:xfrm>
            <a:off x="793790" y="647616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While developing objective measures the psychometric properties such as reliability, validity etc. are maintained.</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5449" y="577810"/>
            <a:ext cx="4202668" cy="525304"/>
          </a:xfrm>
          <a:prstGeom prst="rect">
            <a:avLst/>
          </a:prstGeom>
          <a:noFill/>
          <a:ln/>
        </p:spPr>
        <p:txBody>
          <a:bodyPr wrap="none" lIns="0" tIns="0" rIns="0" bIns="0" rtlCol="0" anchor="t"/>
          <a:lstStyle/>
          <a:p>
            <a:pPr indent="0" marL="0">
              <a:lnSpc>
                <a:spcPts val="4100"/>
              </a:lnSpc>
              <a:buNone/>
            </a:pPr>
            <a:r>
              <a:rPr lang="en-US" sz="3300" b="1" dirty="0">
                <a:solidFill>
                  <a:srgbClr val="231971"/>
                </a:solidFill>
                <a:latin typeface="Outfit Extra Bold" pitchFamily="34" charset="0"/>
                <a:ea typeface="Outfit Extra Bold" pitchFamily="34" charset="-122"/>
                <a:cs typeface="Outfit Extra Bold" pitchFamily="34" charset="-120"/>
              </a:rPr>
              <a:t>1.</a:t>
            </a:r>
            <a:pPr indent="0" marL="0">
              <a:lnSpc>
                <a:spcPts val="4100"/>
              </a:lnSpc>
              <a:buNone/>
            </a:pPr>
            <a:r>
              <a:rPr lang="en-US" sz="3300" b="1" dirty="0">
                <a:solidFill>
                  <a:srgbClr val="231971"/>
                </a:solidFill>
                <a:latin typeface="Outfit Extra Bold" pitchFamily="34" charset="0"/>
                <a:ea typeface="Outfit Extra Bold" pitchFamily="34" charset="-122"/>
                <a:cs typeface="Outfit Extra Bold" pitchFamily="34" charset="-120"/>
              </a:rPr>
              <a:t>Questionnaire</a:t>
            </a:r>
            <a:endParaRPr lang="en-US" sz="3300" dirty="0"/>
          </a:p>
        </p:txBody>
      </p:sp>
      <p:sp>
        <p:nvSpPr>
          <p:cNvPr id="3" name="Text 1"/>
          <p:cNvSpPr/>
          <p:nvPr/>
        </p:nvSpPr>
        <p:spPr>
          <a:xfrm>
            <a:off x="735449" y="1523286"/>
            <a:ext cx="13159502" cy="42017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A2742"/>
                </a:solidFill>
                <a:latin typeface="Arimo" pitchFamily="34" charset="0"/>
                <a:ea typeface="Arimo" pitchFamily="34" charset="-122"/>
                <a:cs typeface="Arimo" pitchFamily="34" charset="-120"/>
              </a:rPr>
              <a:t> Set of questions used to obtain information about personality from a subject.</a:t>
            </a:r>
            <a:endParaRPr lang="en-US" sz="1650" dirty="0"/>
          </a:p>
        </p:txBody>
      </p:sp>
      <p:sp>
        <p:nvSpPr>
          <p:cNvPr id="4" name="Text 2"/>
          <p:cNvSpPr/>
          <p:nvPr/>
        </p:nvSpPr>
        <p:spPr>
          <a:xfrm>
            <a:off x="735449" y="2016919"/>
            <a:ext cx="13159502" cy="840343"/>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2A2742"/>
                </a:solidFill>
                <a:latin typeface="Arimo" pitchFamily="34" charset="0"/>
                <a:ea typeface="Arimo" pitchFamily="34" charset="-122"/>
                <a:cs typeface="Arimo" pitchFamily="34" charset="-120"/>
              </a:rPr>
              <a:t>It is a popular method as it is fast ,efficient and less expensive means of gathering information about personality characteristics.</a:t>
            </a:r>
            <a:endParaRPr lang="en-US" sz="1650" dirty="0"/>
          </a:p>
        </p:txBody>
      </p:sp>
      <p:sp>
        <p:nvSpPr>
          <p:cNvPr id="5" name="Text 3"/>
          <p:cNvSpPr/>
          <p:nvPr/>
        </p:nvSpPr>
        <p:spPr>
          <a:xfrm>
            <a:off x="735449" y="2930723"/>
            <a:ext cx="13159502" cy="840343"/>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2A2742"/>
                </a:solidFill>
                <a:latin typeface="Arimo" pitchFamily="34" charset="0"/>
                <a:ea typeface="Arimo" pitchFamily="34" charset="-122"/>
                <a:cs typeface="Arimo" pitchFamily="34" charset="-120"/>
              </a:rPr>
              <a:t>It consist of a series of questions for which the subject responds by putting a tick mark on either ‘yes’ or ‘no’ , ‘cannot say’ or ‘undecided’.</a:t>
            </a:r>
            <a:endParaRPr lang="en-US" sz="1650" dirty="0"/>
          </a:p>
        </p:txBody>
      </p:sp>
      <p:sp>
        <p:nvSpPr>
          <p:cNvPr id="6" name="Text 4"/>
          <p:cNvSpPr/>
          <p:nvPr/>
        </p:nvSpPr>
        <p:spPr>
          <a:xfrm>
            <a:off x="735449" y="3844528"/>
            <a:ext cx="13159502" cy="420172"/>
          </a:xfrm>
          <a:prstGeom prst="rect">
            <a:avLst/>
          </a:prstGeom>
          <a:noFill/>
          <a:ln/>
        </p:spPr>
        <p:txBody>
          <a:bodyPr wrap="none" lIns="0" tIns="0" rIns="0" bIns="0" rtlCol="0" anchor="t"/>
          <a:lstStyle/>
          <a:p>
            <a:pPr algn="l" marL="342900" indent="-342900">
              <a:lnSpc>
                <a:spcPts val="2600"/>
              </a:lnSpc>
              <a:buSzPct val="100000"/>
              <a:buChar char="•"/>
            </a:pPr>
            <a:r>
              <a:rPr lang="en-US" sz="1650" dirty="0">
                <a:solidFill>
                  <a:srgbClr val="2A2742"/>
                </a:solidFill>
                <a:latin typeface="Arimo" pitchFamily="34" charset="0"/>
                <a:ea typeface="Arimo" pitchFamily="34" charset="-122"/>
                <a:cs typeface="Arimo" pitchFamily="34" charset="-120"/>
              </a:rPr>
              <a:t>The answers are evaluated and used for personality assessment.</a:t>
            </a:r>
            <a:endParaRPr lang="en-US" sz="1650" dirty="0"/>
          </a:p>
        </p:txBody>
      </p:sp>
      <p:sp>
        <p:nvSpPr>
          <p:cNvPr id="7" name="Text 5"/>
          <p:cNvSpPr/>
          <p:nvPr/>
        </p:nvSpPr>
        <p:spPr>
          <a:xfrm>
            <a:off x="735449" y="4579858"/>
            <a:ext cx="4485442" cy="525304"/>
          </a:xfrm>
          <a:prstGeom prst="rect">
            <a:avLst/>
          </a:prstGeom>
          <a:noFill/>
          <a:ln/>
        </p:spPr>
        <p:txBody>
          <a:bodyPr wrap="none" lIns="0" tIns="0" rIns="0" bIns="0" rtlCol="0" anchor="t"/>
          <a:lstStyle/>
          <a:p>
            <a:pPr indent="0" marL="0">
              <a:lnSpc>
                <a:spcPts val="4100"/>
              </a:lnSpc>
              <a:buNone/>
            </a:pPr>
            <a:r>
              <a:rPr lang="en-US" sz="3300" b="1" dirty="0">
                <a:solidFill>
                  <a:srgbClr val="231971"/>
                </a:solidFill>
                <a:latin typeface="Outfit Extra Bold" pitchFamily="34" charset="0"/>
                <a:ea typeface="Outfit Extra Bold" pitchFamily="34" charset="-122"/>
                <a:cs typeface="Outfit Extra Bold" pitchFamily="34" charset="-120"/>
              </a:rPr>
              <a:t>2.Personality inventory</a:t>
            </a:r>
            <a:endParaRPr lang="en-US" sz="3300" dirty="0"/>
          </a:p>
        </p:txBody>
      </p:sp>
      <p:sp>
        <p:nvSpPr>
          <p:cNvPr id="8" name="Text 6"/>
          <p:cNvSpPr/>
          <p:nvPr/>
        </p:nvSpPr>
        <p:spPr>
          <a:xfrm>
            <a:off x="735449" y="5420320"/>
            <a:ext cx="13159502" cy="840343"/>
          </a:xfrm>
          <a:prstGeom prst="rect">
            <a:avLst/>
          </a:prstGeom>
          <a:noFill/>
          <a:ln/>
        </p:spPr>
        <p:txBody>
          <a:bodyPr wrap="squar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A personality inventory is a psychological assessment tool that measures a person's personality traits, strengths, and weakness.</a:t>
            </a:r>
            <a:endParaRPr lang="en-US" sz="2050" dirty="0"/>
          </a:p>
        </p:txBody>
      </p:sp>
      <p:sp>
        <p:nvSpPr>
          <p:cNvPr id="9" name="Text 7"/>
          <p:cNvSpPr/>
          <p:nvPr/>
        </p:nvSpPr>
        <p:spPr>
          <a:xfrm>
            <a:off x="735449" y="6497002"/>
            <a:ext cx="13159502" cy="420172"/>
          </a:xfrm>
          <a:prstGeom prst="rect">
            <a:avLst/>
          </a:prstGeom>
          <a:noFill/>
          <a:ln/>
        </p:spPr>
        <p:txBody>
          <a:bodyPr wrap="non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•Eg: Minnesota multiphasic personality inventory (MMPI),California psychological inventory(CPI), 16 PF etc.</a:t>
            </a:r>
            <a:endParaRPr lang="en-US" sz="2050" dirty="0"/>
          </a:p>
        </p:txBody>
      </p:sp>
      <p:sp>
        <p:nvSpPr>
          <p:cNvPr id="10" name="Text 8"/>
          <p:cNvSpPr/>
          <p:nvPr/>
        </p:nvSpPr>
        <p:spPr>
          <a:xfrm>
            <a:off x="735449" y="7153513"/>
            <a:ext cx="13159502" cy="420172"/>
          </a:xfrm>
          <a:prstGeom prst="rect">
            <a:avLst/>
          </a:prstGeom>
          <a:noFill/>
          <a:ln/>
        </p:spPr>
        <p:txBody>
          <a:bodyPr wrap="none" lIns="0" tIns="0" rIns="0" bIns="0" rtlCol="0" anchor="t"/>
          <a:lstStyle/>
          <a:p>
            <a:pPr indent="0" marL="0">
              <a:lnSpc>
                <a:spcPts val="3300"/>
              </a:lnSpc>
              <a:buNone/>
            </a:pPr>
            <a:endParaRPr lang="en-US" sz="2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727710"/>
            <a:ext cx="6864429"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Minnesota Multiphasic Personality Inventory (MMPI)</a:t>
            </a:r>
            <a:endParaRPr lang="en-US" sz="2200" dirty="0"/>
          </a:p>
        </p:txBody>
      </p:sp>
      <p:sp>
        <p:nvSpPr>
          <p:cNvPr id="3" name="Text 1"/>
          <p:cNvSpPr/>
          <p:nvPr/>
        </p:nvSpPr>
        <p:spPr>
          <a:xfrm>
            <a:off x="793790" y="153566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Developed in the late 1930's by psychologist Starke R Hathaway and psychiatrist JC McKinley at the University of Minnesota.</a:t>
            </a:r>
            <a:endParaRPr lang="en-US" sz="1750" dirty="0"/>
          </a:p>
        </p:txBody>
      </p:sp>
      <p:sp>
        <p:nvSpPr>
          <p:cNvPr id="4" name="Text 2"/>
          <p:cNvSpPr/>
          <p:nvPr/>
        </p:nvSpPr>
        <p:spPr>
          <a:xfrm>
            <a:off x="793790" y="252198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is used in psychology for counseling and research purpose. </a:t>
            </a:r>
            <a:endParaRPr lang="en-US" sz="1750" dirty="0"/>
          </a:p>
        </p:txBody>
      </p:sp>
      <p:sp>
        <p:nvSpPr>
          <p:cNvPr id="5" name="Text 3"/>
          <p:cNvSpPr/>
          <p:nvPr/>
        </p:nvSpPr>
        <p:spPr>
          <a:xfrm>
            <a:off x="793790" y="305478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test is also used to evaluate the effectiveness of treatment programs, including substance abuse programs. </a:t>
            </a:r>
            <a:endParaRPr lang="en-US" sz="1750" dirty="0"/>
          </a:p>
        </p:txBody>
      </p:sp>
      <p:sp>
        <p:nvSpPr>
          <p:cNvPr id="6" name="Text 4"/>
          <p:cNvSpPr/>
          <p:nvPr/>
        </p:nvSpPr>
        <p:spPr>
          <a:xfrm>
            <a:off x="793790" y="404110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MMPI contains 567 test items and takes approximately 60-90 minutes to complete.</a:t>
            </a:r>
            <a:endParaRPr lang="en-US" sz="1750" dirty="0"/>
          </a:p>
        </p:txBody>
      </p:sp>
      <p:sp>
        <p:nvSpPr>
          <p:cNvPr id="7" name="Text 5"/>
          <p:cNvSpPr/>
          <p:nvPr/>
        </p:nvSpPr>
        <p:spPr>
          <a:xfrm>
            <a:off x="793790" y="4834771"/>
            <a:ext cx="6035278"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The 16 personality factor questionnaire(16 PF)</a:t>
            </a:r>
            <a:endParaRPr lang="en-US" sz="2200" dirty="0"/>
          </a:p>
        </p:txBody>
      </p:sp>
      <p:sp>
        <p:nvSpPr>
          <p:cNvPr id="8" name="Text 6"/>
          <p:cNvSpPr/>
          <p:nvPr/>
        </p:nvSpPr>
        <p:spPr>
          <a:xfrm>
            <a:off x="793790" y="5529263"/>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 comprehensive measure of personality found to be effective in a variety of settings where an in depth assessment of the whole person is needed.</a:t>
            </a:r>
            <a:endParaRPr lang="en-US" sz="1750" dirty="0"/>
          </a:p>
        </p:txBody>
      </p:sp>
      <p:sp>
        <p:nvSpPr>
          <p:cNvPr id="9" name="Text 7"/>
          <p:cNvSpPr/>
          <p:nvPr/>
        </p:nvSpPr>
        <p:spPr>
          <a:xfrm>
            <a:off x="793790" y="6515576"/>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Developed by Raymond Cattel.</a:t>
            </a:r>
            <a:endParaRPr lang="en-US" sz="1750" dirty="0"/>
          </a:p>
        </p:txBody>
      </p:sp>
      <p:sp>
        <p:nvSpPr>
          <p:cNvPr id="10" name="Text 8"/>
          <p:cNvSpPr/>
          <p:nvPr/>
        </p:nvSpPr>
        <p:spPr>
          <a:xfrm>
            <a:off x="793790" y="704838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Focuses on 16 factors that reflect characteristics of the human personality.</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40887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4" name="Text 1"/>
          <p:cNvSpPr/>
          <p:nvPr/>
        </p:nvSpPr>
        <p:spPr>
          <a:xfrm>
            <a:off x="793790" y="4457819"/>
            <a:ext cx="75564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906066"/>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a:t>
            </a:r>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3.Rating scale</a:t>
            </a:r>
            <a:endParaRPr lang="en-US" sz="4450" dirty="0"/>
          </a:p>
        </p:txBody>
      </p:sp>
      <p:sp>
        <p:nvSpPr>
          <p:cNvPr id="3" name="Text 1"/>
          <p:cNvSpPr/>
          <p:nvPr/>
        </p:nvSpPr>
        <p:spPr>
          <a:xfrm>
            <a:off x="793790" y="2068473"/>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Rating scales are tools which give an opportunity to the subject to rate with regards to their personality traits.</a:t>
            </a:r>
            <a:endParaRPr lang="en-US" sz="1750" dirty="0"/>
          </a:p>
        </p:txBody>
      </p:sp>
      <p:sp>
        <p:nvSpPr>
          <p:cNvPr id="4" name="Text 2"/>
          <p:cNvSpPr/>
          <p:nvPr/>
        </p:nvSpPr>
        <p:spPr>
          <a:xfrm>
            <a:off x="793790" y="305478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By using a rating scale the examiner can understand where and individual stands in terms of certain personality characteristics.</a:t>
            </a:r>
            <a:endParaRPr lang="en-US" sz="1750" dirty="0"/>
          </a:p>
        </p:txBody>
      </p:sp>
      <p:sp>
        <p:nvSpPr>
          <p:cNvPr id="5" name="Text 3"/>
          <p:cNvSpPr/>
          <p:nvPr/>
        </p:nvSpPr>
        <p:spPr>
          <a:xfrm>
            <a:off x="793790" y="404110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5 points scale ,7 points scales and 3 point scales are available.</a:t>
            </a:r>
            <a:endParaRPr lang="en-US" sz="1750" dirty="0"/>
          </a:p>
        </p:txBody>
      </p:sp>
      <p:sp>
        <p:nvSpPr>
          <p:cNvPr id="6" name="Text 4"/>
          <p:cNvSpPr/>
          <p:nvPr/>
        </p:nvSpPr>
        <p:spPr>
          <a:xfrm>
            <a:off x="793790" y="457390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Eg: Hamilton’s depression rating scale.</a:t>
            </a:r>
            <a:endParaRPr lang="en-US" sz="1750" dirty="0"/>
          </a:p>
        </p:txBody>
      </p:sp>
      <p:sp>
        <p:nvSpPr>
          <p:cNvPr id="7" name="Text 5"/>
          <p:cNvSpPr/>
          <p:nvPr/>
        </p:nvSpPr>
        <p:spPr>
          <a:xfrm>
            <a:off x="793790" y="5367576"/>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4</a:t>
            </a:r>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a:t>
            </a:r>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Interview </a:t>
            </a:r>
            <a:endParaRPr lang="en-US" sz="4450" dirty="0"/>
          </a:p>
        </p:txBody>
      </p:sp>
      <p:sp>
        <p:nvSpPr>
          <p:cNvPr id="8" name="Text 6"/>
          <p:cNvSpPr/>
          <p:nvPr/>
        </p:nvSpPr>
        <p:spPr>
          <a:xfrm>
            <a:off x="793790" y="641651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is a face to face conversation between the subject and expert to get information from the subject about his personality.</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852732"/>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5.Observation</a:t>
            </a:r>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 </a:t>
            </a:r>
            <a:endParaRPr lang="en-US" sz="4450" dirty="0"/>
          </a:p>
        </p:txBody>
      </p:sp>
      <p:sp>
        <p:nvSpPr>
          <p:cNvPr id="3" name="Text 1"/>
          <p:cNvSpPr/>
          <p:nvPr/>
        </p:nvSpPr>
        <p:spPr>
          <a:xfrm>
            <a:off x="793790" y="301513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Another popular method to study personality characteristics of an individual in real life situation.</a:t>
            </a:r>
            <a:endParaRPr lang="en-US" sz="2200" dirty="0"/>
          </a:p>
        </p:txBody>
      </p:sp>
      <p:sp>
        <p:nvSpPr>
          <p:cNvPr id="4" name="Text 2"/>
          <p:cNvSpPr/>
          <p:nvPr/>
        </p:nvSpPr>
        <p:spPr>
          <a:xfrm>
            <a:off x="793790" y="3808809"/>
            <a:ext cx="5680591"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Projective techniques</a:t>
            </a:r>
            <a:endParaRPr lang="en-US" sz="4450" dirty="0"/>
          </a:p>
        </p:txBody>
      </p:sp>
      <p:sp>
        <p:nvSpPr>
          <p:cNvPr id="5" name="Text 3"/>
          <p:cNvSpPr/>
          <p:nvPr/>
        </p:nvSpPr>
        <p:spPr>
          <a:xfrm>
            <a:off x="793790" y="485775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main purpose of projective technique is objective assessment of personality.</a:t>
            </a:r>
            <a:endParaRPr lang="en-US" sz="1750" dirty="0"/>
          </a:p>
        </p:txBody>
      </p:sp>
      <p:sp>
        <p:nvSpPr>
          <p:cNvPr id="6" name="Text 4"/>
          <p:cNvSpPr/>
          <p:nvPr/>
        </p:nvSpPr>
        <p:spPr>
          <a:xfrm>
            <a:off x="793790" y="539055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They are very easy to score and can be evaluated for reliability and validity.</a:t>
            </a:r>
            <a:endParaRPr lang="en-US" sz="1750" dirty="0"/>
          </a:p>
        </p:txBody>
      </p:sp>
      <p:sp>
        <p:nvSpPr>
          <p:cNvPr id="7" name="Text 5"/>
          <p:cNvSpPr/>
          <p:nvPr/>
        </p:nvSpPr>
        <p:spPr>
          <a:xfrm>
            <a:off x="793790" y="592335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Through the response of the subject unconsciously projects the components of personality.</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311473"/>
            <a:ext cx="5772388"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Rorschach inkblot test</a:t>
            </a:r>
            <a:endParaRPr lang="en-US" sz="4450" dirty="0"/>
          </a:p>
        </p:txBody>
      </p:sp>
      <p:sp>
        <p:nvSpPr>
          <p:cNvPr id="3" name="Text 1"/>
          <p:cNvSpPr/>
          <p:nvPr/>
        </p:nvSpPr>
        <p:spPr>
          <a:xfrm>
            <a:off x="793790" y="247388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is one of the most widely used projected techniques.</a:t>
            </a:r>
            <a:endParaRPr lang="en-US" sz="1750" dirty="0"/>
          </a:p>
        </p:txBody>
      </p:sp>
      <p:sp>
        <p:nvSpPr>
          <p:cNvPr id="4" name="Text 2"/>
          <p:cNvSpPr/>
          <p:nvPr/>
        </p:nvSpPr>
        <p:spPr>
          <a:xfrm>
            <a:off x="793790" y="300668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This technique was developed by Herman Rorschach.</a:t>
            </a:r>
            <a:endParaRPr lang="en-US" sz="1750" dirty="0"/>
          </a:p>
        </p:txBody>
      </p:sp>
      <p:sp>
        <p:nvSpPr>
          <p:cNvPr id="5" name="Text 3"/>
          <p:cNvSpPr/>
          <p:nvPr/>
        </p:nvSpPr>
        <p:spPr>
          <a:xfrm>
            <a:off x="793790" y="353949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materials of the test consists of 10 cards on which ink blots are depicted.</a:t>
            </a:r>
            <a:endParaRPr lang="en-US" sz="1750" dirty="0"/>
          </a:p>
        </p:txBody>
      </p:sp>
      <p:sp>
        <p:nvSpPr>
          <p:cNvPr id="6" name="Text 4"/>
          <p:cNvSpPr/>
          <p:nvPr/>
        </p:nvSpPr>
        <p:spPr>
          <a:xfrm>
            <a:off x="793790" y="407229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Five cards are in black and white, two are in black and red and three are in multicoloured.</a:t>
            </a:r>
            <a:endParaRPr lang="en-US" sz="1750" dirty="0"/>
          </a:p>
        </p:txBody>
      </p:sp>
      <p:sp>
        <p:nvSpPr>
          <p:cNvPr id="7" name="Text 5"/>
          <p:cNvSpPr/>
          <p:nvPr/>
        </p:nvSpPr>
        <p:spPr>
          <a:xfrm>
            <a:off x="793790" y="460509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This inkblot are completely unstructured and they do not possess any meaning.</a:t>
            </a:r>
            <a:endParaRPr lang="en-US" sz="1750" dirty="0"/>
          </a:p>
        </p:txBody>
      </p:sp>
      <p:sp>
        <p:nvSpPr>
          <p:cNvPr id="8" name="Text 6"/>
          <p:cNvSpPr/>
          <p:nvPr/>
        </p:nvSpPr>
        <p:spPr>
          <a:xfrm>
            <a:off x="793790" y="513790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cards are presented to the subject one by one and asked to say whatever comes to mind.</a:t>
            </a:r>
            <a:endParaRPr lang="en-US" sz="1750" dirty="0"/>
          </a:p>
        </p:txBody>
      </p:sp>
      <p:sp>
        <p:nvSpPr>
          <p:cNvPr id="9" name="Text 7"/>
          <p:cNvSpPr/>
          <p:nvPr/>
        </p:nvSpPr>
        <p:spPr>
          <a:xfrm>
            <a:off x="793790" y="5846564"/>
            <a:ext cx="13042821" cy="453509"/>
          </a:xfrm>
          <a:prstGeom prst="rect">
            <a:avLst/>
          </a:prstGeom>
          <a:noFill/>
          <a:ln/>
        </p:spPr>
        <p:txBody>
          <a:bodyPr wrap="none" lIns="0" tIns="0" rIns="0" bIns="0" rtlCol="0" anchor="t"/>
          <a:lstStyle/>
          <a:p>
            <a:pPr indent="0" marL="0">
              <a:lnSpc>
                <a:spcPts val="3550"/>
              </a:lnSpc>
              <a:buNone/>
            </a:pPr>
            <a:endParaRPr lang="en-US" sz="2200" dirty="0"/>
          </a:p>
        </p:txBody>
      </p:sp>
      <p:sp>
        <p:nvSpPr>
          <p:cNvPr id="10" name="Text 8"/>
          <p:cNvSpPr/>
          <p:nvPr/>
        </p:nvSpPr>
        <p:spPr>
          <a:xfrm>
            <a:off x="793790" y="6555224"/>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334214"/>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2496622"/>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subject is again told that there is no right answer ,no wrong answer and no good answer and no bad answer.</a:t>
            </a:r>
            <a:endParaRPr lang="en-US" sz="1750" dirty="0"/>
          </a:p>
        </p:txBody>
      </p:sp>
      <p:sp>
        <p:nvSpPr>
          <p:cNvPr id="4" name="Text 2"/>
          <p:cNvSpPr/>
          <p:nvPr/>
        </p:nvSpPr>
        <p:spPr>
          <a:xfrm>
            <a:off x="793790" y="3482935"/>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Their response will be recorded. apart from this, reaction time to give the first response and the total time taken for all the responses in each card and the position of the card are recorded.</a:t>
            </a:r>
            <a:endParaRPr lang="en-US" sz="1750" dirty="0"/>
          </a:p>
        </p:txBody>
      </p:sp>
      <p:sp>
        <p:nvSpPr>
          <p:cNvPr id="5" name="Text 3"/>
          <p:cNvSpPr/>
          <p:nvPr/>
        </p:nvSpPr>
        <p:spPr>
          <a:xfrm>
            <a:off x="793790" y="446924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second part of administration is the enquiry phase. </a:t>
            </a:r>
            <a:endParaRPr lang="en-US" sz="1750" dirty="0"/>
          </a:p>
        </p:txBody>
      </p:sp>
      <p:sp>
        <p:nvSpPr>
          <p:cNvPr id="6" name="Text 4"/>
          <p:cNvSpPr/>
          <p:nvPr/>
        </p:nvSpPr>
        <p:spPr>
          <a:xfrm>
            <a:off x="793790" y="500205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is intended to get clarification for finding the reason of each response and the location of each percept.</a:t>
            </a:r>
            <a:endParaRPr lang="en-US" sz="1750" dirty="0"/>
          </a:p>
        </p:txBody>
      </p:sp>
      <p:sp>
        <p:nvSpPr>
          <p:cNvPr id="7" name="Text 5"/>
          <p:cNvSpPr/>
          <p:nvPr/>
        </p:nvSpPr>
        <p:spPr>
          <a:xfrm>
            <a:off x="793790" y="598836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Administration, scoring, analysis and interpretation of the responses can be made as per the direction of the manual.</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24245" y="491847"/>
            <a:ext cx="4459248" cy="557332"/>
          </a:xfrm>
          <a:prstGeom prst="rect">
            <a:avLst/>
          </a:prstGeom>
          <a:noFill/>
          <a:ln/>
        </p:spPr>
        <p:txBody>
          <a:bodyPr wrap="none" lIns="0" tIns="0" rIns="0" bIns="0" rtlCol="0" anchor="t"/>
          <a:lstStyle/>
          <a:p>
            <a:pPr indent="0" marL="0">
              <a:lnSpc>
                <a:spcPts val="4350"/>
              </a:lnSpc>
              <a:buNone/>
            </a:pPr>
            <a:endParaRPr lang="en-US" sz="3500" dirty="0"/>
          </a:p>
        </p:txBody>
      </p:sp>
      <p:pic>
        <p:nvPicPr>
          <p:cNvPr id="3" name="Image 0" descr="preencoded.png">    </p:cNvPr>
          <p:cNvPicPr>
            <a:picLocks noChangeAspect="1"/>
          </p:cNvPicPr>
          <p:nvPr/>
        </p:nvPicPr>
        <p:blipFill>
          <a:blip r:embed="rId1"/>
          <a:stretch>
            <a:fillRect/>
          </a:stretch>
        </p:blipFill>
        <p:spPr>
          <a:xfrm>
            <a:off x="624245" y="1405890"/>
            <a:ext cx="5177195" cy="5177195"/>
          </a:xfrm>
          <a:prstGeom prst="rect">
            <a:avLst/>
          </a:prstGeom>
        </p:spPr>
      </p:pic>
      <p:sp>
        <p:nvSpPr>
          <p:cNvPr id="4" name="Text 1"/>
          <p:cNvSpPr/>
          <p:nvPr/>
        </p:nvSpPr>
        <p:spPr>
          <a:xfrm>
            <a:off x="624245" y="6850618"/>
            <a:ext cx="2675573" cy="334328"/>
          </a:xfrm>
          <a:prstGeom prst="rect">
            <a:avLst/>
          </a:prstGeom>
          <a:noFill/>
          <a:ln/>
        </p:spPr>
        <p:txBody>
          <a:bodyPr wrap="none" lIns="0" tIns="0" rIns="0" bIns="0" rtlCol="0" anchor="t"/>
          <a:lstStyle/>
          <a:p>
            <a:pPr indent="0" marL="0">
              <a:lnSpc>
                <a:spcPts val="2600"/>
              </a:lnSpc>
              <a:buNone/>
            </a:pPr>
            <a:endParaRPr lang="en-US" sz="2100" dirty="0"/>
          </a:p>
        </p:txBody>
      </p:sp>
      <p:sp>
        <p:nvSpPr>
          <p:cNvPr id="5" name="Text 2"/>
          <p:cNvSpPr/>
          <p:nvPr/>
        </p:nvSpPr>
        <p:spPr>
          <a:xfrm>
            <a:off x="624245" y="7452479"/>
            <a:ext cx="13381911" cy="285274"/>
          </a:xfrm>
          <a:prstGeom prst="rect">
            <a:avLst/>
          </a:prstGeom>
          <a:noFill/>
          <a:ln/>
        </p:spPr>
        <p:txBody>
          <a:bodyPr wrap="none" lIns="0" tIns="0" rIns="0" bIns="0" rtlCol="0" anchor="t"/>
          <a:lstStyle/>
          <a:p>
            <a:pPr indent="0" marL="0">
              <a:lnSpc>
                <a:spcPts val="2200"/>
              </a:lnSpc>
              <a:buNone/>
            </a:pP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215271"/>
            <a:ext cx="7276624"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Thematic Apperception test</a:t>
            </a:r>
            <a:endParaRPr lang="en-US" sz="4450" dirty="0"/>
          </a:p>
        </p:txBody>
      </p:sp>
      <p:sp>
        <p:nvSpPr>
          <p:cNvPr id="3" name="Text 1"/>
          <p:cNvSpPr/>
          <p:nvPr/>
        </p:nvSpPr>
        <p:spPr>
          <a:xfrm>
            <a:off x="793790" y="237767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is another widely used projective technique developed by Murray and Morgan.</a:t>
            </a:r>
            <a:endParaRPr lang="en-US" sz="1750" dirty="0"/>
          </a:p>
        </p:txBody>
      </p:sp>
      <p:sp>
        <p:nvSpPr>
          <p:cNvPr id="4" name="Text 2"/>
          <p:cNvSpPr/>
          <p:nvPr/>
        </p:nvSpPr>
        <p:spPr>
          <a:xfrm>
            <a:off x="793790" y="291048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It consist of 30 pictures which portrait human being in a variety of situations .</a:t>
            </a:r>
            <a:endParaRPr lang="en-US" sz="1750" dirty="0"/>
          </a:p>
        </p:txBody>
      </p:sp>
      <p:sp>
        <p:nvSpPr>
          <p:cNvPr id="5" name="Text 3"/>
          <p:cNvSpPr/>
          <p:nvPr/>
        </p:nvSpPr>
        <p:spPr>
          <a:xfrm>
            <a:off x="793790" y="344328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10 of these are meant for males, 10 for females and 10 for both the sexes .</a:t>
            </a:r>
            <a:endParaRPr lang="en-US" sz="1750" dirty="0"/>
          </a:p>
        </p:txBody>
      </p:sp>
      <p:sp>
        <p:nvSpPr>
          <p:cNvPr id="6" name="Text 4"/>
          <p:cNvSpPr/>
          <p:nvPr/>
        </p:nvSpPr>
        <p:spPr>
          <a:xfrm>
            <a:off x="793790" y="397609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There is another blank card also.</a:t>
            </a:r>
            <a:endParaRPr lang="en-US" sz="1750" dirty="0"/>
          </a:p>
        </p:txBody>
      </p:sp>
      <p:sp>
        <p:nvSpPr>
          <p:cNvPr id="7" name="Text 5"/>
          <p:cNvSpPr/>
          <p:nvPr/>
        </p:nvSpPr>
        <p:spPr>
          <a:xfrm>
            <a:off x="793790" y="450889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cards are presented one at a time.</a:t>
            </a:r>
            <a:endParaRPr lang="en-US" sz="1750" dirty="0"/>
          </a:p>
        </p:txBody>
      </p:sp>
      <p:sp>
        <p:nvSpPr>
          <p:cNvPr id="8" name="Text 6"/>
          <p:cNvSpPr/>
          <p:nvPr/>
        </p:nvSpPr>
        <p:spPr>
          <a:xfrm>
            <a:off x="793790" y="504170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subject is asked to write a story describing the situation presented in the picture.</a:t>
            </a:r>
            <a:endParaRPr lang="en-US" sz="1750" dirty="0"/>
          </a:p>
        </p:txBody>
      </p:sp>
      <p:sp>
        <p:nvSpPr>
          <p:cNvPr id="9" name="Text 7"/>
          <p:cNvSpPr/>
          <p:nvPr/>
        </p:nvSpPr>
        <p:spPr>
          <a:xfrm>
            <a:off x="793790" y="557450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story should contain three areas ,at first the subject has to write about what is happening at the moment ,then to write what all led up to the situation and finally what will happen in the future.</a:t>
            </a:r>
            <a:endParaRPr lang="en-US" sz="1750" dirty="0"/>
          </a:p>
        </p:txBody>
      </p:sp>
      <p:sp>
        <p:nvSpPr>
          <p:cNvPr id="10" name="Text 8"/>
          <p:cNvSpPr/>
          <p:nvPr/>
        </p:nvSpPr>
        <p:spPr>
          <a:xfrm>
            <a:off x="793790" y="656082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theme should contain the present, past and the future of the story.</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15910" y="483870"/>
            <a:ext cx="4399598" cy="549831"/>
          </a:xfrm>
          <a:prstGeom prst="rect">
            <a:avLst/>
          </a:prstGeom>
          <a:noFill/>
          <a:ln/>
        </p:spPr>
        <p:txBody>
          <a:bodyPr wrap="none" lIns="0" tIns="0" rIns="0" bIns="0" rtlCol="0" anchor="t"/>
          <a:lstStyle/>
          <a:p>
            <a:pPr indent="0" marL="0">
              <a:lnSpc>
                <a:spcPts val="4300"/>
              </a:lnSpc>
              <a:buNone/>
            </a:pPr>
            <a:endParaRPr lang="en-US" sz="3450" dirty="0"/>
          </a:p>
        </p:txBody>
      </p:sp>
      <p:pic>
        <p:nvPicPr>
          <p:cNvPr id="3" name="Image 0" descr="preencoded.png">    </p:cNvPr>
          <p:cNvPicPr>
            <a:picLocks noChangeAspect="1"/>
          </p:cNvPicPr>
          <p:nvPr/>
        </p:nvPicPr>
        <p:blipFill>
          <a:blip r:embed="rId1"/>
          <a:stretch>
            <a:fillRect/>
          </a:stretch>
        </p:blipFill>
        <p:spPr>
          <a:xfrm>
            <a:off x="615910" y="1495544"/>
            <a:ext cx="3569137" cy="5107781"/>
          </a:xfrm>
          <a:prstGeom prst="rect">
            <a:avLst/>
          </a:prstGeom>
        </p:spPr>
      </p:pic>
      <p:sp>
        <p:nvSpPr>
          <p:cNvPr id="4" name="Text 1"/>
          <p:cNvSpPr/>
          <p:nvPr/>
        </p:nvSpPr>
        <p:spPr>
          <a:xfrm>
            <a:off x="615910" y="6801207"/>
            <a:ext cx="2639735" cy="329922"/>
          </a:xfrm>
          <a:prstGeom prst="rect">
            <a:avLst/>
          </a:prstGeom>
          <a:noFill/>
          <a:ln/>
        </p:spPr>
        <p:txBody>
          <a:bodyPr wrap="none" lIns="0" tIns="0" rIns="0" bIns="0" rtlCol="0" anchor="t"/>
          <a:lstStyle/>
          <a:p>
            <a:pPr indent="0" marL="0">
              <a:lnSpc>
                <a:spcPts val="2550"/>
              </a:lnSpc>
              <a:buNone/>
            </a:pPr>
            <a:endParaRPr lang="en-US" sz="2050" dirty="0"/>
          </a:p>
        </p:txBody>
      </p:sp>
      <p:sp>
        <p:nvSpPr>
          <p:cNvPr id="5" name="Text 2"/>
          <p:cNvSpPr/>
          <p:nvPr/>
        </p:nvSpPr>
        <p:spPr>
          <a:xfrm>
            <a:off x="615910" y="7307104"/>
            <a:ext cx="6484620" cy="281464"/>
          </a:xfrm>
          <a:prstGeom prst="rect">
            <a:avLst/>
          </a:prstGeom>
          <a:noFill/>
          <a:ln/>
        </p:spPr>
        <p:txBody>
          <a:bodyPr wrap="none" lIns="0" tIns="0" rIns="0" bIns="0" rtlCol="0" anchor="t"/>
          <a:lstStyle/>
          <a:p>
            <a:pPr indent="0" marL="0">
              <a:lnSpc>
                <a:spcPts val="2200"/>
              </a:lnSpc>
              <a:buNone/>
            </a:pPr>
            <a:endParaRPr lang="en-US" sz="1350" dirty="0"/>
          </a:p>
        </p:txBody>
      </p:sp>
      <p:pic>
        <p:nvPicPr>
          <p:cNvPr id="6" name="Image 1" descr="preencoded.png">    </p:cNvPr>
          <p:cNvPicPr>
            <a:picLocks noChangeAspect="1"/>
          </p:cNvPicPr>
          <p:nvPr/>
        </p:nvPicPr>
        <p:blipFill>
          <a:blip r:embed="rId2"/>
          <a:stretch>
            <a:fillRect/>
          </a:stretch>
        </p:blipFill>
        <p:spPr>
          <a:xfrm>
            <a:off x="7537490" y="1495544"/>
            <a:ext cx="4163020" cy="5107900"/>
          </a:xfrm>
          <a:prstGeom prst="rect">
            <a:avLst/>
          </a:prstGeom>
        </p:spPr>
      </p:pic>
      <p:sp>
        <p:nvSpPr>
          <p:cNvPr id="7" name="Text 3"/>
          <p:cNvSpPr/>
          <p:nvPr/>
        </p:nvSpPr>
        <p:spPr>
          <a:xfrm>
            <a:off x="7537490" y="6801326"/>
            <a:ext cx="2639735" cy="329922"/>
          </a:xfrm>
          <a:prstGeom prst="rect">
            <a:avLst/>
          </a:prstGeom>
          <a:noFill/>
          <a:ln/>
        </p:spPr>
        <p:txBody>
          <a:bodyPr wrap="none" lIns="0" tIns="0" rIns="0" bIns="0" rtlCol="0" anchor="t"/>
          <a:lstStyle/>
          <a:p>
            <a:pPr indent="0" marL="0">
              <a:lnSpc>
                <a:spcPts val="2550"/>
              </a:lnSpc>
              <a:buNone/>
            </a:pPr>
            <a:endParaRPr lang="en-US" sz="2050" dirty="0"/>
          </a:p>
        </p:txBody>
      </p:sp>
      <p:sp>
        <p:nvSpPr>
          <p:cNvPr id="8" name="Text 4"/>
          <p:cNvSpPr/>
          <p:nvPr/>
        </p:nvSpPr>
        <p:spPr>
          <a:xfrm>
            <a:off x="7537490" y="7307223"/>
            <a:ext cx="6484620" cy="281464"/>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441966"/>
            <a:ext cx="6545223"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Sentence completion test</a:t>
            </a:r>
            <a:endParaRPr lang="en-US" sz="4450" dirty="0"/>
          </a:p>
        </p:txBody>
      </p:sp>
      <p:sp>
        <p:nvSpPr>
          <p:cNvPr id="3" name="Text 1"/>
          <p:cNvSpPr/>
          <p:nvPr/>
        </p:nvSpPr>
        <p:spPr>
          <a:xfrm>
            <a:off x="793790" y="260437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 </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In this test a number of incomplete sentences are given to the subject.</a:t>
            </a:r>
            <a:endParaRPr lang="en-US" sz="1750" dirty="0"/>
          </a:p>
        </p:txBody>
      </p:sp>
      <p:sp>
        <p:nvSpPr>
          <p:cNvPr id="4" name="Text 2"/>
          <p:cNvSpPr/>
          <p:nvPr/>
        </p:nvSpPr>
        <p:spPr>
          <a:xfrm>
            <a:off x="793790" y="313717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starting part is presented and the subject has to write and make it a complete sentence.</a:t>
            </a:r>
            <a:endParaRPr lang="en-US" sz="1750" dirty="0"/>
          </a:p>
        </p:txBody>
      </p:sp>
      <p:sp>
        <p:nvSpPr>
          <p:cNvPr id="5" name="Text 3"/>
          <p:cNvSpPr/>
          <p:nvPr/>
        </p:nvSpPr>
        <p:spPr>
          <a:xfrm>
            <a:off x="793790" y="366998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The subject can take freedom to complete it in anyway he wishes.</a:t>
            </a:r>
            <a:endParaRPr lang="en-US" sz="1750" dirty="0"/>
          </a:p>
        </p:txBody>
      </p:sp>
      <p:sp>
        <p:nvSpPr>
          <p:cNvPr id="6" name="Text 4"/>
          <p:cNvSpPr/>
          <p:nvPr/>
        </p:nvSpPr>
        <p:spPr>
          <a:xfrm>
            <a:off x="793790" y="420278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Eg : my father seldom -------.</a:t>
            </a:r>
            <a:endParaRPr lang="en-US" sz="1750" dirty="0"/>
          </a:p>
        </p:txBody>
      </p:sp>
      <p:sp>
        <p:nvSpPr>
          <p:cNvPr id="7" name="Text 5"/>
          <p:cNvSpPr/>
          <p:nvPr/>
        </p:nvSpPr>
        <p:spPr>
          <a:xfrm>
            <a:off x="793790" y="473559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To me my future -------.</a:t>
            </a:r>
            <a:endParaRPr lang="en-US" sz="1750" dirty="0"/>
          </a:p>
        </p:txBody>
      </p:sp>
      <p:sp>
        <p:nvSpPr>
          <p:cNvPr id="8" name="Text 6"/>
          <p:cNvSpPr/>
          <p:nvPr/>
        </p:nvSpPr>
        <p:spPr>
          <a:xfrm>
            <a:off x="793790" y="526839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I would do anything to forget ------.</a:t>
            </a:r>
            <a:endParaRPr lang="en-US" sz="1750" dirty="0"/>
          </a:p>
        </p:txBody>
      </p:sp>
      <p:sp>
        <p:nvSpPr>
          <p:cNvPr id="9" name="Text 7"/>
          <p:cNvSpPr/>
          <p:nvPr/>
        </p:nvSpPr>
        <p:spPr>
          <a:xfrm>
            <a:off x="793790" y="580120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After completing all the items in a test, the responses are categorised, analysed and interpreted.</a:t>
            </a:r>
            <a:endParaRPr lang="en-US" sz="1750" dirty="0"/>
          </a:p>
        </p:txBody>
      </p:sp>
      <p:sp>
        <p:nvSpPr>
          <p:cNvPr id="10" name="Text 8"/>
          <p:cNvSpPr/>
          <p:nvPr/>
        </p:nvSpPr>
        <p:spPr>
          <a:xfrm>
            <a:off x="793790" y="6334006"/>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Eg: Sack’s sentence completion test.</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36508" y="681514"/>
            <a:ext cx="4768215" cy="568285"/>
          </a:xfrm>
          <a:prstGeom prst="rect">
            <a:avLst/>
          </a:prstGeom>
          <a:noFill/>
          <a:ln/>
        </p:spPr>
        <p:txBody>
          <a:bodyPr wrap="none" lIns="0" tIns="0" rIns="0" bIns="0" rtlCol="0" anchor="t"/>
          <a:lstStyle/>
          <a:p>
            <a:pPr indent="0" marL="0">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a:t>
            </a:r>
            <a:pPr indent="0" marL="0">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Word association test </a:t>
            </a:r>
            <a:endParaRPr lang="en-US" sz="3550" dirty="0"/>
          </a:p>
        </p:txBody>
      </p:sp>
      <p:sp>
        <p:nvSpPr>
          <p:cNvPr id="3" name="Text 1"/>
          <p:cNvSpPr/>
          <p:nvPr/>
        </p:nvSpPr>
        <p:spPr>
          <a:xfrm>
            <a:off x="636508" y="1613416"/>
            <a:ext cx="13357384" cy="363617"/>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A2742"/>
                </a:solidFill>
                <a:latin typeface="Arimo" pitchFamily="34" charset="0"/>
                <a:ea typeface="Arimo" pitchFamily="34" charset="-122"/>
                <a:cs typeface="Arimo" pitchFamily="34" charset="-120"/>
              </a:rPr>
              <a:t>This projective method was introduced by C.G Jung.</a:t>
            </a:r>
            <a:endParaRPr lang="en-US" sz="1400" dirty="0"/>
          </a:p>
        </p:txBody>
      </p:sp>
      <p:sp>
        <p:nvSpPr>
          <p:cNvPr id="4" name="Text 2"/>
          <p:cNvSpPr/>
          <p:nvPr/>
        </p:nvSpPr>
        <p:spPr>
          <a:xfrm>
            <a:off x="636508" y="2040612"/>
            <a:ext cx="13357384" cy="727234"/>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2A2742"/>
                </a:solidFill>
                <a:latin typeface="Arimo" pitchFamily="34" charset="0"/>
                <a:ea typeface="Arimo" pitchFamily="34" charset="-122"/>
                <a:cs typeface="Arimo" pitchFamily="34" charset="-120"/>
              </a:rPr>
              <a:t>In this technique there are a number of selected words. The examiner tells the words one by one and the subject has to reply with the first sentence that comes into his mind.</a:t>
            </a:r>
            <a:endParaRPr lang="en-US" sz="1400" dirty="0"/>
          </a:p>
        </p:txBody>
      </p:sp>
      <p:sp>
        <p:nvSpPr>
          <p:cNvPr id="5" name="Text 3"/>
          <p:cNvSpPr/>
          <p:nvPr/>
        </p:nvSpPr>
        <p:spPr>
          <a:xfrm>
            <a:off x="636508" y="2831425"/>
            <a:ext cx="13357384" cy="363617"/>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A2742"/>
                </a:solidFill>
                <a:latin typeface="Arimo" pitchFamily="34" charset="0"/>
                <a:ea typeface="Arimo" pitchFamily="34" charset="-122"/>
                <a:cs typeface="Arimo" pitchFamily="34" charset="-120"/>
              </a:rPr>
              <a:t>In giving reply there is no right or wrong answers rather subject can take the freedom.</a:t>
            </a:r>
            <a:endParaRPr lang="en-US" sz="1400" dirty="0"/>
          </a:p>
        </p:txBody>
      </p:sp>
      <p:sp>
        <p:nvSpPr>
          <p:cNvPr id="6" name="Text 4"/>
          <p:cNvSpPr/>
          <p:nvPr/>
        </p:nvSpPr>
        <p:spPr>
          <a:xfrm>
            <a:off x="636508" y="3258622"/>
            <a:ext cx="13357384" cy="363617"/>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2A2742"/>
                </a:solidFill>
                <a:latin typeface="Arimo" pitchFamily="34" charset="0"/>
                <a:ea typeface="Arimo" pitchFamily="34" charset="-122"/>
                <a:cs typeface="Arimo" pitchFamily="34" charset="-120"/>
              </a:rPr>
              <a:t>The examiner records the reply, the reaction time and other unusual behaviour and expressions for personality interpretation.</a:t>
            </a:r>
            <a:endParaRPr lang="en-US" sz="1400" dirty="0"/>
          </a:p>
        </p:txBody>
      </p:sp>
      <p:pic>
        <p:nvPicPr>
          <p:cNvPr id="7" name="Image 0" descr="preencoded.png">    </p:cNvPr>
          <p:cNvPicPr>
            <a:picLocks noChangeAspect="1"/>
          </p:cNvPicPr>
          <p:nvPr/>
        </p:nvPicPr>
        <p:blipFill>
          <a:blip r:embed="rId1"/>
          <a:stretch>
            <a:fillRect/>
          </a:stretch>
        </p:blipFill>
        <p:spPr>
          <a:xfrm>
            <a:off x="636508" y="3826788"/>
            <a:ext cx="4546640" cy="2809994"/>
          </a:xfrm>
          <a:prstGeom prst="rect">
            <a:avLst/>
          </a:prstGeom>
        </p:spPr>
      </p:pic>
      <p:sp>
        <p:nvSpPr>
          <p:cNvPr id="8" name="Text 5"/>
          <p:cNvSpPr/>
          <p:nvPr/>
        </p:nvSpPr>
        <p:spPr>
          <a:xfrm>
            <a:off x="636508" y="6864072"/>
            <a:ext cx="2273260" cy="284083"/>
          </a:xfrm>
          <a:prstGeom prst="rect">
            <a:avLst/>
          </a:prstGeom>
          <a:noFill/>
          <a:ln/>
        </p:spPr>
        <p:txBody>
          <a:bodyPr wrap="none" lIns="0" tIns="0" rIns="0" bIns="0" rtlCol="0" anchor="t"/>
          <a:lstStyle/>
          <a:p>
            <a:pPr algn="l" indent="0" marL="0">
              <a:lnSpc>
                <a:spcPts val="2200"/>
              </a:lnSpc>
              <a:buNone/>
            </a:pPr>
            <a:endParaRPr lang="en-US" sz="1750" dirty="0"/>
          </a:p>
        </p:txBody>
      </p:sp>
      <p:sp>
        <p:nvSpPr>
          <p:cNvPr id="9" name="Text 6"/>
          <p:cNvSpPr/>
          <p:nvPr/>
        </p:nvSpPr>
        <p:spPr>
          <a:xfrm>
            <a:off x="636508" y="7257217"/>
            <a:ext cx="13357384" cy="290870"/>
          </a:xfrm>
          <a:prstGeom prst="rect">
            <a:avLst/>
          </a:prstGeom>
          <a:noFill/>
          <a:ln/>
        </p:spPr>
        <p:txBody>
          <a:bodyPr wrap="none" lIns="0" tIns="0" rIns="0" bIns="0" rtlCol="0" anchor="t"/>
          <a:lstStyle/>
          <a:p>
            <a:pPr algn="l" indent="0" marL="0">
              <a:lnSpc>
                <a:spcPts val="2250"/>
              </a:lnSpc>
              <a:buNone/>
            </a:pP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787723"/>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Draw a person test</a:t>
            </a:r>
            <a:endParaRPr lang="en-US" sz="4450" dirty="0"/>
          </a:p>
        </p:txBody>
      </p:sp>
      <p:sp>
        <p:nvSpPr>
          <p:cNvPr id="3" name="Text 1"/>
          <p:cNvSpPr/>
          <p:nvPr/>
        </p:nvSpPr>
        <p:spPr>
          <a:xfrm>
            <a:off x="793790" y="295013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I</a:t>
            </a:r>
            <a:pPr algn="l" indent="0" marL="0">
              <a:lnSpc>
                <a:spcPts val="2850"/>
              </a:lnSpc>
              <a:buNone/>
            </a:pPr>
            <a:r>
              <a:rPr lang="en-US" sz="1750" dirty="0">
                <a:solidFill>
                  <a:srgbClr val="2A2742"/>
                </a:solidFill>
                <a:latin typeface="Arimo" pitchFamily="34" charset="0"/>
                <a:ea typeface="Arimo" pitchFamily="34" charset="-122"/>
                <a:cs typeface="Arimo" pitchFamily="34" charset="-120"/>
              </a:rPr>
              <a:t>n this projective technique, the subject is asked to draw a person.</a:t>
            </a:r>
            <a:endParaRPr lang="en-US" sz="1750" dirty="0"/>
          </a:p>
        </p:txBody>
      </p:sp>
      <p:sp>
        <p:nvSpPr>
          <p:cNvPr id="4" name="Text 2"/>
          <p:cNvSpPr/>
          <p:nvPr/>
        </p:nvSpPr>
        <p:spPr>
          <a:xfrm>
            <a:off x="793790" y="348293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 sheet of paper, a pencil and an eraser are provided to the subject.</a:t>
            </a:r>
            <a:endParaRPr lang="en-US" sz="1750" dirty="0"/>
          </a:p>
        </p:txBody>
      </p:sp>
      <p:sp>
        <p:nvSpPr>
          <p:cNvPr id="5" name="Text 3"/>
          <p:cNvSpPr/>
          <p:nvPr/>
        </p:nvSpPr>
        <p:spPr>
          <a:xfrm>
            <a:off x="793790" y="4015740"/>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After completion of the human figure the subject is asked to draw the figure of an opposite sex person.</a:t>
            </a:r>
            <a:endParaRPr lang="en-US" sz="1750" dirty="0"/>
          </a:p>
        </p:txBody>
      </p:sp>
      <p:sp>
        <p:nvSpPr>
          <p:cNvPr id="6" name="Text 4"/>
          <p:cNvSpPr/>
          <p:nvPr/>
        </p:nvSpPr>
        <p:spPr>
          <a:xfrm>
            <a:off x="793790" y="500205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Eg: Machover draw a person test.</a:t>
            </a:r>
            <a:endParaRPr lang="en-US" sz="1750" dirty="0"/>
          </a:p>
        </p:txBody>
      </p:sp>
      <p:sp>
        <p:nvSpPr>
          <p:cNvPr id="7" name="Text 5"/>
          <p:cNvSpPr/>
          <p:nvPr/>
        </p:nvSpPr>
        <p:spPr>
          <a:xfrm>
            <a:off x="793790" y="553485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Here the beauty or aesthetic aspect is not considered rather the proportion of parts, stress given to each organ, the type of lines etc. important.</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822960"/>
            <a:ext cx="8778240" cy="65836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5081" y="506849"/>
            <a:ext cx="4607719" cy="575905"/>
          </a:xfrm>
          <a:prstGeom prst="rect">
            <a:avLst/>
          </a:prstGeom>
          <a:noFill/>
          <a:ln/>
        </p:spPr>
        <p:txBody>
          <a:bodyPr wrap="none" lIns="0" tIns="0" rIns="0" bIns="0" rtlCol="0" anchor="t"/>
          <a:lstStyle/>
          <a:p>
            <a:pPr indent="0" marL="0">
              <a:lnSpc>
                <a:spcPts val="4500"/>
              </a:lnSpc>
              <a:buNone/>
            </a:pPr>
            <a:r>
              <a:rPr lang="en-US" sz="3600" b="1" dirty="0">
                <a:solidFill>
                  <a:srgbClr val="231971"/>
                </a:solidFill>
                <a:latin typeface="Outfit Extra Bold" pitchFamily="34" charset="0"/>
                <a:ea typeface="Outfit Extra Bold" pitchFamily="34" charset="-122"/>
                <a:cs typeface="Outfit Extra Bold" pitchFamily="34" charset="-120"/>
              </a:rPr>
              <a:t>Situational tests</a:t>
            </a:r>
            <a:endParaRPr lang="en-US" sz="3600" dirty="0"/>
          </a:p>
        </p:txBody>
      </p:sp>
      <p:sp>
        <p:nvSpPr>
          <p:cNvPr id="3" name="Text 1"/>
          <p:cNvSpPr/>
          <p:nvPr/>
        </p:nvSpPr>
        <p:spPr>
          <a:xfrm>
            <a:off x="645081" y="1451372"/>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b="1" dirty="0">
                <a:solidFill>
                  <a:srgbClr val="2A2742"/>
                </a:solidFill>
                <a:latin typeface="Arimo" pitchFamily="34" charset="0"/>
                <a:ea typeface="Arimo" pitchFamily="34" charset="-122"/>
                <a:cs typeface="Arimo" pitchFamily="34" charset="-120"/>
              </a:rPr>
              <a:t>G</a:t>
            </a:r>
            <a:pPr algn="l" indent="0" marL="0">
              <a:lnSpc>
                <a:spcPts val="2300"/>
              </a:lnSpc>
              <a:buNone/>
            </a:pPr>
            <a:r>
              <a:rPr lang="en-US" sz="1450" dirty="0">
                <a:solidFill>
                  <a:srgbClr val="2A2742"/>
                </a:solidFill>
                <a:latin typeface="Arimo" pitchFamily="34" charset="0"/>
                <a:ea typeface="Arimo" pitchFamily="34" charset="-122"/>
                <a:cs typeface="Arimo" pitchFamily="34" charset="-120"/>
              </a:rPr>
              <a:t>enerally a situation is artificially created in which an individual is given opportunity to perform his or her role.</a:t>
            </a:r>
            <a:endParaRPr lang="en-US" sz="1450" dirty="0"/>
          </a:p>
        </p:txBody>
      </p:sp>
      <p:sp>
        <p:nvSpPr>
          <p:cNvPr id="4" name="Text 2"/>
          <p:cNvSpPr/>
          <p:nvPr/>
        </p:nvSpPr>
        <p:spPr>
          <a:xfrm>
            <a:off x="645081" y="1884402"/>
            <a:ext cx="13340239" cy="737235"/>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For example, to test the honesty of an individual without their knowledge some hypothetical situations can be created and asked how they would respond.</a:t>
            </a:r>
            <a:endParaRPr lang="en-US" sz="1450" dirty="0"/>
          </a:p>
        </p:txBody>
      </p:sp>
      <p:sp>
        <p:nvSpPr>
          <p:cNvPr id="5" name="Text 3"/>
          <p:cNvSpPr/>
          <p:nvPr/>
        </p:nvSpPr>
        <p:spPr>
          <a:xfrm>
            <a:off x="645081" y="2898100"/>
            <a:ext cx="5253276" cy="575905"/>
          </a:xfrm>
          <a:prstGeom prst="rect">
            <a:avLst/>
          </a:prstGeom>
          <a:noFill/>
          <a:ln/>
        </p:spPr>
        <p:txBody>
          <a:bodyPr wrap="none" lIns="0" tIns="0" rIns="0" bIns="0" rtlCol="0" anchor="t"/>
          <a:lstStyle/>
          <a:p>
            <a:pPr indent="0" marL="0">
              <a:lnSpc>
                <a:spcPts val="4500"/>
              </a:lnSpc>
              <a:buNone/>
            </a:pPr>
            <a:r>
              <a:rPr lang="en-US" sz="3600" b="1" dirty="0">
                <a:solidFill>
                  <a:srgbClr val="231971"/>
                </a:solidFill>
                <a:latin typeface="Outfit Extra Bold" pitchFamily="34" charset="0"/>
                <a:ea typeface="Outfit Extra Bold" pitchFamily="34" charset="-122"/>
                <a:cs typeface="Outfit Extra Bold" pitchFamily="34" charset="-120"/>
              </a:rPr>
              <a:t>Alteration in personality</a:t>
            </a:r>
            <a:endParaRPr lang="en-US" sz="3600" dirty="0"/>
          </a:p>
        </p:txBody>
      </p:sp>
      <p:sp>
        <p:nvSpPr>
          <p:cNvPr id="6" name="Text 4"/>
          <p:cNvSpPr/>
          <p:nvPr/>
        </p:nvSpPr>
        <p:spPr>
          <a:xfrm>
            <a:off x="645081" y="3750469"/>
            <a:ext cx="13340239" cy="368618"/>
          </a:xfrm>
          <a:prstGeom prst="rect">
            <a:avLst/>
          </a:prstGeom>
          <a:noFill/>
          <a:ln/>
        </p:spPr>
        <p:txBody>
          <a:bodyPr wrap="none" lIns="0" tIns="0" rIns="0" bIns="0" rtlCol="0" anchor="t"/>
          <a:lstStyle/>
          <a:p>
            <a:pPr indent="0" marL="0">
              <a:lnSpc>
                <a:spcPts val="2900"/>
              </a:lnSpc>
              <a:buNone/>
            </a:pPr>
            <a:r>
              <a:rPr lang="en-US" sz="1800" dirty="0">
                <a:solidFill>
                  <a:srgbClr val="2A2742"/>
                </a:solidFill>
                <a:latin typeface="Arimo" pitchFamily="34" charset="0"/>
                <a:ea typeface="Arimo" pitchFamily="34" charset="-122"/>
                <a:cs typeface="Arimo" pitchFamily="34" charset="-120"/>
              </a:rPr>
              <a:t>Alteration in personality can occur due to a number of reasons.</a:t>
            </a:r>
            <a:endParaRPr lang="en-US" sz="1800" dirty="0"/>
          </a:p>
        </p:txBody>
      </p:sp>
      <p:sp>
        <p:nvSpPr>
          <p:cNvPr id="7" name="Text 5"/>
          <p:cNvSpPr/>
          <p:nvPr/>
        </p:nvSpPr>
        <p:spPr>
          <a:xfrm>
            <a:off x="645081" y="4326374"/>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Sudden changes in the environment</a:t>
            </a:r>
            <a:endParaRPr lang="en-US" sz="1450" dirty="0"/>
          </a:p>
        </p:txBody>
      </p:sp>
      <p:sp>
        <p:nvSpPr>
          <p:cNvPr id="8" name="Text 6"/>
          <p:cNvSpPr/>
          <p:nvPr/>
        </p:nvSpPr>
        <p:spPr>
          <a:xfrm>
            <a:off x="645081" y="4759404"/>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Negative life events</a:t>
            </a:r>
            <a:endParaRPr lang="en-US" sz="1450" dirty="0"/>
          </a:p>
        </p:txBody>
      </p:sp>
      <p:sp>
        <p:nvSpPr>
          <p:cNvPr id="9" name="Text 7"/>
          <p:cNvSpPr/>
          <p:nvPr/>
        </p:nvSpPr>
        <p:spPr>
          <a:xfrm>
            <a:off x="645081" y="5192435"/>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Economic and work pressure</a:t>
            </a:r>
            <a:endParaRPr lang="en-US" sz="1450" dirty="0"/>
          </a:p>
        </p:txBody>
      </p:sp>
      <p:sp>
        <p:nvSpPr>
          <p:cNvPr id="10" name="Text 8"/>
          <p:cNvSpPr/>
          <p:nvPr/>
        </p:nvSpPr>
        <p:spPr>
          <a:xfrm>
            <a:off x="645081" y="5625465"/>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Irresponsible child rearing practices</a:t>
            </a:r>
            <a:endParaRPr lang="en-US" sz="1450" dirty="0"/>
          </a:p>
        </p:txBody>
      </p:sp>
      <p:sp>
        <p:nvSpPr>
          <p:cNvPr id="11" name="Text 9"/>
          <p:cNvSpPr/>
          <p:nvPr/>
        </p:nvSpPr>
        <p:spPr>
          <a:xfrm>
            <a:off x="645081" y="6058495"/>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Chronic or acute illnesses</a:t>
            </a:r>
            <a:endParaRPr lang="en-US" sz="1450" dirty="0"/>
          </a:p>
        </p:txBody>
      </p:sp>
      <p:sp>
        <p:nvSpPr>
          <p:cNvPr id="12" name="Text 10"/>
          <p:cNvSpPr/>
          <p:nvPr/>
        </p:nvSpPr>
        <p:spPr>
          <a:xfrm>
            <a:off x="645081" y="6491526"/>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Serious injury, damage of frontal lobe</a:t>
            </a:r>
            <a:endParaRPr lang="en-US" sz="1450" dirty="0"/>
          </a:p>
        </p:txBody>
      </p:sp>
      <p:sp>
        <p:nvSpPr>
          <p:cNvPr id="13" name="Text 11"/>
          <p:cNvSpPr/>
          <p:nvPr/>
        </p:nvSpPr>
        <p:spPr>
          <a:xfrm>
            <a:off x="645081" y="6924556"/>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Personality disorders</a:t>
            </a:r>
            <a:endParaRPr lang="en-US" sz="1450" dirty="0"/>
          </a:p>
        </p:txBody>
      </p:sp>
      <p:sp>
        <p:nvSpPr>
          <p:cNvPr id="14" name="Text 12"/>
          <p:cNvSpPr/>
          <p:nvPr/>
        </p:nvSpPr>
        <p:spPr>
          <a:xfrm>
            <a:off x="645081" y="7357586"/>
            <a:ext cx="13340239" cy="368618"/>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2A2742"/>
                </a:solidFill>
                <a:latin typeface="Arimo" pitchFamily="34" charset="0"/>
                <a:ea typeface="Arimo" pitchFamily="34" charset="-122"/>
                <a:cs typeface="Arimo" pitchFamily="34" charset="-120"/>
              </a:rPr>
              <a:t>Drug abuse</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75216" y="609005"/>
            <a:ext cx="5537359" cy="692110"/>
          </a:xfrm>
          <a:prstGeom prst="rect">
            <a:avLst/>
          </a:prstGeom>
          <a:noFill/>
          <a:ln/>
        </p:spPr>
        <p:txBody>
          <a:bodyPr wrap="none" lIns="0" tIns="0" rIns="0" bIns="0" rtlCol="0" anchor="t"/>
          <a:lstStyle/>
          <a:p>
            <a:pPr indent="0" marL="0">
              <a:lnSpc>
                <a:spcPts val="5450"/>
              </a:lnSpc>
              <a:buNone/>
            </a:pPr>
            <a:endParaRPr lang="en-US" sz="4350" dirty="0"/>
          </a:p>
        </p:txBody>
      </p:sp>
      <p:sp>
        <p:nvSpPr>
          <p:cNvPr id="3" name="Text 1"/>
          <p:cNvSpPr/>
          <p:nvPr/>
        </p:nvSpPr>
        <p:spPr>
          <a:xfrm>
            <a:off x="775216" y="1744028"/>
            <a:ext cx="13079968" cy="442913"/>
          </a:xfrm>
          <a:prstGeom prst="rect">
            <a:avLst/>
          </a:prstGeom>
          <a:noFill/>
          <a:ln/>
        </p:spPr>
        <p:txBody>
          <a:bodyPr wrap="none" lIns="0" tIns="0" rIns="0" bIns="0" rtlCol="0" anchor="t"/>
          <a:lstStyle/>
          <a:p>
            <a:pPr indent="0" marL="0">
              <a:lnSpc>
                <a:spcPts val="3450"/>
              </a:lnSpc>
              <a:buNone/>
            </a:pPr>
            <a:r>
              <a:rPr lang="en-US" sz="2150" dirty="0">
                <a:solidFill>
                  <a:srgbClr val="2A2742"/>
                </a:solidFill>
                <a:latin typeface="Arimo" pitchFamily="34" charset="0"/>
                <a:ea typeface="Arimo" pitchFamily="34" charset="-122"/>
                <a:cs typeface="Arimo" pitchFamily="34" charset="-120"/>
              </a:rPr>
              <a:t>Alteration in personality can lead to:-</a:t>
            </a:r>
            <a:endParaRPr lang="en-US" sz="2150" dirty="0"/>
          </a:p>
        </p:txBody>
      </p:sp>
      <p:sp>
        <p:nvSpPr>
          <p:cNvPr id="4" name="Text 2"/>
          <p:cNvSpPr/>
          <p:nvPr/>
        </p:nvSpPr>
        <p:spPr>
          <a:xfrm>
            <a:off x="775216" y="2519124"/>
            <a:ext cx="3022640" cy="345996"/>
          </a:xfrm>
          <a:prstGeom prst="rect">
            <a:avLst/>
          </a:prstGeom>
          <a:noFill/>
          <a:ln/>
        </p:spPr>
        <p:txBody>
          <a:bodyPr wrap="none" lIns="0" tIns="0" rIns="0" bIns="0" rtlCol="0" anchor="t"/>
          <a:lstStyle/>
          <a:p>
            <a:pPr indent="0" marL="0">
              <a:lnSpc>
                <a:spcPts val="2700"/>
              </a:lnSpc>
              <a:buNone/>
            </a:pPr>
            <a:r>
              <a:rPr lang="en-US" sz="2150" b="1" dirty="0">
                <a:solidFill>
                  <a:srgbClr val="231971"/>
                </a:solidFill>
                <a:latin typeface="Outfit Extra Bold" pitchFamily="34" charset="0"/>
                <a:ea typeface="Outfit Extra Bold" pitchFamily="34" charset="-122"/>
                <a:cs typeface="Outfit Extra Bold" pitchFamily="34" charset="-120"/>
              </a:rPr>
              <a:t>Confusion and Delirium</a:t>
            </a:r>
            <a:endParaRPr lang="en-US" sz="2150" dirty="0"/>
          </a:p>
        </p:txBody>
      </p:sp>
      <p:sp>
        <p:nvSpPr>
          <p:cNvPr id="5" name="Text 3"/>
          <p:cNvSpPr/>
          <p:nvPr/>
        </p:nvSpPr>
        <p:spPr>
          <a:xfrm>
            <a:off x="775216" y="3197304"/>
            <a:ext cx="13079968" cy="442913"/>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Confusion and delirium refer to a disturbance of consciousness.</a:t>
            </a:r>
            <a:endParaRPr lang="en-US" sz="1700" dirty="0"/>
          </a:p>
        </p:txBody>
      </p:sp>
      <p:sp>
        <p:nvSpPr>
          <p:cNvPr id="6" name="Text 4"/>
          <p:cNvSpPr/>
          <p:nvPr/>
        </p:nvSpPr>
        <p:spPr>
          <a:xfrm>
            <a:off x="775216" y="3717727"/>
            <a:ext cx="13079968" cy="442913"/>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People are less aware about their environment and may be excessively agitated and drowsy.</a:t>
            </a:r>
            <a:endParaRPr lang="en-US" sz="1700" dirty="0"/>
          </a:p>
        </p:txBody>
      </p:sp>
      <p:sp>
        <p:nvSpPr>
          <p:cNvPr id="7" name="Text 5"/>
          <p:cNvSpPr/>
          <p:nvPr/>
        </p:nvSpPr>
        <p:spPr>
          <a:xfrm>
            <a:off x="775216" y="4238149"/>
            <a:ext cx="13079968" cy="885825"/>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Delirium often results from a serious, newly - developed physical problem or a reaction to a drug, especially in older people.</a:t>
            </a:r>
            <a:endParaRPr lang="en-US" sz="1700" dirty="0"/>
          </a:p>
        </p:txBody>
      </p:sp>
      <p:sp>
        <p:nvSpPr>
          <p:cNvPr id="8" name="Text 6"/>
          <p:cNvSpPr/>
          <p:nvPr/>
        </p:nvSpPr>
        <p:spPr>
          <a:xfrm>
            <a:off x="775216" y="5201483"/>
            <a:ext cx="13079968" cy="442913"/>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If the cause of delirium is identified and corrected quickly, delirium often resolves.</a:t>
            </a:r>
            <a:endParaRPr lang="en-US" sz="1700" dirty="0"/>
          </a:p>
        </p:txBody>
      </p:sp>
      <p:sp>
        <p:nvSpPr>
          <p:cNvPr id="9" name="Text 7"/>
          <p:cNvSpPr/>
          <p:nvPr/>
        </p:nvSpPr>
        <p:spPr>
          <a:xfrm>
            <a:off x="775216" y="5976580"/>
            <a:ext cx="2768679" cy="345996"/>
          </a:xfrm>
          <a:prstGeom prst="rect">
            <a:avLst/>
          </a:prstGeom>
          <a:noFill/>
          <a:ln/>
        </p:spPr>
        <p:txBody>
          <a:bodyPr wrap="none" lIns="0" tIns="0" rIns="0" bIns="0" rtlCol="0" anchor="t"/>
          <a:lstStyle/>
          <a:p>
            <a:pPr indent="0" marL="0">
              <a:lnSpc>
                <a:spcPts val="2700"/>
              </a:lnSpc>
              <a:buNone/>
            </a:pPr>
            <a:r>
              <a:rPr lang="en-US" sz="2150" b="1" dirty="0">
                <a:solidFill>
                  <a:srgbClr val="231971"/>
                </a:solidFill>
                <a:latin typeface="Outfit Extra Bold" pitchFamily="34" charset="0"/>
                <a:ea typeface="Outfit Extra Bold" pitchFamily="34" charset="-122"/>
                <a:cs typeface="Outfit Extra Bold" pitchFamily="34" charset="-120"/>
              </a:rPr>
              <a:t>Delusions</a:t>
            </a:r>
            <a:endParaRPr lang="en-US" sz="2150" dirty="0"/>
          </a:p>
        </p:txBody>
      </p:sp>
      <p:sp>
        <p:nvSpPr>
          <p:cNvPr id="10" name="Text 8"/>
          <p:cNvSpPr/>
          <p:nvPr/>
        </p:nvSpPr>
        <p:spPr>
          <a:xfrm>
            <a:off x="775216" y="6654760"/>
            <a:ext cx="13079968" cy="442913"/>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Delusions are fixed false beliefs that people hold despite evidence to the contrary. </a:t>
            </a:r>
            <a:endParaRPr lang="en-US" sz="1700" dirty="0"/>
          </a:p>
        </p:txBody>
      </p:sp>
      <p:sp>
        <p:nvSpPr>
          <p:cNvPr id="11" name="Text 9"/>
          <p:cNvSpPr/>
          <p:nvPr/>
        </p:nvSpPr>
        <p:spPr>
          <a:xfrm>
            <a:off x="775216" y="7175183"/>
            <a:ext cx="13079968" cy="442913"/>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2A2742"/>
                </a:solidFill>
                <a:latin typeface="Arimo" pitchFamily="34" charset="0"/>
                <a:ea typeface="Arimo" pitchFamily="34" charset="-122"/>
                <a:cs typeface="Arimo" pitchFamily="34" charset="-120"/>
              </a:rPr>
              <a:t>Some delusions are based on a misinterpretation of actual perceptions and experiences.</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786176"/>
            <a:ext cx="13042821" cy="136052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For example, people may feel persecuted, thinking that a person behind them on the street is following them. Other people think that song lyrics or newspaper articles contain messages that refer specifically to them.</a:t>
            </a:r>
            <a:endParaRPr lang="en-US" sz="1750" dirty="0"/>
          </a:p>
        </p:txBody>
      </p:sp>
      <p:sp>
        <p:nvSpPr>
          <p:cNvPr id="4" name="Text 2"/>
          <p:cNvSpPr/>
          <p:nvPr/>
        </p:nvSpPr>
        <p:spPr>
          <a:xfrm>
            <a:off x="793790" y="3486864"/>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Disorganized Speech</a:t>
            </a:r>
            <a:endParaRPr lang="en-US" sz="2200" dirty="0"/>
          </a:p>
        </p:txBody>
      </p:sp>
      <p:sp>
        <p:nvSpPr>
          <p:cNvPr id="5" name="Text 3"/>
          <p:cNvSpPr/>
          <p:nvPr/>
        </p:nvSpPr>
        <p:spPr>
          <a:xfrm>
            <a:off x="793790" y="418135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Disorganized speech refers to speech that does not contain the expected logical connections between thoughts or between questions and answers. </a:t>
            </a:r>
            <a:endParaRPr lang="en-US" sz="1750" dirty="0"/>
          </a:p>
        </p:txBody>
      </p:sp>
      <p:sp>
        <p:nvSpPr>
          <p:cNvPr id="6" name="Text 4"/>
          <p:cNvSpPr/>
          <p:nvPr/>
        </p:nvSpPr>
        <p:spPr>
          <a:xfrm>
            <a:off x="793790" y="516767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For example, people may jump from one topic to another without ever finishing a thought. </a:t>
            </a:r>
            <a:endParaRPr lang="en-US" sz="1750" dirty="0"/>
          </a:p>
        </p:txBody>
      </p:sp>
      <p:sp>
        <p:nvSpPr>
          <p:cNvPr id="7" name="Text 5"/>
          <p:cNvSpPr/>
          <p:nvPr/>
        </p:nvSpPr>
        <p:spPr>
          <a:xfrm>
            <a:off x="793790" y="5961340"/>
            <a:ext cx="3169801"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Disorganized Behaviour</a:t>
            </a:r>
            <a:endParaRPr lang="en-US" sz="2200" dirty="0"/>
          </a:p>
        </p:txBody>
      </p:sp>
      <p:sp>
        <p:nvSpPr>
          <p:cNvPr id="8" name="Text 6"/>
          <p:cNvSpPr/>
          <p:nvPr/>
        </p:nvSpPr>
        <p:spPr>
          <a:xfrm>
            <a:off x="793790" y="6655832"/>
            <a:ext cx="13042821"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Disorganized behaviour refers to doing quite unusual things (such as undressing in public or shouting and swearing for no apparent reason) or to being unable to behave normally.</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897612"/>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94655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Hallucinations</a:t>
            </a:r>
            <a:endParaRPr lang="en-US" sz="2200" dirty="0"/>
          </a:p>
        </p:txBody>
      </p:sp>
      <p:sp>
        <p:nvSpPr>
          <p:cNvPr id="4" name="Text 2"/>
          <p:cNvSpPr/>
          <p:nvPr/>
        </p:nvSpPr>
        <p:spPr>
          <a:xfrm>
            <a:off x="793790" y="2641044"/>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Hallucinations refer to hearing, seeing, smelling, tasting, or feeling things that are not actually there.</a:t>
            </a:r>
            <a:endParaRPr lang="en-US" sz="2200" dirty="0"/>
          </a:p>
        </p:txBody>
      </p:sp>
      <p:sp>
        <p:nvSpPr>
          <p:cNvPr id="5" name="Text 3"/>
          <p:cNvSpPr/>
          <p:nvPr/>
        </p:nvSpPr>
        <p:spPr>
          <a:xfrm>
            <a:off x="793790" y="3434715"/>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personality disorders</a:t>
            </a:r>
            <a:endParaRPr lang="en-US" sz="2200" dirty="0"/>
          </a:p>
        </p:txBody>
      </p:sp>
      <p:sp>
        <p:nvSpPr>
          <p:cNvPr id="6" name="Text 4"/>
          <p:cNvSpPr/>
          <p:nvPr/>
        </p:nvSpPr>
        <p:spPr>
          <a:xfrm>
            <a:off x="793790" y="412920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Paranoid personality disorder</a:t>
            </a:r>
            <a:endParaRPr lang="en-US" sz="1750" dirty="0"/>
          </a:p>
        </p:txBody>
      </p:sp>
      <p:sp>
        <p:nvSpPr>
          <p:cNvPr id="7" name="Text 5"/>
          <p:cNvSpPr/>
          <p:nvPr/>
        </p:nvSpPr>
        <p:spPr>
          <a:xfrm>
            <a:off x="793790" y="466201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Schizoid personality disorder</a:t>
            </a:r>
            <a:endParaRPr lang="en-US" sz="1750" dirty="0"/>
          </a:p>
        </p:txBody>
      </p:sp>
      <p:sp>
        <p:nvSpPr>
          <p:cNvPr id="8" name="Text 6"/>
          <p:cNvSpPr/>
          <p:nvPr/>
        </p:nvSpPr>
        <p:spPr>
          <a:xfrm>
            <a:off x="793790" y="5194816"/>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Antisocial personality disorder</a:t>
            </a:r>
            <a:endParaRPr lang="en-US" sz="1750" dirty="0"/>
          </a:p>
        </p:txBody>
      </p:sp>
      <p:sp>
        <p:nvSpPr>
          <p:cNvPr id="9" name="Text 7"/>
          <p:cNvSpPr/>
          <p:nvPr/>
        </p:nvSpPr>
        <p:spPr>
          <a:xfrm>
            <a:off x="793790" y="572762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borderline personality disorder</a:t>
            </a:r>
            <a:endParaRPr lang="en-US" sz="1750" dirty="0"/>
          </a:p>
        </p:txBody>
      </p:sp>
      <p:sp>
        <p:nvSpPr>
          <p:cNvPr id="10" name="Text 8"/>
          <p:cNvSpPr/>
          <p:nvPr/>
        </p:nvSpPr>
        <p:spPr>
          <a:xfrm>
            <a:off x="793790" y="626042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Narcissistic personality disorder</a:t>
            </a:r>
            <a:endParaRPr lang="en-US" sz="1750" dirty="0"/>
          </a:p>
        </p:txBody>
      </p:sp>
      <p:sp>
        <p:nvSpPr>
          <p:cNvPr id="11" name="Text 9"/>
          <p:cNvSpPr/>
          <p:nvPr/>
        </p:nvSpPr>
        <p:spPr>
          <a:xfrm>
            <a:off x="793790" y="6969085"/>
            <a:ext cx="130428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65453" y="602337"/>
            <a:ext cx="13099494" cy="1367076"/>
          </a:xfrm>
          <a:prstGeom prst="rect">
            <a:avLst/>
          </a:prstGeom>
          <a:noFill/>
          <a:ln/>
        </p:spPr>
        <p:txBody>
          <a:bodyPr wrap="square" lIns="0" tIns="0" rIns="0" bIns="0" rtlCol="0" anchor="t"/>
          <a:lstStyle/>
          <a:p>
            <a:pPr indent="0" marL="0">
              <a:lnSpc>
                <a:spcPts val="5350"/>
              </a:lnSpc>
              <a:buNone/>
            </a:pPr>
            <a:r>
              <a:rPr lang="en-US" sz="4300" b="1" dirty="0">
                <a:solidFill>
                  <a:srgbClr val="231971"/>
                </a:solidFill>
                <a:latin typeface="Outfit Extra Bold" pitchFamily="34" charset="0"/>
                <a:ea typeface="Outfit Extra Bold" pitchFamily="34" charset="-122"/>
                <a:cs typeface="Outfit Extra Bold" pitchFamily="34" charset="-120"/>
              </a:rPr>
              <a:t>Role of nurse in identification of personality and improving altered personality</a:t>
            </a:r>
            <a:endParaRPr lang="en-US" sz="4300" dirty="0"/>
          </a:p>
        </p:txBody>
      </p:sp>
      <p:sp>
        <p:nvSpPr>
          <p:cNvPr id="3" name="Text 1"/>
          <p:cNvSpPr/>
          <p:nvPr/>
        </p:nvSpPr>
        <p:spPr>
          <a:xfrm>
            <a:off x="765453" y="2406848"/>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Encourage physical activities.</a:t>
            </a:r>
            <a:endParaRPr lang="en-US" sz="2150" dirty="0"/>
          </a:p>
        </p:txBody>
      </p:sp>
      <p:sp>
        <p:nvSpPr>
          <p:cNvPr id="4" name="Text 2"/>
          <p:cNvSpPr/>
          <p:nvPr/>
        </p:nvSpPr>
        <p:spPr>
          <a:xfrm>
            <a:off x="765453" y="3090148"/>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Discuss the illness conditions with the patients.</a:t>
            </a:r>
            <a:endParaRPr lang="en-US" sz="2150" dirty="0"/>
          </a:p>
        </p:txBody>
      </p:sp>
      <p:sp>
        <p:nvSpPr>
          <p:cNvPr id="5" name="Text 3"/>
          <p:cNvSpPr/>
          <p:nvPr/>
        </p:nvSpPr>
        <p:spPr>
          <a:xfrm>
            <a:off x="765453" y="3773448"/>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Enhance interpersonal relationships through listening and responding.</a:t>
            </a:r>
            <a:endParaRPr lang="en-US" sz="2150" dirty="0"/>
          </a:p>
        </p:txBody>
      </p:sp>
      <p:sp>
        <p:nvSpPr>
          <p:cNvPr id="6" name="Text 4"/>
          <p:cNvSpPr/>
          <p:nvPr/>
        </p:nvSpPr>
        <p:spPr>
          <a:xfrm>
            <a:off x="765453" y="4456748"/>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Use appropriate body language such as smiling, nodding and pleasant facial expressions.</a:t>
            </a:r>
            <a:endParaRPr lang="en-US" sz="2150" dirty="0"/>
          </a:p>
        </p:txBody>
      </p:sp>
      <p:sp>
        <p:nvSpPr>
          <p:cNvPr id="7" name="Text 5"/>
          <p:cNvSpPr/>
          <p:nvPr/>
        </p:nvSpPr>
        <p:spPr>
          <a:xfrm>
            <a:off x="765453" y="5140047"/>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Teach simple relaxation techniques like deep breathing exercises and meditation.</a:t>
            </a:r>
            <a:endParaRPr lang="en-US" sz="2150" dirty="0"/>
          </a:p>
        </p:txBody>
      </p:sp>
      <p:sp>
        <p:nvSpPr>
          <p:cNvPr id="8" name="Text 6"/>
          <p:cNvSpPr/>
          <p:nvPr/>
        </p:nvSpPr>
        <p:spPr>
          <a:xfrm>
            <a:off x="765453" y="5823347"/>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Provide reassurance and positive feedback.</a:t>
            </a:r>
            <a:endParaRPr lang="en-US" sz="2150" dirty="0"/>
          </a:p>
        </p:txBody>
      </p:sp>
      <p:sp>
        <p:nvSpPr>
          <p:cNvPr id="9" name="Text 7"/>
          <p:cNvSpPr/>
          <p:nvPr/>
        </p:nvSpPr>
        <p:spPr>
          <a:xfrm>
            <a:off x="765453" y="6506647"/>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Provide psycho education about illness to the family.</a:t>
            </a:r>
            <a:endParaRPr lang="en-US" sz="2150" dirty="0"/>
          </a:p>
        </p:txBody>
      </p:sp>
      <p:sp>
        <p:nvSpPr>
          <p:cNvPr id="10" name="Text 8"/>
          <p:cNvSpPr/>
          <p:nvPr/>
        </p:nvSpPr>
        <p:spPr>
          <a:xfrm>
            <a:off x="765453" y="7189946"/>
            <a:ext cx="13099494" cy="437317"/>
          </a:xfrm>
          <a:prstGeom prst="rect">
            <a:avLst/>
          </a:prstGeom>
          <a:noFill/>
          <a:ln/>
        </p:spPr>
        <p:txBody>
          <a:bodyPr wrap="none" lIns="0" tIns="0" rIns="0" bIns="0" rtlCol="0" anchor="t"/>
          <a:lstStyle/>
          <a:p>
            <a:pPr indent="0" marL="0">
              <a:lnSpc>
                <a:spcPts val="3400"/>
              </a:lnSpc>
              <a:buNone/>
            </a:pPr>
            <a:r>
              <a:rPr lang="en-US" sz="2150" dirty="0">
                <a:solidFill>
                  <a:srgbClr val="2A2742"/>
                </a:solidFill>
                <a:latin typeface="Arimo" pitchFamily="34" charset="0"/>
                <a:ea typeface="Arimo" pitchFamily="34" charset="-122"/>
                <a:cs typeface="Arimo" pitchFamily="34" charset="-120"/>
              </a:rPr>
              <a:t>• Refer the patients for psychological support when needed.</a:t>
            </a:r>
            <a:endParaRPr lang="en-US" sz="2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2024-12-16T18:07:09Z</dcterms:created>
  <dcterms:modified xsi:type="dcterms:W3CDTF">2024-12-16T18:07:09Z</dcterms:modified>
</cp:coreProperties>
</file>