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4630400" cy="8229600"/>
  <p:notesSz cx="8229600" cy="14630400"/>
  <p:embeddedFontLst>
    <p:embeddedFont>
      <p:font typeface="Nunito Semi Bold"/>
      <p:regular r:id="rId32"/>
    </p:embeddedFont>
    <p:embeddedFont>
      <p:font typeface="Nunito Semi Bold"/>
      <p:regular r:id="rId33"/>
    </p:embeddedFont>
    <p:embeddedFont>
      <p:font typeface="Nunito Semi Bold"/>
      <p:regular r:id="rId34"/>
    </p:embeddedFont>
    <p:embeddedFont>
      <p:font typeface="Nunito Semi Bold"/>
      <p:regular r:id="rId35"/>
    </p:embeddedFont>
    <p:embeddedFont>
      <p:font typeface="PT Sans"/>
      <p:regular r:id="rId36"/>
    </p:embeddedFont>
    <p:embeddedFont>
      <p:font typeface="PT Sans"/>
      <p:regular r:id="rId37"/>
    </p:embeddedFont>
    <p:embeddedFont>
      <p:font typeface="PT Sans"/>
      <p:regular r:id="rId38"/>
    </p:embeddedFont>
    <p:embeddedFont>
      <p:font typeface="PT Sans"/>
      <p:regular r:id="rId3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font" Target="fonts/font3.fntdata"/><Relationship Id="rId35" Type="http://schemas.openxmlformats.org/officeDocument/2006/relationships/font" Target="fonts/font4.fntdata"/><Relationship Id="rId36" Type="http://schemas.openxmlformats.org/officeDocument/2006/relationships/font" Target="fonts/font5.fntdata"/><Relationship Id="rId37" Type="http://schemas.openxmlformats.org/officeDocument/2006/relationships/font" Target="fonts/font6.fntdata"/><Relationship Id="rId38" Type="http://schemas.openxmlformats.org/officeDocument/2006/relationships/font" Target="fonts/font7.fntdata"/><Relationship Id="rId3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7-1.png"/><Relationship Id="rId2" Type="http://schemas.openxmlformats.org/officeDocument/2006/relationships/image" Target="../media/image-1017-2.png"/><Relationship Id="rId4"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8-1.png"/><Relationship Id="rId2" Type="http://schemas.openxmlformats.org/officeDocument/2006/relationships/image" Target="../media/image-1018-2.png"/><Relationship Id="rId4"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9-1.png"/><Relationship Id="rId2" Type="http://schemas.openxmlformats.org/officeDocument/2006/relationships/image" Target="../media/image-1019-2.png"/><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0-1.png"/><Relationship Id="rId2" Type="http://schemas.openxmlformats.org/officeDocument/2006/relationships/image" Target="../media/image-1020-2.png"/><Relationship Id="rId4"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1-1.png"/><Relationship Id="rId2" Type="http://schemas.openxmlformats.org/officeDocument/2006/relationships/image" Target="../media/image-1021-2.png"/><Relationship Id="rId4"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2-1.png"/><Relationship Id="rId2" Type="http://schemas.openxmlformats.org/officeDocument/2006/relationships/image" Target="../media/image-1022-2.png"/><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3-1.png"/><Relationship Id="rId2" Type="http://schemas.openxmlformats.org/officeDocument/2006/relationships/image" Target="../media/image-1023-2.png"/><Relationship Id="rId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4-1.png"/><Relationship Id="rId2" Type="http://schemas.openxmlformats.org/officeDocument/2006/relationships/image" Target="../media/image-1024-2.png"/><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5-1.png"/><Relationship Id="rId2" Type="http://schemas.openxmlformats.org/officeDocument/2006/relationships/image" Target="../media/image-1025-2.png"/><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26-1.png"/><Relationship Id="rId2" Type="http://schemas.openxmlformats.org/officeDocument/2006/relationships/image" Target="../media/image-1026-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3F3FF">
              <a:alpha val="7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8.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3143250"/>
            <a:ext cx="7468553" cy="1943100"/>
          </a:xfrm>
          <a:prstGeom prst="rect">
            <a:avLst/>
          </a:prstGeom>
          <a:noFill/>
          <a:ln/>
        </p:spPr>
        <p:txBody>
          <a:bodyPr wrap="square" lIns="0" tIns="0" rIns="0" bIns="0" rtlCol="0" anchor="t"/>
          <a:lstStyle/>
          <a:p>
            <a:pPr indent="0" marL="0">
              <a:lnSpc>
                <a:spcPts val="7650"/>
              </a:lnSpc>
              <a:buNone/>
            </a:pPr>
            <a:r>
              <a:rPr lang="en-US" sz="6100" dirty="0">
                <a:solidFill>
                  <a:srgbClr val="00002E"/>
                </a:solidFill>
                <a:latin typeface="Nunito Semi Bold" pitchFamily="34" charset="0"/>
                <a:ea typeface="Nunito Semi Bold" pitchFamily="34" charset="-122"/>
                <a:cs typeface="Nunito Semi Bold" pitchFamily="34" charset="-120"/>
              </a:rPr>
              <a:t>APPLICATION OF SOFT SKILL</a:t>
            </a:r>
            <a:endParaRPr lang="en-US" sz="6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1345644"/>
            <a:ext cx="6755249" cy="704017"/>
          </a:xfrm>
          <a:prstGeom prst="rect">
            <a:avLst/>
          </a:prstGeom>
          <a:noFill/>
          <a:ln/>
        </p:spPr>
        <p:txBody>
          <a:bodyPr wrap="none" lIns="0" tIns="0" rIns="0" bIns="0" rtlCol="0" anchor="t"/>
          <a:lstStyle/>
          <a:p>
            <a:pPr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CONCEPT OF SOFT SKILL</a:t>
            </a:r>
            <a:endParaRPr lang="en-US" sz="4400" dirty="0"/>
          </a:p>
        </p:txBody>
      </p:sp>
      <p:sp>
        <p:nvSpPr>
          <p:cNvPr id="3" name="Text 1"/>
          <p:cNvSpPr/>
          <p:nvPr/>
        </p:nvSpPr>
        <p:spPr>
          <a:xfrm>
            <a:off x="837724" y="2624018"/>
            <a:ext cx="6185535" cy="1914525"/>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Soft skills include a broad range of personal competences such as critical thinking, social  aptitudes, communication capability, teamwork ability and ethical attitudes.</a:t>
            </a:r>
            <a:endParaRPr lang="en-US" sz="2350" dirty="0"/>
          </a:p>
        </p:txBody>
      </p:sp>
      <p:sp>
        <p:nvSpPr>
          <p:cNvPr id="4" name="Text 2"/>
          <p:cNvSpPr/>
          <p:nvPr/>
        </p:nvSpPr>
        <p:spPr>
          <a:xfrm>
            <a:off x="837724" y="4753928"/>
            <a:ext cx="6185535" cy="1914525"/>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Examples of soft skills include personality traits, workplace etiquette, communication style, interpersonal skills, optimistic attitude and dependability.</a:t>
            </a:r>
            <a:endParaRPr lang="en-US" sz="2350" dirty="0"/>
          </a:p>
        </p:txBody>
      </p:sp>
      <p:sp>
        <p:nvSpPr>
          <p:cNvPr id="5" name="Text 3"/>
          <p:cNvSpPr/>
          <p:nvPr/>
        </p:nvSpPr>
        <p:spPr>
          <a:xfrm>
            <a:off x="7614761" y="2624018"/>
            <a:ext cx="6185535" cy="1435894"/>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Soft skills are the intangible behavior traits that enhance or endorse knowledge or skills in the workplace.-Sharma and Sharma (2010)</a:t>
            </a:r>
            <a:endParaRPr lang="en-US" sz="2350" dirty="0"/>
          </a:p>
        </p:txBody>
      </p:sp>
      <p:sp>
        <p:nvSpPr>
          <p:cNvPr id="6" name="Text 4"/>
          <p:cNvSpPr/>
          <p:nvPr/>
        </p:nvSpPr>
        <p:spPr>
          <a:xfrm>
            <a:off x="7614761" y="4275296"/>
            <a:ext cx="6185535" cy="1435894"/>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Soft skills are interpersonal qualities and personal attributes that one possesses.-Heckman and Kautz (2012)</a:t>
            </a:r>
            <a:endParaRPr lang="en-US" sz="2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94717"/>
          </a:xfrm>
          <a:prstGeom prst="rect">
            <a:avLst/>
          </a:prstGeom>
        </p:spPr>
      </p:pic>
      <p:sp>
        <p:nvSpPr>
          <p:cNvPr id="3" name="Text 0"/>
          <p:cNvSpPr/>
          <p:nvPr/>
        </p:nvSpPr>
        <p:spPr>
          <a:xfrm>
            <a:off x="698421" y="3043714"/>
            <a:ext cx="4695944" cy="586978"/>
          </a:xfrm>
          <a:prstGeom prst="rect">
            <a:avLst/>
          </a:prstGeom>
          <a:noFill/>
          <a:ln/>
        </p:spPr>
        <p:txBody>
          <a:bodyPr wrap="none" lIns="0" tIns="0" rIns="0" bIns="0" rtlCol="0" anchor="t"/>
          <a:lstStyle/>
          <a:p>
            <a:pPr indent="0" marL="0">
              <a:lnSpc>
                <a:spcPts val="4600"/>
              </a:lnSpc>
              <a:buNone/>
            </a:pPr>
            <a:r>
              <a:rPr lang="en-US" sz="3650" dirty="0">
                <a:solidFill>
                  <a:srgbClr val="00002E"/>
                </a:solidFill>
                <a:latin typeface="Nunito Semi Bold" pitchFamily="34" charset="0"/>
                <a:ea typeface="Nunito Semi Bold" pitchFamily="34" charset="-122"/>
                <a:cs typeface="Nunito Semi Bold" pitchFamily="34" charset="-120"/>
              </a:rPr>
              <a:t>Types of Soft Skills</a:t>
            </a:r>
            <a:endParaRPr lang="en-US" sz="3650" dirty="0"/>
          </a:p>
        </p:txBody>
      </p:sp>
      <p:sp>
        <p:nvSpPr>
          <p:cNvPr id="4" name="Text 1"/>
          <p:cNvSpPr/>
          <p:nvPr/>
        </p:nvSpPr>
        <p:spPr>
          <a:xfrm>
            <a:off x="698421" y="3930015"/>
            <a:ext cx="3756779" cy="469463"/>
          </a:xfrm>
          <a:prstGeom prst="rect">
            <a:avLst/>
          </a:prstGeom>
          <a:noFill/>
          <a:ln/>
        </p:spPr>
        <p:txBody>
          <a:bodyPr wrap="none" lIns="0" tIns="0" rIns="0" bIns="0" rtlCol="0" anchor="t"/>
          <a:lstStyle/>
          <a:p>
            <a:pPr indent="0" marL="0">
              <a:lnSpc>
                <a:spcPts val="3650"/>
              </a:lnSpc>
              <a:buNone/>
            </a:pPr>
            <a:r>
              <a:rPr lang="en-US" sz="2950" dirty="0">
                <a:solidFill>
                  <a:srgbClr val="00002E"/>
                </a:solidFill>
                <a:latin typeface="Nunito Semi Bold" pitchFamily="34" charset="0"/>
                <a:ea typeface="Nunito Semi Bold" pitchFamily="34" charset="-122"/>
                <a:cs typeface="Nunito Semi Bold" pitchFamily="34" charset="-120"/>
              </a:rPr>
              <a:t>Visual soft skills</a:t>
            </a:r>
            <a:endParaRPr lang="en-US" sz="2950" dirty="0"/>
          </a:p>
        </p:txBody>
      </p:sp>
      <p:sp>
        <p:nvSpPr>
          <p:cNvPr id="5" name="Shape 2"/>
          <p:cNvSpPr/>
          <p:nvPr/>
        </p:nvSpPr>
        <p:spPr>
          <a:xfrm>
            <a:off x="698421" y="4698802"/>
            <a:ext cx="6517005" cy="2981801"/>
          </a:xfrm>
          <a:prstGeom prst="roundRect">
            <a:avLst>
              <a:gd name="adj" fmla="val 10040"/>
            </a:avLst>
          </a:prstGeom>
          <a:solidFill>
            <a:srgbClr val="F3F3FF"/>
          </a:solidFill>
          <a:ln w="22860">
            <a:solidFill>
              <a:srgbClr val="2D4DF2"/>
            </a:solidFill>
            <a:prstDash val="solid"/>
          </a:ln>
        </p:spPr>
      </p:sp>
      <p:sp>
        <p:nvSpPr>
          <p:cNvPr id="6" name="Text 3"/>
          <p:cNvSpPr/>
          <p:nvPr/>
        </p:nvSpPr>
        <p:spPr>
          <a:xfrm>
            <a:off x="920829" y="4921210"/>
            <a:ext cx="2817495" cy="352068"/>
          </a:xfrm>
          <a:prstGeom prst="rect">
            <a:avLst/>
          </a:prstGeom>
          <a:noFill/>
          <a:ln/>
        </p:spPr>
        <p:txBody>
          <a:bodyPr wrap="none" lIns="0" tIns="0" rIns="0" bIns="0" rtlCol="0" anchor="t"/>
          <a:lstStyle/>
          <a:p>
            <a:pPr indent="0" marL="0">
              <a:lnSpc>
                <a:spcPts val="2750"/>
              </a:lnSpc>
              <a:buNone/>
            </a:pPr>
            <a:endParaRPr lang="en-US" sz="2200" dirty="0"/>
          </a:p>
        </p:txBody>
      </p:sp>
      <p:sp>
        <p:nvSpPr>
          <p:cNvPr id="7" name="Text 4"/>
          <p:cNvSpPr/>
          <p:nvPr/>
        </p:nvSpPr>
        <p:spPr>
          <a:xfrm>
            <a:off x="920829" y="5392936"/>
            <a:ext cx="6072188" cy="798195"/>
          </a:xfrm>
          <a:prstGeom prst="rect">
            <a:avLst/>
          </a:prstGeom>
          <a:noFill/>
          <a:ln/>
        </p:spPr>
        <p:txBody>
          <a:bodyPr wrap="square" lIns="0" tIns="0" rIns="0" bIns="0" rtlCol="0" anchor="t"/>
          <a:lstStyle/>
          <a:p>
            <a:pPr marL="342900" indent="-342900">
              <a:lnSpc>
                <a:spcPts val="2500"/>
              </a:lnSpc>
              <a:buSzPct val="100000"/>
              <a:buChar char="•"/>
            </a:pPr>
            <a:r>
              <a:rPr lang="en-US" sz="1550" dirty="0">
                <a:solidFill>
                  <a:srgbClr val="00002E"/>
                </a:solidFill>
                <a:latin typeface="PT Sans" pitchFamily="34" charset="0"/>
                <a:ea typeface="PT Sans" pitchFamily="34" charset="-122"/>
                <a:cs typeface="PT Sans" pitchFamily="34" charset="-120"/>
              </a:rPr>
              <a:t>It is the practice of using visual elements to communicate information or ideas.</a:t>
            </a:r>
            <a:endParaRPr lang="en-US" sz="1550" dirty="0"/>
          </a:p>
        </p:txBody>
      </p:sp>
      <p:sp>
        <p:nvSpPr>
          <p:cNvPr id="8" name="Text 5"/>
          <p:cNvSpPr/>
          <p:nvPr/>
        </p:nvSpPr>
        <p:spPr>
          <a:xfrm>
            <a:off x="920829" y="6260902"/>
            <a:ext cx="6072188" cy="1197292"/>
          </a:xfrm>
          <a:prstGeom prst="rect">
            <a:avLst/>
          </a:prstGeom>
          <a:noFill/>
          <a:ln/>
        </p:spPr>
        <p:txBody>
          <a:bodyPr wrap="square" lIns="0" tIns="0" rIns="0" bIns="0" rtlCol="0" anchor="t"/>
          <a:lstStyle/>
          <a:p>
            <a:pPr marL="342900" indent="-342900">
              <a:lnSpc>
                <a:spcPts val="2500"/>
              </a:lnSpc>
              <a:buSzPct val="100000"/>
              <a:buChar char="•"/>
            </a:pPr>
            <a:r>
              <a:rPr lang="en-US" sz="1550" dirty="0">
                <a:solidFill>
                  <a:srgbClr val="00002E"/>
                </a:solidFill>
                <a:latin typeface="PT Sans" pitchFamily="34" charset="0"/>
                <a:ea typeface="PT Sans" pitchFamily="34" charset="-122"/>
                <a:cs typeface="PT Sans" pitchFamily="34" charset="-120"/>
              </a:rPr>
              <a:t>There are several types of visual elements, they consist of objects, models, graphs, diagrams, maps, photographs and electronic resources.</a:t>
            </a:r>
            <a:endParaRPr lang="en-US" sz="1550" dirty="0"/>
          </a:p>
        </p:txBody>
      </p:sp>
      <p:sp>
        <p:nvSpPr>
          <p:cNvPr id="9" name="Shape 6"/>
          <p:cNvSpPr/>
          <p:nvPr/>
        </p:nvSpPr>
        <p:spPr>
          <a:xfrm>
            <a:off x="7414974" y="4698802"/>
            <a:ext cx="6517005" cy="2981801"/>
          </a:xfrm>
          <a:prstGeom prst="roundRect">
            <a:avLst>
              <a:gd name="adj" fmla="val 10040"/>
            </a:avLst>
          </a:prstGeom>
          <a:solidFill>
            <a:srgbClr val="F3F3FF"/>
          </a:solidFill>
          <a:ln w="22860">
            <a:solidFill>
              <a:srgbClr val="018CE1"/>
            </a:solidFill>
            <a:prstDash val="solid"/>
          </a:ln>
        </p:spPr>
      </p:sp>
      <p:sp>
        <p:nvSpPr>
          <p:cNvPr id="10" name="Text 7"/>
          <p:cNvSpPr/>
          <p:nvPr/>
        </p:nvSpPr>
        <p:spPr>
          <a:xfrm>
            <a:off x="7637383" y="4921210"/>
            <a:ext cx="2347912" cy="293489"/>
          </a:xfrm>
          <a:prstGeom prst="rect">
            <a:avLst/>
          </a:prstGeom>
          <a:noFill/>
          <a:ln/>
        </p:spPr>
        <p:txBody>
          <a:bodyPr wrap="none" lIns="0" tIns="0" rIns="0" bIns="0" rtlCol="0" anchor="t"/>
          <a:lstStyle/>
          <a:p>
            <a:pPr indent="0" marL="0">
              <a:lnSpc>
                <a:spcPts val="2300"/>
              </a:lnSpc>
              <a:buNone/>
            </a:pPr>
            <a:endParaRPr lang="en-US" sz="1800" dirty="0"/>
          </a:p>
        </p:txBody>
      </p:sp>
      <p:sp>
        <p:nvSpPr>
          <p:cNvPr id="11" name="Text 8"/>
          <p:cNvSpPr/>
          <p:nvPr/>
        </p:nvSpPr>
        <p:spPr>
          <a:xfrm>
            <a:off x="7637383" y="5334357"/>
            <a:ext cx="6072188" cy="798195"/>
          </a:xfrm>
          <a:prstGeom prst="rect">
            <a:avLst/>
          </a:prstGeom>
          <a:noFill/>
          <a:ln/>
        </p:spPr>
        <p:txBody>
          <a:bodyPr wrap="square" lIns="0" tIns="0" rIns="0" bIns="0" rtlCol="0" anchor="t"/>
          <a:lstStyle/>
          <a:p>
            <a:pPr marL="342900" indent="-342900">
              <a:lnSpc>
                <a:spcPts val="2500"/>
              </a:lnSpc>
              <a:buSzPct val="100000"/>
              <a:buChar char="•"/>
            </a:pPr>
            <a:r>
              <a:rPr lang="en-US" sz="1550" dirty="0">
                <a:solidFill>
                  <a:srgbClr val="00002E"/>
                </a:solidFill>
                <a:latin typeface="PT Sans" pitchFamily="34" charset="0"/>
                <a:ea typeface="PT Sans" pitchFamily="34" charset="-122"/>
                <a:cs typeface="PT Sans" pitchFamily="34" charset="-120"/>
              </a:rPr>
              <a:t>Visual communication skills refer to one's ability to communicate through the signals received by eyes. </a:t>
            </a:r>
            <a:endParaRPr lang="en-US" sz="1550" dirty="0"/>
          </a:p>
        </p:txBody>
      </p:sp>
      <p:sp>
        <p:nvSpPr>
          <p:cNvPr id="12" name="Text 9"/>
          <p:cNvSpPr/>
          <p:nvPr/>
        </p:nvSpPr>
        <p:spPr>
          <a:xfrm>
            <a:off x="7637383" y="6202323"/>
            <a:ext cx="6072188" cy="798195"/>
          </a:xfrm>
          <a:prstGeom prst="rect">
            <a:avLst/>
          </a:prstGeom>
          <a:noFill/>
          <a:ln/>
        </p:spPr>
        <p:txBody>
          <a:bodyPr wrap="square" lIns="0" tIns="0" rIns="0" bIns="0" rtlCol="0" anchor="t"/>
          <a:lstStyle/>
          <a:p>
            <a:pPr marL="342900" indent="-342900">
              <a:lnSpc>
                <a:spcPts val="2500"/>
              </a:lnSpc>
              <a:buSzPct val="100000"/>
              <a:buChar char="•"/>
            </a:pPr>
            <a:r>
              <a:rPr lang="en-US" sz="1550" dirty="0">
                <a:solidFill>
                  <a:srgbClr val="00002E"/>
                </a:solidFill>
                <a:latin typeface="PT Sans" pitchFamily="34" charset="0"/>
                <a:ea typeface="PT Sans" pitchFamily="34" charset="-122"/>
                <a:cs typeface="PT Sans" pitchFamily="34" charset="-120"/>
              </a:rPr>
              <a:t>Any nonverbal communication utilizing the sense of sight is known as visual communication.</a:t>
            </a:r>
            <a:endParaRPr lang="en-US" sz="1550" dirty="0"/>
          </a:p>
        </p:txBody>
      </p:sp>
      <p:sp>
        <p:nvSpPr>
          <p:cNvPr id="13" name="Text 10"/>
          <p:cNvSpPr/>
          <p:nvPr/>
        </p:nvSpPr>
        <p:spPr>
          <a:xfrm>
            <a:off x="7637383" y="7120176"/>
            <a:ext cx="6072188" cy="319207"/>
          </a:xfrm>
          <a:prstGeom prst="rect">
            <a:avLst/>
          </a:prstGeom>
          <a:noFill/>
          <a:ln/>
        </p:spPr>
        <p:txBody>
          <a:bodyPr wrap="none" lIns="0" tIns="0" rIns="0" bIns="0" rtlCol="0" anchor="t"/>
          <a:lstStyle/>
          <a:p>
            <a:pPr indent="0" marL="0">
              <a:lnSpc>
                <a:spcPts val="2500"/>
              </a:lnSpc>
              <a:buNone/>
            </a:pP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2509838"/>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4" name="Text 1"/>
          <p:cNvSpPr/>
          <p:nvPr/>
        </p:nvSpPr>
        <p:spPr>
          <a:xfrm>
            <a:off x="837724" y="3572828"/>
            <a:ext cx="2816185" cy="351949"/>
          </a:xfrm>
          <a:prstGeom prst="rect">
            <a:avLst/>
          </a:prstGeom>
          <a:noFill/>
          <a:ln/>
        </p:spPr>
        <p:txBody>
          <a:bodyPr wrap="none" lIns="0" tIns="0" rIns="0" bIns="0" rtlCol="0" anchor="t"/>
          <a:lstStyle/>
          <a:p>
            <a:pPr indent="0" marL="0">
              <a:lnSpc>
                <a:spcPts val="2750"/>
              </a:lnSpc>
              <a:buNone/>
            </a:pPr>
            <a:endParaRPr lang="en-US" sz="2200" dirty="0"/>
          </a:p>
        </p:txBody>
      </p:sp>
      <p:sp>
        <p:nvSpPr>
          <p:cNvPr id="5" name="Text 2"/>
          <p:cNvSpPr/>
          <p:nvPr/>
        </p:nvSpPr>
        <p:spPr>
          <a:xfrm>
            <a:off x="837724" y="4283750"/>
            <a:ext cx="7468553"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The body gestures, facial expressions, and eye contact of an individual can also help in visual communication by conveying a message.</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501378"/>
            <a:ext cx="5632490" cy="704017"/>
          </a:xfrm>
          <a:prstGeom prst="rect">
            <a:avLst/>
          </a:prstGeom>
          <a:noFill/>
          <a:ln/>
        </p:spPr>
        <p:txBody>
          <a:bodyPr wrap="none" lIns="0" tIns="0" rIns="0" bIns="0" rtlCol="0" anchor="t"/>
          <a:lstStyle/>
          <a:p>
            <a:pPr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Aural soft skills</a:t>
            </a:r>
            <a:endParaRPr lang="en-US" sz="4400" dirty="0"/>
          </a:p>
        </p:txBody>
      </p:sp>
      <p:sp>
        <p:nvSpPr>
          <p:cNvPr id="3" name="Text 1"/>
          <p:cNvSpPr/>
          <p:nvPr/>
        </p:nvSpPr>
        <p:spPr>
          <a:xfrm>
            <a:off x="837724" y="2648069"/>
            <a:ext cx="6185535"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Aural soft skill involves the transmission of information through the auditory sensory system.</a:t>
            </a:r>
            <a:endParaRPr lang="en-US" sz="1850" dirty="0"/>
          </a:p>
        </p:txBody>
      </p:sp>
      <p:sp>
        <p:nvSpPr>
          <p:cNvPr id="4" name="Text 2"/>
          <p:cNvSpPr/>
          <p:nvPr/>
        </p:nvSpPr>
        <p:spPr>
          <a:xfrm>
            <a:off x="837724" y="4167664"/>
            <a:ext cx="6185535"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It usually encompasses both verbal communication to convey meaning.</a:t>
            </a:r>
            <a:endParaRPr lang="en-US" sz="1850" dirty="0"/>
          </a:p>
        </p:txBody>
      </p:sp>
      <p:sp>
        <p:nvSpPr>
          <p:cNvPr id="5" name="Text 3"/>
          <p:cNvSpPr/>
          <p:nvPr/>
        </p:nvSpPr>
        <p:spPr>
          <a:xfrm>
            <a:off x="837724" y="5208627"/>
            <a:ext cx="6185535"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Aural soft skills include empathy, active listening, clarity of speech, emotional intelligence etc.</a:t>
            </a:r>
            <a:endParaRPr lang="en-US" sz="1850" dirty="0"/>
          </a:p>
        </p:txBody>
      </p:sp>
      <p:sp>
        <p:nvSpPr>
          <p:cNvPr id="6" name="Text 4"/>
          <p:cNvSpPr/>
          <p:nvPr/>
        </p:nvSpPr>
        <p:spPr>
          <a:xfrm>
            <a:off x="7614761" y="2648069"/>
            <a:ext cx="6185535"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Aural communication relies heavily on spoken words. </a:t>
            </a:r>
            <a:endParaRPr lang="en-US" sz="1850" dirty="0"/>
          </a:p>
        </p:txBody>
      </p:sp>
      <p:sp>
        <p:nvSpPr>
          <p:cNvPr id="7" name="Text 5"/>
          <p:cNvSpPr/>
          <p:nvPr/>
        </p:nvSpPr>
        <p:spPr>
          <a:xfrm>
            <a:off x="7614761" y="3689032"/>
            <a:ext cx="6185535" cy="1914525"/>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Para linguistic or para verbal communication, in which information is conveyed through the speaker's voice is also an important part of aural communication.</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1134547"/>
            <a:ext cx="8462129" cy="704017"/>
          </a:xfrm>
          <a:prstGeom prst="rect">
            <a:avLst/>
          </a:prstGeom>
          <a:noFill/>
          <a:ln/>
        </p:spPr>
        <p:txBody>
          <a:bodyPr wrap="none" lIns="0" tIns="0" rIns="0" bIns="0" rtlCol="0" anchor="t"/>
          <a:lstStyle/>
          <a:p>
            <a:pPr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THE WAY OF COMMUNICATION</a:t>
            </a:r>
            <a:endParaRPr lang="en-US" sz="4400" dirty="0"/>
          </a:p>
        </p:txBody>
      </p:sp>
      <p:sp>
        <p:nvSpPr>
          <p:cNvPr id="3" name="Text 1"/>
          <p:cNvSpPr/>
          <p:nvPr/>
        </p:nvSpPr>
        <p:spPr>
          <a:xfrm>
            <a:off x="837724" y="2436852"/>
            <a:ext cx="2816185" cy="351949"/>
          </a:xfrm>
          <a:prstGeom prst="rect">
            <a:avLst/>
          </a:prstGeom>
          <a:noFill/>
          <a:ln/>
        </p:spPr>
        <p:txBody>
          <a:bodyPr wrap="none" lIns="0" tIns="0" rIns="0" bIns="0" rtlCol="0" anchor="t"/>
          <a:lstStyle/>
          <a:p>
            <a:pPr indent="0" marL="0">
              <a:lnSpc>
                <a:spcPts val="2750"/>
              </a:lnSpc>
              <a:buNone/>
            </a:pPr>
            <a:endParaRPr lang="en-US" sz="2200" dirty="0"/>
          </a:p>
        </p:txBody>
      </p:sp>
      <p:sp>
        <p:nvSpPr>
          <p:cNvPr id="4" name="Text 2"/>
          <p:cNvSpPr/>
          <p:nvPr/>
        </p:nvSpPr>
        <p:spPr>
          <a:xfrm>
            <a:off x="837724" y="3028117"/>
            <a:ext cx="6185535"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Communication is the process in which people affect one another through the exchange of information, ideas, and feelings. </a:t>
            </a:r>
            <a:endParaRPr lang="en-US" sz="1850" dirty="0"/>
          </a:p>
        </p:txBody>
      </p:sp>
      <p:sp>
        <p:nvSpPr>
          <p:cNvPr id="5" name="Text 3"/>
          <p:cNvSpPr/>
          <p:nvPr/>
        </p:nvSpPr>
        <p:spPr>
          <a:xfrm>
            <a:off x="837724" y="4547711"/>
            <a:ext cx="6185535"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Interpersonal communication is basic to human interaction and essential for nursing practice.</a:t>
            </a:r>
            <a:endParaRPr lang="en-US" sz="1850" dirty="0"/>
          </a:p>
        </p:txBody>
      </p:sp>
      <p:sp>
        <p:nvSpPr>
          <p:cNvPr id="6" name="Text 4"/>
          <p:cNvSpPr/>
          <p:nvPr/>
        </p:nvSpPr>
        <p:spPr>
          <a:xfrm>
            <a:off x="7614761" y="2436852"/>
            <a:ext cx="3490912"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Verbal Communication</a:t>
            </a:r>
            <a:endParaRPr lang="en-US" sz="2650" dirty="0"/>
          </a:p>
        </p:txBody>
      </p:sp>
      <p:sp>
        <p:nvSpPr>
          <p:cNvPr id="7" name="Text 5"/>
          <p:cNvSpPr/>
          <p:nvPr/>
        </p:nvSpPr>
        <p:spPr>
          <a:xfrm>
            <a:off x="7614761" y="3098483"/>
            <a:ext cx="6185535" cy="1914525"/>
          </a:xfrm>
          <a:prstGeom prst="rect">
            <a:avLst/>
          </a:prstGeom>
          <a:noFill/>
          <a:ln/>
        </p:spPr>
        <p:txBody>
          <a:bodyPr wrap="square" lIns="0" tIns="0" rIns="0" bIns="0" rtlCol="0" anchor="t"/>
          <a:lstStyle/>
          <a:p>
            <a:pPr marL="342900" indent="-342900">
              <a:lnSpc>
                <a:spcPts val="3000"/>
              </a:lnSpc>
              <a:buSzPct val="100000"/>
              <a:buChar char="•"/>
            </a:pPr>
            <a:r>
              <a:rPr lang="en-US" sz="1850" b="1" dirty="0">
                <a:solidFill>
                  <a:srgbClr val="00002E"/>
                </a:solidFill>
                <a:latin typeface="PT Sans" pitchFamily="34" charset="0"/>
                <a:ea typeface="PT Sans" pitchFamily="34" charset="-122"/>
                <a:cs typeface="PT Sans" pitchFamily="34" charset="-120"/>
              </a:rPr>
              <a:t>Verbal communication </a:t>
            </a:r>
            <a:pPr indent="0" marL="0">
              <a:lnSpc>
                <a:spcPts val="3000"/>
              </a:lnSpc>
              <a:buNone/>
            </a:pPr>
            <a:r>
              <a:rPr lang="en-US" sz="1850" dirty="0">
                <a:solidFill>
                  <a:srgbClr val="00002E"/>
                </a:solidFill>
                <a:latin typeface="PT Sans" pitchFamily="34" charset="0"/>
                <a:ea typeface="PT Sans" pitchFamily="34" charset="-122"/>
                <a:cs typeface="PT Sans" pitchFamily="34" charset="-120"/>
              </a:rPr>
              <a:t>occurs when we engage in speaking with others. It can be face-to-face, over the telephone, via Skype or Zoom, etc. </a:t>
            </a:r>
            <a:endParaRPr lang="en-US" sz="1850" dirty="0"/>
          </a:p>
        </p:txBody>
      </p:sp>
      <p:sp>
        <p:nvSpPr>
          <p:cNvPr id="8" name="Text 6"/>
          <p:cNvSpPr/>
          <p:nvPr/>
        </p:nvSpPr>
        <p:spPr>
          <a:xfrm>
            <a:off x="7614761" y="5096708"/>
            <a:ext cx="6185535" cy="1914525"/>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Some verbal engagements are informal, such as chatting with a friend over coffee or in the office, while others are more formal, such as a scheduled meeting.</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863685"/>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Text 1"/>
          <p:cNvSpPr/>
          <p:nvPr/>
        </p:nvSpPr>
        <p:spPr>
          <a:xfrm>
            <a:off x="837724" y="3165991"/>
            <a:ext cx="4082534"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Nonverbal Communication</a:t>
            </a:r>
            <a:endParaRPr lang="en-US" sz="2650" dirty="0"/>
          </a:p>
        </p:txBody>
      </p:sp>
      <p:sp>
        <p:nvSpPr>
          <p:cNvPr id="4" name="Text 2"/>
          <p:cNvSpPr/>
          <p:nvPr/>
        </p:nvSpPr>
        <p:spPr>
          <a:xfrm>
            <a:off x="837724" y="3827621"/>
            <a:ext cx="6185535" cy="1435894"/>
          </a:xfrm>
          <a:prstGeom prst="rect">
            <a:avLst/>
          </a:prstGeom>
          <a:noFill/>
          <a:ln/>
        </p:spPr>
        <p:txBody>
          <a:bodyPr wrap="square" lIns="0" tIns="0" rIns="0" bIns="0" rtlCol="0" anchor="t"/>
          <a:lstStyle/>
          <a:p>
            <a:pPr indent="0" marL="0">
              <a:lnSpc>
                <a:spcPts val="3750"/>
              </a:lnSpc>
              <a:buNone/>
            </a:pPr>
            <a:r>
              <a:rPr lang="en-US" sz="2350" b="1" dirty="0">
                <a:solidFill>
                  <a:srgbClr val="00002E"/>
                </a:solidFill>
                <a:latin typeface="PT Sans" pitchFamily="34" charset="0"/>
                <a:ea typeface="PT Sans" pitchFamily="34" charset="-122"/>
                <a:cs typeface="PT Sans" pitchFamily="34" charset="-120"/>
              </a:rPr>
              <a:t>Nonverbal Communication</a:t>
            </a:r>
            <a:pPr indent="0" marL="0">
              <a:lnSpc>
                <a:spcPts val="3750"/>
              </a:lnSpc>
              <a:buNone/>
            </a:pPr>
            <a:r>
              <a:rPr lang="en-US" sz="2350" dirty="0">
                <a:solidFill>
                  <a:srgbClr val="00002E"/>
                </a:solidFill>
                <a:latin typeface="PT Sans" pitchFamily="34" charset="0"/>
                <a:ea typeface="PT Sans" pitchFamily="34" charset="-122"/>
                <a:cs typeface="PT Sans" pitchFamily="34" charset="-120"/>
              </a:rPr>
              <a:t>-Any communication without the use of speech and language refers to nonverbal communication.</a:t>
            </a:r>
            <a:endParaRPr lang="en-US" sz="2350" dirty="0"/>
          </a:p>
        </p:txBody>
      </p:sp>
      <p:sp>
        <p:nvSpPr>
          <p:cNvPr id="5" name="Text 3"/>
          <p:cNvSpPr/>
          <p:nvPr/>
        </p:nvSpPr>
        <p:spPr>
          <a:xfrm>
            <a:off x="7614761" y="3165991"/>
            <a:ext cx="2816185" cy="351949"/>
          </a:xfrm>
          <a:prstGeom prst="rect">
            <a:avLst/>
          </a:prstGeom>
          <a:noFill/>
          <a:ln/>
        </p:spPr>
        <p:txBody>
          <a:bodyPr wrap="none" lIns="0" tIns="0" rIns="0" bIns="0" rtlCol="0" anchor="t"/>
          <a:lstStyle/>
          <a:p>
            <a:pPr indent="0" marL="0">
              <a:lnSpc>
                <a:spcPts val="2750"/>
              </a:lnSpc>
              <a:buNone/>
            </a:pPr>
            <a:endParaRPr lang="en-US" sz="2200" dirty="0"/>
          </a:p>
        </p:txBody>
      </p:sp>
      <p:sp>
        <p:nvSpPr>
          <p:cNvPr id="6" name="Text 4"/>
          <p:cNvSpPr/>
          <p:nvPr/>
        </p:nvSpPr>
        <p:spPr>
          <a:xfrm>
            <a:off x="7614761" y="3757255"/>
            <a:ext cx="6185535" cy="2393156"/>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Gestures, smiles, cries, signs and signals, all traffic signs, expression of attitudes and emotions through facial expression, change in body position, head movements expressing Yes or No refer to nonverbal communication.</a:t>
            </a:r>
            <a:endParaRPr lang="en-US" sz="2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37724" y="1409105"/>
            <a:ext cx="11398568" cy="704017"/>
          </a:xfrm>
          <a:prstGeom prst="rect">
            <a:avLst/>
          </a:prstGeom>
          <a:noFill/>
          <a:ln/>
        </p:spPr>
        <p:txBody>
          <a:bodyPr wrap="none" lIns="0" tIns="0" rIns="0" bIns="0" rtlCol="0" anchor="t"/>
          <a:lstStyle/>
          <a:p>
            <a:pPr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Building Relationship with client and society</a:t>
            </a:r>
            <a:endParaRPr lang="en-US" sz="4400" dirty="0"/>
          </a:p>
        </p:txBody>
      </p:sp>
      <p:sp>
        <p:nvSpPr>
          <p:cNvPr id="3" name="Text 1"/>
          <p:cNvSpPr/>
          <p:nvPr/>
        </p:nvSpPr>
        <p:spPr>
          <a:xfrm>
            <a:off x="837724" y="2711410"/>
            <a:ext cx="2816185" cy="351949"/>
          </a:xfrm>
          <a:prstGeom prst="rect">
            <a:avLst/>
          </a:prstGeom>
          <a:noFill/>
          <a:ln/>
        </p:spPr>
        <p:txBody>
          <a:bodyPr wrap="none" lIns="0" tIns="0" rIns="0" bIns="0" rtlCol="0" anchor="t"/>
          <a:lstStyle/>
          <a:p>
            <a:pPr indent="0" marL="0">
              <a:lnSpc>
                <a:spcPts val="2750"/>
              </a:lnSpc>
              <a:buNone/>
            </a:pPr>
            <a:endParaRPr lang="en-US" sz="2200" dirty="0"/>
          </a:p>
        </p:txBody>
      </p:sp>
      <p:sp>
        <p:nvSpPr>
          <p:cNvPr id="4" name="Text 2"/>
          <p:cNvSpPr/>
          <p:nvPr/>
        </p:nvSpPr>
        <p:spPr>
          <a:xfrm>
            <a:off x="837724" y="3302675"/>
            <a:ext cx="6185535" cy="2871788"/>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Nurses are responsible for total patient care includes physical care, performing technical procedures, creating safe and comfortable environment, formal and informal teaching, counseling, and acting as a patient's advocate.</a:t>
            </a:r>
            <a:endParaRPr lang="en-US" sz="1850" dirty="0"/>
          </a:p>
        </p:txBody>
      </p:sp>
      <p:sp>
        <p:nvSpPr>
          <p:cNvPr id="5" name="Text 3"/>
          <p:cNvSpPr/>
          <p:nvPr/>
        </p:nvSpPr>
        <p:spPr>
          <a:xfrm>
            <a:off x="7614761" y="2711410"/>
            <a:ext cx="2816185" cy="351949"/>
          </a:xfrm>
          <a:prstGeom prst="rect">
            <a:avLst/>
          </a:prstGeom>
          <a:noFill/>
          <a:ln/>
        </p:spPr>
        <p:txBody>
          <a:bodyPr wrap="none" lIns="0" tIns="0" rIns="0" bIns="0" rtlCol="0" anchor="t"/>
          <a:lstStyle/>
          <a:p>
            <a:pPr indent="0" marL="0">
              <a:lnSpc>
                <a:spcPts val="2750"/>
              </a:lnSpc>
              <a:buNone/>
            </a:pPr>
            <a:endParaRPr lang="en-US" sz="2200" dirty="0"/>
          </a:p>
        </p:txBody>
      </p:sp>
      <p:sp>
        <p:nvSpPr>
          <p:cNvPr id="6" name="Text 4"/>
          <p:cNvSpPr/>
          <p:nvPr/>
        </p:nvSpPr>
        <p:spPr>
          <a:xfrm>
            <a:off x="7614761" y="3302675"/>
            <a:ext cx="6185535" cy="1914525"/>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The main purpose of building a relationship with the patient is to support and promote healing process, and enhance illness recovery.</a:t>
            </a:r>
            <a:endParaRPr lang="en-US" sz="1850" dirty="0"/>
          </a:p>
        </p:txBody>
      </p:sp>
      <p:sp>
        <p:nvSpPr>
          <p:cNvPr id="7" name="Text 5"/>
          <p:cNvSpPr/>
          <p:nvPr/>
        </p:nvSpPr>
        <p:spPr>
          <a:xfrm>
            <a:off x="7614761" y="5300901"/>
            <a:ext cx="6185535"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Elements or qualities that help a nurse to build therapeutic relationship with the patient are:- </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173718"/>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4" name="Shape 1"/>
          <p:cNvSpPr/>
          <p:nvPr/>
        </p:nvSpPr>
        <p:spPr>
          <a:xfrm>
            <a:off x="6324124" y="2505908"/>
            <a:ext cx="418862" cy="418862"/>
          </a:xfrm>
          <a:prstGeom prst="roundRect">
            <a:avLst>
              <a:gd name="adj" fmla="val 85725"/>
            </a:avLst>
          </a:prstGeom>
          <a:solidFill>
            <a:srgbClr val="F3F3FF"/>
          </a:solidFill>
          <a:ln w="22860">
            <a:solidFill>
              <a:srgbClr val="2D4DF2"/>
            </a:solidFill>
            <a:prstDash val="solid"/>
          </a:ln>
        </p:spPr>
      </p:sp>
      <p:sp>
        <p:nvSpPr>
          <p:cNvPr id="5" name="Text 2"/>
          <p:cNvSpPr/>
          <p:nvPr/>
        </p:nvSpPr>
        <p:spPr>
          <a:xfrm>
            <a:off x="6982301" y="2505908"/>
            <a:ext cx="2956441" cy="703898"/>
          </a:xfrm>
          <a:prstGeom prst="rect">
            <a:avLst/>
          </a:prstGeom>
          <a:noFill/>
          <a:ln/>
        </p:spPr>
        <p:txBody>
          <a:bodyPr wrap="square" lIns="0" tIns="0" rIns="0" bIns="0" rtlCol="0" anchor="t"/>
          <a:lstStyle/>
          <a:p>
            <a:pPr indent="0" marL="0">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Competence in Knowledge and Skill</a:t>
            </a:r>
            <a:endParaRPr lang="en-US" sz="2200" dirty="0"/>
          </a:p>
        </p:txBody>
      </p:sp>
      <p:sp>
        <p:nvSpPr>
          <p:cNvPr id="6" name="Text 3"/>
          <p:cNvSpPr/>
          <p:nvPr/>
        </p:nvSpPr>
        <p:spPr>
          <a:xfrm>
            <a:off x="6982301" y="3353395"/>
            <a:ext cx="2956441" cy="1914525"/>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It is the ability to perform activities effectively and efficiently.</a:t>
            </a:r>
            <a:endParaRPr lang="en-US" sz="2350" dirty="0"/>
          </a:p>
        </p:txBody>
      </p:sp>
      <p:sp>
        <p:nvSpPr>
          <p:cNvPr id="7" name="Shape 4"/>
          <p:cNvSpPr/>
          <p:nvPr/>
        </p:nvSpPr>
        <p:spPr>
          <a:xfrm>
            <a:off x="10178058" y="2505908"/>
            <a:ext cx="418862" cy="418862"/>
          </a:xfrm>
          <a:prstGeom prst="roundRect">
            <a:avLst>
              <a:gd name="adj" fmla="val 85725"/>
            </a:avLst>
          </a:prstGeom>
          <a:solidFill>
            <a:srgbClr val="F3F3FF"/>
          </a:solidFill>
          <a:ln w="22860">
            <a:solidFill>
              <a:srgbClr val="018CE1"/>
            </a:solidFill>
            <a:prstDash val="solid"/>
          </a:ln>
        </p:spPr>
      </p:sp>
      <p:sp>
        <p:nvSpPr>
          <p:cNvPr id="8" name="Text 5"/>
          <p:cNvSpPr/>
          <p:nvPr/>
        </p:nvSpPr>
        <p:spPr>
          <a:xfrm>
            <a:off x="10836235" y="2505908"/>
            <a:ext cx="2956441" cy="1055846"/>
          </a:xfrm>
          <a:prstGeom prst="rect">
            <a:avLst/>
          </a:prstGeom>
          <a:noFill/>
          <a:ln/>
        </p:spPr>
        <p:txBody>
          <a:bodyPr wrap="square" lIns="0" tIns="0" rIns="0" bIns="0" rtlCol="0" anchor="t"/>
          <a:lstStyle/>
          <a:p>
            <a:pPr indent="0" marL="0">
              <a:lnSpc>
                <a:spcPts val="2750"/>
              </a:lnSpc>
              <a:buNone/>
            </a:pPr>
            <a:r>
              <a:rPr lang="en-US" sz="2200" dirty="0">
                <a:solidFill>
                  <a:srgbClr val="00002E"/>
                </a:solidFill>
                <a:latin typeface="Nunito Semi Bold" pitchFamily="34" charset="0"/>
                <a:ea typeface="Nunito Semi Bold" pitchFamily="34" charset="-122"/>
                <a:cs typeface="Nunito Semi Bold" pitchFamily="34" charset="-120"/>
              </a:rPr>
              <a:t>Competence in Soft Skills and Communication Skills</a:t>
            </a:r>
            <a:endParaRPr lang="en-US" sz="2200" dirty="0"/>
          </a:p>
        </p:txBody>
      </p:sp>
      <p:sp>
        <p:nvSpPr>
          <p:cNvPr id="9" name="Text 6"/>
          <p:cNvSpPr/>
          <p:nvPr/>
        </p:nvSpPr>
        <p:spPr>
          <a:xfrm>
            <a:off x="10836235" y="3705344"/>
            <a:ext cx="2956441" cy="3350419"/>
          </a:xfrm>
          <a:prstGeom prst="rect">
            <a:avLst/>
          </a:prstGeom>
          <a:noFill/>
          <a:ln/>
        </p:spPr>
        <p:txBody>
          <a:bodyPr wrap="squar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To establish a good relationship with the patient and his care givers the nurses are required to have effective communication skills.</a:t>
            </a:r>
            <a:endParaRPr lang="en-US" sz="2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934"/>
          </a:xfrm>
          <a:prstGeom prst="rect">
            <a:avLst/>
          </a:prstGeom>
        </p:spPr>
      </p:pic>
      <p:sp>
        <p:nvSpPr>
          <p:cNvPr id="3" name="Text 0"/>
          <p:cNvSpPr/>
          <p:nvPr/>
        </p:nvSpPr>
        <p:spPr>
          <a:xfrm>
            <a:off x="759738" y="596860"/>
            <a:ext cx="5107543" cy="638413"/>
          </a:xfrm>
          <a:prstGeom prst="rect">
            <a:avLst/>
          </a:prstGeom>
          <a:noFill/>
          <a:ln/>
        </p:spPr>
        <p:txBody>
          <a:bodyPr wrap="none" lIns="0" tIns="0" rIns="0" bIns="0" rtlCol="0" anchor="t"/>
          <a:lstStyle/>
          <a:p>
            <a:pPr indent="0" marL="0">
              <a:lnSpc>
                <a:spcPts val="5000"/>
              </a:lnSpc>
              <a:buNone/>
            </a:pPr>
            <a:endParaRPr lang="en-US" sz="4000" dirty="0"/>
          </a:p>
        </p:txBody>
      </p:sp>
      <p:sp>
        <p:nvSpPr>
          <p:cNvPr id="4" name="Shape 1"/>
          <p:cNvSpPr/>
          <p:nvPr/>
        </p:nvSpPr>
        <p:spPr>
          <a:xfrm>
            <a:off x="759738" y="1804988"/>
            <a:ext cx="379809" cy="379809"/>
          </a:xfrm>
          <a:prstGeom prst="roundRect">
            <a:avLst>
              <a:gd name="adj" fmla="val 85729"/>
            </a:avLst>
          </a:prstGeom>
          <a:solidFill>
            <a:srgbClr val="F3F3FF"/>
          </a:solidFill>
          <a:ln w="22860">
            <a:solidFill>
              <a:srgbClr val="2D4DF2"/>
            </a:solidFill>
            <a:prstDash val="solid"/>
          </a:ln>
        </p:spPr>
      </p:sp>
      <p:sp>
        <p:nvSpPr>
          <p:cNvPr id="5" name="Text 2"/>
          <p:cNvSpPr/>
          <p:nvPr/>
        </p:nvSpPr>
        <p:spPr>
          <a:xfrm>
            <a:off x="1356598" y="1804988"/>
            <a:ext cx="2553772" cy="319207"/>
          </a:xfrm>
          <a:prstGeom prst="rect">
            <a:avLst/>
          </a:prstGeom>
          <a:noFill/>
          <a:ln/>
        </p:spPr>
        <p:txBody>
          <a:bodyPr wrap="none" lIns="0" tIns="0" rIns="0" bIns="0" rtlCol="0" anchor="t"/>
          <a:lstStyle/>
          <a:p>
            <a:pPr indent="0" marL="0">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Honesty</a:t>
            </a:r>
            <a:endParaRPr lang="en-US" sz="2000" dirty="0"/>
          </a:p>
        </p:txBody>
      </p:sp>
      <p:sp>
        <p:nvSpPr>
          <p:cNvPr id="6" name="Text 3"/>
          <p:cNvSpPr/>
          <p:nvPr/>
        </p:nvSpPr>
        <p:spPr>
          <a:xfrm>
            <a:off x="1356598" y="2254329"/>
            <a:ext cx="7027664" cy="2170509"/>
          </a:xfrm>
          <a:prstGeom prst="rect">
            <a:avLst/>
          </a:prstGeom>
          <a:noFill/>
          <a:ln/>
        </p:spPr>
        <p:txBody>
          <a:bodyPr wrap="square" lIns="0" tIns="0" rIns="0" bIns="0" rtlCol="0" anchor="t"/>
          <a:lstStyle/>
          <a:p>
            <a:pPr indent="0" marL="0">
              <a:lnSpc>
                <a:spcPts val="3400"/>
              </a:lnSpc>
              <a:buNone/>
            </a:pPr>
            <a:r>
              <a:rPr lang="en-US" sz="2100" dirty="0">
                <a:solidFill>
                  <a:srgbClr val="00002E"/>
                </a:solidFill>
                <a:latin typeface="PT Sans" pitchFamily="34" charset="0"/>
                <a:ea typeface="PT Sans" pitchFamily="34" charset="-122"/>
                <a:cs typeface="PT Sans" pitchFamily="34" charset="-120"/>
              </a:rPr>
              <a:t>Honesty in nursing means doing the right thing in a right way, coming to work on time, not skipping on patient care, admitting to mistakes made and facing the consequences, not gossiping about the patients and being true to ones beliefs.</a:t>
            </a:r>
            <a:endParaRPr lang="en-US" sz="2100" dirty="0"/>
          </a:p>
        </p:txBody>
      </p:sp>
      <p:sp>
        <p:nvSpPr>
          <p:cNvPr id="7" name="Shape 4"/>
          <p:cNvSpPr/>
          <p:nvPr/>
        </p:nvSpPr>
        <p:spPr>
          <a:xfrm>
            <a:off x="759738" y="4886087"/>
            <a:ext cx="379809" cy="379809"/>
          </a:xfrm>
          <a:prstGeom prst="roundRect">
            <a:avLst>
              <a:gd name="adj" fmla="val 85729"/>
            </a:avLst>
          </a:prstGeom>
          <a:solidFill>
            <a:srgbClr val="F3F3FF"/>
          </a:solidFill>
          <a:ln w="22860">
            <a:solidFill>
              <a:srgbClr val="018CE1"/>
            </a:solidFill>
            <a:prstDash val="solid"/>
          </a:ln>
        </p:spPr>
      </p:sp>
      <p:sp>
        <p:nvSpPr>
          <p:cNvPr id="8" name="Text 5"/>
          <p:cNvSpPr/>
          <p:nvPr/>
        </p:nvSpPr>
        <p:spPr>
          <a:xfrm>
            <a:off x="1356598" y="4886087"/>
            <a:ext cx="2553772" cy="319207"/>
          </a:xfrm>
          <a:prstGeom prst="rect">
            <a:avLst/>
          </a:prstGeom>
          <a:noFill/>
          <a:ln/>
        </p:spPr>
        <p:txBody>
          <a:bodyPr wrap="none" lIns="0" tIns="0" rIns="0" bIns="0" rtlCol="0" anchor="t"/>
          <a:lstStyle/>
          <a:p>
            <a:pPr indent="0" marL="0">
              <a:lnSpc>
                <a:spcPts val="2500"/>
              </a:lnSpc>
              <a:buNone/>
            </a:pPr>
            <a:r>
              <a:rPr lang="en-US" sz="2000" dirty="0">
                <a:solidFill>
                  <a:srgbClr val="00002E"/>
                </a:solidFill>
                <a:latin typeface="Nunito Semi Bold" pitchFamily="34" charset="0"/>
                <a:ea typeface="Nunito Semi Bold" pitchFamily="34" charset="-122"/>
                <a:cs typeface="Nunito Semi Bold" pitchFamily="34" charset="-120"/>
              </a:rPr>
              <a:t>Trust</a:t>
            </a:r>
            <a:endParaRPr lang="en-US" sz="2000" dirty="0"/>
          </a:p>
        </p:txBody>
      </p:sp>
      <p:sp>
        <p:nvSpPr>
          <p:cNvPr id="9" name="Text 6"/>
          <p:cNvSpPr/>
          <p:nvPr/>
        </p:nvSpPr>
        <p:spPr>
          <a:xfrm>
            <a:off x="1356598" y="5335429"/>
            <a:ext cx="7027664" cy="1302306"/>
          </a:xfrm>
          <a:prstGeom prst="rect">
            <a:avLst/>
          </a:prstGeom>
          <a:noFill/>
          <a:ln/>
        </p:spPr>
        <p:txBody>
          <a:bodyPr wrap="square" lIns="0" tIns="0" rIns="0" bIns="0" rtlCol="0" anchor="t"/>
          <a:lstStyle/>
          <a:p>
            <a:pPr indent="0" marL="0">
              <a:lnSpc>
                <a:spcPts val="3400"/>
              </a:lnSpc>
              <a:buNone/>
            </a:pPr>
            <a:r>
              <a:rPr lang="en-US" sz="2100" dirty="0">
                <a:solidFill>
                  <a:srgbClr val="00002E"/>
                </a:solidFill>
                <a:latin typeface="PT Sans" pitchFamily="34" charset="0"/>
                <a:ea typeface="PT Sans" pitchFamily="34" charset="-122"/>
                <a:cs typeface="PT Sans" pitchFamily="34" charset="-120"/>
              </a:rPr>
              <a:t>The nursing activities which facilitate trust are active listening, respecting, being honest and consistent in activities, and having an acceptable attitude.</a:t>
            </a:r>
            <a:endParaRPr lang="en-US" sz="2100" dirty="0"/>
          </a:p>
        </p:txBody>
      </p:sp>
      <p:sp>
        <p:nvSpPr>
          <p:cNvPr id="10" name="Text 7"/>
          <p:cNvSpPr/>
          <p:nvPr/>
        </p:nvSpPr>
        <p:spPr>
          <a:xfrm>
            <a:off x="1356598" y="6767870"/>
            <a:ext cx="7027664" cy="868204"/>
          </a:xfrm>
          <a:prstGeom prst="rect">
            <a:avLst/>
          </a:prstGeom>
          <a:noFill/>
          <a:ln/>
        </p:spPr>
        <p:txBody>
          <a:bodyPr wrap="square" lIns="0" tIns="0" rIns="0" bIns="0" rtlCol="0" anchor="t"/>
          <a:lstStyle/>
          <a:p>
            <a:pPr indent="0" marL="0">
              <a:lnSpc>
                <a:spcPts val="3400"/>
              </a:lnSpc>
              <a:buNone/>
            </a:pPr>
            <a:r>
              <a:rPr lang="en-US" sz="2100" dirty="0">
                <a:solidFill>
                  <a:srgbClr val="00002E"/>
                </a:solidFill>
                <a:latin typeface="PT Sans" pitchFamily="34" charset="0"/>
                <a:ea typeface="PT Sans" pitchFamily="34" charset="-122"/>
                <a:cs typeface="PT Sans" pitchFamily="34" charset="-120"/>
              </a:rPr>
              <a:t>If the patient develops trust on the nurse they are more likely to share and disclose information.</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0076"/>
          </a:xfrm>
          <a:prstGeom prst="rect">
            <a:avLst/>
          </a:prstGeom>
        </p:spPr>
      </p:pic>
      <p:sp>
        <p:nvSpPr>
          <p:cNvPr id="3" name="Text 0"/>
          <p:cNvSpPr/>
          <p:nvPr/>
        </p:nvSpPr>
        <p:spPr>
          <a:xfrm>
            <a:off x="687110" y="539829"/>
            <a:ext cx="4619387" cy="577453"/>
          </a:xfrm>
          <a:prstGeom prst="rect">
            <a:avLst/>
          </a:prstGeom>
          <a:noFill/>
          <a:ln/>
        </p:spPr>
        <p:txBody>
          <a:bodyPr wrap="none" lIns="0" tIns="0" rIns="0" bIns="0" rtlCol="0" anchor="t"/>
          <a:lstStyle/>
          <a:p>
            <a:pPr indent="0" marL="0">
              <a:lnSpc>
                <a:spcPts val="4500"/>
              </a:lnSpc>
              <a:buNone/>
            </a:pPr>
            <a:endParaRPr lang="en-US" sz="3600" dirty="0"/>
          </a:p>
        </p:txBody>
      </p:sp>
      <p:sp>
        <p:nvSpPr>
          <p:cNvPr id="4" name="Shape 1"/>
          <p:cNvSpPr/>
          <p:nvPr/>
        </p:nvSpPr>
        <p:spPr>
          <a:xfrm>
            <a:off x="687110" y="1632585"/>
            <a:ext cx="343495" cy="343495"/>
          </a:xfrm>
          <a:prstGeom prst="roundRect">
            <a:avLst>
              <a:gd name="adj" fmla="val 85733"/>
            </a:avLst>
          </a:prstGeom>
          <a:solidFill>
            <a:srgbClr val="F3F3FF"/>
          </a:solidFill>
          <a:ln w="22860">
            <a:solidFill>
              <a:srgbClr val="2D4DF2"/>
            </a:solidFill>
            <a:prstDash val="solid"/>
          </a:ln>
        </p:spPr>
      </p:sp>
      <p:sp>
        <p:nvSpPr>
          <p:cNvPr id="5" name="Text 2"/>
          <p:cNvSpPr/>
          <p:nvPr/>
        </p:nvSpPr>
        <p:spPr>
          <a:xfrm>
            <a:off x="1226820" y="1632585"/>
            <a:ext cx="2309693" cy="288727"/>
          </a:xfrm>
          <a:prstGeom prst="rect">
            <a:avLst/>
          </a:prstGeom>
          <a:noFill/>
          <a:ln/>
        </p:spPr>
        <p:txBody>
          <a:bodyPr wrap="none" lIns="0" tIns="0" rIns="0" bIns="0" rtlCol="0" anchor="t"/>
          <a:lstStyle/>
          <a:p>
            <a:pPr indent="0" marL="0">
              <a:lnSpc>
                <a:spcPts val="2250"/>
              </a:lnSpc>
              <a:buNone/>
            </a:pPr>
            <a:r>
              <a:rPr lang="en-US" sz="1800" dirty="0">
                <a:solidFill>
                  <a:srgbClr val="00002E"/>
                </a:solidFill>
                <a:latin typeface="Nunito Semi Bold" pitchFamily="34" charset="0"/>
                <a:ea typeface="Nunito Semi Bold" pitchFamily="34" charset="-122"/>
                <a:cs typeface="Nunito Semi Bold" pitchFamily="34" charset="-120"/>
              </a:rPr>
              <a:t>Empathy</a:t>
            </a:r>
            <a:endParaRPr lang="en-US" sz="1800" dirty="0"/>
          </a:p>
        </p:txBody>
      </p:sp>
      <p:sp>
        <p:nvSpPr>
          <p:cNvPr id="6" name="Text 3"/>
          <p:cNvSpPr/>
          <p:nvPr/>
        </p:nvSpPr>
        <p:spPr>
          <a:xfrm>
            <a:off x="1226820" y="2039064"/>
            <a:ext cx="7230070" cy="785098"/>
          </a:xfrm>
          <a:prstGeom prst="rect">
            <a:avLst/>
          </a:prstGeom>
          <a:noFill/>
          <a:ln/>
        </p:spPr>
        <p:txBody>
          <a:bodyPr wrap="square" lIns="0" tIns="0" rIns="0" bIns="0" rtlCol="0" anchor="t"/>
          <a:lstStyle/>
          <a:p>
            <a:pPr indent="0" marL="0">
              <a:lnSpc>
                <a:spcPts val="3050"/>
              </a:lnSpc>
              <a:buNone/>
            </a:pPr>
            <a:r>
              <a:rPr lang="en-US" sz="1900" dirty="0">
                <a:solidFill>
                  <a:srgbClr val="00002E"/>
                </a:solidFill>
                <a:latin typeface="PT Sans" pitchFamily="34" charset="0"/>
                <a:ea typeface="PT Sans" pitchFamily="34" charset="-122"/>
                <a:cs typeface="PT Sans" pitchFamily="34" charset="-120"/>
              </a:rPr>
              <a:t>It refers to the nurse's understanding of what the patient is experiencing from his own perspective.</a:t>
            </a:r>
            <a:endParaRPr lang="en-US" sz="1900" dirty="0"/>
          </a:p>
        </p:txBody>
      </p:sp>
      <p:sp>
        <p:nvSpPr>
          <p:cNvPr id="7" name="Shape 4"/>
          <p:cNvSpPr/>
          <p:nvPr/>
        </p:nvSpPr>
        <p:spPr>
          <a:xfrm>
            <a:off x="687110" y="3241238"/>
            <a:ext cx="343495" cy="343495"/>
          </a:xfrm>
          <a:prstGeom prst="roundRect">
            <a:avLst>
              <a:gd name="adj" fmla="val 85733"/>
            </a:avLst>
          </a:prstGeom>
          <a:solidFill>
            <a:srgbClr val="F3F3FF"/>
          </a:solidFill>
          <a:ln w="22860">
            <a:solidFill>
              <a:srgbClr val="018CE1"/>
            </a:solidFill>
            <a:prstDash val="solid"/>
          </a:ln>
        </p:spPr>
      </p:sp>
      <p:sp>
        <p:nvSpPr>
          <p:cNvPr id="8" name="Text 5"/>
          <p:cNvSpPr/>
          <p:nvPr/>
        </p:nvSpPr>
        <p:spPr>
          <a:xfrm>
            <a:off x="1226820" y="3241238"/>
            <a:ext cx="2309693" cy="288727"/>
          </a:xfrm>
          <a:prstGeom prst="rect">
            <a:avLst/>
          </a:prstGeom>
          <a:noFill/>
          <a:ln/>
        </p:spPr>
        <p:txBody>
          <a:bodyPr wrap="none" lIns="0" tIns="0" rIns="0" bIns="0" rtlCol="0" anchor="t"/>
          <a:lstStyle/>
          <a:p>
            <a:pPr indent="0" marL="0">
              <a:lnSpc>
                <a:spcPts val="2250"/>
              </a:lnSpc>
              <a:buNone/>
            </a:pPr>
            <a:r>
              <a:rPr lang="en-US" sz="1800" dirty="0">
                <a:solidFill>
                  <a:srgbClr val="00002E"/>
                </a:solidFill>
                <a:latin typeface="Nunito Semi Bold" pitchFamily="34" charset="0"/>
                <a:ea typeface="Nunito Semi Bold" pitchFamily="34" charset="-122"/>
                <a:cs typeface="Nunito Semi Bold" pitchFamily="34" charset="-120"/>
              </a:rPr>
              <a:t>Confidentiality</a:t>
            </a:r>
            <a:endParaRPr lang="en-US" sz="1800" dirty="0"/>
          </a:p>
        </p:txBody>
      </p:sp>
      <p:sp>
        <p:nvSpPr>
          <p:cNvPr id="9" name="Text 6"/>
          <p:cNvSpPr/>
          <p:nvPr/>
        </p:nvSpPr>
        <p:spPr>
          <a:xfrm>
            <a:off x="1226820" y="3647718"/>
            <a:ext cx="7230070" cy="785098"/>
          </a:xfrm>
          <a:prstGeom prst="rect">
            <a:avLst/>
          </a:prstGeom>
          <a:noFill/>
          <a:ln/>
        </p:spPr>
        <p:txBody>
          <a:bodyPr wrap="square" lIns="0" tIns="0" rIns="0" bIns="0" rtlCol="0" anchor="t"/>
          <a:lstStyle/>
          <a:p>
            <a:pPr indent="0" marL="0">
              <a:lnSpc>
                <a:spcPts val="3050"/>
              </a:lnSpc>
              <a:buNone/>
            </a:pPr>
            <a:r>
              <a:rPr lang="en-US" sz="1900" dirty="0">
                <a:solidFill>
                  <a:srgbClr val="00002E"/>
                </a:solidFill>
                <a:latin typeface="PT Sans" pitchFamily="34" charset="0"/>
                <a:ea typeface="PT Sans" pitchFamily="34" charset="-122"/>
                <a:cs typeface="PT Sans" pitchFamily="34" charset="-120"/>
              </a:rPr>
              <a:t>It refers to the duty of an individual to refrain from sharing confidential information with others and respecting privacy.</a:t>
            </a:r>
            <a:endParaRPr lang="en-US" sz="1900" dirty="0"/>
          </a:p>
        </p:txBody>
      </p:sp>
      <p:sp>
        <p:nvSpPr>
          <p:cNvPr id="10" name="Text 7"/>
          <p:cNvSpPr/>
          <p:nvPr/>
        </p:nvSpPr>
        <p:spPr>
          <a:xfrm>
            <a:off x="1226820" y="4550569"/>
            <a:ext cx="7230070" cy="314087"/>
          </a:xfrm>
          <a:prstGeom prst="rect">
            <a:avLst/>
          </a:prstGeom>
          <a:noFill/>
          <a:ln/>
        </p:spPr>
        <p:txBody>
          <a:bodyPr wrap="none" lIns="0" tIns="0" rIns="0" bIns="0" rtlCol="0" anchor="t"/>
          <a:lstStyle/>
          <a:p>
            <a:pPr indent="0" marL="0">
              <a:lnSpc>
                <a:spcPts val="2450"/>
              </a:lnSpc>
              <a:buNone/>
            </a:pPr>
            <a:endParaRPr lang="en-US" sz="1500" dirty="0"/>
          </a:p>
        </p:txBody>
      </p:sp>
      <p:sp>
        <p:nvSpPr>
          <p:cNvPr id="11" name="Shape 8"/>
          <p:cNvSpPr/>
          <p:nvPr/>
        </p:nvSpPr>
        <p:spPr>
          <a:xfrm>
            <a:off x="687110" y="5281732"/>
            <a:ext cx="343495" cy="343495"/>
          </a:xfrm>
          <a:prstGeom prst="roundRect">
            <a:avLst>
              <a:gd name="adj" fmla="val 85733"/>
            </a:avLst>
          </a:prstGeom>
          <a:solidFill>
            <a:srgbClr val="F3F3FF"/>
          </a:solidFill>
          <a:ln w="22860">
            <a:solidFill>
              <a:srgbClr val="DA33BF"/>
            </a:solidFill>
            <a:prstDash val="solid"/>
          </a:ln>
        </p:spPr>
      </p:sp>
      <p:sp>
        <p:nvSpPr>
          <p:cNvPr id="12" name="Text 9"/>
          <p:cNvSpPr/>
          <p:nvPr/>
        </p:nvSpPr>
        <p:spPr>
          <a:xfrm>
            <a:off x="1226820" y="5281732"/>
            <a:ext cx="3917275" cy="288727"/>
          </a:xfrm>
          <a:prstGeom prst="rect">
            <a:avLst/>
          </a:prstGeom>
          <a:noFill/>
          <a:ln/>
        </p:spPr>
        <p:txBody>
          <a:bodyPr wrap="none" lIns="0" tIns="0" rIns="0" bIns="0" rtlCol="0" anchor="t"/>
          <a:lstStyle/>
          <a:p>
            <a:pPr indent="0" marL="0">
              <a:lnSpc>
                <a:spcPts val="2250"/>
              </a:lnSpc>
              <a:buNone/>
            </a:pPr>
            <a:r>
              <a:rPr lang="en-US" sz="1800" dirty="0">
                <a:solidFill>
                  <a:srgbClr val="00002E"/>
                </a:solidFill>
                <a:latin typeface="Nunito Semi Bold" pitchFamily="34" charset="0"/>
                <a:ea typeface="Nunito Semi Bold" pitchFamily="34" charset="-122"/>
                <a:cs typeface="Nunito Semi Bold" pitchFamily="34" charset="-120"/>
              </a:rPr>
              <a:t>Showing respect and caring attitude</a:t>
            </a:r>
            <a:endParaRPr lang="en-US" sz="1800" dirty="0"/>
          </a:p>
        </p:txBody>
      </p:sp>
      <p:sp>
        <p:nvSpPr>
          <p:cNvPr id="13" name="Text 10"/>
          <p:cNvSpPr/>
          <p:nvPr/>
        </p:nvSpPr>
        <p:spPr>
          <a:xfrm>
            <a:off x="1226820" y="5688211"/>
            <a:ext cx="7230070" cy="1570196"/>
          </a:xfrm>
          <a:prstGeom prst="rect">
            <a:avLst/>
          </a:prstGeom>
          <a:noFill/>
          <a:ln/>
        </p:spPr>
        <p:txBody>
          <a:bodyPr wrap="square" lIns="0" tIns="0" rIns="0" bIns="0" rtlCol="0" anchor="t"/>
          <a:lstStyle/>
          <a:p>
            <a:pPr indent="0" marL="0">
              <a:lnSpc>
                <a:spcPts val="3050"/>
              </a:lnSpc>
              <a:buNone/>
            </a:pPr>
            <a:r>
              <a:rPr lang="en-US" sz="1900" dirty="0">
                <a:solidFill>
                  <a:srgbClr val="00002E"/>
                </a:solidFill>
                <a:latin typeface="PT Sans" pitchFamily="34" charset="0"/>
                <a:ea typeface="PT Sans" pitchFamily="34" charset="-122"/>
                <a:cs typeface="PT Sans" pitchFamily="34" charset="-120"/>
              </a:rPr>
              <a:t>In nursing these refer to introducing one self, calling the patient with his/her formal name, treating the patient with dignity, arranging for patient comfort and privacy at all times, preparing the patient before any procedure etc .</a:t>
            </a:r>
            <a:endParaRPr lang="en-US" sz="1900" dirty="0"/>
          </a:p>
        </p:txBody>
      </p:sp>
      <p:sp>
        <p:nvSpPr>
          <p:cNvPr id="14" name="Text 11"/>
          <p:cNvSpPr/>
          <p:nvPr/>
        </p:nvSpPr>
        <p:spPr>
          <a:xfrm>
            <a:off x="1226820" y="7376160"/>
            <a:ext cx="7230070" cy="314087"/>
          </a:xfrm>
          <a:prstGeom prst="rect">
            <a:avLst/>
          </a:prstGeom>
          <a:noFill/>
          <a:ln/>
        </p:spPr>
        <p:txBody>
          <a:bodyPr wrap="none" lIns="0" tIns="0" rIns="0" bIns="0" rtlCol="0" anchor="t"/>
          <a:lstStyle/>
          <a:p>
            <a:pPr indent="0" marL="0">
              <a:lnSpc>
                <a:spcPts val="2450"/>
              </a:lnSpc>
              <a:buNone/>
            </a:pP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43204" y="1670804"/>
            <a:ext cx="4887992" cy="4887992"/>
          </a:xfrm>
          <a:prstGeom prst="rect">
            <a:avLst/>
          </a:prstGeom>
        </p:spPr>
      </p:pic>
      <p:sp>
        <p:nvSpPr>
          <p:cNvPr id="4" name="Text 0"/>
          <p:cNvSpPr/>
          <p:nvPr/>
        </p:nvSpPr>
        <p:spPr>
          <a:xfrm>
            <a:off x="837724" y="948809"/>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INTERPERSONAL RELATIONSHIPS (IPR)</a:t>
            </a:r>
            <a:endParaRPr lang="en-US" sz="4400" dirty="0"/>
          </a:p>
        </p:txBody>
      </p:sp>
      <p:sp>
        <p:nvSpPr>
          <p:cNvPr id="5" name="Text 1"/>
          <p:cNvSpPr/>
          <p:nvPr/>
        </p:nvSpPr>
        <p:spPr>
          <a:xfrm>
            <a:off x="837724" y="2715816"/>
            <a:ext cx="7468553"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Interpersonal relationship (IPR) is an interaction between two or more people who communicate, exchange their opinions and values.</a:t>
            </a:r>
            <a:endParaRPr lang="en-US" sz="1850" dirty="0"/>
          </a:p>
        </p:txBody>
      </p:sp>
      <p:sp>
        <p:nvSpPr>
          <p:cNvPr id="6" name="Text 2"/>
          <p:cNvSpPr/>
          <p:nvPr/>
        </p:nvSpPr>
        <p:spPr>
          <a:xfrm>
            <a:off x="837724" y="4235410"/>
            <a:ext cx="7468553" cy="2393156"/>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In nursing, interpersonal relationship is a process by which the nurse establishes a rapport with the patient by employing her professional knowledge and skills so as to help the patient physically, psychologically and socially.</a:t>
            </a:r>
            <a:endParaRPr lang="en-US" sz="1850" dirty="0"/>
          </a:p>
        </p:txBody>
      </p:sp>
      <p:sp>
        <p:nvSpPr>
          <p:cNvPr id="7" name="Text 3"/>
          <p:cNvSpPr/>
          <p:nvPr/>
        </p:nvSpPr>
        <p:spPr>
          <a:xfrm>
            <a:off x="837724" y="6897767"/>
            <a:ext cx="7468553" cy="383024"/>
          </a:xfrm>
          <a:prstGeom prst="rect">
            <a:avLst/>
          </a:prstGeom>
          <a:noFill/>
          <a:ln/>
        </p:spPr>
        <p:txBody>
          <a:bodyPr wrap="none" lIns="0" tIns="0" rIns="0" bIns="0" rtlCol="0" anchor="t"/>
          <a:lstStyle/>
          <a:p>
            <a:pPr indent="0" marL="0">
              <a:lnSpc>
                <a:spcPts val="3000"/>
              </a:lnSpc>
              <a:buNone/>
            </a:pP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1862"/>
          </a:xfrm>
          <a:prstGeom prst="rect">
            <a:avLst/>
          </a:prstGeom>
        </p:spPr>
      </p:pic>
      <p:sp>
        <p:nvSpPr>
          <p:cNvPr id="3" name="Text 0"/>
          <p:cNvSpPr/>
          <p:nvPr/>
        </p:nvSpPr>
        <p:spPr>
          <a:xfrm>
            <a:off x="831652" y="653415"/>
            <a:ext cx="5591056" cy="698897"/>
          </a:xfrm>
          <a:prstGeom prst="rect">
            <a:avLst/>
          </a:prstGeom>
          <a:noFill/>
          <a:ln/>
        </p:spPr>
        <p:txBody>
          <a:bodyPr wrap="none" lIns="0" tIns="0" rIns="0" bIns="0" rtlCol="0" anchor="t"/>
          <a:lstStyle/>
          <a:p>
            <a:pPr indent="0" marL="0">
              <a:lnSpc>
                <a:spcPts val="5500"/>
              </a:lnSpc>
              <a:buNone/>
            </a:pPr>
            <a:r>
              <a:rPr lang="en-US" sz="4400" dirty="0">
                <a:solidFill>
                  <a:srgbClr val="00002E"/>
                </a:solidFill>
                <a:latin typeface="Nunito Semi Bold" pitchFamily="34" charset="0"/>
                <a:ea typeface="Nunito Semi Bold" pitchFamily="34" charset="-122"/>
                <a:cs typeface="Nunito Semi Bold" pitchFamily="34" charset="-120"/>
              </a:rPr>
              <a:t>TYPES OF IPR</a:t>
            </a:r>
            <a:endParaRPr lang="en-US" sz="4400" dirty="0"/>
          </a:p>
        </p:txBody>
      </p:sp>
      <p:sp>
        <p:nvSpPr>
          <p:cNvPr id="4" name="Text 1"/>
          <p:cNvSpPr/>
          <p:nvPr/>
        </p:nvSpPr>
        <p:spPr>
          <a:xfrm>
            <a:off x="831652" y="1708666"/>
            <a:ext cx="7480697" cy="1901190"/>
          </a:xfrm>
          <a:prstGeom prst="rect">
            <a:avLst/>
          </a:prstGeom>
          <a:noFill/>
          <a:ln/>
        </p:spPr>
        <p:txBody>
          <a:bodyPr wrap="square" lIns="0" tIns="0" rIns="0" bIns="0" rtlCol="0" anchor="t"/>
          <a:lstStyle/>
          <a:p>
            <a:pPr marL="342900" indent="-342900">
              <a:lnSpc>
                <a:spcPts val="2950"/>
              </a:lnSpc>
              <a:buSzPct val="100000"/>
              <a:buChar char="•"/>
            </a:pPr>
            <a:r>
              <a:rPr lang="en-US" sz="1850" b="1" dirty="0">
                <a:solidFill>
                  <a:srgbClr val="00002E"/>
                </a:solidFill>
                <a:latin typeface="PT Sans" pitchFamily="34" charset="0"/>
                <a:ea typeface="PT Sans" pitchFamily="34" charset="-122"/>
                <a:cs typeface="PT Sans" pitchFamily="34" charset="-120"/>
              </a:rPr>
              <a:t>Social Relationship</a:t>
            </a:r>
            <a:pPr indent="0" marL="0">
              <a:lnSpc>
                <a:spcPts val="2950"/>
              </a:lnSpc>
              <a:buNone/>
            </a:pPr>
            <a:r>
              <a:rPr lang="en-US" sz="1850" dirty="0">
                <a:solidFill>
                  <a:srgbClr val="00002E"/>
                </a:solidFill>
                <a:latin typeface="PT Sans" pitchFamily="34" charset="0"/>
                <a:ea typeface="PT Sans" pitchFamily="34" charset="-122"/>
                <a:cs typeface="PT Sans" pitchFamily="34" charset="-120"/>
              </a:rPr>
              <a:t>:It is a relationship that is primarily established with the purpose of meeting mutual needs which may range from friendship, socialization, enjoyment to accomplishing a task.</a:t>
            </a:r>
            <a:endParaRPr lang="en-US" sz="1850" dirty="0"/>
          </a:p>
        </p:txBody>
      </p:sp>
      <p:sp>
        <p:nvSpPr>
          <p:cNvPr id="5" name="Text 2"/>
          <p:cNvSpPr/>
          <p:nvPr/>
        </p:nvSpPr>
        <p:spPr>
          <a:xfrm>
            <a:off x="831652" y="3692962"/>
            <a:ext cx="7480697" cy="1901190"/>
          </a:xfrm>
          <a:prstGeom prst="rect">
            <a:avLst/>
          </a:prstGeom>
          <a:noFill/>
          <a:ln/>
        </p:spPr>
        <p:txBody>
          <a:bodyPr wrap="square" lIns="0" tIns="0" rIns="0" bIns="0" rtlCol="0" anchor="t"/>
          <a:lstStyle/>
          <a:p>
            <a:pPr marL="342900" indent="-342900">
              <a:lnSpc>
                <a:spcPts val="2950"/>
              </a:lnSpc>
              <a:buSzPct val="100000"/>
              <a:buChar char="•"/>
            </a:pPr>
            <a:r>
              <a:rPr lang="en-US" sz="1850" b="1" dirty="0">
                <a:solidFill>
                  <a:srgbClr val="00002E"/>
                </a:solidFill>
                <a:latin typeface="PT Sans" pitchFamily="34" charset="0"/>
                <a:ea typeface="PT Sans" pitchFamily="34" charset="-122"/>
                <a:cs typeface="PT Sans" pitchFamily="34" charset="-120"/>
              </a:rPr>
              <a:t>Intimate Relationship</a:t>
            </a:r>
            <a:pPr indent="0" marL="0">
              <a:lnSpc>
                <a:spcPts val="2950"/>
              </a:lnSpc>
              <a:buNone/>
            </a:pPr>
            <a:r>
              <a:rPr lang="en-US" sz="1850" dirty="0">
                <a:solidFill>
                  <a:srgbClr val="00002E"/>
                </a:solidFill>
                <a:latin typeface="PT Sans" pitchFamily="34" charset="0"/>
                <a:ea typeface="PT Sans" pitchFamily="34" charset="-122"/>
                <a:cs typeface="PT Sans" pitchFamily="34" charset="-120"/>
              </a:rPr>
              <a:t>: An intimate relationship develops between two individuals who have an emotional commitment to each other. It is more often seen in marital relationships.</a:t>
            </a:r>
            <a:endParaRPr lang="en-US" sz="1850" dirty="0"/>
          </a:p>
        </p:txBody>
      </p:sp>
      <p:sp>
        <p:nvSpPr>
          <p:cNvPr id="6" name="Text 3"/>
          <p:cNvSpPr/>
          <p:nvPr/>
        </p:nvSpPr>
        <p:spPr>
          <a:xfrm>
            <a:off x="831652" y="5677257"/>
            <a:ext cx="7480697" cy="1901190"/>
          </a:xfrm>
          <a:prstGeom prst="rect">
            <a:avLst/>
          </a:prstGeom>
          <a:noFill/>
          <a:ln/>
        </p:spPr>
        <p:txBody>
          <a:bodyPr wrap="square" lIns="0" tIns="0" rIns="0" bIns="0" rtlCol="0" anchor="t"/>
          <a:lstStyle/>
          <a:p>
            <a:pPr marL="342900" indent="-342900">
              <a:lnSpc>
                <a:spcPts val="2950"/>
              </a:lnSpc>
              <a:buSzPct val="100000"/>
              <a:buChar char="•"/>
            </a:pPr>
            <a:r>
              <a:rPr lang="en-US" sz="1850" b="1" dirty="0">
                <a:solidFill>
                  <a:srgbClr val="00002E"/>
                </a:solidFill>
                <a:latin typeface="PT Sans" pitchFamily="34" charset="0"/>
                <a:ea typeface="PT Sans" pitchFamily="34" charset="-122"/>
                <a:cs typeface="PT Sans" pitchFamily="34" charset="-120"/>
              </a:rPr>
              <a:t>Therapeutic Relationship</a:t>
            </a:r>
            <a:pPr indent="0" marL="0">
              <a:lnSpc>
                <a:spcPts val="2950"/>
              </a:lnSpc>
              <a:buNone/>
            </a:pPr>
            <a:r>
              <a:rPr lang="en-US" sz="1850" dirty="0">
                <a:solidFill>
                  <a:srgbClr val="00002E"/>
                </a:solidFill>
                <a:latin typeface="PT Sans" pitchFamily="34" charset="0"/>
                <a:ea typeface="PT Sans" pitchFamily="34" charset="-122"/>
                <a:cs typeface="PT Sans" pitchFamily="34" charset="-120"/>
              </a:rPr>
              <a:t>: It usually occurs between a nurse and a patient wherein the nurse utilizes her knowledge of human behavior, personal strengths and communication skills to fulfill the patient needs.</a:t>
            </a:r>
            <a:endParaRPr lang="en-US" sz="1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4143" y="819626"/>
            <a:ext cx="5137666" cy="642104"/>
          </a:xfrm>
          <a:prstGeom prst="rect">
            <a:avLst/>
          </a:prstGeom>
          <a:noFill/>
          <a:ln/>
        </p:spPr>
        <p:txBody>
          <a:bodyPr wrap="none" lIns="0" tIns="0" rIns="0" bIns="0" rtlCol="0" anchor="t"/>
          <a:lstStyle/>
          <a:p>
            <a:pPr indent="0" marL="0">
              <a:lnSpc>
                <a:spcPts val="5050"/>
              </a:lnSpc>
              <a:buNone/>
            </a:pPr>
            <a:r>
              <a:rPr lang="en-US" sz="4000" dirty="0">
                <a:solidFill>
                  <a:srgbClr val="00002E"/>
                </a:solidFill>
                <a:latin typeface="Nunito Semi Bold" pitchFamily="34" charset="0"/>
                <a:ea typeface="Nunito Semi Bold" pitchFamily="34" charset="-122"/>
                <a:cs typeface="Nunito Semi Bold" pitchFamily="34" charset="-120"/>
              </a:rPr>
              <a:t>PURPOSES OF IPR</a:t>
            </a:r>
            <a:endParaRPr lang="en-US" sz="4000" dirty="0"/>
          </a:p>
        </p:txBody>
      </p:sp>
      <p:sp>
        <p:nvSpPr>
          <p:cNvPr id="4" name="Text 1"/>
          <p:cNvSpPr/>
          <p:nvPr/>
        </p:nvSpPr>
        <p:spPr>
          <a:xfrm>
            <a:off x="764143" y="1789152"/>
            <a:ext cx="7615714" cy="1309807"/>
          </a:xfrm>
          <a:prstGeom prst="rect">
            <a:avLst/>
          </a:prstGeom>
          <a:noFill/>
          <a:ln/>
        </p:spPr>
        <p:txBody>
          <a:bodyPr wrap="square" lIns="0" tIns="0" rIns="0" bIns="0" rtlCol="0" anchor="t"/>
          <a:lstStyle/>
          <a:p>
            <a:pPr marL="342900" indent="-342900">
              <a:lnSpc>
                <a:spcPts val="2750"/>
              </a:lnSpc>
              <a:buSzPct val="100000"/>
              <a:buChar char="•"/>
            </a:pPr>
            <a:r>
              <a:rPr lang="en-US" sz="1700" dirty="0">
                <a:solidFill>
                  <a:srgbClr val="00002E"/>
                </a:solidFill>
                <a:latin typeface="PT Sans" pitchFamily="34" charset="0"/>
                <a:ea typeface="PT Sans" pitchFamily="34" charset="-122"/>
                <a:cs typeface="PT Sans" pitchFamily="34" charset="-120"/>
              </a:rPr>
              <a:t>Good nurse-patient relationship helps in building trust between the nurse and the patient resulting in better co-operation for the treatment.</a:t>
            </a:r>
            <a:endParaRPr lang="en-US" sz="1700" dirty="0"/>
          </a:p>
        </p:txBody>
      </p:sp>
      <p:sp>
        <p:nvSpPr>
          <p:cNvPr id="5" name="Text 2"/>
          <p:cNvSpPr/>
          <p:nvPr/>
        </p:nvSpPr>
        <p:spPr>
          <a:xfrm>
            <a:off x="764143" y="3175278"/>
            <a:ext cx="7615714" cy="436602"/>
          </a:xfrm>
          <a:prstGeom prst="rect">
            <a:avLst/>
          </a:prstGeom>
          <a:noFill/>
          <a:ln/>
        </p:spPr>
        <p:txBody>
          <a:bodyPr wrap="none" lIns="0" tIns="0" rIns="0" bIns="0" rtlCol="0" anchor="t"/>
          <a:lstStyle/>
          <a:p>
            <a:pPr marL="342900" indent="-342900">
              <a:lnSpc>
                <a:spcPts val="2750"/>
              </a:lnSpc>
              <a:buSzPct val="100000"/>
              <a:buChar char="•"/>
            </a:pPr>
            <a:r>
              <a:rPr lang="en-US" sz="1700" dirty="0">
                <a:solidFill>
                  <a:srgbClr val="00002E"/>
                </a:solidFill>
                <a:latin typeface="PT Sans" pitchFamily="34" charset="0"/>
                <a:ea typeface="PT Sans" pitchFamily="34" charset="-122"/>
                <a:cs typeface="PT Sans" pitchFamily="34" charset="-120"/>
              </a:rPr>
              <a:t>Helps in collecting patient information.</a:t>
            </a:r>
            <a:endParaRPr lang="en-US" sz="1700" dirty="0"/>
          </a:p>
        </p:txBody>
      </p:sp>
      <p:sp>
        <p:nvSpPr>
          <p:cNvPr id="6" name="Text 3"/>
          <p:cNvSpPr/>
          <p:nvPr/>
        </p:nvSpPr>
        <p:spPr>
          <a:xfrm>
            <a:off x="764143" y="3688199"/>
            <a:ext cx="7615714" cy="873204"/>
          </a:xfrm>
          <a:prstGeom prst="rect">
            <a:avLst/>
          </a:prstGeom>
          <a:noFill/>
          <a:ln/>
        </p:spPr>
        <p:txBody>
          <a:bodyPr wrap="square" lIns="0" tIns="0" rIns="0" bIns="0" rtlCol="0" anchor="t"/>
          <a:lstStyle/>
          <a:p>
            <a:pPr marL="342900" indent="-342900">
              <a:lnSpc>
                <a:spcPts val="2750"/>
              </a:lnSpc>
              <a:buSzPct val="100000"/>
              <a:buChar char="•"/>
            </a:pPr>
            <a:r>
              <a:rPr lang="en-US" sz="1700" dirty="0">
                <a:solidFill>
                  <a:srgbClr val="00002E"/>
                </a:solidFill>
                <a:latin typeface="PT Sans" pitchFamily="34" charset="0"/>
                <a:ea typeface="PT Sans" pitchFamily="34" charset="-122"/>
                <a:cs typeface="PT Sans" pitchFamily="34" charset="-120"/>
              </a:rPr>
              <a:t>Effective communication helps the patient in taking correct decisions.</a:t>
            </a:r>
            <a:endParaRPr lang="en-US" sz="1700" dirty="0"/>
          </a:p>
        </p:txBody>
      </p:sp>
      <p:sp>
        <p:nvSpPr>
          <p:cNvPr id="7" name="Text 4"/>
          <p:cNvSpPr/>
          <p:nvPr/>
        </p:nvSpPr>
        <p:spPr>
          <a:xfrm>
            <a:off x="764143" y="4637722"/>
            <a:ext cx="7615714" cy="436602"/>
          </a:xfrm>
          <a:prstGeom prst="rect">
            <a:avLst/>
          </a:prstGeom>
          <a:noFill/>
          <a:ln/>
        </p:spPr>
        <p:txBody>
          <a:bodyPr wrap="none" lIns="0" tIns="0" rIns="0" bIns="0" rtlCol="0" anchor="t"/>
          <a:lstStyle/>
          <a:p>
            <a:pPr marL="342900" indent="-342900">
              <a:lnSpc>
                <a:spcPts val="2750"/>
              </a:lnSpc>
              <a:buSzPct val="100000"/>
              <a:buChar char="•"/>
            </a:pPr>
            <a:r>
              <a:rPr lang="en-US" sz="1700" dirty="0">
                <a:solidFill>
                  <a:srgbClr val="00002E"/>
                </a:solidFill>
                <a:latin typeface="PT Sans" pitchFamily="34" charset="0"/>
                <a:ea typeface="PT Sans" pitchFamily="34" charset="-122"/>
                <a:cs typeface="PT Sans" pitchFamily="34" charset="-120"/>
              </a:rPr>
              <a:t>Enhances patient and nurse satisfaction.</a:t>
            </a:r>
            <a:endParaRPr lang="en-US" sz="1700" dirty="0"/>
          </a:p>
        </p:txBody>
      </p:sp>
      <p:sp>
        <p:nvSpPr>
          <p:cNvPr id="8" name="Text 5"/>
          <p:cNvSpPr/>
          <p:nvPr/>
        </p:nvSpPr>
        <p:spPr>
          <a:xfrm>
            <a:off x="764143" y="5150644"/>
            <a:ext cx="7615714" cy="873204"/>
          </a:xfrm>
          <a:prstGeom prst="rect">
            <a:avLst/>
          </a:prstGeom>
          <a:noFill/>
          <a:ln/>
        </p:spPr>
        <p:txBody>
          <a:bodyPr wrap="square" lIns="0" tIns="0" rIns="0" bIns="0" rtlCol="0" anchor="t"/>
          <a:lstStyle/>
          <a:p>
            <a:pPr marL="342900" indent="-342900">
              <a:lnSpc>
                <a:spcPts val="2750"/>
              </a:lnSpc>
              <a:buSzPct val="100000"/>
              <a:buChar char="•"/>
            </a:pPr>
            <a:r>
              <a:rPr lang="en-US" sz="1700" dirty="0">
                <a:solidFill>
                  <a:srgbClr val="00002E"/>
                </a:solidFill>
                <a:latin typeface="PT Sans" pitchFamily="34" charset="0"/>
                <a:ea typeface="PT Sans" pitchFamily="34" charset="-122"/>
                <a:cs typeface="PT Sans" pitchFamily="34" charset="-120"/>
              </a:rPr>
              <a:t>Reduces stress, promotes well being and the improves overall quality of life among nurses. </a:t>
            </a:r>
            <a:endParaRPr lang="en-US" sz="1700" dirty="0"/>
          </a:p>
        </p:txBody>
      </p:sp>
      <p:sp>
        <p:nvSpPr>
          <p:cNvPr id="9" name="Text 6"/>
          <p:cNvSpPr/>
          <p:nvPr/>
        </p:nvSpPr>
        <p:spPr>
          <a:xfrm>
            <a:off x="764143" y="6100167"/>
            <a:ext cx="7615714" cy="1309807"/>
          </a:xfrm>
          <a:prstGeom prst="rect">
            <a:avLst/>
          </a:prstGeom>
          <a:noFill/>
          <a:ln/>
        </p:spPr>
        <p:txBody>
          <a:bodyPr wrap="square" lIns="0" tIns="0" rIns="0" bIns="0" rtlCol="0" anchor="t"/>
          <a:lstStyle/>
          <a:p>
            <a:pPr marL="342900" indent="-342900">
              <a:lnSpc>
                <a:spcPts val="2750"/>
              </a:lnSpc>
              <a:buSzPct val="100000"/>
              <a:buChar char="•"/>
            </a:pPr>
            <a:r>
              <a:rPr lang="en-US" sz="1700" dirty="0">
                <a:solidFill>
                  <a:srgbClr val="00002E"/>
                </a:solidFill>
                <a:latin typeface="PT Sans" pitchFamily="34" charset="0"/>
                <a:ea typeface="PT Sans" pitchFamily="34" charset="-122"/>
                <a:cs typeface="PT Sans" pitchFamily="34" charset="-120"/>
              </a:rPr>
              <a:t>Help in building trust, co-operation and mutual understanding between nurse and patient; nurse and nurse; nurse and health team members; nurse and patient relatives.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76275" y="531257"/>
            <a:ext cx="5332333" cy="568285"/>
          </a:xfrm>
          <a:prstGeom prst="rect">
            <a:avLst/>
          </a:prstGeom>
          <a:noFill/>
          <a:ln/>
        </p:spPr>
        <p:txBody>
          <a:bodyPr wrap="none" lIns="0" tIns="0" rIns="0" bIns="0" rtlCol="0" anchor="t"/>
          <a:lstStyle/>
          <a:p>
            <a:pPr indent="0" marL="0">
              <a:lnSpc>
                <a:spcPts val="4450"/>
              </a:lnSpc>
              <a:buNone/>
            </a:pPr>
            <a:r>
              <a:rPr lang="en-US" sz="3550" dirty="0">
                <a:solidFill>
                  <a:srgbClr val="00002E"/>
                </a:solidFill>
                <a:latin typeface="Nunito Semi Bold" pitchFamily="34" charset="0"/>
                <a:ea typeface="Nunito Semi Bold" pitchFamily="34" charset="-122"/>
                <a:cs typeface="Nunito Semi Bold" pitchFamily="34" charset="-120"/>
              </a:rPr>
              <a:t>INTERPERSONAL SKILLS</a:t>
            </a:r>
            <a:endParaRPr lang="en-US" sz="3550" dirty="0"/>
          </a:p>
        </p:txBody>
      </p:sp>
      <p:sp>
        <p:nvSpPr>
          <p:cNvPr id="4" name="Text 1"/>
          <p:cNvSpPr/>
          <p:nvPr/>
        </p:nvSpPr>
        <p:spPr>
          <a:xfrm>
            <a:off x="676275" y="1389340"/>
            <a:ext cx="7791450" cy="1545908"/>
          </a:xfrm>
          <a:prstGeom prst="rect">
            <a:avLst/>
          </a:prstGeom>
          <a:noFill/>
          <a:ln/>
        </p:spPr>
        <p:txBody>
          <a:bodyPr wrap="square" lIns="0" tIns="0" rIns="0" bIns="0" rtlCol="0" anchor="t"/>
          <a:lstStyle/>
          <a:p>
            <a:pPr indent="0" marL="0">
              <a:lnSpc>
                <a:spcPts val="3000"/>
              </a:lnSpc>
              <a:buNone/>
            </a:pPr>
            <a:r>
              <a:rPr lang="en-US" sz="1900" dirty="0">
                <a:solidFill>
                  <a:srgbClr val="00002E"/>
                </a:solidFill>
                <a:latin typeface="PT Sans" pitchFamily="34" charset="0"/>
                <a:ea typeface="PT Sans" pitchFamily="34" charset="-122"/>
                <a:cs typeface="PT Sans" pitchFamily="34" charset="-120"/>
              </a:rPr>
              <a:t>Interpersonal skills refer to an ability to build rapport with the individuals. Nurses need to develop these skills to establish good interpersonal relationships with patients.</a:t>
            </a:r>
            <a:pPr indent="0" marL="0">
              <a:lnSpc>
                <a:spcPts val="3000"/>
              </a:lnSpc>
              <a:buNone/>
            </a:pPr>
            <a:r>
              <a:rPr lang="en-US" sz="1900" dirty="0">
                <a:solidFill>
                  <a:srgbClr val="00002E"/>
                </a:solidFill>
                <a:latin typeface="PT Sans" pitchFamily="34" charset="0"/>
                <a:ea typeface="PT Sans" pitchFamily="34" charset="-122"/>
                <a:cs typeface="PT Sans" pitchFamily="34" charset="-120"/>
              </a:rPr>
              <a:t>
</a:t>
            </a:r>
            <a:pPr indent="0" marL="0">
              <a:lnSpc>
                <a:spcPts val="3000"/>
              </a:lnSpc>
              <a:buNone/>
            </a:pPr>
            <a:r>
              <a:rPr lang="en-US" sz="1900" dirty="0">
                <a:solidFill>
                  <a:srgbClr val="00002E"/>
                </a:solidFill>
                <a:latin typeface="PT Sans" pitchFamily="34" charset="0"/>
                <a:ea typeface="PT Sans" pitchFamily="34" charset="-122"/>
                <a:cs typeface="PT Sans" pitchFamily="34" charset="-120"/>
              </a:rPr>
              <a:t>These are:</a:t>
            </a:r>
            <a:endParaRPr lang="en-US" sz="1900" dirty="0"/>
          </a:p>
        </p:txBody>
      </p:sp>
      <p:sp>
        <p:nvSpPr>
          <p:cNvPr id="5" name="Text 2"/>
          <p:cNvSpPr/>
          <p:nvPr/>
        </p:nvSpPr>
        <p:spPr>
          <a:xfrm>
            <a:off x="676275" y="3152537"/>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Attentive listening</a:t>
            </a:r>
            <a:endParaRPr lang="en-US" sz="1500" dirty="0"/>
          </a:p>
        </p:txBody>
      </p:sp>
      <p:sp>
        <p:nvSpPr>
          <p:cNvPr id="6" name="Text 3"/>
          <p:cNvSpPr/>
          <p:nvPr/>
        </p:nvSpPr>
        <p:spPr>
          <a:xfrm>
            <a:off x="676275" y="3606641"/>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Meaningful talk</a:t>
            </a:r>
            <a:endParaRPr lang="en-US" sz="1500" dirty="0"/>
          </a:p>
        </p:txBody>
      </p:sp>
      <p:sp>
        <p:nvSpPr>
          <p:cNvPr id="7" name="Text 4"/>
          <p:cNvSpPr/>
          <p:nvPr/>
        </p:nvSpPr>
        <p:spPr>
          <a:xfrm>
            <a:off x="676275" y="4060746"/>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Non-judgmental approach</a:t>
            </a:r>
            <a:endParaRPr lang="en-US" sz="1500" dirty="0"/>
          </a:p>
        </p:txBody>
      </p:sp>
      <p:sp>
        <p:nvSpPr>
          <p:cNvPr id="8" name="Text 5"/>
          <p:cNvSpPr/>
          <p:nvPr/>
        </p:nvSpPr>
        <p:spPr>
          <a:xfrm>
            <a:off x="676275" y="4514850"/>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Empathetic understanding</a:t>
            </a:r>
            <a:endParaRPr lang="en-US" sz="1500" dirty="0"/>
          </a:p>
        </p:txBody>
      </p:sp>
      <p:sp>
        <p:nvSpPr>
          <p:cNvPr id="9" name="Text 6"/>
          <p:cNvSpPr/>
          <p:nvPr/>
        </p:nvSpPr>
        <p:spPr>
          <a:xfrm>
            <a:off x="676275" y="4968954"/>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Unconditional positive regard</a:t>
            </a:r>
            <a:endParaRPr lang="en-US" sz="1500" dirty="0"/>
          </a:p>
        </p:txBody>
      </p:sp>
      <p:sp>
        <p:nvSpPr>
          <p:cNvPr id="10" name="Text 7"/>
          <p:cNvSpPr/>
          <p:nvPr/>
        </p:nvSpPr>
        <p:spPr>
          <a:xfrm>
            <a:off x="676275" y="5423059"/>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Genuineness in approach</a:t>
            </a:r>
            <a:endParaRPr lang="en-US" sz="1500" dirty="0"/>
          </a:p>
        </p:txBody>
      </p:sp>
      <p:sp>
        <p:nvSpPr>
          <p:cNvPr id="11" name="Text 8"/>
          <p:cNvSpPr/>
          <p:nvPr/>
        </p:nvSpPr>
        <p:spPr>
          <a:xfrm>
            <a:off x="676275" y="5877163"/>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Accepting constructive criticism</a:t>
            </a:r>
            <a:endParaRPr lang="en-US" sz="1500" dirty="0"/>
          </a:p>
        </p:txBody>
      </p:sp>
      <p:sp>
        <p:nvSpPr>
          <p:cNvPr id="12" name="Text 9"/>
          <p:cNvSpPr/>
          <p:nvPr/>
        </p:nvSpPr>
        <p:spPr>
          <a:xfrm>
            <a:off x="676275" y="6331268"/>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Respecting others</a:t>
            </a:r>
            <a:endParaRPr lang="en-US" sz="1500" dirty="0"/>
          </a:p>
        </p:txBody>
      </p:sp>
      <p:sp>
        <p:nvSpPr>
          <p:cNvPr id="13" name="Text 10"/>
          <p:cNvSpPr/>
          <p:nvPr/>
        </p:nvSpPr>
        <p:spPr>
          <a:xfrm>
            <a:off x="676275" y="6785372"/>
            <a:ext cx="7791450" cy="386477"/>
          </a:xfrm>
          <a:prstGeom prst="rect">
            <a:avLst/>
          </a:prstGeom>
          <a:noFill/>
          <a:ln/>
        </p:spPr>
        <p:txBody>
          <a:bodyPr wrap="none" lIns="0" tIns="0" rIns="0" bIns="0" rtlCol="0" anchor="t"/>
          <a:lstStyle/>
          <a:p>
            <a:pPr marL="342900" indent="-342900">
              <a:lnSpc>
                <a:spcPts val="2400"/>
              </a:lnSpc>
              <a:buSzPct val="100000"/>
              <a:buChar char="•"/>
            </a:pPr>
            <a:r>
              <a:rPr lang="en-US" sz="1500" dirty="0">
                <a:solidFill>
                  <a:srgbClr val="00002E"/>
                </a:solidFill>
                <a:latin typeface="PT Sans" pitchFamily="34" charset="0"/>
                <a:ea typeface="PT Sans" pitchFamily="34" charset="-122"/>
                <a:cs typeface="PT Sans" pitchFamily="34" charset="-120"/>
              </a:rPr>
              <a:t>Good communication skills</a:t>
            </a:r>
            <a:endParaRPr lang="en-US" sz="1500" dirty="0"/>
          </a:p>
        </p:txBody>
      </p:sp>
      <p:sp>
        <p:nvSpPr>
          <p:cNvPr id="14" name="Text 11"/>
          <p:cNvSpPr/>
          <p:nvPr/>
        </p:nvSpPr>
        <p:spPr>
          <a:xfrm>
            <a:off x="676275" y="7389138"/>
            <a:ext cx="7791450" cy="309086"/>
          </a:xfrm>
          <a:prstGeom prst="rect">
            <a:avLst/>
          </a:prstGeom>
          <a:noFill/>
          <a:ln/>
        </p:spPr>
        <p:txBody>
          <a:bodyPr wrap="none" lIns="0" tIns="0" rIns="0" bIns="0" rtlCol="0" anchor="t"/>
          <a:lstStyle/>
          <a:p>
            <a:pPr indent="0" marL="0">
              <a:lnSpc>
                <a:spcPts val="2400"/>
              </a:lnSpc>
              <a:buNone/>
            </a:pP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37724" y="1223129"/>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Text 1"/>
          <p:cNvSpPr/>
          <p:nvPr/>
        </p:nvSpPr>
        <p:spPr>
          <a:xfrm>
            <a:off x="837724" y="2405896"/>
            <a:ext cx="12954952" cy="478631"/>
          </a:xfrm>
          <a:prstGeom prst="rect">
            <a:avLst/>
          </a:prstGeom>
          <a:noFill/>
          <a:ln/>
        </p:spPr>
        <p:txBody>
          <a:bodyPr wrap="none" lIns="0" tIns="0" rIns="0" bIns="0" rtlCol="0" anchor="t"/>
          <a:lstStyle/>
          <a:p>
            <a:pPr indent="0" marL="0">
              <a:lnSpc>
                <a:spcPts val="3750"/>
              </a:lnSpc>
              <a:buNone/>
            </a:pPr>
            <a:r>
              <a:rPr lang="en-US" sz="2350" dirty="0">
                <a:solidFill>
                  <a:srgbClr val="00002E"/>
                </a:solidFill>
                <a:latin typeface="PT Sans" pitchFamily="34" charset="0"/>
                <a:ea typeface="PT Sans" pitchFamily="34" charset="-122"/>
                <a:cs typeface="PT Sans" pitchFamily="34" charset="-120"/>
              </a:rPr>
              <a:t>Some techniques to improve interpersonal skills are:</a:t>
            </a:r>
            <a:endParaRPr lang="en-US" sz="2350" dirty="0"/>
          </a:p>
        </p:txBody>
      </p:sp>
      <p:sp>
        <p:nvSpPr>
          <p:cNvPr id="4" name="Text 2"/>
          <p:cNvSpPr/>
          <p:nvPr/>
        </p:nvSpPr>
        <p:spPr>
          <a:xfrm>
            <a:off x="837724" y="3153728"/>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Interact with patient and health team members more often</a:t>
            </a:r>
            <a:endParaRPr lang="en-US" sz="1850" dirty="0"/>
          </a:p>
        </p:txBody>
      </p:sp>
      <p:sp>
        <p:nvSpPr>
          <p:cNvPr id="5" name="Text 3"/>
          <p:cNvSpPr/>
          <p:nvPr/>
        </p:nvSpPr>
        <p:spPr>
          <a:xfrm>
            <a:off x="837724" y="3716060"/>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Communicate in a clear, complete and concise manner</a:t>
            </a:r>
            <a:endParaRPr lang="en-US" sz="1850" dirty="0"/>
          </a:p>
        </p:txBody>
      </p:sp>
      <p:sp>
        <p:nvSpPr>
          <p:cNvPr id="6" name="Text 4"/>
          <p:cNvSpPr/>
          <p:nvPr/>
        </p:nvSpPr>
        <p:spPr>
          <a:xfrm>
            <a:off x="837724" y="4278392"/>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Be courteous while interacting with others</a:t>
            </a:r>
            <a:endParaRPr lang="en-US" sz="1850" dirty="0"/>
          </a:p>
        </p:txBody>
      </p:sp>
      <p:sp>
        <p:nvSpPr>
          <p:cNvPr id="7" name="Text 5"/>
          <p:cNvSpPr/>
          <p:nvPr/>
        </p:nvSpPr>
        <p:spPr>
          <a:xfrm>
            <a:off x="837724" y="4840724"/>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Learn the art of listening</a:t>
            </a:r>
            <a:endParaRPr lang="en-US" sz="1850" dirty="0"/>
          </a:p>
        </p:txBody>
      </p:sp>
      <p:sp>
        <p:nvSpPr>
          <p:cNvPr id="8" name="Text 6"/>
          <p:cNvSpPr/>
          <p:nvPr/>
        </p:nvSpPr>
        <p:spPr>
          <a:xfrm>
            <a:off x="837724" y="5403056"/>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Develop positive attitude</a:t>
            </a:r>
            <a:endParaRPr lang="en-US" sz="1850" dirty="0"/>
          </a:p>
        </p:txBody>
      </p:sp>
      <p:sp>
        <p:nvSpPr>
          <p:cNvPr id="9" name="Text 7"/>
          <p:cNvSpPr/>
          <p:nvPr/>
        </p:nvSpPr>
        <p:spPr>
          <a:xfrm>
            <a:off x="837724" y="5965388"/>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Seek feedback regarding communication skills being employed</a:t>
            </a:r>
            <a:endParaRPr lang="en-US" sz="1850" dirty="0"/>
          </a:p>
        </p:txBody>
      </p:sp>
      <p:sp>
        <p:nvSpPr>
          <p:cNvPr id="10" name="Text 8"/>
          <p:cNvSpPr/>
          <p:nvPr/>
        </p:nvSpPr>
        <p:spPr>
          <a:xfrm>
            <a:off x="837724" y="6527721"/>
            <a:ext cx="12954952"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Be empathetic towards the patient</a:t>
            </a:r>
            <a:endParaRPr lang="en-US" sz="1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47593" y="952143"/>
            <a:ext cx="7648813" cy="2512695"/>
          </a:xfrm>
          <a:prstGeom prst="rect">
            <a:avLst/>
          </a:prstGeom>
          <a:noFill/>
          <a:ln/>
        </p:spPr>
        <p:txBody>
          <a:bodyPr wrap="square" lIns="0" tIns="0" rIns="0" bIns="0" rtlCol="0" anchor="t"/>
          <a:lstStyle/>
          <a:p>
            <a:pPr indent="0" marL="0">
              <a:lnSpc>
                <a:spcPts val="4900"/>
              </a:lnSpc>
              <a:buNone/>
            </a:pPr>
            <a:r>
              <a:rPr lang="en-US" sz="3950" b="1" dirty="0">
                <a:solidFill>
                  <a:srgbClr val="00002E"/>
                </a:solidFill>
                <a:latin typeface="Nunito Semi Bold" pitchFamily="34" charset="0"/>
                <a:ea typeface="Nunito Semi Bold" pitchFamily="34" charset="-122"/>
                <a:cs typeface="Nunito Semi Bold" pitchFamily="34" charset="-120"/>
              </a:rPr>
              <a:t>BARRIERS IN INTERPERSONAL RELATIONSHIP AND STRATEGIES TO OVERCOME </a:t>
            </a:r>
            <a:pPr indent="0" marL="0">
              <a:lnSpc>
                <a:spcPts val="4900"/>
              </a:lnSpc>
              <a:buNone/>
            </a:pPr>
            <a:r>
              <a:rPr lang="en-US" sz="3950" dirty="0">
                <a:solidFill>
                  <a:srgbClr val="00002E"/>
                </a:solidFill>
                <a:latin typeface="Nunito Semi Bold" pitchFamily="34" charset="0"/>
                <a:ea typeface="Nunito Semi Bold" pitchFamily="34" charset="-122"/>
                <a:cs typeface="Nunito Semi Bold" pitchFamily="34" charset="-120"/>
              </a:rPr>
              <a:t>
</a:t>
            </a:r>
            <a:endParaRPr lang="en-US" sz="3950" dirty="0"/>
          </a:p>
        </p:txBody>
      </p:sp>
      <p:sp>
        <p:nvSpPr>
          <p:cNvPr id="4" name="Text 1"/>
          <p:cNvSpPr/>
          <p:nvPr/>
        </p:nvSpPr>
        <p:spPr>
          <a:xfrm>
            <a:off x="747593" y="3785235"/>
            <a:ext cx="7648813" cy="1281589"/>
          </a:xfrm>
          <a:prstGeom prst="rect">
            <a:avLst/>
          </a:prstGeom>
          <a:noFill/>
          <a:ln/>
        </p:spPr>
        <p:txBody>
          <a:bodyPr wrap="square" lIns="0" tIns="0" rIns="0" bIns="0" rtlCol="0" anchor="t"/>
          <a:lstStyle/>
          <a:p>
            <a:pPr marL="342900" indent="-342900">
              <a:lnSpc>
                <a:spcPts val="2650"/>
              </a:lnSpc>
              <a:buSzPct val="100000"/>
              <a:buChar char="•"/>
            </a:pPr>
            <a:r>
              <a:rPr lang="en-US" sz="1650" dirty="0">
                <a:solidFill>
                  <a:srgbClr val="00002E"/>
                </a:solidFill>
                <a:latin typeface="PT Sans" pitchFamily="34" charset="0"/>
                <a:ea typeface="PT Sans" pitchFamily="34" charset="-122"/>
                <a:cs typeface="PT Sans" pitchFamily="34" charset="-120"/>
              </a:rPr>
              <a:t>Barrier is anything that prevents, restricts, or impedes the conveyance of meaning by words or gestures between two or more persons in a social setting.</a:t>
            </a:r>
            <a:endParaRPr lang="en-US" sz="1650" dirty="0"/>
          </a:p>
        </p:txBody>
      </p:sp>
      <p:sp>
        <p:nvSpPr>
          <p:cNvPr id="5" name="Text 2"/>
          <p:cNvSpPr/>
          <p:nvPr/>
        </p:nvSpPr>
        <p:spPr>
          <a:xfrm>
            <a:off x="747593" y="5141476"/>
            <a:ext cx="7648813" cy="2135981"/>
          </a:xfrm>
          <a:prstGeom prst="rect">
            <a:avLst/>
          </a:prstGeom>
          <a:noFill/>
          <a:ln/>
        </p:spPr>
        <p:txBody>
          <a:bodyPr wrap="square" lIns="0" tIns="0" rIns="0" bIns="0" rtlCol="0" anchor="t"/>
          <a:lstStyle/>
          <a:p>
            <a:pPr marL="342900" indent="-342900">
              <a:lnSpc>
                <a:spcPts val="2650"/>
              </a:lnSpc>
              <a:buSzPct val="100000"/>
              <a:buChar char="•"/>
            </a:pPr>
            <a:r>
              <a:rPr lang="en-US" sz="1650" dirty="0">
                <a:solidFill>
                  <a:srgbClr val="00002E"/>
                </a:solidFill>
                <a:latin typeface="PT Sans" pitchFamily="34" charset="0"/>
                <a:ea typeface="PT Sans" pitchFamily="34" charset="-122"/>
                <a:cs typeface="PT Sans" pitchFamily="34" charset="-120"/>
              </a:rPr>
              <a:t>Barriers to interpersonal relationship are:</a:t>
            </a:r>
            <a:pPr indent="0" marL="0">
              <a:lnSpc>
                <a:spcPts val="2650"/>
              </a:lnSpc>
              <a:buNone/>
            </a:pPr>
            <a:r>
              <a:rPr lang="en-US" sz="1650" dirty="0">
                <a:solidFill>
                  <a:srgbClr val="00002E"/>
                </a:solidFill>
                <a:latin typeface="PT Sans" pitchFamily="34" charset="0"/>
                <a:ea typeface="PT Sans" pitchFamily="34" charset="-122"/>
                <a:cs typeface="PT Sans" pitchFamily="34" charset="-120"/>
              </a:rPr>
              <a:t>
</a:t>
            </a:r>
            <a:pPr indent="0" marL="0">
              <a:lnSpc>
                <a:spcPts val="2650"/>
              </a:lnSpc>
              <a:buNone/>
            </a:pPr>
            <a:r>
              <a:rPr lang="en-US" sz="1650" dirty="0">
                <a:solidFill>
                  <a:srgbClr val="00002E"/>
                </a:solidFill>
                <a:latin typeface="PT Sans" pitchFamily="34" charset="0"/>
                <a:ea typeface="PT Sans" pitchFamily="34" charset="-122"/>
                <a:cs typeface="PT Sans" pitchFamily="34" charset="-120"/>
              </a:rPr>
              <a:t>Physiological barrier,Environmental barrier,Psychological barrier,Social barrier,Cultural barrier,Semantic barrier,Organizational barrier,Communication process related barrier.</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12946" y="560189"/>
            <a:ext cx="4793337" cy="599123"/>
          </a:xfrm>
          <a:prstGeom prst="rect">
            <a:avLst/>
          </a:prstGeom>
          <a:noFill/>
          <a:ln/>
        </p:spPr>
        <p:txBody>
          <a:bodyPr wrap="none" lIns="0" tIns="0" rIns="0" bIns="0" rtlCol="0" anchor="t"/>
          <a:lstStyle/>
          <a:p>
            <a:pPr indent="0" marL="0">
              <a:lnSpc>
                <a:spcPts val="4700"/>
              </a:lnSpc>
              <a:buNone/>
            </a:pPr>
            <a:endParaRPr lang="en-US" sz="3750" dirty="0"/>
          </a:p>
        </p:txBody>
      </p:sp>
      <p:sp>
        <p:nvSpPr>
          <p:cNvPr id="3" name="Shape 1"/>
          <p:cNvSpPr/>
          <p:nvPr/>
        </p:nvSpPr>
        <p:spPr>
          <a:xfrm>
            <a:off x="712946" y="1566743"/>
            <a:ext cx="6500455" cy="6108859"/>
          </a:xfrm>
          <a:prstGeom prst="roundRect">
            <a:avLst>
              <a:gd name="adj" fmla="val 5002"/>
            </a:avLst>
          </a:prstGeom>
          <a:solidFill>
            <a:srgbClr val="F3F3FF"/>
          </a:solidFill>
          <a:ln w="22860">
            <a:solidFill>
              <a:srgbClr val="2D4DF2"/>
            </a:solidFill>
            <a:prstDash val="solid"/>
          </a:ln>
        </p:spPr>
      </p:sp>
      <p:sp>
        <p:nvSpPr>
          <p:cNvPr id="4" name="Text 2"/>
          <p:cNvSpPr/>
          <p:nvPr/>
        </p:nvSpPr>
        <p:spPr>
          <a:xfrm>
            <a:off x="939522" y="1793319"/>
            <a:ext cx="2875955" cy="359569"/>
          </a:xfrm>
          <a:prstGeom prst="rect">
            <a:avLst/>
          </a:prstGeom>
          <a:noFill/>
          <a:ln/>
        </p:spPr>
        <p:txBody>
          <a:bodyPr wrap="none" lIns="0" tIns="0" rIns="0" bIns="0" rtlCol="0" anchor="t"/>
          <a:lstStyle/>
          <a:p>
            <a:pPr indent="0" marL="0">
              <a:lnSpc>
                <a:spcPts val="2800"/>
              </a:lnSpc>
              <a:buNone/>
            </a:pPr>
            <a:r>
              <a:rPr lang="en-US" sz="2250" dirty="0">
                <a:solidFill>
                  <a:srgbClr val="00002E"/>
                </a:solidFill>
                <a:latin typeface="Nunito Semi Bold" pitchFamily="34" charset="0"/>
                <a:ea typeface="Nunito Semi Bold" pitchFamily="34" charset="-122"/>
                <a:cs typeface="Nunito Semi Bold" pitchFamily="34" charset="-120"/>
              </a:rPr>
              <a:t>Physiological Barriers</a:t>
            </a:r>
            <a:endParaRPr lang="en-US" sz="2250" dirty="0"/>
          </a:p>
        </p:txBody>
      </p:sp>
      <p:sp>
        <p:nvSpPr>
          <p:cNvPr id="5" name="Text 3"/>
          <p:cNvSpPr/>
          <p:nvPr/>
        </p:nvSpPr>
        <p:spPr>
          <a:xfrm>
            <a:off x="939522" y="2275046"/>
            <a:ext cx="6047303" cy="407432"/>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Lack of attention</a:t>
            </a:r>
            <a:endParaRPr lang="en-US" sz="1600" dirty="0"/>
          </a:p>
        </p:txBody>
      </p:sp>
      <p:sp>
        <p:nvSpPr>
          <p:cNvPr id="6" name="Text 4"/>
          <p:cNvSpPr/>
          <p:nvPr/>
        </p:nvSpPr>
        <p:spPr>
          <a:xfrm>
            <a:off x="939522" y="2753678"/>
            <a:ext cx="6047303" cy="407432"/>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Discomfort due to illness</a:t>
            </a:r>
            <a:endParaRPr lang="en-US" sz="1600" dirty="0"/>
          </a:p>
        </p:txBody>
      </p:sp>
      <p:sp>
        <p:nvSpPr>
          <p:cNvPr id="7" name="Text 5"/>
          <p:cNvSpPr/>
          <p:nvPr/>
        </p:nvSpPr>
        <p:spPr>
          <a:xfrm>
            <a:off x="939522" y="3232309"/>
            <a:ext cx="6047303" cy="407432"/>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Hearing problem</a:t>
            </a:r>
            <a:endParaRPr lang="en-US" sz="1600" dirty="0"/>
          </a:p>
        </p:txBody>
      </p:sp>
      <p:sp>
        <p:nvSpPr>
          <p:cNvPr id="8" name="Text 6"/>
          <p:cNvSpPr/>
          <p:nvPr/>
        </p:nvSpPr>
        <p:spPr>
          <a:xfrm>
            <a:off x="939522" y="3710940"/>
            <a:ext cx="6047303" cy="407432"/>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Poor listening skills</a:t>
            </a:r>
            <a:endParaRPr lang="en-US" sz="1600" dirty="0"/>
          </a:p>
        </p:txBody>
      </p:sp>
      <p:sp>
        <p:nvSpPr>
          <p:cNvPr id="9" name="Text 7"/>
          <p:cNvSpPr/>
          <p:nvPr/>
        </p:nvSpPr>
        <p:spPr>
          <a:xfrm>
            <a:off x="939522" y="4189571"/>
            <a:ext cx="6047303" cy="407432"/>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Lack of retention due to poor memory</a:t>
            </a:r>
            <a:endParaRPr lang="en-US" sz="1600" dirty="0"/>
          </a:p>
        </p:txBody>
      </p:sp>
      <p:sp>
        <p:nvSpPr>
          <p:cNvPr id="10" name="Text 8"/>
          <p:cNvSpPr/>
          <p:nvPr/>
        </p:nvSpPr>
        <p:spPr>
          <a:xfrm>
            <a:off x="939522" y="4719161"/>
            <a:ext cx="6047303" cy="325874"/>
          </a:xfrm>
          <a:prstGeom prst="rect">
            <a:avLst/>
          </a:prstGeom>
          <a:noFill/>
          <a:ln/>
        </p:spPr>
        <p:txBody>
          <a:bodyPr wrap="none" lIns="0" tIns="0" rIns="0" bIns="0" rtlCol="0" anchor="t"/>
          <a:lstStyle/>
          <a:p>
            <a:pPr indent="0" marL="0">
              <a:lnSpc>
                <a:spcPts val="2550"/>
              </a:lnSpc>
              <a:buNone/>
            </a:pPr>
            <a:endParaRPr lang="en-US" sz="1600" dirty="0"/>
          </a:p>
        </p:txBody>
      </p:sp>
      <p:sp>
        <p:nvSpPr>
          <p:cNvPr id="11" name="Shape 9"/>
          <p:cNvSpPr/>
          <p:nvPr/>
        </p:nvSpPr>
        <p:spPr>
          <a:xfrm>
            <a:off x="7417118" y="1566743"/>
            <a:ext cx="6500455" cy="6108859"/>
          </a:xfrm>
          <a:prstGeom prst="roundRect">
            <a:avLst>
              <a:gd name="adj" fmla="val 5002"/>
            </a:avLst>
          </a:prstGeom>
          <a:solidFill>
            <a:srgbClr val="F3F3FF"/>
          </a:solidFill>
          <a:ln w="22860">
            <a:solidFill>
              <a:srgbClr val="018CE1"/>
            </a:solidFill>
            <a:prstDash val="solid"/>
          </a:ln>
        </p:spPr>
      </p:sp>
      <p:sp>
        <p:nvSpPr>
          <p:cNvPr id="12" name="Text 10"/>
          <p:cNvSpPr/>
          <p:nvPr/>
        </p:nvSpPr>
        <p:spPr>
          <a:xfrm>
            <a:off x="7643693" y="1793319"/>
            <a:ext cx="3016925" cy="359569"/>
          </a:xfrm>
          <a:prstGeom prst="rect">
            <a:avLst/>
          </a:prstGeom>
          <a:noFill/>
          <a:ln/>
        </p:spPr>
        <p:txBody>
          <a:bodyPr wrap="none" lIns="0" tIns="0" rIns="0" bIns="0" rtlCol="0" anchor="t"/>
          <a:lstStyle/>
          <a:p>
            <a:pPr indent="0" marL="0">
              <a:lnSpc>
                <a:spcPts val="2800"/>
              </a:lnSpc>
              <a:buNone/>
            </a:pPr>
            <a:r>
              <a:rPr lang="en-US" sz="2250" dirty="0">
                <a:solidFill>
                  <a:srgbClr val="00002E"/>
                </a:solidFill>
                <a:latin typeface="Nunito Semi Bold" pitchFamily="34" charset="0"/>
                <a:ea typeface="Nunito Semi Bold" pitchFamily="34" charset="-122"/>
                <a:cs typeface="Nunito Semi Bold" pitchFamily="34" charset="-120"/>
              </a:rPr>
              <a:t>Strategies to overcome</a:t>
            </a:r>
            <a:endParaRPr lang="en-US" sz="2250" dirty="0"/>
          </a:p>
        </p:txBody>
      </p:sp>
      <p:sp>
        <p:nvSpPr>
          <p:cNvPr id="13" name="Text 11"/>
          <p:cNvSpPr/>
          <p:nvPr/>
        </p:nvSpPr>
        <p:spPr>
          <a:xfrm>
            <a:off x="7643693" y="2275046"/>
            <a:ext cx="6047303" cy="1222296"/>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The nurse should ensure that the patient is paying complete attention during the communication process.</a:t>
            </a:r>
            <a:endParaRPr lang="en-US" sz="1600" dirty="0"/>
          </a:p>
        </p:txBody>
      </p:sp>
      <p:sp>
        <p:nvSpPr>
          <p:cNvPr id="14" name="Text 12"/>
          <p:cNvSpPr/>
          <p:nvPr/>
        </p:nvSpPr>
        <p:spPr>
          <a:xfrm>
            <a:off x="7643693" y="3568541"/>
            <a:ext cx="6047303" cy="1222296"/>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While initiating communication the nurse should consider retention and recollection abilities of the patient.</a:t>
            </a:r>
            <a:endParaRPr lang="en-US" sz="1600" dirty="0"/>
          </a:p>
        </p:txBody>
      </p:sp>
      <p:sp>
        <p:nvSpPr>
          <p:cNvPr id="15" name="Text 13"/>
          <p:cNvSpPr/>
          <p:nvPr/>
        </p:nvSpPr>
        <p:spPr>
          <a:xfrm>
            <a:off x="7643693" y="4862036"/>
            <a:ext cx="6047303" cy="814864"/>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The nurse should avoid information overload while interacting with the patient</a:t>
            </a:r>
            <a:endParaRPr lang="en-US" sz="1600" dirty="0"/>
          </a:p>
        </p:txBody>
      </p:sp>
      <p:sp>
        <p:nvSpPr>
          <p:cNvPr id="16" name="Text 14"/>
          <p:cNvSpPr/>
          <p:nvPr/>
        </p:nvSpPr>
        <p:spPr>
          <a:xfrm>
            <a:off x="7643693" y="5748099"/>
            <a:ext cx="6047303" cy="814864"/>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While interacting the nurse should ensure intactness of patient's sensory perception</a:t>
            </a:r>
            <a:endParaRPr lang="en-US" sz="1600" dirty="0"/>
          </a:p>
        </p:txBody>
      </p:sp>
      <p:sp>
        <p:nvSpPr>
          <p:cNvPr id="17" name="Text 15"/>
          <p:cNvSpPr/>
          <p:nvPr/>
        </p:nvSpPr>
        <p:spPr>
          <a:xfrm>
            <a:off x="7643693" y="6634162"/>
            <a:ext cx="6047303" cy="814864"/>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While communicating due regard should be given to the difference in gender</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13184" y="774502"/>
            <a:ext cx="4795004" cy="599242"/>
          </a:xfrm>
          <a:prstGeom prst="rect">
            <a:avLst/>
          </a:prstGeom>
          <a:noFill/>
          <a:ln/>
        </p:spPr>
        <p:txBody>
          <a:bodyPr wrap="none" lIns="0" tIns="0" rIns="0" bIns="0" rtlCol="0" anchor="t"/>
          <a:lstStyle/>
          <a:p>
            <a:pPr indent="0" marL="0">
              <a:lnSpc>
                <a:spcPts val="4700"/>
              </a:lnSpc>
              <a:buNone/>
            </a:pPr>
            <a:endParaRPr lang="en-US" sz="3750" dirty="0"/>
          </a:p>
        </p:txBody>
      </p:sp>
      <p:sp>
        <p:nvSpPr>
          <p:cNvPr id="3" name="Shape 1"/>
          <p:cNvSpPr/>
          <p:nvPr/>
        </p:nvSpPr>
        <p:spPr>
          <a:xfrm>
            <a:off x="713184" y="1781294"/>
            <a:ext cx="6500217" cy="5673804"/>
          </a:xfrm>
          <a:prstGeom prst="roundRect">
            <a:avLst>
              <a:gd name="adj" fmla="val 5388"/>
            </a:avLst>
          </a:prstGeom>
          <a:solidFill>
            <a:srgbClr val="F3F3FF"/>
          </a:solidFill>
          <a:ln w="22860">
            <a:solidFill>
              <a:srgbClr val="2D4DF2"/>
            </a:solidFill>
            <a:prstDash val="solid"/>
          </a:ln>
        </p:spPr>
      </p:sp>
      <p:sp>
        <p:nvSpPr>
          <p:cNvPr id="4" name="Text 2"/>
          <p:cNvSpPr/>
          <p:nvPr/>
        </p:nvSpPr>
        <p:spPr>
          <a:xfrm>
            <a:off x="939760" y="2007870"/>
            <a:ext cx="3014067" cy="359569"/>
          </a:xfrm>
          <a:prstGeom prst="rect">
            <a:avLst/>
          </a:prstGeom>
          <a:noFill/>
          <a:ln/>
        </p:spPr>
        <p:txBody>
          <a:bodyPr wrap="none" lIns="0" tIns="0" rIns="0" bIns="0" rtlCol="0" anchor="t"/>
          <a:lstStyle/>
          <a:p>
            <a:pPr indent="0" marL="0">
              <a:lnSpc>
                <a:spcPts val="2800"/>
              </a:lnSpc>
              <a:buNone/>
            </a:pPr>
            <a:r>
              <a:rPr lang="en-US" sz="2250" dirty="0">
                <a:solidFill>
                  <a:srgbClr val="00002E"/>
                </a:solidFill>
                <a:latin typeface="Nunito Semi Bold" pitchFamily="34" charset="0"/>
                <a:ea typeface="Nunito Semi Bold" pitchFamily="34" charset="-122"/>
                <a:cs typeface="Nunito Semi Bold" pitchFamily="34" charset="-120"/>
              </a:rPr>
              <a:t>Environmental Barriers</a:t>
            </a:r>
            <a:endParaRPr lang="en-US" sz="2250" dirty="0"/>
          </a:p>
        </p:txBody>
      </p:sp>
      <p:sp>
        <p:nvSpPr>
          <p:cNvPr id="5" name="Text 3"/>
          <p:cNvSpPr/>
          <p:nvPr/>
        </p:nvSpPr>
        <p:spPr>
          <a:xfrm>
            <a:off x="939760" y="2489597"/>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Loud noise</a:t>
            </a:r>
            <a:endParaRPr lang="en-US" sz="1600" dirty="0"/>
          </a:p>
        </p:txBody>
      </p:sp>
      <p:sp>
        <p:nvSpPr>
          <p:cNvPr id="6" name="Text 4"/>
          <p:cNvSpPr/>
          <p:nvPr/>
        </p:nvSpPr>
        <p:spPr>
          <a:xfrm>
            <a:off x="939760" y="2968585"/>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Poor lighting</a:t>
            </a:r>
            <a:endParaRPr lang="en-US" sz="1600" dirty="0"/>
          </a:p>
        </p:txBody>
      </p:sp>
      <p:sp>
        <p:nvSpPr>
          <p:cNvPr id="7" name="Text 5"/>
          <p:cNvSpPr/>
          <p:nvPr/>
        </p:nvSpPr>
        <p:spPr>
          <a:xfrm>
            <a:off x="939760" y="3447574"/>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Uncomfortable setting</a:t>
            </a:r>
            <a:endParaRPr lang="en-US" sz="1600" dirty="0"/>
          </a:p>
        </p:txBody>
      </p:sp>
      <p:sp>
        <p:nvSpPr>
          <p:cNvPr id="8" name="Text 6"/>
          <p:cNvSpPr/>
          <p:nvPr/>
        </p:nvSpPr>
        <p:spPr>
          <a:xfrm>
            <a:off x="939760" y="3926562"/>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Unhygienic surroundings and bad odor</a:t>
            </a:r>
            <a:endParaRPr lang="en-US" sz="1600" dirty="0"/>
          </a:p>
        </p:txBody>
      </p:sp>
      <p:sp>
        <p:nvSpPr>
          <p:cNvPr id="9" name="Text 7"/>
          <p:cNvSpPr/>
          <p:nvPr/>
        </p:nvSpPr>
        <p:spPr>
          <a:xfrm>
            <a:off x="939760" y="4405551"/>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High or low room temperature</a:t>
            </a:r>
            <a:endParaRPr lang="en-US" sz="1600" dirty="0"/>
          </a:p>
        </p:txBody>
      </p:sp>
      <p:sp>
        <p:nvSpPr>
          <p:cNvPr id="10" name="Text 8"/>
          <p:cNvSpPr/>
          <p:nvPr/>
        </p:nvSpPr>
        <p:spPr>
          <a:xfrm>
            <a:off x="939760" y="4884539"/>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Distance factor</a:t>
            </a:r>
            <a:endParaRPr lang="en-US" sz="1600" dirty="0"/>
          </a:p>
        </p:txBody>
      </p:sp>
      <p:sp>
        <p:nvSpPr>
          <p:cNvPr id="11" name="Text 9"/>
          <p:cNvSpPr/>
          <p:nvPr/>
        </p:nvSpPr>
        <p:spPr>
          <a:xfrm>
            <a:off x="939760" y="5363528"/>
            <a:ext cx="6047065" cy="407670"/>
          </a:xfrm>
          <a:prstGeom prst="rect">
            <a:avLst/>
          </a:prstGeom>
          <a:noFill/>
          <a:ln/>
        </p:spPr>
        <p:txBody>
          <a:bodyPr wrap="non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Lack of privacy</a:t>
            </a:r>
            <a:endParaRPr lang="en-US" sz="1600" dirty="0"/>
          </a:p>
        </p:txBody>
      </p:sp>
      <p:sp>
        <p:nvSpPr>
          <p:cNvPr id="12" name="Text 10"/>
          <p:cNvSpPr/>
          <p:nvPr/>
        </p:nvSpPr>
        <p:spPr>
          <a:xfrm>
            <a:off x="939760" y="5893356"/>
            <a:ext cx="6047065" cy="326112"/>
          </a:xfrm>
          <a:prstGeom prst="rect">
            <a:avLst/>
          </a:prstGeom>
          <a:noFill/>
          <a:ln/>
        </p:spPr>
        <p:txBody>
          <a:bodyPr wrap="none" lIns="0" tIns="0" rIns="0" bIns="0" rtlCol="0" anchor="t"/>
          <a:lstStyle/>
          <a:p>
            <a:pPr indent="0" marL="0">
              <a:lnSpc>
                <a:spcPts val="2550"/>
              </a:lnSpc>
              <a:buNone/>
            </a:pPr>
            <a:endParaRPr lang="en-US" sz="1600" dirty="0"/>
          </a:p>
        </p:txBody>
      </p:sp>
      <p:sp>
        <p:nvSpPr>
          <p:cNvPr id="13" name="Text 11"/>
          <p:cNvSpPr/>
          <p:nvPr/>
        </p:nvSpPr>
        <p:spPr>
          <a:xfrm>
            <a:off x="939760" y="6341626"/>
            <a:ext cx="6047065" cy="326112"/>
          </a:xfrm>
          <a:prstGeom prst="rect">
            <a:avLst/>
          </a:prstGeom>
          <a:noFill/>
          <a:ln/>
        </p:spPr>
        <p:txBody>
          <a:bodyPr wrap="none" lIns="0" tIns="0" rIns="0" bIns="0" rtlCol="0" anchor="t"/>
          <a:lstStyle/>
          <a:p>
            <a:pPr indent="0" marL="0">
              <a:lnSpc>
                <a:spcPts val="2550"/>
              </a:lnSpc>
              <a:buNone/>
            </a:pPr>
            <a:endParaRPr lang="en-US" sz="1600" dirty="0"/>
          </a:p>
        </p:txBody>
      </p:sp>
      <p:sp>
        <p:nvSpPr>
          <p:cNvPr id="14" name="Shape 12"/>
          <p:cNvSpPr/>
          <p:nvPr/>
        </p:nvSpPr>
        <p:spPr>
          <a:xfrm>
            <a:off x="7417118" y="1781294"/>
            <a:ext cx="6500217" cy="5673804"/>
          </a:xfrm>
          <a:prstGeom prst="roundRect">
            <a:avLst>
              <a:gd name="adj" fmla="val 5388"/>
            </a:avLst>
          </a:prstGeom>
          <a:solidFill>
            <a:srgbClr val="F3F3FF"/>
          </a:solidFill>
          <a:ln w="22860">
            <a:solidFill>
              <a:srgbClr val="018CE1"/>
            </a:solidFill>
            <a:prstDash val="solid"/>
          </a:ln>
        </p:spPr>
      </p:sp>
      <p:sp>
        <p:nvSpPr>
          <p:cNvPr id="15" name="Text 13"/>
          <p:cNvSpPr/>
          <p:nvPr/>
        </p:nvSpPr>
        <p:spPr>
          <a:xfrm>
            <a:off x="7643693" y="2007870"/>
            <a:ext cx="3018115" cy="359569"/>
          </a:xfrm>
          <a:prstGeom prst="rect">
            <a:avLst/>
          </a:prstGeom>
          <a:noFill/>
          <a:ln/>
        </p:spPr>
        <p:txBody>
          <a:bodyPr wrap="none" lIns="0" tIns="0" rIns="0" bIns="0" rtlCol="0" anchor="t"/>
          <a:lstStyle/>
          <a:p>
            <a:pPr indent="0" marL="0">
              <a:lnSpc>
                <a:spcPts val="2800"/>
              </a:lnSpc>
              <a:buNone/>
            </a:pPr>
            <a:r>
              <a:rPr lang="en-US" sz="2250" dirty="0">
                <a:solidFill>
                  <a:srgbClr val="00002E"/>
                </a:solidFill>
                <a:latin typeface="Nunito Semi Bold" pitchFamily="34" charset="0"/>
                <a:ea typeface="Nunito Semi Bold" pitchFamily="34" charset="-122"/>
                <a:cs typeface="Nunito Semi Bold" pitchFamily="34" charset="-120"/>
              </a:rPr>
              <a:t>Strategies to overcome</a:t>
            </a:r>
            <a:endParaRPr lang="en-US" sz="2250" dirty="0"/>
          </a:p>
        </p:txBody>
      </p:sp>
      <p:sp>
        <p:nvSpPr>
          <p:cNvPr id="16" name="Text 14"/>
          <p:cNvSpPr/>
          <p:nvPr/>
        </p:nvSpPr>
        <p:spPr>
          <a:xfrm>
            <a:off x="7643693" y="2489597"/>
            <a:ext cx="6047065" cy="1223010"/>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Before establishing communication the nurse should ensure comfortable position, adequate room temperature and lighting for the patient.</a:t>
            </a:r>
            <a:endParaRPr lang="en-US" sz="1600" dirty="0"/>
          </a:p>
        </p:txBody>
      </p:sp>
      <p:sp>
        <p:nvSpPr>
          <p:cNvPr id="17" name="Text 15"/>
          <p:cNvSpPr/>
          <p:nvPr/>
        </p:nvSpPr>
        <p:spPr>
          <a:xfrm>
            <a:off x="7643693" y="3783925"/>
            <a:ext cx="6047065" cy="815340"/>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Patient environment must be clean and free from bad odors.</a:t>
            </a:r>
            <a:endParaRPr lang="en-US" sz="1600" dirty="0"/>
          </a:p>
        </p:txBody>
      </p:sp>
      <p:sp>
        <p:nvSpPr>
          <p:cNvPr id="18" name="Text 16"/>
          <p:cNvSpPr/>
          <p:nvPr/>
        </p:nvSpPr>
        <p:spPr>
          <a:xfrm>
            <a:off x="7643693" y="4670584"/>
            <a:ext cx="6047065" cy="815340"/>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For communication to be effective both nurse and the patient should maintain optimum distance.</a:t>
            </a:r>
            <a:endParaRPr lang="en-US" sz="1600" dirty="0"/>
          </a:p>
        </p:txBody>
      </p:sp>
      <p:sp>
        <p:nvSpPr>
          <p:cNvPr id="19" name="Text 17"/>
          <p:cNvSpPr/>
          <p:nvPr/>
        </p:nvSpPr>
        <p:spPr>
          <a:xfrm>
            <a:off x="7643693" y="5557242"/>
            <a:ext cx="6047065" cy="1223010"/>
          </a:xfrm>
          <a:prstGeom prst="rect">
            <a:avLst/>
          </a:prstGeom>
          <a:noFill/>
          <a:ln/>
        </p:spPr>
        <p:txBody>
          <a:bodyPr wrap="square" lIns="0" tIns="0" rIns="0" bIns="0" rtlCol="0" anchor="t"/>
          <a:lstStyle/>
          <a:p>
            <a:pPr marL="342900" indent="-342900">
              <a:lnSpc>
                <a:spcPts val="2550"/>
              </a:lnSpc>
              <a:buSzPct val="100000"/>
              <a:buChar char="•"/>
            </a:pPr>
            <a:r>
              <a:rPr lang="en-US" sz="1600" dirty="0">
                <a:solidFill>
                  <a:srgbClr val="00002E"/>
                </a:solidFill>
                <a:latin typeface="PT Sans" pitchFamily="34" charset="0"/>
                <a:ea typeface="PT Sans" pitchFamily="34" charset="-122"/>
                <a:cs typeface="PT Sans" pitchFamily="34" charset="-120"/>
              </a:rPr>
              <a:t>Maintain privacy in physical setting when sharing sensitive issues concerning the patient. This may include using a separate room or a screen.</a:t>
            </a:r>
            <a:endParaRPr lang="en-US" sz="1600" dirty="0"/>
          </a:p>
        </p:txBody>
      </p:sp>
      <p:sp>
        <p:nvSpPr>
          <p:cNvPr id="20" name="Text 18"/>
          <p:cNvSpPr/>
          <p:nvPr/>
        </p:nvSpPr>
        <p:spPr>
          <a:xfrm>
            <a:off x="7643693" y="6902410"/>
            <a:ext cx="6047065" cy="326112"/>
          </a:xfrm>
          <a:prstGeom prst="rect">
            <a:avLst/>
          </a:prstGeom>
          <a:noFill/>
          <a:ln/>
        </p:spPr>
        <p:txBody>
          <a:bodyPr wrap="none" lIns="0" tIns="0" rIns="0" bIns="0" rtlCol="0" anchor="t"/>
          <a:lstStyle/>
          <a:p>
            <a:pPr indent="0" marL="0">
              <a:lnSpc>
                <a:spcPts val="2550"/>
              </a:lnSpc>
              <a:buNone/>
            </a:pP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5200" y="874395"/>
            <a:ext cx="4338161" cy="542330"/>
          </a:xfrm>
          <a:prstGeom prst="rect">
            <a:avLst/>
          </a:prstGeom>
          <a:noFill/>
          <a:ln/>
        </p:spPr>
        <p:txBody>
          <a:bodyPr wrap="none" lIns="0" tIns="0" rIns="0" bIns="0" rtlCol="0" anchor="t"/>
          <a:lstStyle/>
          <a:p>
            <a:pPr indent="0" marL="0">
              <a:lnSpc>
                <a:spcPts val="4250"/>
              </a:lnSpc>
              <a:buNone/>
            </a:pPr>
            <a:endParaRPr lang="en-US" sz="3400" dirty="0"/>
          </a:p>
        </p:txBody>
      </p:sp>
      <p:sp>
        <p:nvSpPr>
          <p:cNvPr id="3" name="Shape 1"/>
          <p:cNvSpPr/>
          <p:nvPr/>
        </p:nvSpPr>
        <p:spPr>
          <a:xfrm>
            <a:off x="645200" y="1785461"/>
            <a:ext cx="6577846" cy="5569625"/>
          </a:xfrm>
          <a:prstGeom prst="roundRect">
            <a:avLst>
              <a:gd name="adj" fmla="val 4966"/>
            </a:avLst>
          </a:prstGeom>
          <a:solidFill>
            <a:srgbClr val="F3F3FF"/>
          </a:solidFill>
          <a:ln w="22860">
            <a:solidFill>
              <a:srgbClr val="2D4DF2"/>
            </a:solidFill>
            <a:prstDash val="solid"/>
          </a:ln>
        </p:spPr>
      </p:sp>
      <p:sp>
        <p:nvSpPr>
          <p:cNvPr id="4" name="Text 2"/>
          <p:cNvSpPr/>
          <p:nvPr/>
        </p:nvSpPr>
        <p:spPr>
          <a:xfrm>
            <a:off x="852368" y="1992630"/>
            <a:ext cx="2623423" cy="325279"/>
          </a:xfrm>
          <a:prstGeom prst="rect">
            <a:avLst/>
          </a:prstGeom>
          <a:noFill/>
          <a:ln/>
        </p:spPr>
        <p:txBody>
          <a:bodyPr wrap="none" lIns="0" tIns="0" rIns="0" bIns="0" rtlCol="0" anchor="t"/>
          <a:lstStyle/>
          <a:p>
            <a:pPr indent="0" marL="0">
              <a:lnSpc>
                <a:spcPts val="2550"/>
              </a:lnSpc>
              <a:buNone/>
            </a:pPr>
            <a:r>
              <a:rPr lang="en-US" sz="2000" dirty="0">
                <a:solidFill>
                  <a:srgbClr val="00002E"/>
                </a:solidFill>
                <a:latin typeface="Nunito Semi Bold" pitchFamily="34" charset="0"/>
                <a:ea typeface="Nunito Semi Bold" pitchFamily="34" charset="-122"/>
                <a:cs typeface="Nunito Semi Bold" pitchFamily="34" charset="-120"/>
              </a:rPr>
              <a:t>Psychological Barriers</a:t>
            </a:r>
            <a:endParaRPr lang="en-US" sz="2000" dirty="0"/>
          </a:p>
        </p:txBody>
      </p:sp>
      <p:sp>
        <p:nvSpPr>
          <p:cNvPr id="5" name="Text 3"/>
          <p:cNvSpPr/>
          <p:nvPr/>
        </p:nvSpPr>
        <p:spPr>
          <a:xfrm>
            <a:off x="852368" y="2428518"/>
            <a:ext cx="6163508" cy="368737"/>
          </a:xfrm>
          <a:prstGeom prst="rect">
            <a:avLst/>
          </a:prstGeom>
          <a:noFill/>
          <a:ln/>
        </p:spPr>
        <p:txBody>
          <a:bodyPr wrap="non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Shyness or embarrassment in sharing information</a:t>
            </a:r>
            <a:endParaRPr lang="en-US" sz="1450" dirty="0"/>
          </a:p>
        </p:txBody>
      </p:sp>
      <p:sp>
        <p:nvSpPr>
          <p:cNvPr id="6" name="Text 4"/>
          <p:cNvSpPr/>
          <p:nvPr/>
        </p:nvSpPr>
        <p:spPr>
          <a:xfrm>
            <a:off x="852368" y="2861667"/>
            <a:ext cx="6163508" cy="368737"/>
          </a:xfrm>
          <a:prstGeom prst="rect">
            <a:avLst/>
          </a:prstGeom>
          <a:noFill/>
          <a:ln/>
        </p:spPr>
        <p:txBody>
          <a:bodyPr wrap="non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Distressing emotions</a:t>
            </a:r>
            <a:endParaRPr lang="en-US" sz="1450" dirty="0"/>
          </a:p>
        </p:txBody>
      </p:sp>
      <p:sp>
        <p:nvSpPr>
          <p:cNvPr id="7" name="Text 5"/>
          <p:cNvSpPr/>
          <p:nvPr/>
        </p:nvSpPr>
        <p:spPr>
          <a:xfrm>
            <a:off x="852368" y="3294817"/>
            <a:ext cx="6163508" cy="368737"/>
          </a:xfrm>
          <a:prstGeom prst="rect">
            <a:avLst/>
          </a:prstGeom>
          <a:noFill/>
          <a:ln/>
        </p:spPr>
        <p:txBody>
          <a:bodyPr wrap="non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Misperception and misunderstanding</a:t>
            </a:r>
            <a:endParaRPr lang="en-US" sz="1450" dirty="0"/>
          </a:p>
        </p:txBody>
      </p:sp>
      <p:sp>
        <p:nvSpPr>
          <p:cNvPr id="8" name="Text 6"/>
          <p:cNvSpPr/>
          <p:nvPr/>
        </p:nvSpPr>
        <p:spPr>
          <a:xfrm>
            <a:off x="852368" y="3727966"/>
            <a:ext cx="6163508" cy="368737"/>
          </a:xfrm>
          <a:prstGeom prst="rect">
            <a:avLst/>
          </a:prstGeom>
          <a:noFill/>
          <a:ln/>
        </p:spPr>
        <p:txBody>
          <a:bodyPr wrap="non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Prejudice</a:t>
            </a:r>
            <a:endParaRPr lang="en-US" sz="1450" dirty="0"/>
          </a:p>
        </p:txBody>
      </p:sp>
      <p:sp>
        <p:nvSpPr>
          <p:cNvPr id="9" name="Text 7"/>
          <p:cNvSpPr/>
          <p:nvPr/>
        </p:nvSpPr>
        <p:spPr>
          <a:xfrm>
            <a:off x="852368" y="4207312"/>
            <a:ext cx="6163508" cy="295037"/>
          </a:xfrm>
          <a:prstGeom prst="rect">
            <a:avLst/>
          </a:prstGeom>
          <a:noFill/>
          <a:ln/>
        </p:spPr>
        <p:txBody>
          <a:bodyPr wrap="none" lIns="0" tIns="0" rIns="0" bIns="0" rtlCol="0" anchor="t"/>
          <a:lstStyle/>
          <a:p>
            <a:pPr indent="0" marL="0">
              <a:lnSpc>
                <a:spcPts val="2300"/>
              </a:lnSpc>
              <a:buNone/>
            </a:pPr>
            <a:endParaRPr lang="en-US" sz="1450" dirty="0"/>
          </a:p>
        </p:txBody>
      </p:sp>
      <p:sp>
        <p:nvSpPr>
          <p:cNvPr id="10" name="Shape 8"/>
          <p:cNvSpPr/>
          <p:nvPr/>
        </p:nvSpPr>
        <p:spPr>
          <a:xfrm>
            <a:off x="7407354" y="1785461"/>
            <a:ext cx="6577846" cy="5569625"/>
          </a:xfrm>
          <a:prstGeom prst="roundRect">
            <a:avLst>
              <a:gd name="adj" fmla="val 4966"/>
            </a:avLst>
          </a:prstGeom>
          <a:solidFill>
            <a:srgbClr val="F3F3FF"/>
          </a:solidFill>
          <a:ln w="22860">
            <a:solidFill>
              <a:srgbClr val="018CE1"/>
            </a:solidFill>
            <a:prstDash val="solid"/>
          </a:ln>
        </p:spPr>
      </p:sp>
      <p:sp>
        <p:nvSpPr>
          <p:cNvPr id="11" name="Text 9"/>
          <p:cNvSpPr/>
          <p:nvPr/>
        </p:nvSpPr>
        <p:spPr>
          <a:xfrm>
            <a:off x="7614523" y="1992630"/>
            <a:ext cx="2729508" cy="325279"/>
          </a:xfrm>
          <a:prstGeom prst="rect">
            <a:avLst/>
          </a:prstGeom>
          <a:noFill/>
          <a:ln/>
        </p:spPr>
        <p:txBody>
          <a:bodyPr wrap="none" lIns="0" tIns="0" rIns="0" bIns="0" rtlCol="0" anchor="t"/>
          <a:lstStyle/>
          <a:p>
            <a:pPr indent="0" marL="0">
              <a:lnSpc>
                <a:spcPts val="2550"/>
              </a:lnSpc>
              <a:buNone/>
            </a:pPr>
            <a:r>
              <a:rPr lang="en-US" sz="2000" dirty="0">
                <a:solidFill>
                  <a:srgbClr val="00002E"/>
                </a:solidFill>
                <a:latin typeface="Nunito Semi Bold" pitchFamily="34" charset="0"/>
                <a:ea typeface="Nunito Semi Bold" pitchFamily="34" charset="-122"/>
                <a:cs typeface="Nunito Semi Bold" pitchFamily="34" charset="-120"/>
              </a:rPr>
              <a:t>Strategies to overcome</a:t>
            </a:r>
            <a:endParaRPr lang="en-US" sz="2000" dirty="0"/>
          </a:p>
        </p:txBody>
      </p:sp>
      <p:sp>
        <p:nvSpPr>
          <p:cNvPr id="12" name="Text 10"/>
          <p:cNvSpPr/>
          <p:nvPr/>
        </p:nvSpPr>
        <p:spPr>
          <a:xfrm>
            <a:off x="7614523" y="2428518"/>
            <a:ext cx="6163508" cy="1106210"/>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Nurse should acknowledge patient emotions and use appropriate communication techniques such as clear and simple words.</a:t>
            </a:r>
            <a:endParaRPr lang="en-US" sz="1450" dirty="0"/>
          </a:p>
        </p:txBody>
      </p:sp>
      <p:sp>
        <p:nvSpPr>
          <p:cNvPr id="13" name="Text 11"/>
          <p:cNvSpPr/>
          <p:nvPr/>
        </p:nvSpPr>
        <p:spPr>
          <a:xfrm>
            <a:off x="7614523" y="3599140"/>
            <a:ext cx="6163508" cy="737473"/>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Nurse and the patient should not have preconceived negative ideas or stereotyped views of the other person.</a:t>
            </a:r>
            <a:endParaRPr lang="en-US" sz="1450" dirty="0"/>
          </a:p>
        </p:txBody>
      </p:sp>
      <p:sp>
        <p:nvSpPr>
          <p:cNvPr id="14" name="Text 12"/>
          <p:cNvSpPr/>
          <p:nvPr/>
        </p:nvSpPr>
        <p:spPr>
          <a:xfrm>
            <a:off x="7614523" y="4401026"/>
            <a:ext cx="6163508" cy="737473"/>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Nurse and the patient should be free from fear, anxiety and confusion.</a:t>
            </a:r>
            <a:endParaRPr lang="en-US" sz="1450" dirty="0"/>
          </a:p>
        </p:txBody>
      </p:sp>
      <p:sp>
        <p:nvSpPr>
          <p:cNvPr id="15" name="Text 13"/>
          <p:cNvSpPr/>
          <p:nvPr/>
        </p:nvSpPr>
        <p:spPr>
          <a:xfrm>
            <a:off x="7614523" y="5202912"/>
            <a:ext cx="6163508" cy="737473"/>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The nurse should use therapeutic communication techniques to encourage the patient in sharing his views.</a:t>
            </a:r>
            <a:endParaRPr lang="en-US" sz="1450" dirty="0"/>
          </a:p>
        </p:txBody>
      </p:sp>
      <p:sp>
        <p:nvSpPr>
          <p:cNvPr id="16" name="Text 14"/>
          <p:cNvSpPr/>
          <p:nvPr/>
        </p:nvSpPr>
        <p:spPr>
          <a:xfrm>
            <a:off x="7614523" y="6004798"/>
            <a:ext cx="6163508" cy="737473"/>
          </a:xfrm>
          <a:prstGeom prst="rect">
            <a:avLst/>
          </a:prstGeom>
          <a:noFill/>
          <a:ln/>
        </p:spPr>
        <p:txBody>
          <a:bodyPr wrap="square" lIns="0" tIns="0" rIns="0" bIns="0" rtlCol="0" anchor="t"/>
          <a:lstStyle/>
          <a:p>
            <a:pPr marL="342900" indent="-342900">
              <a:lnSpc>
                <a:spcPts val="2300"/>
              </a:lnSpc>
              <a:buSzPct val="100000"/>
              <a:buChar char="•"/>
            </a:pPr>
            <a:r>
              <a:rPr lang="en-US" sz="1450" dirty="0">
                <a:solidFill>
                  <a:srgbClr val="00002E"/>
                </a:solidFill>
                <a:latin typeface="PT Sans" pitchFamily="34" charset="0"/>
                <a:ea typeface="PT Sans" pitchFamily="34" charset="-122"/>
                <a:cs typeface="PT Sans" pitchFamily="34" charset="-120"/>
              </a:rPr>
              <a:t>Should assess misconceptions of the patient and clarify them with proper facts.</a:t>
            </a:r>
            <a:endParaRPr lang="en-US" sz="1450" dirty="0"/>
          </a:p>
        </p:txBody>
      </p:sp>
      <p:sp>
        <p:nvSpPr>
          <p:cNvPr id="17" name="Text 15"/>
          <p:cNvSpPr/>
          <p:nvPr/>
        </p:nvSpPr>
        <p:spPr>
          <a:xfrm>
            <a:off x="7614523" y="6852880"/>
            <a:ext cx="6163508" cy="295037"/>
          </a:xfrm>
          <a:prstGeom prst="rect">
            <a:avLst/>
          </a:prstGeom>
          <a:noFill/>
          <a:ln/>
        </p:spPr>
        <p:txBody>
          <a:bodyPr wrap="none" lIns="0" tIns="0" rIns="0" bIns="0" rtlCol="0" anchor="t"/>
          <a:lstStyle/>
          <a:p>
            <a:pPr indent="0" marL="0">
              <a:lnSpc>
                <a:spcPts val="2300"/>
              </a:lnSpc>
              <a:buNone/>
            </a:pP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837724" y="1715810"/>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Shape 1"/>
          <p:cNvSpPr/>
          <p:nvPr/>
        </p:nvSpPr>
        <p:spPr>
          <a:xfrm>
            <a:off x="837724" y="2898577"/>
            <a:ext cx="6357818" cy="3615095"/>
          </a:xfrm>
          <a:prstGeom prst="roundRect">
            <a:avLst>
              <a:gd name="adj" fmla="val 9933"/>
            </a:avLst>
          </a:prstGeom>
          <a:solidFill>
            <a:srgbClr val="F3F3FF"/>
          </a:solidFill>
          <a:ln w="22860">
            <a:solidFill>
              <a:srgbClr val="2D4DF2"/>
            </a:solidFill>
            <a:prstDash val="solid"/>
          </a:ln>
        </p:spPr>
      </p:sp>
      <p:sp>
        <p:nvSpPr>
          <p:cNvPr id="4" name="Text 2"/>
          <p:cNvSpPr/>
          <p:nvPr/>
        </p:nvSpPr>
        <p:spPr>
          <a:xfrm>
            <a:off x="1099899" y="3160752"/>
            <a:ext cx="3379470"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Social Barriers</a:t>
            </a:r>
            <a:endParaRPr lang="en-US" sz="2650" dirty="0"/>
          </a:p>
        </p:txBody>
      </p:sp>
      <p:sp>
        <p:nvSpPr>
          <p:cNvPr id="5" name="Text 3"/>
          <p:cNvSpPr/>
          <p:nvPr/>
        </p:nvSpPr>
        <p:spPr>
          <a:xfrm>
            <a:off x="1099899" y="3726656"/>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Differences in social norms and values</a:t>
            </a:r>
            <a:endParaRPr lang="en-US" sz="1850" dirty="0"/>
          </a:p>
        </p:txBody>
      </p:sp>
      <p:sp>
        <p:nvSpPr>
          <p:cNvPr id="6" name="Text 4"/>
          <p:cNvSpPr/>
          <p:nvPr/>
        </p:nvSpPr>
        <p:spPr>
          <a:xfrm>
            <a:off x="1099899" y="4288988"/>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Differences in social strata</a:t>
            </a:r>
            <a:endParaRPr lang="en-US" sz="1850" dirty="0"/>
          </a:p>
        </p:txBody>
      </p:sp>
      <p:sp>
        <p:nvSpPr>
          <p:cNvPr id="7" name="Text 5"/>
          <p:cNvSpPr/>
          <p:nvPr/>
        </p:nvSpPr>
        <p:spPr>
          <a:xfrm>
            <a:off x="1099899" y="4911209"/>
            <a:ext cx="5833467" cy="383024"/>
          </a:xfrm>
          <a:prstGeom prst="rect">
            <a:avLst/>
          </a:prstGeom>
          <a:noFill/>
          <a:ln/>
        </p:spPr>
        <p:txBody>
          <a:bodyPr wrap="none" lIns="0" tIns="0" rIns="0" bIns="0" rtlCol="0" anchor="t"/>
          <a:lstStyle/>
          <a:p>
            <a:pPr indent="0" marL="0">
              <a:lnSpc>
                <a:spcPts val="3000"/>
              </a:lnSpc>
              <a:buNone/>
            </a:pPr>
            <a:endParaRPr lang="en-US" sz="1850" dirty="0"/>
          </a:p>
        </p:txBody>
      </p:sp>
      <p:sp>
        <p:nvSpPr>
          <p:cNvPr id="8" name="Text 6"/>
          <p:cNvSpPr/>
          <p:nvPr/>
        </p:nvSpPr>
        <p:spPr>
          <a:xfrm>
            <a:off x="1099899" y="5437822"/>
            <a:ext cx="5833467" cy="383024"/>
          </a:xfrm>
          <a:prstGeom prst="rect">
            <a:avLst/>
          </a:prstGeom>
          <a:noFill/>
          <a:ln/>
        </p:spPr>
        <p:txBody>
          <a:bodyPr wrap="none" lIns="0" tIns="0" rIns="0" bIns="0" rtlCol="0" anchor="t"/>
          <a:lstStyle/>
          <a:p>
            <a:pPr indent="0" marL="0">
              <a:lnSpc>
                <a:spcPts val="3000"/>
              </a:lnSpc>
              <a:buNone/>
            </a:pPr>
            <a:endParaRPr lang="en-US" sz="1850" dirty="0"/>
          </a:p>
        </p:txBody>
      </p:sp>
      <p:sp>
        <p:nvSpPr>
          <p:cNvPr id="9" name="Shape 7"/>
          <p:cNvSpPr/>
          <p:nvPr/>
        </p:nvSpPr>
        <p:spPr>
          <a:xfrm>
            <a:off x="7434858" y="2898577"/>
            <a:ext cx="6357818" cy="3615095"/>
          </a:xfrm>
          <a:prstGeom prst="roundRect">
            <a:avLst>
              <a:gd name="adj" fmla="val 9933"/>
            </a:avLst>
          </a:prstGeom>
          <a:solidFill>
            <a:srgbClr val="F3F3FF"/>
          </a:solidFill>
          <a:ln w="22860">
            <a:solidFill>
              <a:srgbClr val="018CE1"/>
            </a:solidFill>
            <a:prstDash val="solid"/>
          </a:ln>
        </p:spPr>
      </p:sp>
      <p:sp>
        <p:nvSpPr>
          <p:cNvPr id="10" name="Text 8"/>
          <p:cNvSpPr/>
          <p:nvPr/>
        </p:nvSpPr>
        <p:spPr>
          <a:xfrm>
            <a:off x="7697033" y="3160752"/>
            <a:ext cx="3545324"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Strategies to overcome</a:t>
            </a:r>
            <a:endParaRPr lang="en-US" sz="2650" dirty="0"/>
          </a:p>
        </p:txBody>
      </p:sp>
      <p:sp>
        <p:nvSpPr>
          <p:cNvPr id="11" name="Text 9"/>
          <p:cNvSpPr/>
          <p:nvPr/>
        </p:nvSpPr>
        <p:spPr>
          <a:xfrm>
            <a:off x="7697033" y="3726656"/>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Nurse needs to respect social norms and values.</a:t>
            </a:r>
            <a:endParaRPr lang="en-US" sz="1850" dirty="0"/>
          </a:p>
        </p:txBody>
      </p:sp>
      <p:sp>
        <p:nvSpPr>
          <p:cNvPr id="12" name="Text 10"/>
          <p:cNvSpPr/>
          <p:nvPr/>
        </p:nvSpPr>
        <p:spPr>
          <a:xfrm>
            <a:off x="7697033" y="4767620"/>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Social strata need to be considered while communicating with the patient.</a:t>
            </a:r>
            <a:endParaRPr lang="en-US" sz="1850" dirty="0"/>
          </a:p>
        </p:txBody>
      </p:sp>
      <p:sp>
        <p:nvSpPr>
          <p:cNvPr id="13" name="Text 11"/>
          <p:cNvSpPr/>
          <p:nvPr/>
        </p:nvSpPr>
        <p:spPr>
          <a:xfrm>
            <a:off x="7697033" y="5868472"/>
            <a:ext cx="5833467" cy="383024"/>
          </a:xfrm>
          <a:prstGeom prst="rect">
            <a:avLst/>
          </a:prstGeom>
          <a:noFill/>
          <a:ln/>
        </p:spPr>
        <p:txBody>
          <a:bodyPr wrap="none" lIns="0" tIns="0" rIns="0" bIns="0" rtlCol="0" anchor="t"/>
          <a:lstStyle/>
          <a:p>
            <a:pPr indent="0" marL="0">
              <a:lnSpc>
                <a:spcPts val="3000"/>
              </a:lnSpc>
              <a:buNone/>
            </a:pP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837724" y="1949172"/>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Shape 1"/>
          <p:cNvSpPr/>
          <p:nvPr/>
        </p:nvSpPr>
        <p:spPr>
          <a:xfrm>
            <a:off x="837724" y="3131939"/>
            <a:ext cx="6357818" cy="3148370"/>
          </a:xfrm>
          <a:prstGeom prst="roundRect">
            <a:avLst>
              <a:gd name="adj" fmla="val 11405"/>
            </a:avLst>
          </a:prstGeom>
          <a:solidFill>
            <a:srgbClr val="F3F3FF"/>
          </a:solidFill>
          <a:ln w="22860">
            <a:solidFill>
              <a:srgbClr val="2D4DF2"/>
            </a:solidFill>
            <a:prstDash val="solid"/>
          </a:ln>
        </p:spPr>
      </p:sp>
      <p:sp>
        <p:nvSpPr>
          <p:cNvPr id="4" name="Text 2"/>
          <p:cNvSpPr/>
          <p:nvPr/>
        </p:nvSpPr>
        <p:spPr>
          <a:xfrm>
            <a:off x="1099899" y="3394115"/>
            <a:ext cx="3379470"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Cultural Barriers</a:t>
            </a:r>
            <a:endParaRPr lang="en-US" sz="2650" dirty="0"/>
          </a:p>
        </p:txBody>
      </p:sp>
      <p:sp>
        <p:nvSpPr>
          <p:cNvPr id="5" name="Text 3"/>
          <p:cNvSpPr/>
          <p:nvPr/>
        </p:nvSpPr>
        <p:spPr>
          <a:xfrm>
            <a:off x="1099899" y="3960019"/>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Ethnic, religious and cultural differences</a:t>
            </a:r>
            <a:endParaRPr lang="en-US" sz="1850" dirty="0"/>
          </a:p>
        </p:txBody>
      </p:sp>
      <p:sp>
        <p:nvSpPr>
          <p:cNvPr id="6" name="Text 4"/>
          <p:cNvSpPr/>
          <p:nvPr/>
        </p:nvSpPr>
        <p:spPr>
          <a:xfrm>
            <a:off x="1099899" y="4522351"/>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Traditions, customs and cultural beliefs</a:t>
            </a:r>
            <a:endParaRPr lang="en-US" sz="1850" dirty="0"/>
          </a:p>
        </p:txBody>
      </p:sp>
      <p:sp>
        <p:nvSpPr>
          <p:cNvPr id="7" name="Text 5"/>
          <p:cNvSpPr/>
          <p:nvPr/>
        </p:nvSpPr>
        <p:spPr>
          <a:xfrm>
            <a:off x="1099899" y="5144572"/>
            <a:ext cx="5833467" cy="478631"/>
          </a:xfrm>
          <a:prstGeom prst="rect">
            <a:avLst/>
          </a:prstGeom>
          <a:noFill/>
          <a:ln/>
        </p:spPr>
        <p:txBody>
          <a:bodyPr wrap="none" lIns="0" tIns="0" rIns="0" bIns="0" rtlCol="0" anchor="t"/>
          <a:lstStyle/>
          <a:p>
            <a:pPr indent="0" marL="0">
              <a:lnSpc>
                <a:spcPts val="3750"/>
              </a:lnSpc>
              <a:buNone/>
            </a:pPr>
            <a:endParaRPr lang="en-US" sz="2350" dirty="0"/>
          </a:p>
        </p:txBody>
      </p:sp>
      <p:sp>
        <p:nvSpPr>
          <p:cNvPr id="8" name="Shape 6"/>
          <p:cNvSpPr/>
          <p:nvPr/>
        </p:nvSpPr>
        <p:spPr>
          <a:xfrm>
            <a:off x="7434858" y="3131939"/>
            <a:ext cx="6357818" cy="3148370"/>
          </a:xfrm>
          <a:prstGeom prst="roundRect">
            <a:avLst>
              <a:gd name="adj" fmla="val 11405"/>
            </a:avLst>
          </a:prstGeom>
          <a:solidFill>
            <a:srgbClr val="F3F3FF"/>
          </a:solidFill>
          <a:ln w="22860">
            <a:solidFill>
              <a:srgbClr val="018CE1"/>
            </a:solidFill>
            <a:prstDash val="solid"/>
          </a:ln>
        </p:spPr>
      </p:sp>
      <p:sp>
        <p:nvSpPr>
          <p:cNvPr id="9" name="Text 7"/>
          <p:cNvSpPr/>
          <p:nvPr/>
        </p:nvSpPr>
        <p:spPr>
          <a:xfrm>
            <a:off x="7697033" y="3394115"/>
            <a:ext cx="3545324"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Strategies to overcome</a:t>
            </a:r>
            <a:endParaRPr lang="en-US" sz="2650" dirty="0"/>
          </a:p>
        </p:txBody>
      </p:sp>
      <p:sp>
        <p:nvSpPr>
          <p:cNvPr id="10" name="Text 8"/>
          <p:cNvSpPr/>
          <p:nvPr/>
        </p:nvSpPr>
        <p:spPr>
          <a:xfrm>
            <a:off x="7697033" y="3960019"/>
            <a:ext cx="5833467"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A nurse should duly understand the cultural differences and traditional values of the patient while providing care.</a:t>
            </a:r>
            <a:endParaRPr lang="en-US" sz="1850" dirty="0"/>
          </a:p>
        </p:txBody>
      </p:sp>
      <p:sp>
        <p:nvSpPr>
          <p:cNvPr id="11" name="Text 9"/>
          <p:cNvSpPr/>
          <p:nvPr/>
        </p:nvSpPr>
        <p:spPr>
          <a:xfrm>
            <a:off x="7697033" y="5539502"/>
            <a:ext cx="5833467" cy="478631"/>
          </a:xfrm>
          <a:prstGeom prst="rect">
            <a:avLst/>
          </a:prstGeom>
          <a:noFill/>
          <a:ln/>
        </p:spPr>
        <p:txBody>
          <a:bodyPr wrap="none" lIns="0" tIns="0" rIns="0" bIns="0" rtlCol="0" anchor="t"/>
          <a:lstStyle/>
          <a:p>
            <a:pPr indent="0" marL="0">
              <a:lnSpc>
                <a:spcPts val="3750"/>
              </a:lnSpc>
              <a:buNone/>
            </a:pPr>
            <a:endParaRPr lang="en-US" sz="2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802838" y="857607"/>
            <a:ext cx="5397579" cy="674608"/>
          </a:xfrm>
          <a:prstGeom prst="rect">
            <a:avLst/>
          </a:prstGeom>
          <a:noFill/>
          <a:ln/>
        </p:spPr>
        <p:txBody>
          <a:bodyPr wrap="none" lIns="0" tIns="0" rIns="0" bIns="0" rtlCol="0" anchor="t"/>
          <a:lstStyle/>
          <a:p>
            <a:pPr indent="0" marL="0">
              <a:lnSpc>
                <a:spcPts val="5300"/>
              </a:lnSpc>
              <a:buNone/>
            </a:pPr>
            <a:endParaRPr lang="en-US" sz="4250" dirty="0"/>
          </a:p>
        </p:txBody>
      </p:sp>
      <p:sp>
        <p:nvSpPr>
          <p:cNvPr id="3" name="Shape 1"/>
          <p:cNvSpPr/>
          <p:nvPr/>
        </p:nvSpPr>
        <p:spPr>
          <a:xfrm>
            <a:off x="802838" y="1990963"/>
            <a:ext cx="6397704" cy="5381030"/>
          </a:xfrm>
          <a:prstGeom prst="roundRect">
            <a:avLst>
              <a:gd name="adj" fmla="val 6395"/>
            </a:avLst>
          </a:prstGeom>
          <a:solidFill>
            <a:srgbClr val="F3F3FF"/>
          </a:solidFill>
          <a:ln w="22860">
            <a:solidFill>
              <a:srgbClr val="2D4DF2"/>
            </a:solidFill>
            <a:prstDash val="solid"/>
          </a:ln>
        </p:spPr>
      </p:sp>
      <p:sp>
        <p:nvSpPr>
          <p:cNvPr id="4" name="Text 2"/>
          <p:cNvSpPr/>
          <p:nvPr/>
        </p:nvSpPr>
        <p:spPr>
          <a:xfrm>
            <a:off x="1055013" y="2243138"/>
            <a:ext cx="3238500" cy="404813"/>
          </a:xfrm>
          <a:prstGeom prst="rect">
            <a:avLst/>
          </a:prstGeom>
          <a:noFill/>
          <a:ln/>
        </p:spPr>
        <p:txBody>
          <a:bodyPr wrap="none" lIns="0" tIns="0" rIns="0" bIns="0" rtlCol="0" anchor="t"/>
          <a:lstStyle/>
          <a:p>
            <a:pPr indent="0" marL="0">
              <a:lnSpc>
                <a:spcPts val="3150"/>
              </a:lnSpc>
              <a:buNone/>
            </a:pPr>
            <a:r>
              <a:rPr lang="en-US" sz="2550" dirty="0">
                <a:solidFill>
                  <a:srgbClr val="00002E"/>
                </a:solidFill>
                <a:latin typeface="Nunito Semi Bold" pitchFamily="34" charset="0"/>
                <a:ea typeface="Nunito Semi Bold" pitchFamily="34" charset="-122"/>
                <a:cs typeface="Nunito Semi Bold" pitchFamily="34" charset="-120"/>
              </a:rPr>
              <a:t>Semantic Barriers</a:t>
            </a:r>
            <a:endParaRPr lang="en-US" sz="2550" dirty="0"/>
          </a:p>
        </p:txBody>
      </p:sp>
      <p:sp>
        <p:nvSpPr>
          <p:cNvPr id="5" name="Text 3"/>
          <p:cNvSpPr/>
          <p:nvPr/>
        </p:nvSpPr>
        <p:spPr>
          <a:xfrm>
            <a:off x="1055013" y="2785586"/>
            <a:ext cx="5893356" cy="458629"/>
          </a:xfrm>
          <a:prstGeom prst="rect">
            <a:avLst/>
          </a:prstGeom>
          <a:noFill/>
          <a:ln/>
        </p:spPr>
        <p:txBody>
          <a:bodyPr wrap="none" lIns="0" tIns="0" rIns="0" bIns="0" rtlCol="0" anchor="t"/>
          <a:lstStyle/>
          <a:p>
            <a:pPr marL="342900" indent="-342900">
              <a:lnSpc>
                <a:spcPts val="2850"/>
              </a:lnSpc>
              <a:buSzPct val="100000"/>
              <a:buChar char="•"/>
            </a:pPr>
            <a:r>
              <a:rPr lang="en-US" sz="1800" dirty="0">
                <a:solidFill>
                  <a:srgbClr val="00002E"/>
                </a:solidFill>
                <a:latin typeface="PT Sans" pitchFamily="34" charset="0"/>
                <a:ea typeface="PT Sans" pitchFamily="34" charset="-122"/>
                <a:cs typeface="PT Sans" pitchFamily="34" charset="-120"/>
              </a:rPr>
              <a:t>Language, jargon (terminology)</a:t>
            </a:r>
            <a:endParaRPr lang="en-US" sz="1800" dirty="0"/>
          </a:p>
        </p:txBody>
      </p:sp>
      <p:sp>
        <p:nvSpPr>
          <p:cNvPr id="6" name="Text 4"/>
          <p:cNvSpPr/>
          <p:nvPr/>
        </p:nvSpPr>
        <p:spPr>
          <a:xfrm>
            <a:off x="1055013" y="3324463"/>
            <a:ext cx="5893356" cy="458629"/>
          </a:xfrm>
          <a:prstGeom prst="rect">
            <a:avLst/>
          </a:prstGeom>
          <a:noFill/>
          <a:ln/>
        </p:spPr>
        <p:txBody>
          <a:bodyPr wrap="none" lIns="0" tIns="0" rIns="0" bIns="0" rtlCol="0" anchor="t"/>
          <a:lstStyle/>
          <a:p>
            <a:pPr marL="342900" indent="-342900">
              <a:lnSpc>
                <a:spcPts val="2850"/>
              </a:lnSpc>
              <a:buSzPct val="100000"/>
              <a:buChar char="•"/>
            </a:pPr>
            <a:r>
              <a:rPr lang="en-US" sz="1800" dirty="0">
                <a:solidFill>
                  <a:srgbClr val="00002E"/>
                </a:solidFill>
                <a:latin typeface="PT Sans" pitchFamily="34" charset="0"/>
                <a:ea typeface="PT Sans" pitchFamily="34" charset="-122"/>
                <a:cs typeface="PT Sans" pitchFamily="34" charset="-120"/>
              </a:rPr>
              <a:t>Faulty language translations</a:t>
            </a:r>
            <a:endParaRPr lang="en-US" sz="1800" dirty="0"/>
          </a:p>
        </p:txBody>
      </p:sp>
      <p:sp>
        <p:nvSpPr>
          <p:cNvPr id="7" name="Text 5"/>
          <p:cNvSpPr/>
          <p:nvPr/>
        </p:nvSpPr>
        <p:spPr>
          <a:xfrm>
            <a:off x="1055013" y="3920728"/>
            <a:ext cx="5893356" cy="367070"/>
          </a:xfrm>
          <a:prstGeom prst="rect">
            <a:avLst/>
          </a:prstGeom>
          <a:noFill/>
          <a:ln/>
        </p:spPr>
        <p:txBody>
          <a:bodyPr wrap="none" lIns="0" tIns="0" rIns="0" bIns="0" rtlCol="0" anchor="t"/>
          <a:lstStyle/>
          <a:p>
            <a:pPr indent="0" marL="0">
              <a:lnSpc>
                <a:spcPts val="2850"/>
              </a:lnSpc>
              <a:buNone/>
            </a:pPr>
            <a:endParaRPr lang="en-US" sz="1800" dirty="0"/>
          </a:p>
        </p:txBody>
      </p:sp>
      <p:sp>
        <p:nvSpPr>
          <p:cNvPr id="8" name="Shape 6"/>
          <p:cNvSpPr/>
          <p:nvPr/>
        </p:nvSpPr>
        <p:spPr>
          <a:xfrm>
            <a:off x="7429857" y="1990963"/>
            <a:ext cx="6397704" cy="5381030"/>
          </a:xfrm>
          <a:prstGeom prst="roundRect">
            <a:avLst>
              <a:gd name="adj" fmla="val 6395"/>
            </a:avLst>
          </a:prstGeom>
          <a:solidFill>
            <a:srgbClr val="F3F3FF"/>
          </a:solidFill>
          <a:ln w="22860">
            <a:solidFill>
              <a:srgbClr val="018CE1"/>
            </a:solidFill>
            <a:prstDash val="solid"/>
          </a:ln>
        </p:spPr>
      </p:sp>
      <p:sp>
        <p:nvSpPr>
          <p:cNvPr id="9" name="Text 7"/>
          <p:cNvSpPr/>
          <p:nvPr/>
        </p:nvSpPr>
        <p:spPr>
          <a:xfrm>
            <a:off x="7682032" y="2243138"/>
            <a:ext cx="3397925" cy="404813"/>
          </a:xfrm>
          <a:prstGeom prst="rect">
            <a:avLst/>
          </a:prstGeom>
          <a:noFill/>
          <a:ln/>
        </p:spPr>
        <p:txBody>
          <a:bodyPr wrap="none" lIns="0" tIns="0" rIns="0" bIns="0" rtlCol="0" anchor="t"/>
          <a:lstStyle/>
          <a:p>
            <a:pPr indent="0" marL="0">
              <a:lnSpc>
                <a:spcPts val="3150"/>
              </a:lnSpc>
              <a:buNone/>
            </a:pPr>
            <a:r>
              <a:rPr lang="en-US" sz="2550" dirty="0">
                <a:solidFill>
                  <a:srgbClr val="00002E"/>
                </a:solidFill>
                <a:latin typeface="Nunito Semi Bold" pitchFamily="34" charset="0"/>
                <a:ea typeface="Nunito Semi Bold" pitchFamily="34" charset="-122"/>
                <a:cs typeface="Nunito Semi Bold" pitchFamily="34" charset="-120"/>
              </a:rPr>
              <a:t>Strategies to overcome</a:t>
            </a:r>
            <a:endParaRPr lang="en-US" sz="2550" dirty="0"/>
          </a:p>
        </p:txBody>
      </p:sp>
      <p:sp>
        <p:nvSpPr>
          <p:cNvPr id="10" name="Text 8"/>
          <p:cNvSpPr/>
          <p:nvPr/>
        </p:nvSpPr>
        <p:spPr>
          <a:xfrm>
            <a:off x="7682032" y="2785586"/>
            <a:ext cx="5893356" cy="1375886"/>
          </a:xfrm>
          <a:prstGeom prst="rect">
            <a:avLst/>
          </a:prstGeom>
          <a:noFill/>
          <a:ln/>
        </p:spPr>
        <p:txBody>
          <a:bodyPr wrap="square" lIns="0" tIns="0" rIns="0" bIns="0" rtlCol="0" anchor="t"/>
          <a:lstStyle/>
          <a:p>
            <a:pPr marL="342900" indent="-342900">
              <a:lnSpc>
                <a:spcPts val="2850"/>
              </a:lnSpc>
              <a:buSzPct val="100000"/>
              <a:buChar char="•"/>
            </a:pPr>
            <a:r>
              <a:rPr lang="en-US" sz="1800" dirty="0">
                <a:solidFill>
                  <a:srgbClr val="00002E"/>
                </a:solidFill>
                <a:latin typeface="PT Sans" pitchFamily="34" charset="0"/>
                <a:ea typeface="PT Sans" pitchFamily="34" charset="-122"/>
                <a:cs typeface="PT Sans" pitchFamily="34" charset="-120"/>
              </a:rPr>
              <a:t>The nurse should preferably communicate in the same language as used by the patient and avoid needless translation.</a:t>
            </a:r>
            <a:endParaRPr lang="en-US" sz="1800" dirty="0"/>
          </a:p>
        </p:txBody>
      </p:sp>
      <p:sp>
        <p:nvSpPr>
          <p:cNvPr id="11" name="Text 9"/>
          <p:cNvSpPr/>
          <p:nvPr/>
        </p:nvSpPr>
        <p:spPr>
          <a:xfrm>
            <a:off x="7682032" y="4241721"/>
            <a:ext cx="5893356" cy="1375886"/>
          </a:xfrm>
          <a:prstGeom prst="rect">
            <a:avLst/>
          </a:prstGeom>
          <a:noFill/>
          <a:ln/>
        </p:spPr>
        <p:txBody>
          <a:bodyPr wrap="square" lIns="0" tIns="0" rIns="0" bIns="0" rtlCol="0" anchor="t"/>
          <a:lstStyle/>
          <a:p>
            <a:pPr marL="342900" indent="-342900">
              <a:lnSpc>
                <a:spcPts val="2850"/>
              </a:lnSpc>
              <a:buSzPct val="100000"/>
              <a:buChar char="•"/>
            </a:pPr>
            <a:r>
              <a:rPr lang="en-US" sz="1800" dirty="0">
                <a:solidFill>
                  <a:srgbClr val="00002E"/>
                </a:solidFill>
                <a:latin typeface="PT Sans" pitchFamily="34" charset="0"/>
                <a:ea typeface="PT Sans" pitchFamily="34" charset="-122"/>
                <a:cs typeface="PT Sans" pitchFamily="34" charset="-120"/>
              </a:rPr>
              <a:t>The nurse should ensure that the patient is attentive while conveying any kind of information.</a:t>
            </a:r>
            <a:endParaRPr lang="en-US" sz="1800" dirty="0"/>
          </a:p>
        </p:txBody>
      </p:sp>
      <p:sp>
        <p:nvSpPr>
          <p:cNvPr id="12" name="Text 10"/>
          <p:cNvSpPr/>
          <p:nvPr/>
        </p:nvSpPr>
        <p:spPr>
          <a:xfrm>
            <a:off x="7682032" y="5697855"/>
            <a:ext cx="5893356" cy="917258"/>
          </a:xfrm>
          <a:prstGeom prst="rect">
            <a:avLst/>
          </a:prstGeom>
          <a:noFill/>
          <a:ln/>
        </p:spPr>
        <p:txBody>
          <a:bodyPr wrap="square" lIns="0" tIns="0" rIns="0" bIns="0" rtlCol="0" anchor="t"/>
          <a:lstStyle/>
          <a:p>
            <a:pPr marL="342900" indent="-342900">
              <a:lnSpc>
                <a:spcPts val="2850"/>
              </a:lnSpc>
              <a:buSzPct val="100000"/>
              <a:buChar char="•"/>
            </a:pPr>
            <a:r>
              <a:rPr lang="en-US" sz="1800" dirty="0">
                <a:solidFill>
                  <a:srgbClr val="00002E"/>
                </a:solidFill>
                <a:latin typeface="PT Sans" pitchFamily="34" charset="0"/>
                <a:ea typeface="PT Sans" pitchFamily="34" charset="-122"/>
                <a:cs typeface="PT Sans" pitchFamily="34" charset="-120"/>
              </a:rPr>
              <a:t>The language used should be simple and include minimum technical jargon.</a:t>
            </a:r>
            <a:endParaRPr lang="en-US" sz="1800" dirty="0"/>
          </a:p>
        </p:txBody>
      </p:sp>
      <p:sp>
        <p:nvSpPr>
          <p:cNvPr id="13" name="Text 11"/>
          <p:cNvSpPr/>
          <p:nvPr/>
        </p:nvSpPr>
        <p:spPr>
          <a:xfrm>
            <a:off x="7682032" y="6752749"/>
            <a:ext cx="5893356" cy="367070"/>
          </a:xfrm>
          <a:prstGeom prst="rect">
            <a:avLst/>
          </a:prstGeom>
          <a:noFill/>
          <a:ln/>
        </p:spPr>
        <p:txBody>
          <a:bodyPr wrap="none" lIns="0" tIns="0" rIns="0" bIns="0" rtlCol="0" anchor="t"/>
          <a:lstStyle/>
          <a:p>
            <a:pPr indent="0" marL="0">
              <a:lnSpc>
                <a:spcPts val="2850"/>
              </a:lnSpc>
              <a:buNone/>
            </a:pP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837724" y="716756"/>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Shape 1"/>
          <p:cNvSpPr/>
          <p:nvPr/>
        </p:nvSpPr>
        <p:spPr>
          <a:xfrm>
            <a:off x="837724" y="1899523"/>
            <a:ext cx="6357818" cy="5613321"/>
          </a:xfrm>
          <a:prstGeom prst="roundRect">
            <a:avLst>
              <a:gd name="adj" fmla="val 6397"/>
            </a:avLst>
          </a:prstGeom>
          <a:solidFill>
            <a:srgbClr val="F3F3FF"/>
          </a:solidFill>
          <a:ln w="22860">
            <a:solidFill>
              <a:srgbClr val="2D4DF2"/>
            </a:solidFill>
            <a:prstDash val="solid"/>
          </a:ln>
        </p:spPr>
      </p:sp>
      <p:sp>
        <p:nvSpPr>
          <p:cNvPr id="4" name="Text 2"/>
          <p:cNvSpPr/>
          <p:nvPr/>
        </p:nvSpPr>
        <p:spPr>
          <a:xfrm>
            <a:off x="1099899" y="2161699"/>
            <a:ext cx="3565922"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Organizational Barriers</a:t>
            </a:r>
            <a:endParaRPr lang="en-US" sz="2650" dirty="0"/>
          </a:p>
        </p:txBody>
      </p:sp>
      <p:sp>
        <p:nvSpPr>
          <p:cNvPr id="5" name="Text 3"/>
          <p:cNvSpPr/>
          <p:nvPr/>
        </p:nvSpPr>
        <p:spPr>
          <a:xfrm>
            <a:off x="1099899" y="2727603"/>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Organizational policy, rules and regulations.</a:t>
            </a:r>
            <a:endParaRPr lang="en-US" sz="1850" dirty="0"/>
          </a:p>
        </p:txBody>
      </p:sp>
      <p:sp>
        <p:nvSpPr>
          <p:cNvPr id="6" name="Text 4"/>
          <p:cNvSpPr/>
          <p:nvPr/>
        </p:nvSpPr>
        <p:spPr>
          <a:xfrm>
            <a:off x="1099899" y="3768566"/>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Complexity in organizational hierarchy</a:t>
            </a:r>
            <a:endParaRPr lang="en-US" sz="1850" dirty="0"/>
          </a:p>
        </p:txBody>
      </p:sp>
      <p:sp>
        <p:nvSpPr>
          <p:cNvPr id="7" name="Text 5"/>
          <p:cNvSpPr/>
          <p:nvPr/>
        </p:nvSpPr>
        <p:spPr>
          <a:xfrm>
            <a:off x="1099899" y="4330898"/>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Size of the organization</a:t>
            </a:r>
            <a:endParaRPr lang="en-US" sz="1850" dirty="0"/>
          </a:p>
        </p:txBody>
      </p:sp>
      <p:sp>
        <p:nvSpPr>
          <p:cNvPr id="8" name="Text 6"/>
          <p:cNvSpPr/>
          <p:nvPr/>
        </p:nvSpPr>
        <p:spPr>
          <a:xfrm>
            <a:off x="1099899" y="4953119"/>
            <a:ext cx="5833467" cy="478631"/>
          </a:xfrm>
          <a:prstGeom prst="rect">
            <a:avLst/>
          </a:prstGeom>
          <a:noFill/>
          <a:ln/>
        </p:spPr>
        <p:txBody>
          <a:bodyPr wrap="none" lIns="0" tIns="0" rIns="0" bIns="0" rtlCol="0" anchor="t"/>
          <a:lstStyle/>
          <a:p>
            <a:pPr indent="0" marL="0">
              <a:lnSpc>
                <a:spcPts val="3750"/>
              </a:lnSpc>
              <a:buNone/>
            </a:pPr>
            <a:endParaRPr lang="en-US" sz="2350" dirty="0"/>
          </a:p>
        </p:txBody>
      </p:sp>
      <p:sp>
        <p:nvSpPr>
          <p:cNvPr id="9" name="Shape 7"/>
          <p:cNvSpPr/>
          <p:nvPr/>
        </p:nvSpPr>
        <p:spPr>
          <a:xfrm>
            <a:off x="7434858" y="1899523"/>
            <a:ext cx="6357818" cy="5613321"/>
          </a:xfrm>
          <a:prstGeom prst="roundRect">
            <a:avLst>
              <a:gd name="adj" fmla="val 6397"/>
            </a:avLst>
          </a:prstGeom>
          <a:solidFill>
            <a:srgbClr val="F3F3FF"/>
          </a:solidFill>
          <a:ln w="22860">
            <a:solidFill>
              <a:srgbClr val="018CE1"/>
            </a:solidFill>
            <a:prstDash val="solid"/>
          </a:ln>
        </p:spPr>
      </p:sp>
      <p:sp>
        <p:nvSpPr>
          <p:cNvPr id="10" name="Text 8"/>
          <p:cNvSpPr/>
          <p:nvPr/>
        </p:nvSpPr>
        <p:spPr>
          <a:xfrm>
            <a:off x="7697033" y="2161699"/>
            <a:ext cx="3545324"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Strategies to overcome</a:t>
            </a:r>
            <a:endParaRPr lang="en-US" sz="2650" dirty="0"/>
          </a:p>
        </p:txBody>
      </p:sp>
      <p:sp>
        <p:nvSpPr>
          <p:cNvPr id="11" name="Text 9"/>
          <p:cNvSpPr/>
          <p:nvPr/>
        </p:nvSpPr>
        <p:spPr>
          <a:xfrm>
            <a:off x="7697033" y="2727603"/>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Organizational policy, rules and regulations must be pro communication</a:t>
            </a:r>
            <a:endParaRPr lang="en-US" sz="1850" dirty="0"/>
          </a:p>
        </p:txBody>
      </p:sp>
      <p:sp>
        <p:nvSpPr>
          <p:cNvPr id="12" name="Text 10"/>
          <p:cNvSpPr/>
          <p:nvPr/>
        </p:nvSpPr>
        <p:spPr>
          <a:xfrm>
            <a:off x="7697033" y="3768566"/>
            <a:ext cx="5833467"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Organizational structure must be simple and non-complex for smooth communication</a:t>
            </a:r>
            <a:endParaRPr lang="en-US" sz="1850" dirty="0"/>
          </a:p>
        </p:txBody>
      </p:sp>
      <p:sp>
        <p:nvSpPr>
          <p:cNvPr id="13" name="Text 11"/>
          <p:cNvSpPr/>
          <p:nvPr/>
        </p:nvSpPr>
        <p:spPr>
          <a:xfrm>
            <a:off x="7697033" y="5288161"/>
            <a:ext cx="5833467" cy="1435894"/>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Decentralization in an organizational structure promotes effective communication.</a:t>
            </a:r>
            <a:endParaRPr lang="en-US" sz="1850" dirty="0"/>
          </a:p>
        </p:txBody>
      </p:sp>
      <p:sp>
        <p:nvSpPr>
          <p:cNvPr id="14" name="Text 12"/>
          <p:cNvSpPr/>
          <p:nvPr/>
        </p:nvSpPr>
        <p:spPr>
          <a:xfrm>
            <a:off x="7697033" y="6867644"/>
            <a:ext cx="5833467" cy="383024"/>
          </a:xfrm>
          <a:prstGeom prst="rect">
            <a:avLst/>
          </a:prstGeom>
          <a:noFill/>
          <a:ln/>
        </p:spPr>
        <p:txBody>
          <a:bodyPr wrap="none" lIns="0" tIns="0" rIns="0" bIns="0" rtlCol="0" anchor="t"/>
          <a:lstStyle/>
          <a:p>
            <a:pPr indent="0" marL="0">
              <a:lnSpc>
                <a:spcPts val="3000"/>
              </a:lnSpc>
              <a:buNone/>
            </a:pPr>
            <a:endParaRPr lang="en-US" sz="1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837724" y="1458635"/>
            <a:ext cx="5632490" cy="704017"/>
          </a:xfrm>
          <a:prstGeom prst="rect">
            <a:avLst/>
          </a:prstGeom>
          <a:noFill/>
          <a:ln/>
        </p:spPr>
        <p:txBody>
          <a:bodyPr wrap="none" lIns="0" tIns="0" rIns="0" bIns="0" rtlCol="0" anchor="t"/>
          <a:lstStyle/>
          <a:p>
            <a:pPr indent="0" marL="0">
              <a:lnSpc>
                <a:spcPts val="5500"/>
              </a:lnSpc>
              <a:buNone/>
            </a:pPr>
            <a:endParaRPr lang="en-US" sz="4400" dirty="0"/>
          </a:p>
        </p:txBody>
      </p:sp>
      <p:sp>
        <p:nvSpPr>
          <p:cNvPr id="3" name="Shape 1"/>
          <p:cNvSpPr/>
          <p:nvPr/>
        </p:nvSpPr>
        <p:spPr>
          <a:xfrm>
            <a:off x="837724" y="2641402"/>
            <a:ext cx="6357818" cy="4129445"/>
          </a:xfrm>
          <a:prstGeom prst="roundRect">
            <a:avLst>
              <a:gd name="adj" fmla="val 8695"/>
            </a:avLst>
          </a:prstGeom>
          <a:solidFill>
            <a:srgbClr val="F3F3FF"/>
          </a:solidFill>
          <a:ln w="22860">
            <a:solidFill>
              <a:srgbClr val="2D4DF2"/>
            </a:solidFill>
            <a:prstDash val="solid"/>
          </a:ln>
        </p:spPr>
      </p:sp>
      <p:sp>
        <p:nvSpPr>
          <p:cNvPr id="4" name="Text 2"/>
          <p:cNvSpPr/>
          <p:nvPr/>
        </p:nvSpPr>
        <p:spPr>
          <a:xfrm>
            <a:off x="1099899" y="2903577"/>
            <a:ext cx="5833467" cy="844629"/>
          </a:xfrm>
          <a:prstGeom prst="rect">
            <a:avLst/>
          </a:prstGeom>
          <a:noFill/>
          <a:ln/>
        </p:spPr>
        <p:txBody>
          <a:bodyPr wrap="squar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Communication Process Related Barriers</a:t>
            </a:r>
            <a:endParaRPr lang="en-US" sz="2650" dirty="0"/>
          </a:p>
        </p:txBody>
      </p:sp>
      <p:sp>
        <p:nvSpPr>
          <p:cNvPr id="5" name="Text 3"/>
          <p:cNvSpPr/>
          <p:nvPr/>
        </p:nvSpPr>
        <p:spPr>
          <a:xfrm>
            <a:off x="1099899" y="3891796"/>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Unclear and conflicting messages</a:t>
            </a:r>
            <a:endParaRPr lang="en-US" sz="1850" dirty="0"/>
          </a:p>
        </p:txBody>
      </p:sp>
      <p:sp>
        <p:nvSpPr>
          <p:cNvPr id="6" name="Text 4"/>
          <p:cNvSpPr/>
          <p:nvPr/>
        </p:nvSpPr>
        <p:spPr>
          <a:xfrm>
            <a:off x="1099899" y="4454128"/>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Use of inappropriate channels</a:t>
            </a:r>
            <a:endParaRPr lang="en-US" sz="1850" dirty="0"/>
          </a:p>
        </p:txBody>
      </p:sp>
      <p:sp>
        <p:nvSpPr>
          <p:cNvPr id="7" name="Text 5"/>
          <p:cNvSpPr/>
          <p:nvPr/>
        </p:nvSpPr>
        <p:spPr>
          <a:xfrm>
            <a:off x="1099899" y="5016460"/>
            <a:ext cx="5833467" cy="478631"/>
          </a:xfrm>
          <a:prstGeom prst="rect">
            <a:avLst/>
          </a:prstGeom>
          <a:noFill/>
          <a:ln/>
        </p:spPr>
        <p:txBody>
          <a:bodyPr wrap="non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Lack of or poor feedback</a:t>
            </a:r>
            <a:endParaRPr lang="en-US" sz="1850" dirty="0"/>
          </a:p>
        </p:txBody>
      </p:sp>
      <p:sp>
        <p:nvSpPr>
          <p:cNvPr id="8" name="Text 6"/>
          <p:cNvSpPr/>
          <p:nvPr/>
        </p:nvSpPr>
        <p:spPr>
          <a:xfrm>
            <a:off x="1099899" y="5638681"/>
            <a:ext cx="5833467" cy="383024"/>
          </a:xfrm>
          <a:prstGeom prst="rect">
            <a:avLst/>
          </a:prstGeom>
          <a:noFill/>
          <a:ln/>
        </p:spPr>
        <p:txBody>
          <a:bodyPr wrap="none" lIns="0" tIns="0" rIns="0" bIns="0" rtlCol="0" anchor="t"/>
          <a:lstStyle/>
          <a:p>
            <a:pPr indent="0" marL="0">
              <a:lnSpc>
                <a:spcPts val="3000"/>
              </a:lnSpc>
              <a:buNone/>
            </a:pPr>
            <a:endParaRPr lang="en-US" sz="1850" dirty="0"/>
          </a:p>
        </p:txBody>
      </p:sp>
      <p:sp>
        <p:nvSpPr>
          <p:cNvPr id="9" name="Shape 7"/>
          <p:cNvSpPr/>
          <p:nvPr/>
        </p:nvSpPr>
        <p:spPr>
          <a:xfrm>
            <a:off x="7434858" y="2641402"/>
            <a:ext cx="6357818" cy="4129445"/>
          </a:xfrm>
          <a:prstGeom prst="roundRect">
            <a:avLst>
              <a:gd name="adj" fmla="val 8695"/>
            </a:avLst>
          </a:prstGeom>
          <a:solidFill>
            <a:srgbClr val="F3F3FF"/>
          </a:solidFill>
          <a:ln w="22860">
            <a:solidFill>
              <a:srgbClr val="018CE1"/>
            </a:solidFill>
            <a:prstDash val="solid"/>
          </a:ln>
        </p:spPr>
      </p:sp>
      <p:sp>
        <p:nvSpPr>
          <p:cNvPr id="10" name="Text 8"/>
          <p:cNvSpPr/>
          <p:nvPr/>
        </p:nvSpPr>
        <p:spPr>
          <a:xfrm>
            <a:off x="7697033" y="2903577"/>
            <a:ext cx="3545324" cy="422315"/>
          </a:xfrm>
          <a:prstGeom prst="rect">
            <a:avLst/>
          </a:prstGeom>
          <a:noFill/>
          <a:ln/>
        </p:spPr>
        <p:txBody>
          <a:bodyPr wrap="none" lIns="0" tIns="0" rIns="0" bIns="0" rtlCol="0" anchor="t"/>
          <a:lstStyle/>
          <a:p>
            <a:pPr indent="0" marL="0">
              <a:lnSpc>
                <a:spcPts val="3300"/>
              </a:lnSpc>
              <a:buNone/>
            </a:pPr>
            <a:r>
              <a:rPr lang="en-US" sz="2650" dirty="0">
                <a:solidFill>
                  <a:srgbClr val="00002E"/>
                </a:solidFill>
                <a:latin typeface="Nunito Semi Bold" pitchFamily="34" charset="0"/>
                <a:ea typeface="Nunito Semi Bold" pitchFamily="34" charset="-122"/>
                <a:cs typeface="Nunito Semi Bold" pitchFamily="34" charset="-120"/>
              </a:rPr>
              <a:t>Strategies to overcome</a:t>
            </a:r>
            <a:endParaRPr lang="en-US" sz="2650" dirty="0"/>
          </a:p>
        </p:txBody>
      </p:sp>
      <p:sp>
        <p:nvSpPr>
          <p:cNvPr id="11" name="Text 9"/>
          <p:cNvSpPr/>
          <p:nvPr/>
        </p:nvSpPr>
        <p:spPr>
          <a:xfrm>
            <a:off x="7697033" y="3469481"/>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The nurse should communicate in clear, simple language with the patient</a:t>
            </a:r>
            <a:endParaRPr lang="en-US" sz="1850" dirty="0"/>
          </a:p>
        </p:txBody>
      </p:sp>
      <p:sp>
        <p:nvSpPr>
          <p:cNvPr id="12" name="Text 10"/>
          <p:cNvSpPr/>
          <p:nvPr/>
        </p:nvSpPr>
        <p:spPr>
          <a:xfrm>
            <a:off x="7697033" y="4510445"/>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The nurse should select appropriate channel for communication</a:t>
            </a:r>
            <a:endParaRPr lang="en-US" sz="1850" dirty="0"/>
          </a:p>
        </p:txBody>
      </p:sp>
      <p:sp>
        <p:nvSpPr>
          <p:cNvPr id="13" name="Text 11"/>
          <p:cNvSpPr/>
          <p:nvPr/>
        </p:nvSpPr>
        <p:spPr>
          <a:xfrm>
            <a:off x="7697033" y="5551408"/>
            <a:ext cx="5833467" cy="957263"/>
          </a:xfrm>
          <a:prstGeom prst="rect">
            <a:avLst/>
          </a:prstGeom>
          <a:noFill/>
          <a:ln/>
        </p:spPr>
        <p:txBody>
          <a:bodyPr wrap="square" lIns="0" tIns="0" rIns="0" bIns="0" rtlCol="0" anchor="t"/>
          <a:lstStyle/>
          <a:p>
            <a:pPr marL="342900" indent="-342900">
              <a:lnSpc>
                <a:spcPts val="3000"/>
              </a:lnSpc>
              <a:buSzPct val="100000"/>
              <a:buChar char="•"/>
            </a:pPr>
            <a:r>
              <a:rPr lang="en-US" sz="1850" dirty="0">
                <a:solidFill>
                  <a:srgbClr val="00002E"/>
                </a:solidFill>
                <a:latin typeface="PT Sans" pitchFamily="34" charset="0"/>
                <a:ea typeface="PT Sans" pitchFamily="34" charset="-122"/>
                <a:cs typeface="PT Sans" pitchFamily="34" charset="-120"/>
              </a:rPr>
              <a:t>The nurse should ensure proper feedback from the patient</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2025-02-24T17:21:45Z</dcterms:created>
  <dcterms:modified xsi:type="dcterms:W3CDTF">2025-02-24T17:21:45Z</dcterms:modified>
</cp:coreProperties>
</file>