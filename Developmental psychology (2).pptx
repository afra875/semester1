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4630400" cy="8229600"/>
  <p:notesSz cx="8229600" cy="14630400"/>
  <p:embeddedFontLst>
    <p:embeddedFont>
      <p:font typeface="Instrument Sans Medium"/>
      <p:regular r:id="rId33"/>
    </p:embeddedFont>
    <p:embeddedFont>
      <p:font typeface="Instrument Sans Medium"/>
      <p:regular r:id="rId34"/>
    </p:embeddedFont>
    <p:embeddedFont>
      <p:font typeface="Instrument Sans Medium"/>
      <p:regular r:id="rId35"/>
    </p:embeddedFont>
    <p:embeddedFont>
      <p:font typeface="Instrument Sans Medium"/>
      <p:regular r:id="rId36"/>
    </p:embeddedFont>
    <p:embeddedFont>
      <p:font typeface="Open Sans"/>
      <p:regular r:id="rId37"/>
    </p:embeddedFont>
    <p:embeddedFont>
      <p:font typeface="Open Sans"/>
      <p:regular r:id="rId38"/>
    </p:embeddedFont>
    <p:embeddedFont>
      <p:font typeface="Open Sans"/>
      <p:regular r:id="rId39"/>
    </p:embeddedFont>
    <p:embeddedFont>
      <p:font typeface="Open Sans"/>
      <p:regular r:id="rId4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0-1.pn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1-1.pn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2-1.png"/><Relationship Id="rId3"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3-1.png"/><Relationship Id="rId3"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4-1.png"/><Relationship Id="rId3"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5-1.png"/><Relationship Id="rId3"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6-1.png"/><Relationship Id="rId3"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00000"/>
          </a:solidFill>
          <a:ln/>
        </p:spPr>
      </p:sp>
      <p:sp>
        <p:nvSpPr>
          <p:cNvPr id="3" name="Shape 1"/>
          <p:cNvSpPr/>
          <p:nvPr/>
        </p:nvSpPr>
        <p:spPr>
          <a:xfrm>
            <a:off x="0" y="0"/>
            <a:ext cx="14630400" cy="82296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24376" y="684848"/>
            <a:ext cx="13181648" cy="1293495"/>
          </a:xfrm>
          <a:prstGeom prst="rect">
            <a:avLst/>
          </a:prstGeom>
          <a:noFill/>
          <a:ln/>
        </p:spPr>
        <p:txBody>
          <a:bodyPr wrap="square" lIns="0" tIns="0" rIns="0" bIns="0" rtlCol="0" anchor="t"/>
          <a:lstStyle/>
          <a:p>
            <a:pPr indent="0" marL="0">
              <a:lnSpc>
                <a:spcPts val="5050"/>
              </a:lnSpc>
              <a:buNone/>
            </a:pPr>
            <a:r>
              <a:rPr lang="en-US" sz="4050" dirty="0">
                <a:solidFill>
                  <a:srgbClr val="FEFEFE"/>
                </a:solidFill>
                <a:latin typeface="Instrument Sans Medium" pitchFamily="34" charset="0"/>
                <a:ea typeface="Instrument Sans Medium" pitchFamily="34" charset="-122"/>
                <a:cs typeface="Instrument Sans Medium" pitchFamily="34" charset="-120"/>
              </a:rPr>
              <a:t>ROLE OF NURSE IN SUPPORTING NORMAL GROWTH AND DEVELOPMENT ACROSS THE LIFE SPAN</a:t>
            </a:r>
            <a:endParaRPr lang="en-US" sz="4050" dirty="0"/>
          </a:p>
        </p:txBody>
      </p:sp>
      <p:sp>
        <p:nvSpPr>
          <p:cNvPr id="3" name="Text 1"/>
          <p:cNvSpPr/>
          <p:nvPr/>
        </p:nvSpPr>
        <p:spPr>
          <a:xfrm>
            <a:off x="724376" y="2288738"/>
            <a:ext cx="5589627" cy="517446"/>
          </a:xfrm>
          <a:prstGeom prst="rect">
            <a:avLst/>
          </a:prstGeom>
          <a:noFill/>
          <a:ln/>
        </p:spPr>
        <p:txBody>
          <a:bodyPr wrap="none" lIns="0" tIns="0" rIns="0" bIns="0" rtlCol="0" anchor="t"/>
          <a:lstStyle/>
          <a:p>
            <a:pPr indent="0" marL="0">
              <a:lnSpc>
                <a:spcPts val="4050"/>
              </a:lnSpc>
              <a:buNone/>
            </a:pPr>
            <a:r>
              <a:rPr lang="en-US" sz="3250" dirty="0">
                <a:solidFill>
                  <a:srgbClr val="FEFEFE"/>
                </a:solidFill>
                <a:latin typeface="Instrument Sans Medium" pitchFamily="34" charset="0"/>
                <a:ea typeface="Instrument Sans Medium" pitchFamily="34" charset="-122"/>
                <a:cs typeface="Instrument Sans Medium" pitchFamily="34" charset="-120"/>
              </a:rPr>
              <a:t>ROLE OF NURSE IN INFANCY</a:t>
            </a:r>
            <a:endParaRPr lang="en-US" sz="3250" dirty="0"/>
          </a:p>
        </p:txBody>
      </p:sp>
      <p:sp>
        <p:nvSpPr>
          <p:cNvPr id="4" name="Text 2"/>
          <p:cNvSpPr/>
          <p:nvPr/>
        </p:nvSpPr>
        <p:spPr>
          <a:xfrm>
            <a:off x="724376" y="3116580"/>
            <a:ext cx="13181648" cy="82772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Nurses need to provide physical and psychological care for the babies, which facilitate all round growth and development in all dimensions of health. </a:t>
            </a:r>
            <a:endParaRPr lang="en-US" sz="1600" dirty="0"/>
          </a:p>
        </p:txBody>
      </p:sp>
      <p:sp>
        <p:nvSpPr>
          <p:cNvPr id="5" name="Text 3"/>
          <p:cNvSpPr/>
          <p:nvPr/>
        </p:nvSpPr>
        <p:spPr>
          <a:xfrm>
            <a:off x="724376" y="4016693"/>
            <a:ext cx="13181648" cy="1241584"/>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She should provide personal attention, and perform activities such as handling, cuddling, holding and loving that help in development of trust. Such activities will prevent maternal deprivation and permit physical and emotional development.</a:t>
            </a:r>
            <a:endParaRPr lang="en-US" sz="1600" dirty="0"/>
          </a:p>
        </p:txBody>
      </p:sp>
      <p:sp>
        <p:nvSpPr>
          <p:cNvPr id="6" name="Text 4"/>
          <p:cNvSpPr/>
          <p:nvPr/>
        </p:nvSpPr>
        <p:spPr>
          <a:xfrm>
            <a:off x="724376" y="5330666"/>
            <a:ext cx="13181648" cy="82772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 Nurses need to accurately observe the baby's needs, she should be aware that the crying/restlessness of the baby reveals the needs. </a:t>
            </a:r>
            <a:endParaRPr lang="en-US" sz="1600" dirty="0"/>
          </a:p>
        </p:txBody>
      </p:sp>
      <p:sp>
        <p:nvSpPr>
          <p:cNvPr id="7" name="Text 5"/>
          <p:cNvSpPr/>
          <p:nvPr/>
        </p:nvSpPr>
        <p:spPr>
          <a:xfrm>
            <a:off x="724376" y="6230779"/>
            <a:ext cx="13181648" cy="827723"/>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Nurses should know how the babies cry when they are hungry, in pain, having wet diaper and uncomfortable.</a:t>
            </a:r>
            <a:endParaRPr lang="en-US" sz="1600" dirty="0"/>
          </a:p>
        </p:txBody>
      </p:sp>
      <p:sp>
        <p:nvSpPr>
          <p:cNvPr id="8" name="Text 6"/>
          <p:cNvSpPr/>
          <p:nvPr/>
        </p:nvSpPr>
        <p:spPr>
          <a:xfrm>
            <a:off x="724376" y="7130891"/>
            <a:ext cx="13181648" cy="413861"/>
          </a:xfrm>
          <a:prstGeom prst="rect">
            <a:avLst/>
          </a:prstGeom>
          <a:noFill/>
          <a:ln/>
        </p:spPr>
        <p:txBody>
          <a:bodyPr wrap="non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 She should observe for abnormal growth and development.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8661" y="768191"/>
            <a:ext cx="10307955" cy="513278"/>
          </a:xfrm>
          <a:prstGeom prst="rect">
            <a:avLst/>
          </a:prstGeom>
          <a:noFill/>
          <a:ln/>
        </p:spPr>
        <p:txBody>
          <a:bodyPr wrap="none" lIns="0" tIns="0" rIns="0" bIns="0" rtlCol="0" anchor="t"/>
          <a:lstStyle/>
          <a:p>
            <a:pPr indent="0" marL="0">
              <a:lnSpc>
                <a:spcPts val="4000"/>
              </a:lnSpc>
              <a:buNone/>
            </a:pPr>
            <a:r>
              <a:rPr lang="en-US" sz="3200" dirty="0">
                <a:solidFill>
                  <a:srgbClr val="FEFEFE"/>
                </a:solidFill>
                <a:latin typeface="Instrument Sans Medium" pitchFamily="34" charset="0"/>
                <a:ea typeface="Instrument Sans Medium" pitchFamily="34" charset="-122"/>
                <a:cs typeface="Instrument Sans Medium" pitchFamily="34" charset="-120"/>
              </a:rPr>
              <a:t>ROLE OF NURSE IN EARLY AND MIDDLE CHILDHOOD</a:t>
            </a:r>
            <a:endParaRPr lang="en-US" sz="3200" dirty="0"/>
          </a:p>
        </p:txBody>
      </p:sp>
      <p:sp>
        <p:nvSpPr>
          <p:cNvPr id="3" name="Text 1"/>
          <p:cNvSpPr/>
          <p:nvPr/>
        </p:nvSpPr>
        <p:spPr>
          <a:xfrm>
            <a:off x="718661" y="1692116"/>
            <a:ext cx="13193078" cy="821293"/>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BFBFBF"/>
                </a:solidFill>
                <a:latin typeface="Open Sans" pitchFamily="34" charset="0"/>
                <a:ea typeface="Open Sans" pitchFamily="34" charset="-122"/>
                <a:cs typeface="Open Sans" pitchFamily="34" charset="-120"/>
              </a:rPr>
              <a:t>Nurses should provide the children with loving tender care, which should not threaten their safety and security. </a:t>
            </a:r>
            <a:endParaRPr lang="en-US" sz="1600" dirty="0"/>
          </a:p>
        </p:txBody>
      </p:sp>
      <p:sp>
        <p:nvSpPr>
          <p:cNvPr id="4" name="Text 2"/>
          <p:cNvSpPr/>
          <p:nvPr/>
        </p:nvSpPr>
        <p:spPr>
          <a:xfrm>
            <a:off x="718661" y="2585204"/>
            <a:ext cx="13193078" cy="41064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BFBFBF"/>
                </a:solidFill>
                <a:latin typeface="Open Sans" pitchFamily="34" charset="0"/>
                <a:ea typeface="Open Sans" pitchFamily="34" charset="-122"/>
                <a:cs typeface="Open Sans" pitchFamily="34" charset="-120"/>
              </a:rPr>
              <a:t>Nurses should instruct them to follow a well-established routine that includes play, shower, bath and rest.</a:t>
            </a:r>
            <a:endParaRPr lang="en-US" sz="1600" dirty="0"/>
          </a:p>
        </p:txBody>
      </p:sp>
      <p:sp>
        <p:nvSpPr>
          <p:cNvPr id="5" name="Text 3"/>
          <p:cNvSpPr/>
          <p:nvPr/>
        </p:nvSpPr>
        <p:spPr>
          <a:xfrm>
            <a:off x="718661" y="3067645"/>
            <a:ext cx="13193078" cy="821293"/>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BFBFBF"/>
                </a:solidFill>
                <a:latin typeface="Open Sans" pitchFamily="34" charset="0"/>
                <a:ea typeface="Open Sans" pitchFamily="34" charset="-122"/>
                <a:cs typeface="Open Sans" pitchFamily="34" charset="-120"/>
              </a:rPr>
              <a:t> Nurses should be keen in observing physical and emotional problems of children. They establish an active friendly relationship with the children and know their likes and dislikes.</a:t>
            </a:r>
            <a:endParaRPr lang="en-US" sz="1600" dirty="0"/>
          </a:p>
        </p:txBody>
      </p:sp>
      <p:sp>
        <p:nvSpPr>
          <p:cNvPr id="6" name="Text 4"/>
          <p:cNvSpPr/>
          <p:nvPr/>
        </p:nvSpPr>
        <p:spPr>
          <a:xfrm>
            <a:off x="718661" y="3960733"/>
            <a:ext cx="13193078" cy="821293"/>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BFBFBF"/>
                </a:solidFill>
                <a:latin typeface="Open Sans" pitchFamily="34" charset="0"/>
                <a:ea typeface="Open Sans" pitchFamily="34" charset="-122"/>
                <a:cs typeface="Open Sans" pitchFamily="34" charset="-120"/>
              </a:rPr>
              <a:t>Allow them to participate in care such as involving them to take medicine by themselves, holding dressing item, etc. </a:t>
            </a:r>
            <a:endParaRPr lang="en-US" sz="1600" dirty="0"/>
          </a:p>
        </p:txBody>
      </p:sp>
      <p:sp>
        <p:nvSpPr>
          <p:cNvPr id="7" name="Text 5"/>
          <p:cNvSpPr/>
          <p:nvPr/>
        </p:nvSpPr>
        <p:spPr>
          <a:xfrm>
            <a:off x="718661" y="4853821"/>
            <a:ext cx="13193078" cy="1231940"/>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BFBFBF"/>
                </a:solidFill>
                <a:latin typeface="Open Sans" pitchFamily="34" charset="0"/>
                <a:ea typeface="Open Sans" pitchFamily="34" charset="-122"/>
                <a:cs typeface="Open Sans" pitchFamily="34" charset="-120"/>
              </a:rPr>
              <a:t>Explain the procedure in simple language; give them choices; praise for appropriate behaviour; never shame them; while performing any procedure, maintain privacy and watch for mood changes, fear and irritability. </a:t>
            </a:r>
            <a:endParaRPr lang="en-US" sz="1600" dirty="0"/>
          </a:p>
        </p:txBody>
      </p:sp>
      <p:sp>
        <p:nvSpPr>
          <p:cNvPr id="8" name="Text 6"/>
          <p:cNvSpPr/>
          <p:nvPr/>
        </p:nvSpPr>
        <p:spPr>
          <a:xfrm>
            <a:off x="718661" y="6157555"/>
            <a:ext cx="13193078" cy="821293"/>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BFBFBF"/>
                </a:solidFill>
                <a:latin typeface="Open Sans" pitchFamily="34" charset="0"/>
                <a:ea typeface="Open Sans" pitchFamily="34" charset="-122"/>
                <a:cs typeface="Open Sans" pitchFamily="34" charset="-120"/>
              </a:rPr>
              <a:t>Use appropriate play therapy according to their wishes such as dressing, scribbling, picture books and puzzles, all these activities help in expression of frustration. </a:t>
            </a:r>
            <a:endParaRPr lang="en-US" sz="1600" dirty="0"/>
          </a:p>
        </p:txBody>
      </p:sp>
      <p:sp>
        <p:nvSpPr>
          <p:cNvPr id="9" name="Text 7"/>
          <p:cNvSpPr/>
          <p:nvPr/>
        </p:nvSpPr>
        <p:spPr>
          <a:xfrm>
            <a:off x="718661" y="7050643"/>
            <a:ext cx="13193078" cy="41064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BFBFBF"/>
                </a:solidFill>
                <a:latin typeface="Open Sans" pitchFamily="34" charset="0"/>
                <a:ea typeface="Open Sans" pitchFamily="34" charset="-122"/>
                <a:cs typeface="Open Sans" pitchFamily="34" charset="-120"/>
              </a:rPr>
              <a:t>Provide them with opportunities to learn by giving educational materials.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72252"/>
            <a:ext cx="8151376" cy="566976"/>
          </a:xfrm>
          <a:prstGeom prst="rect">
            <a:avLst/>
          </a:prstGeom>
          <a:noFill/>
          <a:ln/>
        </p:spPr>
        <p:txBody>
          <a:bodyPr wrap="none" lIns="0" tIns="0" rIns="0" bIns="0" rtlCol="0" anchor="t"/>
          <a:lstStyle/>
          <a:p>
            <a:pPr indent="0" marL="0">
              <a:lnSpc>
                <a:spcPts val="4450"/>
              </a:lnSpc>
              <a:buNone/>
            </a:pPr>
            <a:r>
              <a:rPr lang="en-US" sz="3550" dirty="0">
                <a:solidFill>
                  <a:srgbClr val="FEFEFE"/>
                </a:solidFill>
                <a:latin typeface="Instrument Sans Medium" pitchFamily="34" charset="0"/>
                <a:ea typeface="Instrument Sans Medium" pitchFamily="34" charset="-122"/>
                <a:cs typeface="Instrument Sans Medium" pitchFamily="34" charset="-120"/>
              </a:rPr>
              <a:t>ROLE OF NURSE IN LATE CHILDHOOD</a:t>
            </a:r>
            <a:endParaRPr lang="en-US" sz="3550" dirty="0"/>
          </a:p>
        </p:txBody>
      </p:sp>
      <p:sp>
        <p:nvSpPr>
          <p:cNvPr id="3" name="Text 1"/>
          <p:cNvSpPr/>
          <p:nvPr/>
        </p:nvSpPr>
        <p:spPr>
          <a:xfrm>
            <a:off x="793790" y="189285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Nurses should offer a loving care and emotional support for the children to get rid of their loneliness and pain/discomfort.</a:t>
            </a:r>
            <a:endParaRPr lang="en-US" sz="1750" dirty="0"/>
          </a:p>
        </p:txBody>
      </p:sp>
      <p:sp>
        <p:nvSpPr>
          <p:cNvPr id="4" name="Text 2"/>
          <p:cNvSpPr/>
          <p:nvPr/>
        </p:nvSpPr>
        <p:spPr>
          <a:xfrm>
            <a:off x="793790" y="287916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 Give guidance and direction for expected behaviour.</a:t>
            </a:r>
            <a:endParaRPr lang="en-US" sz="1750" dirty="0"/>
          </a:p>
        </p:txBody>
      </p:sp>
      <p:sp>
        <p:nvSpPr>
          <p:cNvPr id="5" name="Text 3"/>
          <p:cNvSpPr/>
          <p:nvPr/>
        </p:nvSpPr>
        <p:spPr>
          <a:xfrm>
            <a:off x="793790" y="3411974"/>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 Explain procedure, the reason for hospitalization and rules and regulations to be followed in wards. </a:t>
            </a:r>
            <a:endParaRPr lang="en-US" sz="1750" dirty="0"/>
          </a:p>
        </p:txBody>
      </p:sp>
      <p:sp>
        <p:nvSpPr>
          <p:cNvPr id="6" name="Text 4"/>
          <p:cNvSpPr/>
          <p:nvPr/>
        </p:nvSpPr>
        <p:spPr>
          <a:xfrm>
            <a:off x="793790" y="439828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Provide health teaching on various topics such as personal hygiene, diet and healthy habits.</a:t>
            </a:r>
            <a:endParaRPr lang="en-US" sz="1750" dirty="0"/>
          </a:p>
        </p:txBody>
      </p:sp>
      <p:sp>
        <p:nvSpPr>
          <p:cNvPr id="7" name="Text 5"/>
          <p:cNvSpPr/>
          <p:nvPr/>
        </p:nvSpPr>
        <p:spPr>
          <a:xfrm>
            <a:off x="793790" y="4931093"/>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Frequently they may develop emotional disturbances; hence, she should observe for depression, withdrawal behaviour and lack of control.</a:t>
            </a:r>
            <a:endParaRPr lang="en-US" sz="1750" dirty="0"/>
          </a:p>
        </p:txBody>
      </p:sp>
      <p:sp>
        <p:nvSpPr>
          <p:cNvPr id="8" name="Text 6"/>
          <p:cNvSpPr/>
          <p:nvPr/>
        </p:nvSpPr>
        <p:spPr>
          <a:xfrm>
            <a:off x="793790" y="591740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 Evaluate emotional and intellectual development, participate in care, provide various stimulation or play activities such as word puzzle, jigsaw puzzle or quiet games. </a:t>
            </a:r>
            <a:endParaRPr lang="en-US" sz="1750" dirty="0"/>
          </a:p>
        </p:txBody>
      </p:sp>
      <p:sp>
        <p:nvSpPr>
          <p:cNvPr id="9" name="Text 7"/>
          <p:cNvSpPr/>
          <p:nvPr/>
        </p:nvSpPr>
        <p:spPr>
          <a:xfrm>
            <a:off x="793790" y="690372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Encourage to perform physical exercise, for example, walking and outdoor games. </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31871"/>
            <a:ext cx="7586782" cy="566976"/>
          </a:xfrm>
          <a:prstGeom prst="rect">
            <a:avLst/>
          </a:prstGeom>
          <a:noFill/>
          <a:ln/>
        </p:spPr>
        <p:txBody>
          <a:bodyPr wrap="none" lIns="0" tIns="0" rIns="0" bIns="0" rtlCol="0" anchor="t"/>
          <a:lstStyle/>
          <a:p>
            <a:pPr indent="0" marL="0">
              <a:lnSpc>
                <a:spcPts val="4450"/>
              </a:lnSpc>
              <a:buNone/>
            </a:pPr>
            <a:r>
              <a:rPr lang="en-US" sz="3550" dirty="0">
                <a:solidFill>
                  <a:srgbClr val="FEFEFE"/>
                </a:solidFill>
                <a:latin typeface="Instrument Sans Medium" pitchFamily="34" charset="0"/>
                <a:ea typeface="Instrument Sans Medium" pitchFamily="34" charset="-122"/>
                <a:cs typeface="Instrument Sans Medium" pitchFamily="34" charset="-120"/>
              </a:rPr>
              <a:t>ROLE OF NURSE IN ADOLESCENCE</a:t>
            </a:r>
            <a:endParaRPr lang="en-US" sz="3550" dirty="0"/>
          </a:p>
        </p:txBody>
      </p:sp>
      <p:sp>
        <p:nvSpPr>
          <p:cNvPr id="3" name="Text 1"/>
          <p:cNvSpPr/>
          <p:nvPr/>
        </p:nvSpPr>
        <p:spPr>
          <a:xfrm>
            <a:off x="793790" y="2652474"/>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Explain the rules, policies and procedures; maintain privacy; involve in decision-making and planning of care. </a:t>
            </a:r>
            <a:endParaRPr lang="en-US" sz="1750" dirty="0"/>
          </a:p>
        </p:txBody>
      </p:sp>
      <p:sp>
        <p:nvSpPr>
          <p:cNvPr id="4" name="Text 2"/>
          <p:cNvSpPr/>
          <p:nvPr/>
        </p:nvSpPr>
        <p:spPr>
          <a:xfrm>
            <a:off x="793790" y="363878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Encourage to ask questions related to fear, options and alternatives and clarify myths and beliefs. </a:t>
            </a:r>
            <a:endParaRPr lang="en-US" sz="1750" dirty="0"/>
          </a:p>
        </p:txBody>
      </p:sp>
      <p:sp>
        <p:nvSpPr>
          <p:cNvPr id="5" name="Text 3"/>
          <p:cNvSpPr/>
          <p:nvPr/>
        </p:nvSpPr>
        <p:spPr>
          <a:xfrm>
            <a:off x="793790" y="462510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Provide emotional support and loving care, protect them from injuries.</a:t>
            </a:r>
            <a:endParaRPr lang="en-US" sz="1750" dirty="0"/>
          </a:p>
        </p:txBody>
      </p:sp>
      <p:sp>
        <p:nvSpPr>
          <p:cNvPr id="6" name="Text 4"/>
          <p:cNvSpPr/>
          <p:nvPr/>
        </p:nvSpPr>
        <p:spPr>
          <a:xfrm>
            <a:off x="793790" y="515790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 Maintain good relationship and encourage talking with others.</a:t>
            </a:r>
            <a:endParaRPr lang="en-US" sz="1750" dirty="0"/>
          </a:p>
        </p:txBody>
      </p:sp>
      <p:sp>
        <p:nvSpPr>
          <p:cNvPr id="7" name="Text 5"/>
          <p:cNvSpPr/>
          <p:nvPr/>
        </p:nvSpPr>
        <p:spPr>
          <a:xfrm>
            <a:off x="793790" y="5690711"/>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 Provide health education on high-risk behaviours, sex education, substance abuse and nutrition.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7956" y="619601"/>
            <a:ext cx="8486299" cy="562808"/>
          </a:xfrm>
          <a:prstGeom prst="rect">
            <a:avLst/>
          </a:prstGeom>
          <a:noFill/>
          <a:ln/>
        </p:spPr>
        <p:txBody>
          <a:bodyPr wrap="none" lIns="0" tIns="0" rIns="0" bIns="0" rtlCol="0" anchor="t"/>
          <a:lstStyle/>
          <a:p>
            <a:pPr indent="0" marL="0">
              <a:lnSpc>
                <a:spcPts val="4400"/>
              </a:lnSpc>
              <a:buNone/>
            </a:pPr>
            <a:r>
              <a:rPr lang="en-US" sz="3500" dirty="0">
                <a:solidFill>
                  <a:srgbClr val="FEFEFE"/>
                </a:solidFill>
                <a:latin typeface="Instrument Sans Medium" pitchFamily="34" charset="0"/>
                <a:ea typeface="Instrument Sans Medium" pitchFamily="34" charset="-122"/>
                <a:cs typeface="Instrument Sans Medium" pitchFamily="34" charset="-120"/>
              </a:rPr>
              <a:t>ROLE OF NURSE IN EARLY ADULTHOOD</a:t>
            </a:r>
            <a:endParaRPr lang="en-US" sz="3500" dirty="0"/>
          </a:p>
        </p:txBody>
      </p:sp>
      <p:sp>
        <p:nvSpPr>
          <p:cNvPr id="3" name="Text 1"/>
          <p:cNvSpPr/>
          <p:nvPr/>
        </p:nvSpPr>
        <p:spPr>
          <a:xfrm>
            <a:off x="787956" y="1632704"/>
            <a:ext cx="13054489" cy="90058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BFBFBF"/>
                </a:solidFill>
                <a:latin typeface="Open Sans" pitchFamily="34" charset="0"/>
                <a:ea typeface="Open Sans" pitchFamily="34" charset="-122"/>
                <a:cs typeface="Open Sans" pitchFamily="34" charset="-120"/>
              </a:rPr>
              <a:t>Provide emotional support, teaching and assistance in care of babies; provide health education on nutrition, sleep, exercise and protection from sexually transmitted diseases. </a:t>
            </a:r>
            <a:endParaRPr lang="en-US" sz="1750" dirty="0"/>
          </a:p>
        </p:txBody>
      </p:sp>
      <p:sp>
        <p:nvSpPr>
          <p:cNvPr id="4" name="Text 2"/>
          <p:cNvSpPr/>
          <p:nvPr/>
        </p:nvSpPr>
        <p:spPr>
          <a:xfrm>
            <a:off x="787956" y="2611993"/>
            <a:ext cx="13054489" cy="90058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BFBFBF"/>
                </a:solidFill>
                <a:latin typeface="Open Sans" pitchFamily="34" charset="0"/>
                <a:ea typeface="Open Sans" pitchFamily="34" charset="-122"/>
                <a:cs typeface="Open Sans" pitchFamily="34" charset="-120"/>
              </a:rPr>
              <a:t>Show respect, explain procedure, assist in solving problems, encourage in- dependency and encourage honest communication and healthy relationship among the partners.</a:t>
            </a:r>
            <a:endParaRPr lang="en-US" sz="1750" dirty="0"/>
          </a:p>
        </p:txBody>
      </p:sp>
      <p:sp>
        <p:nvSpPr>
          <p:cNvPr id="5" name="Text 3"/>
          <p:cNvSpPr/>
          <p:nvPr/>
        </p:nvSpPr>
        <p:spPr>
          <a:xfrm>
            <a:off x="787956" y="3850243"/>
            <a:ext cx="8829794" cy="562808"/>
          </a:xfrm>
          <a:prstGeom prst="rect">
            <a:avLst/>
          </a:prstGeom>
          <a:noFill/>
          <a:ln/>
        </p:spPr>
        <p:txBody>
          <a:bodyPr wrap="none" lIns="0" tIns="0" rIns="0" bIns="0" rtlCol="0" anchor="t"/>
          <a:lstStyle/>
          <a:p>
            <a:pPr indent="0" marL="0">
              <a:lnSpc>
                <a:spcPts val="4400"/>
              </a:lnSpc>
              <a:buNone/>
            </a:pPr>
            <a:r>
              <a:rPr lang="en-US" sz="3500" dirty="0">
                <a:solidFill>
                  <a:srgbClr val="FEFEFE"/>
                </a:solidFill>
                <a:latin typeface="Instrument Sans Medium" pitchFamily="34" charset="0"/>
                <a:ea typeface="Instrument Sans Medium" pitchFamily="34" charset="-122"/>
                <a:cs typeface="Instrument Sans Medium" pitchFamily="34" charset="-120"/>
              </a:rPr>
              <a:t>ROLE OF NURSE IN MIDDLE ADULTHOOD</a:t>
            </a:r>
            <a:endParaRPr lang="en-US" sz="3500" dirty="0"/>
          </a:p>
        </p:txBody>
      </p:sp>
      <p:sp>
        <p:nvSpPr>
          <p:cNvPr id="6" name="Text 4"/>
          <p:cNvSpPr/>
          <p:nvPr/>
        </p:nvSpPr>
        <p:spPr>
          <a:xfrm>
            <a:off x="787956" y="4750713"/>
            <a:ext cx="13054489" cy="900589"/>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BFBFBF"/>
                </a:solidFill>
                <a:latin typeface="Open Sans" pitchFamily="34" charset="0"/>
                <a:ea typeface="Open Sans" pitchFamily="34" charset="-122"/>
                <a:cs typeface="Open Sans" pitchFamily="34" charset="-120"/>
              </a:rPr>
              <a:t>Respect the person; make them feel safe and secured; explain the procedure; this will decrease the anxiety in patient and family members and encourage increased responsibilities at home.</a:t>
            </a:r>
            <a:endParaRPr lang="en-US" sz="1750" dirty="0"/>
          </a:p>
        </p:txBody>
      </p:sp>
      <p:sp>
        <p:nvSpPr>
          <p:cNvPr id="7" name="Text 5"/>
          <p:cNvSpPr/>
          <p:nvPr/>
        </p:nvSpPr>
        <p:spPr>
          <a:xfrm>
            <a:off x="787956" y="5730002"/>
            <a:ext cx="13054489" cy="1350883"/>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BFBFBF"/>
                </a:solidFill>
                <a:latin typeface="Open Sans" pitchFamily="34" charset="0"/>
                <a:ea typeface="Open Sans" pitchFamily="34" charset="-122"/>
                <a:cs typeface="Open Sans" pitchFamily="34" charset="-120"/>
              </a:rPr>
              <a:t>Observe health status and screening for chronic illnesses, provide repeated verbal instruction or written instruction, help to cope up with stress, emotional disturbances and insomnia, irritability, depression, health teaching on disease prevention and promotion of independence.</a:t>
            </a:r>
            <a:endParaRPr lang="en-US" sz="1750" dirty="0"/>
          </a:p>
        </p:txBody>
      </p:sp>
      <p:sp>
        <p:nvSpPr>
          <p:cNvPr id="8" name="Text 6"/>
          <p:cNvSpPr/>
          <p:nvPr/>
        </p:nvSpPr>
        <p:spPr>
          <a:xfrm>
            <a:off x="787956" y="7159585"/>
            <a:ext cx="13054489" cy="450294"/>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BFBFBF"/>
                </a:solidFill>
                <a:latin typeface="Open Sans" pitchFamily="34" charset="0"/>
                <a:ea typeface="Open Sans" pitchFamily="34" charset="-122"/>
                <a:cs typeface="Open Sans" pitchFamily="34" charset="-120"/>
              </a:rPr>
              <a:t>Provide health education on life- style modification, dietary changes, exercises, etc.</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8176" y="509230"/>
            <a:ext cx="6745129" cy="462915"/>
          </a:xfrm>
          <a:prstGeom prst="rect">
            <a:avLst/>
          </a:prstGeom>
          <a:noFill/>
          <a:ln/>
        </p:spPr>
        <p:txBody>
          <a:bodyPr wrap="none" lIns="0" tIns="0" rIns="0" bIns="0" rtlCol="0" anchor="t"/>
          <a:lstStyle/>
          <a:p>
            <a:pPr indent="0" marL="0">
              <a:lnSpc>
                <a:spcPts val="3600"/>
              </a:lnSpc>
              <a:buNone/>
            </a:pPr>
            <a:r>
              <a:rPr lang="en-US" sz="2900" dirty="0">
                <a:solidFill>
                  <a:srgbClr val="FEFEFE"/>
                </a:solidFill>
                <a:latin typeface="Instrument Sans Medium" pitchFamily="34" charset="0"/>
                <a:ea typeface="Instrument Sans Medium" pitchFamily="34" charset="-122"/>
                <a:cs typeface="Instrument Sans Medium" pitchFamily="34" charset="-120"/>
              </a:rPr>
              <a:t>ROLE OF NURSE IN LATE ADULTHOOD</a:t>
            </a:r>
            <a:endParaRPr lang="en-US" sz="2900" dirty="0"/>
          </a:p>
        </p:txBody>
      </p:sp>
      <p:sp>
        <p:nvSpPr>
          <p:cNvPr id="3" name="Text 1"/>
          <p:cNvSpPr/>
          <p:nvPr/>
        </p:nvSpPr>
        <p:spPr>
          <a:xfrm>
            <a:off x="648176" y="1342549"/>
            <a:ext cx="13334048" cy="1110853"/>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BFBFBF"/>
                </a:solidFill>
                <a:latin typeface="Open Sans" pitchFamily="34" charset="0"/>
                <a:ea typeface="Open Sans" pitchFamily="34" charset="-122"/>
                <a:cs typeface="Open Sans" pitchFamily="34" charset="-120"/>
              </a:rPr>
              <a:t>As there are increased number of geriatric patients, the nurse should be specialized in geriatric nursing, who can provide respectful care and Value the patient, provide adequate explanation and take care of physical and emotional health. </a:t>
            </a:r>
            <a:endParaRPr lang="en-US" sz="1450" dirty="0"/>
          </a:p>
        </p:txBody>
      </p:sp>
      <p:sp>
        <p:nvSpPr>
          <p:cNvPr id="4" name="Text 2"/>
          <p:cNvSpPr/>
          <p:nvPr/>
        </p:nvSpPr>
        <p:spPr>
          <a:xfrm>
            <a:off x="648176" y="2518172"/>
            <a:ext cx="13334048" cy="740569"/>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BFBFBF"/>
                </a:solidFill>
                <a:latin typeface="Open Sans" pitchFamily="34" charset="0"/>
                <a:ea typeface="Open Sans" pitchFamily="34" charset="-122"/>
                <a:cs typeface="Open Sans" pitchFamily="34" charset="-120"/>
              </a:rPr>
              <a:t>Provide support during the time of death, allow them in expressing emotion, observing sensory function, walking abilities and vital signs.</a:t>
            </a:r>
            <a:endParaRPr lang="en-US" sz="1450" dirty="0"/>
          </a:p>
        </p:txBody>
      </p:sp>
      <p:sp>
        <p:nvSpPr>
          <p:cNvPr id="5" name="Text 3"/>
          <p:cNvSpPr/>
          <p:nvPr/>
        </p:nvSpPr>
        <p:spPr>
          <a:xfrm>
            <a:off x="648176" y="3323511"/>
            <a:ext cx="13334048" cy="1110853"/>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BFBFBF"/>
                </a:solidFill>
                <a:latin typeface="Open Sans" pitchFamily="34" charset="0"/>
                <a:ea typeface="Open Sans" pitchFamily="34" charset="-122"/>
                <a:cs typeface="Open Sans" pitchFamily="34" charset="-120"/>
              </a:rPr>
              <a:t> Reduce the pain and promote comfort; meet the self-care needs; assist in hygienic, nutritional and elimination needs; prevent bed sore by changing position and care of pressure points; assist in exercise and ambulation; observe for depression, withdrawal, insomnia, despair and sadness due to decreased coping. </a:t>
            </a:r>
            <a:endParaRPr lang="en-US" sz="1450" dirty="0"/>
          </a:p>
        </p:txBody>
      </p:sp>
      <p:sp>
        <p:nvSpPr>
          <p:cNvPr id="6" name="Text 4"/>
          <p:cNvSpPr/>
          <p:nvPr/>
        </p:nvSpPr>
        <p:spPr>
          <a:xfrm>
            <a:off x="648176" y="4499134"/>
            <a:ext cx="13334048" cy="370284"/>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BFBFBF"/>
                </a:solidFill>
                <a:latin typeface="Open Sans" pitchFamily="34" charset="0"/>
                <a:ea typeface="Open Sans" pitchFamily="34" charset="-122"/>
                <a:cs typeface="Open Sans" pitchFamily="34" charset="-120"/>
              </a:rPr>
              <a:t>Teach the family members to care the patient.</a:t>
            </a:r>
            <a:endParaRPr lang="en-US" sz="1450" dirty="0"/>
          </a:p>
        </p:txBody>
      </p:sp>
      <p:sp>
        <p:nvSpPr>
          <p:cNvPr id="7" name="Text 5"/>
          <p:cNvSpPr/>
          <p:nvPr/>
        </p:nvSpPr>
        <p:spPr>
          <a:xfrm>
            <a:off x="648176" y="4934188"/>
            <a:ext cx="13334048" cy="740569"/>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BFBFBF"/>
                </a:solidFill>
                <a:latin typeface="Open Sans" pitchFamily="34" charset="0"/>
                <a:ea typeface="Open Sans" pitchFamily="34" charset="-122"/>
                <a:cs typeface="Open Sans" pitchFamily="34" charset="-120"/>
              </a:rPr>
              <a:t> Encourage the family to continue relationship with the older adult, they can be involved in games, encourage to listen music and participate in entertainment, and creative hand work.</a:t>
            </a:r>
            <a:endParaRPr lang="en-US" sz="1450" dirty="0"/>
          </a:p>
        </p:txBody>
      </p:sp>
      <p:sp>
        <p:nvSpPr>
          <p:cNvPr id="8" name="Text 6"/>
          <p:cNvSpPr/>
          <p:nvPr/>
        </p:nvSpPr>
        <p:spPr>
          <a:xfrm>
            <a:off x="648176" y="5739527"/>
            <a:ext cx="13334048" cy="740569"/>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BFBFBF"/>
                </a:solidFill>
                <a:latin typeface="Open Sans" pitchFamily="34" charset="0"/>
                <a:ea typeface="Open Sans" pitchFamily="34" charset="-122"/>
                <a:cs typeface="Open Sans" pitchFamily="34" charset="-120"/>
              </a:rPr>
              <a:t>Attention should be focused on having clear vision by reducing glare, provide extra lighting in the room, keep object near to them, use large letters for communication.</a:t>
            </a:r>
            <a:endParaRPr lang="en-US" sz="1450" dirty="0"/>
          </a:p>
        </p:txBody>
      </p:sp>
      <p:sp>
        <p:nvSpPr>
          <p:cNvPr id="9" name="Text 7"/>
          <p:cNvSpPr/>
          <p:nvPr/>
        </p:nvSpPr>
        <p:spPr>
          <a:xfrm>
            <a:off x="648176" y="6544866"/>
            <a:ext cx="13334048" cy="740569"/>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BFBFBF"/>
                </a:solidFill>
                <a:latin typeface="Open Sans" pitchFamily="34" charset="0"/>
                <a:ea typeface="Open Sans" pitchFamily="34" charset="-122"/>
                <a:cs typeface="Open Sans" pitchFamily="34" charset="-120"/>
              </a:rPr>
              <a:t> Protect them from harm and injury by providing walking aid and side rails. Older adults often experiences disorientation, hence frequently re-orient them to the environment. </a:t>
            </a:r>
            <a:endParaRPr lang="en-US" sz="1450" dirty="0"/>
          </a:p>
        </p:txBody>
      </p:sp>
      <p:sp>
        <p:nvSpPr>
          <p:cNvPr id="10" name="Text 8"/>
          <p:cNvSpPr/>
          <p:nvPr/>
        </p:nvSpPr>
        <p:spPr>
          <a:xfrm>
            <a:off x="648176" y="7350204"/>
            <a:ext cx="13334048" cy="370284"/>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BFBFBF"/>
                </a:solidFill>
                <a:latin typeface="Open Sans" pitchFamily="34" charset="0"/>
                <a:ea typeface="Open Sans" pitchFamily="34" charset="-122"/>
                <a:cs typeface="Open Sans" pitchFamily="34" charset="-120"/>
              </a:rPr>
              <a:t>Conduct health teaching on topics such as hygiene, exercise, nutrition, etc.</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023824"/>
            <a:ext cx="13042821" cy="2934653"/>
          </a:xfrm>
          <a:prstGeom prst="rect">
            <a:avLst/>
          </a:prstGeom>
          <a:noFill/>
          <a:ln/>
        </p:spPr>
        <p:txBody>
          <a:bodyPr wrap="square" lIns="0" tIns="0" rIns="0" bIns="0" rtlCol="0" anchor="t"/>
          <a:lstStyle/>
          <a:p>
            <a:pPr indent="0" marL="0">
              <a:lnSpc>
                <a:spcPts val="7700"/>
              </a:lnSpc>
              <a:buNone/>
            </a:pPr>
            <a:r>
              <a:rPr lang="en-US" sz="6150" dirty="0">
                <a:solidFill>
                  <a:srgbClr val="FEFEFE"/>
                </a:solidFill>
                <a:latin typeface="Instrument Sans Medium" pitchFamily="34" charset="0"/>
                <a:ea typeface="Instrument Sans Medium" pitchFamily="34" charset="-122"/>
                <a:cs typeface="Instrument Sans Medium" pitchFamily="34" charset="-120"/>
              </a:rPr>
              <a:t>PSYCHOLOGICAL NEEDS OF VARIOUS GROUPS IN HEALTH AND SICKNESS</a:t>
            </a:r>
            <a:endParaRPr lang="en-US" sz="6150" dirty="0"/>
          </a:p>
        </p:txBody>
      </p:sp>
      <p:sp>
        <p:nvSpPr>
          <p:cNvPr id="3" name="Text 1"/>
          <p:cNvSpPr/>
          <p:nvPr/>
        </p:nvSpPr>
        <p:spPr>
          <a:xfrm>
            <a:off x="793790" y="5298638"/>
            <a:ext cx="13042821" cy="907018"/>
          </a:xfrm>
          <a:prstGeom prst="rect">
            <a:avLst/>
          </a:prstGeom>
          <a:noFill/>
          <a:ln/>
        </p:spPr>
        <p:txBody>
          <a:bodyPr wrap="squar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This presentation explores the psychological needs of different age groups throughout their lives, focusing on their unique challenges and requirements during both health and illness.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180862"/>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INFANCY</a:t>
            </a:r>
            <a:endParaRPr lang="en-US" sz="4450" dirty="0"/>
          </a:p>
        </p:txBody>
      </p:sp>
      <p:sp>
        <p:nvSpPr>
          <p:cNvPr id="3" name="Text 1"/>
          <p:cNvSpPr/>
          <p:nvPr/>
        </p:nvSpPr>
        <p:spPr>
          <a:xfrm>
            <a:off x="793790" y="2343269"/>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•from birth until the first years the child is referred to us an infant.</a:t>
            </a:r>
            <a:endParaRPr lang="en-US" sz="2200" dirty="0"/>
          </a:p>
        </p:txBody>
      </p:sp>
      <p:sp>
        <p:nvSpPr>
          <p:cNvPr id="4" name="Text 2"/>
          <p:cNvSpPr/>
          <p:nvPr/>
        </p:nvSpPr>
        <p:spPr>
          <a:xfrm>
            <a:off x="793790" y="3051929"/>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 from birth to 4 weeks is referred as ‘neonate’.</a:t>
            </a:r>
            <a:endParaRPr lang="en-US" sz="2200" dirty="0"/>
          </a:p>
        </p:txBody>
      </p:sp>
      <p:sp>
        <p:nvSpPr>
          <p:cNvPr id="5" name="Text 3"/>
          <p:cNvSpPr/>
          <p:nvPr/>
        </p:nvSpPr>
        <p:spPr>
          <a:xfrm>
            <a:off x="793790" y="3760589"/>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 by the age of 3 weeks infants imitate the facial movements of care givers</a:t>
            </a:r>
            <a:endParaRPr lang="en-US" sz="2200" dirty="0"/>
          </a:p>
        </p:txBody>
      </p:sp>
      <p:sp>
        <p:nvSpPr>
          <p:cNvPr id="6" name="Text 4"/>
          <p:cNvSpPr/>
          <p:nvPr/>
        </p:nvSpPr>
        <p:spPr>
          <a:xfrm>
            <a:off x="793790" y="4469249"/>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•when the infant reaches to 3 months of age, it learnt to smile and shows emotional responses .</a:t>
            </a:r>
            <a:endParaRPr lang="en-US" sz="2200" dirty="0"/>
          </a:p>
        </p:txBody>
      </p:sp>
      <p:sp>
        <p:nvSpPr>
          <p:cNvPr id="7" name="Text 5"/>
          <p:cNvSpPr/>
          <p:nvPr/>
        </p:nvSpPr>
        <p:spPr>
          <a:xfrm>
            <a:off x="793790" y="5177909"/>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•when baby reaches 6- 8 months discovers how to roll over and sit independently.</a:t>
            </a:r>
            <a:endParaRPr lang="en-US" sz="2200" dirty="0"/>
          </a:p>
        </p:txBody>
      </p:sp>
      <p:sp>
        <p:nvSpPr>
          <p:cNvPr id="8" name="Text 6"/>
          <p:cNvSpPr/>
          <p:nvPr/>
        </p:nvSpPr>
        <p:spPr>
          <a:xfrm>
            <a:off x="793790" y="5886569"/>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 at the age of 9 to 12 months it can stand alone, walk with or without support.</a:t>
            </a:r>
            <a:endParaRPr lang="en-US" sz="2200" dirty="0"/>
          </a:p>
        </p:txBody>
      </p:sp>
      <p:sp>
        <p:nvSpPr>
          <p:cNvPr id="9" name="Text 7"/>
          <p:cNvSpPr/>
          <p:nvPr/>
        </p:nvSpPr>
        <p:spPr>
          <a:xfrm>
            <a:off x="793790" y="6595229"/>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 during this age child start speaking by using simple words.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29020" y="572810"/>
            <a:ext cx="6277689" cy="650915"/>
          </a:xfrm>
          <a:prstGeom prst="rect">
            <a:avLst/>
          </a:prstGeom>
          <a:noFill/>
          <a:ln/>
        </p:spPr>
        <p:txBody>
          <a:bodyPr wrap="none" lIns="0" tIns="0" rIns="0" bIns="0" rtlCol="0" anchor="t"/>
          <a:lstStyle/>
          <a:p>
            <a:pPr indent="0" marL="0">
              <a:lnSpc>
                <a:spcPts val="5100"/>
              </a:lnSpc>
              <a:buNone/>
            </a:pPr>
            <a:r>
              <a:rPr lang="en-US" sz="4100" dirty="0">
                <a:solidFill>
                  <a:srgbClr val="FEFEFE"/>
                </a:solidFill>
                <a:latin typeface="Instrument Sans Medium" pitchFamily="34" charset="0"/>
                <a:ea typeface="Instrument Sans Medium" pitchFamily="34" charset="-122"/>
                <a:cs typeface="Instrument Sans Medium" pitchFamily="34" charset="-120"/>
              </a:rPr>
              <a:t>PSYCHOLOGICAL NEEDS</a:t>
            </a:r>
            <a:endParaRPr lang="en-US" sz="4100" dirty="0"/>
          </a:p>
        </p:txBody>
      </p:sp>
      <p:sp>
        <p:nvSpPr>
          <p:cNvPr id="4" name="Text 1"/>
          <p:cNvSpPr/>
          <p:nvPr/>
        </p:nvSpPr>
        <p:spPr>
          <a:xfrm>
            <a:off x="729020" y="1536144"/>
            <a:ext cx="7685961" cy="833199"/>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Cuddling, holding, hugging ,touching and smiling helps the neonates mental and emotional will being.</a:t>
            </a:r>
            <a:endParaRPr lang="en-US" sz="1600" dirty="0"/>
          </a:p>
        </p:txBody>
      </p:sp>
      <p:sp>
        <p:nvSpPr>
          <p:cNvPr id="5" name="Text 2"/>
          <p:cNvSpPr/>
          <p:nvPr/>
        </p:nvSpPr>
        <p:spPr>
          <a:xfrm>
            <a:off x="729020" y="2442210"/>
            <a:ext cx="7685961" cy="1666399"/>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It is crucial to maintain psychological bond between the infant and the mother or care giver after birth.</a:t>
            </a:r>
            <a:pPr algn="l" indent="0" marL="0">
              <a:lnSpc>
                <a:spcPts val="2600"/>
              </a:lnSpc>
              <a:buNone/>
            </a:pPr>
            <a:r>
              <a:rPr lang="en-US" sz="1600" dirty="0">
                <a:solidFill>
                  <a:srgbClr val="BFBFBF"/>
                </a:solidFill>
                <a:latin typeface="Open Sans" pitchFamily="34" charset="0"/>
                <a:ea typeface="Open Sans" pitchFamily="34" charset="-122"/>
                <a:cs typeface="Open Sans" pitchFamily="34" charset="-120"/>
              </a:rPr>
              <a:t>
</a:t>
            </a:r>
            <a:pPr algn="l" indent="0" marL="0">
              <a:lnSpc>
                <a:spcPts val="2600"/>
              </a:lnSpc>
              <a:buNone/>
            </a:pPr>
            <a:r>
              <a:rPr lang="en-US" sz="1600" dirty="0">
                <a:solidFill>
                  <a:srgbClr val="BFBFBF"/>
                </a:solidFill>
                <a:latin typeface="Open Sans" pitchFamily="34" charset="0"/>
                <a:ea typeface="Open Sans" pitchFamily="34" charset="-122"/>
                <a:cs typeface="Open Sans" pitchFamily="34" charset="-120"/>
              </a:rPr>
              <a:t>Separation from mother during infancy period may lead to psychological problems in children.</a:t>
            </a:r>
            <a:endParaRPr lang="en-US" sz="1600" dirty="0"/>
          </a:p>
        </p:txBody>
      </p:sp>
      <p:sp>
        <p:nvSpPr>
          <p:cNvPr id="6" name="Text 3"/>
          <p:cNvSpPr/>
          <p:nvPr/>
        </p:nvSpPr>
        <p:spPr>
          <a:xfrm>
            <a:off x="729020" y="4181475"/>
            <a:ext cx="7685961" cy="833199"/>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Maternal sensitivity and responsiveness are the main determinants of secure attachment.</a:t>
            </a:r>
            <a:endParaRPr lang="en-US" sz="1600" dirty="0"/>
          </a:p>
        </p:txBody>
      </p:sp>
      <p:sp>
        <p:nvSpPr>
          <p:cNvPr id="7" name="Text 4"/>
          <p:cNvSpPr/>
          <p:nvPr/>
        </p:nvSpPr>
        <p:spPr>
          <a:xfrm>
            <a:off x="729020" y="5087541"/>
            <a:ext cx="7685961" cy="833199"/>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A stimulating environment is required in this period to enhance positive emotions and cognitive development.</a:t>
            </a:r>
            <a:endParaRPr lang="en-US" sz="1600" dirty="0"/>
          </a:p>
        </p:txBody>
      </p:sp>
      <p:sp>
        <p:nvSpPr>
          <p:cNvPr id="8" name="Text 5"/>
          <p:cNvSpPr/>
          <p:nvPr/>
        </p:nvSpPr>
        <p:spPr>
          <a:xfrm>
            <a:off x="729020" y="5993606"/>
            <a:ext cx="7685961" cy="833199"/>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The absence of adequate parenting and healthy environment leads to unhealthy development of the infant.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3755231"/>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CHILDHOOD</a:t>
            </a:r>
            <a:endParaRPr lang="en-US" sz="4450" dirty="0"/>
          </a:p>
        </p:txBody>
      </p:sp>
      <p:sp>
        <p:nvSpPr>
          <p:cNvPr id="4" name="Text 1"/>
          <p:cNvSpPr/>
          <p:nvPr/>
        </p:nvSpPr>
        <p:spPr>
          <a:xfrm>
            <a:off x="793790" y="480417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This period is divided into 3: </a:t>
            </a:r>
            <a:pPr algn="l" indent="0" marL="0">
              <a:lnSpc>
                <a:spcPts val="2850"/>
              </a:lnSpc>
              <a:buNone/>
            </a:pPr>
            <a:r>
              <a:rPr lang="en-US" sz="1750" dirty="0">
                <a:solidFill>
                  <a:srgbClr val="F44444"/>
                </a:solidFill>
                <a:latin typeface="Open Sans" pitchFamily="34" charset="0"/>
                <a:ea typeface="Open Sans" pitchFamily="34" charset="-122"/>
                <a:cs typeface="Open Sans" pitchFamily="34" charset="-120"/>
              </a:rPr>
              <a:t>early childhood, middle childhood and late childhood.</a:t>
            </a:r>
            <a:endParaRPr lang="en-US" sz="1750" dirty="0"/>
          </a:p>
        </p:txBody>
      </p:sp>
      <p:sp>
        <p:nvSpPr>
          <p:cNvPr id="5" name="Text 2"/>
          <p:cNvSpPr/>
          <p:nvPr/>
        </p:nvSpPr>
        <p:spPr>
          <a:xfrm>
            <a:off x="793790" y="533697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It is the period of imagination, language development and thinking capacity.</a:t>
            </a:r>
            <a:endParaRPr lang="en-US" sz="1750" dirty="0"/>
          </a:p>
        </p:txBody>
      </p:sp>
      <p:sp>
        <p:nvSpPr>
          <p:cNvPr id="6" name="Text 3"/>
          <p:cNvSpPr/>
          <p:nvPr/>
        </p:nvSpPr>
        <p:spPr>
          <a:xfrm>
            <a:off x="793790" y="5869781"/>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They learn social roles and how to avoid punishments.</a:t>
            </a:r>
            <a:endParaRPr lang="en-US" sz="1750" dirty="0"/>
          </a:p>
        </p:txBody>
      </p:sp>
      <p:sp>
        <p:nvSpPr>
          <p:cNvPr id="7" name="Text 4"/>
          <p:cNvSpPr/>
          <p:nvPr/>
        </p:nvSpPr>
        <p:spPr>
          <a:xfrm>
            <a:off x="793790" y="640258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In this period children develop close relationship with parents and teachers there by developing essence of morality and adopting imitation learning.</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31532"/>
          </a:xfrm>
          <a:prstGeom prst="rect">
            <a:avLst/>
          </a:prstGeom>
        </p:spPr>
      </p:pic>
      <p:sp>
        <p:nvSpPr>
          <p:cNvPr id="3" name="Text 0"/>
          <p:cNvSpPr/>
          <p:nvPr/>
        </p:nvSpPr>
        <p:spPr>
          <a:xfrm>
            <a:off x="764858" y="3332440"/>
            <a:ext cx="10693598" cy="682943"/>
          </a:xfrm>
          <a:prstGeom prst="rect">
            <a:avLst/>
          </a:prstGeom>
          <a:noFill/>
          <a:ln/>
        </p:spPr>
        <p:txBody>
          <a:bodyPr wrap="none" lIns="0" tIns="0" rIns="0" bIns="0" rtlCol="0" anchor="t"/>
          <a:lstStyle/>
          <a:p>
            <a:pPr indent="0" marL="0">
              <a:lnSpc>
                <a:spcPts val="5350"/>
              </a:lnSpc>
              <a:buNone/>
            </a:pPr>
            <a:r>
              <a:rPr lang="en-US" sz="4300" dirty="0">
                <a:solidFill>
                  <a:srgbClr val="FEFEFE"/>
                </a:solidFill>
                <a:latin typeface="Instrument Sans Medium" pitchFamily="34" charset="0"/>
                <a:ea typeface="Instrument Sans Medium" pitchFamily="34" charset="-122"/>
                <a:cs typeface="Instrument Sans Medium" pitchFamily="34" charset="-120"/>
              </a:rPr>
              <a:t>PSYCHOLOGICAL NEEDS IN CHILDHOOD</a:t>
            </a:r>
            <a:endParaRPr lang="en-US" sz="4300" dirty="0"/>
          </a:p>
        </p:txBody>
      </p:sp>
      <p:sp>
        <p:nvSpPr>
          <p:cNvPr id="4" name="Text 1"/>
          <p:cNvSpPr/>
          <p:nvPr/>
        </p:nvSpPr>
        <p:spPr>
          <a:xfrm>
            <a:off x="764858" y="4343162"/>
            <a:ext cx="13100685" cy="873919"/>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BFBFBF"/>
                </a:solidFill>
                <a:latin typeface="Open Sans" pitchFamily="34" charset="0"/>
                <a:ea typeface="Open Sans" pitchFamily="34" charset="-122"/>
                <a:cs typeface="Open Sans" pitchFamily="34" charset="-120"/>
              </a:rPr>
              <a:t>It includes love, recognition, security acceptance, encouragement, protection discipline, nutrition, etc.</a:t>
            </a:r>
            <a:endParaRPr lang="en-US" sz="1700" dirty="0"/>
          </a:p>
        </p:txBody>
      </p:sp>
      <p:sp>
        <p:nvSpPr>
          <p:cNvPr id="5" name="Text 2"/>
          <p:cNvSpPr/>
          <p:nvPr/>
        </p:nvSpPr>
        <p:spPr>
          <a:xfrm>
            <a:off x="764858" y="5293519"/>
            <a:ext cx="13100685" cy="873919"/>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BFBFBF"/>
                </a:solidFill>
                <a:latin typeface="Open Sans" pitchFamily="34" charset="0"/>
                <a:ea typeface="Open Sans" pitchFamily="34" charset="-122"/>
                <a:cs typeface="Open Sans" pitchFamily="34" charset="-120"/>
              </a:rPr>
              <a:t>Older children once they have recovered from an acute face of illness enjoy the companionship in the ward during illness ,but certain amount of regression may occur.</a:t>
            </a:r>
            <a:endParaRPr lang="en-US" sz="1700" dirty="0"/>
          </a:p>
        </p:txBody>
      </p:sp>
      <p:sp>
        <p:nvSpPr>
          <p:cNvPr id="6" name="Text 3"/>
          <p:cNvSpPr/>
          <p:nvPr/>
        </p:nvSpPr>
        <p:spPr>
          <a:xfrm>
            <a:off x="764858" y="6243876"/>
            <a:ext cx="13100685" cy="873919"/>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BFBFBF"/>
                </a:solidFill>
                <a:latin typeface="Open Sans" pitchFamily="34" charset="0"/>
                <a:ea typeface="Open Sans" pitchFamily="34" charset="-122"/>
                <a:cs typeface="Open Sans" pitchFamily="34" charset="-120"/>
              </a:rPr>
              <a:t>Eg:-The child behaves in a manner more appropriate to a younger age. The nurse needs to recognise and help the child to return to a more mature behaviour.</a:t>
            </a:r>
            <a:endParaRPr lang="en-US" sz="1700" dirty="0"/>
          </a:p>
        </p:txBody>
      </p:sp>
      <p:sp>
        <p:nvSpPr>
          <p:cNvPr id="7" name="Text 4"/>
          <p:cNvSpPr/>
          <p:nvPr/>
        </p:nvSpPr>
        <p:spPr>
          <a:xfrm>
            <a:off x="764858" y="7194233"/>
            <a:ext cx="13100685" cy="436959"/>
          </a:xfrm>
          <a:prstGeom prst="rect">
            <a:avLst/>
          </a:prstGeom>
          <a:noFill/>
          <a:ln/>
        </p:spPr>
        <p:txBody>
          <a:bodyPr wrap="none" lIns="0" tIns="0" rIns="0" bIns="0" rtlCol="0" anchor="t"/>
          <a:lstStyle/>
          <a:p>
            <a:pPr algn="l" marL="342900" indent="-342900">
              <a:lnSpc>
                <a:spcPts val="2750"/>
              </a:lnSpc>
              <a:buSzPct val="100000"/>
              <a:buChar char="•"/>
            </a:pPr>
            <a:r>
              <a:rPr lang="en-US" sz="1700" dirty="0">
                <a:solidFill>
                  <a:srgbClr val="BFBFBF"/>
                </a:solidFill>
                <a:latin typeface="Open Sans" pitchFamily="34" charset="0"/>
                <a:ea typeface="Open Sans" pitchFamily="34" charset="-122"/>
                <a:cs typeface="Open Sans" pitchFamily="34" charset="-120"/>
              </a:rPr>
              <a:t> Child should not be insulted for wetting the bed or resorting to baby talk.</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708428"/>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ADOLESCENCE</a:t>
            </a:r>
            <a:endParaRPr lang="en-US" sz="4450" dirty="0"/>
          </a:p>
        </p:txBody>
      </p:sp>
      <p:sp>
        <p:nvSpPr>
          <p:cNvPr id="3" name="Text 1"/>
          <p:cNvSpPr/>
          <p:nvPr/>
        </p:nvSpPr>
        <p:spPr>
          <a:xfrm>
            <a:off x="793790" y="2870835"/>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Adolescence is the period of maturation between childhood and adulthood.</a:t>
            </a:r>
            <a:endParaRPr lang="en-US" sz="1750" dirty="0"/>
          </a:p>
        </p:txBody>
      </p:sp>
      <p:sp>
        <p:nvSpPr>
          <p:cNvPr id="4" name="Text 2"/>
          <p:cNvSpPr/>
          <p:nvPr/>
        </p:nvSpPr>
        <p:spPr>
          <a:xfrm>
            <a:off x="793790" y="340364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It is a time of exploration and making choices and the process of developing self concepts.</a:t>
            </a:r>
            <a:endParaRPr lang="en-US" sz="1750" dirty="0"/>
          </a:p>
        </p:txBody>
      </p:sp>
      <p:sp>
        <p:nvSpPr>
          <p:cNvPr id="5" name="Text 3"/>
          <p:cNvSpPr/>
          <p:nvPr/>
        </p:nvSpPr>
        <p:spPr>
          <a:xfrm>
            <a:off x="793790" y="3936444"/>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Adolescents has four task to the accomplish to become a well adjusted individual</a:t>
            </a:r>
            <a:endParaRPr lang="en-US" sz="1750" dirty="0"/>
          </a:p>
        </p:txBody>
      </p:sp>
      <p:sp>
        <p:nvSpPr>
          <p:cNvPr id="6" name="Text 4"/>
          <p:cNvSpPr/>
          <p:nvPr/>
        </p:nvSpPr>
        <p:spPr>
          <a:xfrm>
            <a:off x="793790" y="446924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(1)independence</a:t>
            </a:r>
            <a:endParaRPr lang="en-US" sz="1750" dirty="0"/>
          </a:p>
        </p:txBody>
      </p:sp>
      <p:sp>
        <p:nvSpPr>
          <p:cNvPr id="7" name="Text 5"/>
          <p:cNvSpPr/>
          <p:nvPr/>
        </p:nvSpPr>
        <p:spPr>
          <a:xfrm>
            <a:off x="793790" y="5002054"/>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(2) body image </a:t>
            </a:r>
            <a:endParaRPr lang="en-US" sz="1750" dirty="0"/>
          </a:p>
        </p:txBody>
      </p:sp>
      <p:sp>
        <p:nvSpPr>
          <p:cNvPr id="8" name="Text 6"/>
          <p:cNvSpPr/>
          <p:nvPr/>
        </p:nvSpPr>
        <p:spPr>
          <a:xfrm>
            <a:off x="793790" y="553485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(3) peer relations</a:t>
            </a:r>
            <a:endParaRPr lang="en-US" sz="1750" dirty="0"/>
          </a:p>
        </p:txBody>
      </p:sp>
      <p:sp>
        <p:nvSpPr>
          <p:cNvPr id="9" name="Text 7"/>
          <p:cNvSpPr/>
          <p:nvPr/>
        </p:nvSpPr>
        <p:spPr>
          <a:xfrm>
            <a:off x="793790" y="606766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(4) identity.</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42223" y="504587"/>
            <a:ext cx="7859554" cy="1146810"/>
          </a:xfrm>
          <a:prstGeom prst="rect">
            <a:avLst/>
          </a:prstGeom>
          <a:noFill/>
          <a:ln/>
        </p:spPr>
        <p:txBody>
          <a:bodyPr wrap="square" lIns="0" tIns="0" rIns="0" bIns="0" rtlCol="0" anchor="t"/>
          <a:lstStyle/>
          <a:p>
            <a:pPr indent="0" marL="0">
              <a:lnSpc>
                <a:spcPts val="4500"/>
              </a:lnSpc>
              <a:buNone/>
            </a:pPr>
            <a:r>
              <a:rPr lang="en-US" sz="3600" dirty="0">
                <a:solidFill>
                  <a:srgbClr val="FEFEFE"/>
                </a:solidFill>
                <a:latin typeface="Instrument Sans Medium" pitchFamily="34" charset="0"/>
                <a:ea typeface="Instrument Sans Medium" pitchFamily="34" charset="-122"/>
                <a:cs typeface="Instrument Sans Medium" pitchFamily="34" charset="-120"/>
              </a:rPr>
              <a:t>PSYCHOLOGICAL NEEDS IN ADOLESCENCE</a:t>
            </a:r>
            <a:endParaRPr lang="en-US" sz="3600" dirty="0"/>
          </a:p>
        </p:txBody>
      </p:sp>
      <p:sp>
        <p:nvSpPr>
          <p:cNvPr id="4" name="Text 1"/>
          <p:cNvSpPr/>
          <p:nvPr/>
        </p:nvSpPr>
        <p:spPr>
          <a:xfrm>
            <a:off x="642223" y="1926550"/>
            <a:ext cx="7859554" cy="734139"/>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BFBFBF"/>
                </a:solidFill>
                <a:latin typeface="Open Sans" pitchFamily="34" charset="0"/>
                <a:ea typeface="Open Sans" pitchFamily="34" charset="-122"/>
                <a:cs typeface="Open Sans" pitchFamily="34" charset="-120"/>
              </a:rPr>
              <a:t>Early adolescence begin to keep away from their parents and show less interest in family activities.</a:t>
            </a:r>
            <a:endParaRPr lang="en-US" sz="1400" dirty="0"/>
          </a:p>
        </p:txBody>
      </p:sp>
      <p:sp>
        <p:nvSpPr>
          <p:cNvPr id="5" name="Text 2"/>
          <p:cNvSpPr/>
          <p:nvPr/>
        </p:nvSpPr>
        <p:spPr>
          <a:xfrm>
            <a:off x="642223" y="2724864"/>
            <a:ext cx="7859554" cy="734139"/>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BFBFBF"/>
                </a:solidFill>
                <a:latin typeface="Open Sans" pitchFamily="34" charset="0"/>
                <a:ea typeface="Open Sans" pitchFamily="34" charset="-122"/>
                <a:cs typeface="Open Sans" pitchFamily="34" charset="-120"/>
              </a:rPr>
              <a:t>They may refuse to go out with the family and spend time with relatives.</a:t>
            </a:r>
            <a:endParaRPr lang="en-US" sz="1400" dirty="0"/>
          </a:p>
        </p:txBody>
      </p:sp>
      <p:sp>
        <p:nvSpPr>
          <p:cNvPr id="6" name="Text 3"/>
          <p:cNvSpPr/>
          <p:nvPr/>
        </p:nvSpPr>
        <p:spPr>
          <a:xfrm>
            <a:off x="642223" y="3523178"/>
            <a:ext cx="7859554" cy="367070"/>
          </a:xfrm>
          <a:prstGeom prst="rect">
            <a:avLst/>
          </a:prstGeom>
          <a:noFill/>
          <a:ln/>
        </p:spPr>
        <p:txBody>
          <a:bodyPr wrap="none" lIns="0" tIns="0" rIns="0" bIns="0" rtlCol="0" anchor="t"/>
          <a:lstStyle/>
          <a:p>
            <a:pPr algn="l" marL="342900" indent="-342900">
              <a:lnSpc>
                <a:spcPts val="2300"/>
              </a:lnSpc>
              <a:buSzPct val="100000"/>
              <a:buChar char="•"/>
            </a:pPr>
            <a:r>
              <a:rPr lang="en-US" sz="1400" dirty="0">
                <a:solidFill>
                  <a:srgbClr val="BFBFBF"/>
                </a:solidFill>
                <a:latin typeface="Open Sans" pitchFamily="34" charset="0"/>
                <a:ea typeface="Open Sans" pitchFamily="34" charset="-122"/>
                <a:cs typeface="Open Sans" pitchFamily="34" charset="-120"/>
              </a:rPr>
              <a:t>They crave privacy and desire to control their personal information.</a:t>
            </a:r>
            <a:endParaRPr lang="en-US" sz="1400" dirty="0"/>
          </a:p>
        </p:txBody>
      </p:sp>
      <p:sp>
        <p:nvSpPr>
          <p:cNvPr id="7" name="Text 4"/>
          <p:cNvSpPr/>
          <p:nvPr/>
        </p:nvSpPr>
        <p:spPr>
          <a:xfrm>
            <a:off x="642223" y="3954423"/>
            <a:ext cx="7859554" cy="734139"/>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BFBFBF"/>
                </a:solidFill>
                <a:latin typeface="Open Sans" pitchFamily="34" charset="0"/>
                <a:ea typeface="Open Sans" pitchFamily="34" charset="-122"/>
                <a:cs typeface="Open Sans" pitchFamily="34" charset="-120"/>
              </a:rPr>
              <a:t>Many are unsure of what to think of the changes in there body, body odour and axillary hair.</a:t>
            </a:r>
            <a:endParaRPr lang="en-US" sz="1400" dirty="0"/>
          </a:p>
        </p:txBody>
      </p:sp>
      <p:sp>
        <p:nvSpPr>
          <p:cNvPr id="8" name="Text 5"/>
          <p:cNvSpPr/>
          <p:nvPr/>
        </p:nvSpPr>
        <p:spPr>
          <a:xfrm>
            <a:off x="642223" y="4752737"/>
            <a:ext cx="7859554" cy="734139"/>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BFBFBF"/>
                </a:solidFill>
                <a:latin typeface="Open Sans" pitchFamily="34" charset="0"/>
                <a:ea typeface="Open Sans" pitchFamily="34" charset="-122"/>
                <a:cs typeface="Open Sans" pitchFamily="34" charset="-120"/>
              </a:rPr>
              <a:t>Generally early adolescents turn to their peers for guidance and support.</a:t>
            </a:r>
            <a:endParaRPr lang="en-US" sz="1400" dirty="0"/>
          </a:p>
        </p:txBody>
      </p:sp>
      <p:sp>
        <p:nvSpPr>
          <p:cNvPr id="9" name="Text 6"/>
          <p:cNvSpPr/>
          <p:nvPr/>
        </p:nvSpPr>
        <p:spPr>
          <a:xfrm>
            <a:off x="642223" y="5551051"/>
            <a:ext cx="7859554" cy="734139"/>
          </a:xfrm>
          <a:prstGeom prst="rect">
            <a:avLst/>
          </a:prstGeom>
          <a:noFill/>
          <a:ln/>
        </p:spPr>
        <p:txBody>
          <a:bodyPr wrap="square" lIns="0" tIns="0" rIns="0" bIns="0" rtlCol="0" anchor="t"/>
          <a:lstStyle/>
          <a:p>
            <a:pPr algn="l" marL="342900" indent="-342900">
              <a:lnSpc>
                <a:spcPts val="2300"/>
              </a:lnSpc>
              <a:buSzPct val="100000"/>
              <a:buChar char="•"/>
            </a:pPr>
            <a:r>
              <a:rPr lang="en-US" sz="1400" dirty="0">
                <a:solidFill>
                  <a:srgbClr val="BFBFBF"/>
                </a:solidFill>
                <a:latin typeface="Open Sans" pitchFamily="34" charset="0"/>
                <a:ea typeface="Open Sans" pitchFamily="34" charset="-122"/>
                <a:cs typeface="Open Sans" pitchFamily="34" charset="-120"/>
              </a:rPr>
              <a:t>Middle adolescence are hostile towards parents and authority figures .</a:t>
            </a:r>
            <a:endParaRPr lang="en-US" sz="1400" dirty="0"/>
          </a:p>
        </p:txBody>
      </p:sp>
      <p:sp>
        <p:nvSpPr>
          <p:cNvPr id="10" name="Text 7"/>
          <p:cNvSpPr/>
          <p:nvPr/>
        </p:nvSpPr>
        <p:spPr>
          <a:xfrm>
            <a:off x="642223" y="6491526"/>
            <a:ext cx="7859554" cy="367070"/>
          </a:xfrm>
          <a:prstGeom prst="rect">
            <a:avLst/>
          </a:prstGeom>
          <a:noFill/>
          <a:ln/>
        </p:spPr>
        <p:txBody>
          <a:bodyPr wrap="none" lIns="0" tIns="0" rIns="0" bIns="0" rtlCol="0" anchor="t"/>
          <a:lstStyle/>
          <a:p>
            <a:pPr algn="l" indent="0" marL="0">
              <a:lnSpc>
                <a:spcPts val="2850"/>
              </a:lnSpc>
              <a:buNone/>
            </a:pPr>
            <a:endParaRPr lang="en-US" sz="1800" dirty="0"/>
          </a:p>
        </p:txBody>
      </p:sp>
      <p:sp>
        <p:nvSpPr>
          <p:cNvPr id="11" name="Text 8"/>
          <p:cNvSpPr/>
          <p:nvPr/>
        </p:nvSpPr>
        <p:spPr>
          <a:xfrm>
            <a:off x="642223" y="7064931"/>
            <a:ext cx="7859554" cy="293489"/>
          </a:xfrm>
          <a:prstGeom prst="rect">
            <a:avLst/>
          </a:prstGeom>
          <a:noFill/>
          <a:ln/>
        </p:spPr>
        <p:txBody>
          <a:bodyPr wrap="none" lIns="0" tIns="0" rIns="0" bIns="0" rtlCol="0" anchor="t"/>
          <a:lstStyle/>
          <a:p>
            <a:pPr algn="l" indent="0" marL="0">
              <a:lnSpc>
                <a:spcPts val="2300"/>
              </a:lnSpc>
              <a:buNone/>
            </a:pP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028105"/>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2190512"/>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Adult find it disturbing and feel frustrated due to the disobedience of their adolescents.</a:t>
            </a:r>
            <a:endParaRPr lang="en-US" sz="1750" dirty="0"/>
          </a:p>
        </p:txBody>
      </p:sp>
      <p:sp>
        <p:nvSpPr>
          <p:cNvPr id="4" name="Text 2"/>
          <p:cNvSpPr/>
          <p:nvPr/>
        </p:nvSpPr>
        <p:spPr>
          <a:xfrm>
            <a:off x="793790" y="2723317"/>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Because of the rebellious nature and risky behaviours middle adolescence are the group that society ‘love to hate’.</a:t>
            </a:r>
            <a:endParaRPr lang="en-US" sz="1750" dirty="0"/>
          </a:p>
        </p:txBody>
      </p:sp>
      <p:sp>
        <p:nvSpPr>
          <p:cNvPr id="5" name="Text 3"/>
          <p:cNvSpPr/>
          <p:nvPr/>
        </p:nvSpPr>
        <p:spPr>
          <a:xfrm>
            <a:off x="793790" y="3709630"/>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Middle adolescence are more at ease with the changes in the changing body, clothing, jewellery and makeup becomes big with this group.</a:t>
            </a:r>
            <a:endParaRPr lang="en-US" sz="1750" dirty="0"/>
          </a:p>
        </p:txBody>
      </p:sp>
      <p:sp>
        <p:nvSpPr>
          <p:cNvPr id="6" name="Text 4"/>
          <p:cNvSpPr/>
          <p:nvPr/>
        </p:nvSpPr>
        <p:spPr>
          <a:xfrm>
            <a:off x="793790" y="4695944"/>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Weightlifting and dieting become important as well.</a:t>
            </a:r>
            <a:endParaRPr lang="en-US" sz="1750" dirty="0"/>
          </a:p>
        </p:txBody>
      </p:sp>
      <p:sp>
        <p:nvSpPr>
          <p:cNvPr id="7" name="Text 5"/>
          <p:cNvSpPr/>
          <p:nvPr/>
        </p:nvSpPr>
        <p:spPr>
          <a:xfrm>
            <a:off x="793790" y="522874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With the gain in confidence comes an increased interest in the opposite sex.</a:t>
            </a:r>
            <a:endParaRPr lang="en-US" sz="1750" dirty="0"/>
          </a:p>
        </p:txBody>
      </p:sp>
      <p:sp>
        <p:nvSpPr>
          <p:cNvPr id="8" name="Text 6"/>
          <p:cNvSpPr/>
          <p:nvPr/>
        </p:nvSpPr>
        <p:spPr>
          <a:xfrm>
            <a:off x="793790" y="576155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Middle adolescents share personal relationships with their group.</a:t>
            </a:r>
            <a:endParaRPr lang="en-US" sz="1750" dirty="0"/>
          </a:p>
        </p:txBody>
      </p:sp>
      <p:sp>
        <p:nvSpPr>
          <p:cNvPr id="9" name="Text 7"/>
          <p:cNvSpPr/>
          <p:nvPr/>
        </p:nvSpPr>
        <p:spPr>
          <a:xfrm>
            <a:off x="793790" y="6294358"/>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By Late adolescence most families are comfortable with the youth’s individuality and decision making skills.</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178617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The team gaining confidence with the change in statue increasingly turns to the parents for advice and guidance.</a:t>
            </a:r>
            <a:endParaRPr lang="en-US" sz="1750" dirty="0"/>
          </a:p>
        </p:txBody>
      </p:sp>
      <p:sp>
        <p:nvSpPr>
          <p:cNvPr id="4" name="Text 2"/>
          <p:cNvSpPr/>
          <p:nvPr/>
        </p:nvSpPr>
        <p:spPr>
          <a:xfrm>
            <a:off x="793790" y="277248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The parent adolescent interaction is mostly of a comfortable nature.</a:t>
            </a:r>
            <a:endParaRPr lang="en-US" sz="1750" dirty="0"/>
          </a:p>
        </p:txBody>
      </p:sp>
      <p:sp>
        <p:nvSpPr>
          <p:cNvPr id="5" name="Text 3"/>
          <p:cNvSpPr/>
          <p:nvPr/>
        </p:nvSpPr>
        <p:spPr>
          <a:xfrm>
            <a:off x="793790" y="3305294"/>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Psychological needs includes- needs for independence ,satisfying philosophy of life and proper orientation to the opposite sex and guidance in selecting a vocation.</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77466" y="534114"/>
            <a:ext cx="4839533" cy="604957"/>
          </a:xfrm>
          <a:prstGeom prst="rect">
            <a:avLst/>
          </a:prstGeom>
          <a:noFill/>
          <a:ln/>
        </p:spPr>
        <p:txBody>
          <a:bodyPr wrap="none" lIns="0" tIns="0" rIns="0" bIns="0" rtlCol="0" anchor="t"/>
          <a:lstStyle/>
          <a:p>
            <a:pPr indent="0" marL="0">
              <a:lnSpc>
                <a:spcPts val="4750"/>
              </a:lnSpc>
              <a:buNone/>
            </a:pPr>
            <a:r>
              <a:rPr lang="en-US" sz="3800" dirty="0">
                <a:solidFill>
                  <a:srgbClr val="FEFEFE"/>
                </a:solidFill>
                <a:latin typeface="Instrument Sans Medium" pitchFamily="34" charset="0"/>
                <a:ea typeface="Instrument Sans Medium" pitchFamily="34" charset="-122"/>
                <a:cs typeface="Instrument Sans Medium" pitchFamily="34" charset="-120"/>
              </a:rPr>
              <a:t>ADULTHOOD</a:t>
            </a:r>
            <a:endParaRPr lang="en-US" sz="3800" dirty="0"/>
          </a:p>
        </p:txBody>
      </p:sp>
      <p:sp>
        <p:nvSpPr>
          <p:cNvPr id="3" name="Text 1"/>
          <p:cNvSpPr/>
          <p:nvPr/>
        </p:nvSpPr>
        <p:spPr>
          <a:xfrm>
            <a:off x="677466" y="1526143"/>
            <a:ext cx="13275469" cy="387072"/>
          </a:xfrm>
          <a:prstGeom prst="rect">
            <a:avLst/>
          </a:prstGeom>
          <a:noFill/>
          <a:ln/>
        </p:spPr>
        <p:txBody>
          <a:bodyPr wrap="none" lIns="0" tIns="0" rIns="0" bIns="0" rtlCol="0" anchor="t"/>
          <a:lstStyle/>
          <a:p>
            <a:pPr indent="0" marL="0">
              <a:lnSpc>
                <a:spcPts val="3000"/>
              </a:lnSpc>
              <a:buNone/>
            </a:pPr>
            <a:r>
              <a:rPr lang="en-US" sz="1900" dirty="0">
                <a:solidFill>
                  <a:srgbClr val="BFBFBF"/>
                </a:solidFill>
                <a:latin typeface="Open Sans" pitchFamily="34" charset="0"/>
                <a:ea typeface="Open Sans" pitchFamily="34" charset="-122"/>
                <a:cs typeface="Open Sans" pitchFamily="34" charset="-120"/>
              </a:rPr>
              <a:t>Adulthood is the longest face of human life.</a:t>
            </a:r>
            <a:endParaRPr lang="en-US" sz="1900" dirty="0"/>
          </a:p>
        </p:txBody>
      </p:sp>
      <p:sp>
        <p:nvSpPr>
          <p:cNvPr id="4" name="Text 2"/>
          <p:cNvSpPr/>
          <p:nvPr/>
        </p:nvSpPr>
        <p:spPr>
          <a:xfrm>
            <a:off x="677466" y="2203490"/>
            <a:ext cx="5834063" cy="604957"/>
          </a:xfrm>
          <a:prstGeom prst="rect">
            <a:avLst/>
          </a:prstGeom>
          <a:noFill/>
          <a:ln/>
        </p:spPr>
        <p:txBody>
          <a:bodyPr wrap="none" lIns="0" tIns="0" rIns="0" bIns="0" rtlCol="0" anchor="t"/>
          <a:lstStyle/>
          <a:p>
            <a:pPr indent="0" marL="0">
              <a:lnSpc>
                <a:spcPts val="4750"/>
              </a:lnSpc>
              <a:buNone/>
            </a:pPr>
            <a:r>
              <a:rPr lang="en-US" sz="3800" dirty="0">
                <a:solidFill>
                  <a:srgbClr val="FEFEFE"/>
                </a:solidFill>
                <a:latin typeface="Instrument Sans Medium" pitchFamily="34" charset="0"/>
                <a:ea typeface="Instrument Sans Medium" pitchFamily="34" charset="-122"/>
                <a:cs typeface="Instrument Sans Medium" pitchFamily="34" charset="-120"/>
              </a:rPr>
              <a:t>PSYCHOLOGICAL NEEDS</a:t>
            </a:r>
            <a:endParaRPr lang="en-US" sz="3800" dirty="0"/>
          </a:p>
        </p:txBody>
      </p:sp>
      <p:sp>
        <p:nvSpPr>
          <p:cNvPr id="5" name="Text 3"/>
          <p:cNvSpPr/>
          <p:nvPr/>
        </p:nvSpPr>
        <p:spPr>
          <a:xfrm>
            <a:off x="677466" y="3098721"/>
            <a:ext cx="6266378" cy="483989"/>
          </a:xfrm>
          <a:prstGeom prst="rect">
            <a:avLst/>
          </a:prstGeom>
          <a:noFill/>
          <a:ln/>
        </p:spPr>
        <p:txBody>
          <a:bodyPr wrap="none" lIns="0" tIns="0" rIns="0" bIns="0" rtlCol="0" anchor="t"/>
          <a:lstStyle/>
          <a:p>
            <a:pPr indent="0" marL="0">
              <a:lnSpc>
                <a:spcPts val="3800"/>
              </a:lnSpc>
              <a:buNone/>
            </a:pPr>
            <a:r>
              <a:rPr lang="en-US" sz="3000" dirty="0">
                <a:solidFill>
                  <a:srgbClr val="FEFEFE"/>
                </a:solidFill>
                <a:latin typeface="Instrument Sans Medium" pitchFamily="34" charset="0"/>
                <a:ea typeface="Instrument Sans Medium" pitchFamily="34" charset="-122"/>
                <a:cs typeface="Instrument Sans Medium" pitchFamily="34" charset="-120"/>
              </a:rPr>
              <a:t>EARLY AND MIDDLE ADULTHOOD</a:t>
            </a:r>
            <a:endParaRPr lang="en-US" sz="3000" dirty="0"/>
          </a:p>
        </p:txBody>
      </p:sp>
      <p:sp>
        <p:nvSpPr>
          <p:cNvPr id="6" name="Text 4"/>
          <p:cNvSpPr/>
          <p:nvPr/>
        </p:nvSpPr>
        <p:spPr>
          <a:xfrm>
            <a:off x="677466" y="3872984"/>
            <a:ext cx="13275469" cy="774144"/>
          </a:xfrm>
          <a:prstGeom prst="rect">
            <a:avLst/>
          </a:prstGeom>
          <a:noFill/>
          <a:ln/>
        </p:spPr>
        <p:txBody>
          <a:bodyPr wrap="squar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Developing positive self image: our self image guides how we react emotionally ,socially and spiritually to different situations and people in our lives.</a:t>
            </a:r>
            <a:endParaRPr lang="en-US" sz="1500" dirty="0"/>
          </a:p>
        </p:txBody>
      </p:sp>
      <p:sp>
        <p:nvSpPr>
          <p:cNvPr id="7" name="Text 5"/>
          <p:cNvSpPr/>
          <p:nvPr/>
        </p:nvSpPr>
        <p:spPr>
          <a:xfrm>
            <a:off x="677466" y="4714875"/>
            <a:ext cx="13275469" cy="774144"/>
          </a:xfrm>
          <a:prstGeom prst="rect">
            <a:avLst/>
          </a:prstGeom>
          <a:noFill/>
          <a:ln/>
        </p:spPr>
        <p:txBody>
          <a:bodyPr wrap="squar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Developing: self-confidence: It is important for mental well-being and can boost resilience and lower anxiety. Confidence helps on to feel ready for life's experiences.</a:t>
            </a:r>
            <a:endParaRPr lang="en-US" sz="1500" dirty="0"/>
          </a:p>
        </p:txBody>
      </p:sp>
      <p:sp>
        <p:nvSpPr>
          <p:cNvPr id="8" name="Text 6"/>
          <p:cNvSpPr/>
          <p:nvPr/>
        </p:nvSpPr>
        <p:spPr>
          <a:xfrm>
            <a:off x="677466" y="5556766"/>
            <a:ext cx="13275469" cy="774144"/>
          </a:xfrm>
          <a:prstGeom prst="rect">
            <a:avLst/>
          </a:prstGeom>
          <a:noFill/>
          <a:ln/>
        </p:spPr>
        <p:txBody>
          <a:bodyPr wrap="squar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Realistic perception: Becoming aware of the process of self perception and the various components of our self-concept will help us to understand self perception.</a:t>
            </a:r>
            <a:endParaRPr lang="en-US" sz="1500" dirty="0"/>
          </a:p>
        </p:txBody>
      </p:sp>
      <p:sp>
        <p:nvSpPr>
          <p:cNvPr id="9" name="Text 7"/>
          <p:cNvSpPr/>
          <p:nvPr/>
        </p:nvSpPr>
        <p:spPr>
          <a:xfrm>
            <a:off x="677466" y="6398657"/>
            <a:ext cx="13275469" cy="3870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 Occupational growth: Career development increases motivation and productivity.</a:t>
            </a:r>
            <a:endParaRPr lang="en-US" sz="1500" dirty="0"/>
          </a:p>
        </p:txBody>
      </p:sp>
      <p:sp>
        <p:nvSpPr>
          <p:cNvPr id="10" name="Text 8"/>
          <p:cNvSpPr/>
          <p:nvPr/>
        </p:nvSpPr>
        <p:spPr>
          <a:xfrm>
            <a:off x="677466" y="6853476"/>
            <a:ext cx="13275469" cy="3870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Achievement of life goals: Ability to identify and prioritize activities that lead to a goal.</a:t>
            </a:r>
            <a:endParaRPr lang="en-US" sz="1500" dirty="0"/>
          </a:p>
        </p:txBody>
      </p:sp>
      <p:sp>
        <p:nvSpPr>
          <p:cNvPr id="11" name="Text 9"/>
          <p:cNvSpPr/>
          <p:nvPr/>
        </p:nvSpPr>
        <p:spPr>
          <a:xfrm>
            <a:off x="677466" y="7308294"/>
            <a:ext cx="13275469" cy="387072"/>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Marital adjustments, parenthood, achieving independence and responsibility, establishing the home etc.</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38175" y="501491"/>
            <a:ext cx="4559141" cy="569833"/>
          </a:xfrm>
          <a:prstGeom prst="rect">
            <a:avLst/>
          </a:prstGeom>
          <a:noFill/>
          <a:ln/>
        </p:spPr>
        <p:txBody>
          <a:bodyPr wrap="none" lIns="0" tIns="0" rIns="0" bIns="0" rtlCol="0" anchor="t"/>
          <a:lstStyle/>
          <a:p>
            <a:pPr indent="0" marL="0">
              <a:lnSpc>
                <a:spcPts val="4450"/>
              </a:lnSpc>
              <a:buNone/>
            </a:pPr>
            <a:r>
              <a:rPr lang="en-US" sz="3550" dirty="0">
                <a:solidFill>
                  <a:srgbClr val="FEFEFE"/>
                </a:solidFill>
                <a:latin typeface="Instrument Sans Medium" pitchFamily="34" charset="0"/>
                <a:ea typeface="Instrument Sans Medium" pitchFamily="34" charset="-122"/>
                <a:cs typeface="Instrument Sans Medium" pitchFamily="34" charset="-120"/>
              </a:rPr>
              <a:t>OLDER ADULT</a:t>
            </a:r>
            <a:endParaRPr lang="en-US" sz="3550" dirty="0"/>
          </a:p>
        </p:txBody>
      </p:sp>
      <p:sp>
        <p:nvSpPr>
          <p:cNvPr id="3" name="Shape 1"/>
          <p:cNvSpPr/>
          <p:nvPr/>
        </p:nvSpPr>
        <p:spPr>
          <a:xfrm>
            <a:off x="638175" y="1344811"/>
            <a:ext cx="13354050" cy="6396276"/>
          </a:xfrm>
          <a:prstGeom prst="roundRect">
            <a:avLst>
              <a:gd name="adj" fmla="val 428"/>
            </a:avLst>
          </a:prstGeom>
          <a:noFill/>
          <a:ln w="7620">
            <a:solidFill>
              <a:srgbClr val="FFFFFF">
                <a:alpha val="24000"/>
              </a:srgbClr>
            </a:solidFill>
            <a:prstDash val="solid"/>
          </a:ln>
        </p:spPr>
      </p:sp>
      <p:sp>
        <p:nvSpPr>
          <p:cNvPr id="4" name="Shape 2"/>
          <p:cNvSpPr/>
          <p:nvPr/>
        </p:nvSpPr>
        <p:spPr>
          <a:xfrm>
            <a:off x="645795" y="1352431"/>
            <a:ext cx="13338810" cy="598884"/>
          </a:xfrm>
          <a:prstGeom prst="rect">
            <a:avLst/>
          </a:prstGeom>
          <a:solidFill>
            <a:srgbClr val="FFFFFF">
              <a:alpha val="4000"/>
            </a:srgbClr>
          </a:solidFill>
          <a:ln/>
        </p:spPr>
      </p:sp>
      <p:sp>
        <p:nvSpPr>
          <p:cNvPr id="5" name="Text 3"/>
          <p:cNvSpPr/>
          <p:nvPr/>
        </p:nvSpPr>
        <p:spPr>
          <a:xfrm>
            <a:off x="828080" y="1469469"/>
            <a:ext cx="6301026" cy="364808"/>
          </a:xfrm>
          <a:prstGeom prst="rect">
            <a:avLst/>
          </a:prstGeom>
          <a:noFill/>
          <a:ln/>
        </p:spPr>
        <p:txBody>
          <a:bodyPr wrap="non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Psychological Needs</a:t>
            </a:r>
            <a:endParaRPr lang="en-US" sz="1750" dirty="0"/>
          </a:p>
        </p:txBody>
      </p:sp>
      <p:sp>
        <p:nvSpPr>
          <p:cNvPr id="6" name="Text 4"/>
          <p:cNvSpPr/>
          <p:nvPr/>
        </p:nvSpPr>
        <p:spPr>
          <a:xfrm>
            <a:off x="7501295" y="1469469"/>
            <a:ext cx="6301026" cy="364808"/>
          </a:xfrm>
          <a:prstGeom prst="rect">
            <a:avLst/>
          </a:prstGeom>
          <a:noFill/>
          <a:ln/>
        </p:spPr>
        <p:txBody>
          <a:bodyPr wrap="non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Description</a:t>
            </a:r>
            <a:endParaRPr lang="en-US" sz="1750" dirty="0"/>
          </a:p>
        </p:txBody>
      </p:sp>
      <p:sp>
        <p:nvSpPr>
          <p:cNvPr id="7" name="Shape 5"/>
          <p:cNvSpPr/>
          <p:nvPr/>
        </p:nvSpPr>
        <p:spPr>
          <a:xfrm>
            <a:off x="645795" y="1951315"/>
            <a:ext cx="13338810" cy="963692"/>
          </a:xfrm>
          <a:prstGeom prst="rect">
            <a:avLst/>
          </a:prstGeom>
          <a:solidFill>
            <a:srgbClr val="000000">
              <a:alpha val="4000"/>
            </a:srgbClr>
          </a:solidFill>
          <a:ln/>
        </p:spPr>
      </p:sp>
      <p:sp>
        <p:nvSpPr>
          <p:cNvPr id="8" name="Text 6"/>
          <p:cNvSpPr/>
          <p:nvPr/>
        </p:nvSpPr>
        <p:spPr>
          <a:xfrm>
            <a:off x="828080" y="2068354"/>
            <a:ext cx="6301026" cy="364808"/>
          </a:xfrm>
          <a:prstGeom prst="rect">
            <a:avLst/>
          </a:prstGeom>
          <a:noFill/>
          <a:ln/>
        </p:spPr>
        <p:txBody>
          <a:bodyPr wrap="non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Interpersonal Relationships</a:t>
            </a:r>
            <a:endParaRPr lang="en-US" sz="1750" dirty="0"/>
          </a:p>
        </p:txBody>
      </p:sp>
      <p:sp>
        <p:nvSpPr>
          <p:cNvPr id="9" name="Text 7"/>
          <p:cNvSpPr/>
          <p:nvPr/>
        </p:nvSpPr>
        <p:spPr>
          <a:xfrm>
            <a:off x="7501295" y="2068354"/>
            <a:ext cx="6301026" cy="729615"/>
          </a:xfrm>
          <a:prstGeom prst="rect">
            <a:avLst/>
          </a:prstGeom>
          <a:noFill/>
          <a:ln/>
        </p:spPr>
        <p:txBody>
          <a:bodyPr wrap="squar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The elderly need to remain connected to family members and friends.</a:t>
            </a:r>
            <a:endParaRPr lang="en-US" sz="1750" dirty="0"/>
          </a:p>
        </p:txBody>
      </p:sp>
      <p:sp>
        <p:nvSpPr>
          <p:cNvPr id="10" name="Shape 8"/>
          <p:cNvSpPr/>
          <p:nvPr/>
        </p:nvSpPr>
        <p:spPr>
          <a:xfrm>
            <a:off x="645795" y="2915007"/>
            <a:ext cx="13338810" cy="963692"/>
          </a:xfrm>
          <a:prstGeom prst="rect">
            <a:avLst/>
          </a:prstGeom>
          <a:solidFill>
            <a:srgbClr val="FFFFFF">
              <a:alpha val="4000"/>
            </a:srgbClr>
          </a:solidFill>
          <a:ln/>
        </p:spPr>
      </p:sp>
      <p:sp>
        <p:nvSpPr>
          <p:cNvPr id="11" name="Text 9"/>
          <p:cNvSpPr/>
          <p:nvPr/>
        </p:nvSpPr>
        <p:spPr>
          <a:xfrm>
            <a:off x="828080" y="3032046"/>
            <a:ext cx="6301026" cy="364808"/>
          </a:xfrm>
          <a:prstGeom prst="rect">
            <a:avLst/>
          </a:prstGeom>
          <a:noFill/>
          <a:ln/>
        </p:spPr>
        <p:txBody>
          <a:bodyPr wrap="non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Social Activities</a:t>
            </a:r>
            <a:endParaRPr lang="en-US" sz="1750" dirty="0"/>
          </a:p>
        </p:txBody>
      </p:sp>
      <p:sp>
        <p:nvSpPr>
          <p:cNvPr id="12" name="Text 10"/>
          <p:cNvSpPr/>
          <p:nvPr/>
        </p:nvSpPr>
        <p:spPr>
          <a:xfrm>
            <a:off x="7501295" y="3032046"/>
            <a:ext cx="6301026" cy="729615"/>
          </a:xfrm>
          <a:prstGeom prst="rect">
            <a:avLst/>
          </a:prstGeom>
          <a:noFill/>
          <a:ln/>
        </p:spPr>
        <p:txBody>
          <a:bodyPr wrap="squar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Older adults benefit from remaining active and engaged in social activities.</a:t>
            </a:r>
            <a:endParaRPr lang="en-US" sz="1750" dirty="0"/>
          </a:p>
        </p:txBody>
      </p:sp>
      <p:sp>
        <p:nvSpPr>
          <p:cNvPr id="13" name="Shape 11"/>
          <p:cNvSpPr/>
          <p:nvPr/>
        </p:nvSpPr>
        <p:spPr>
          <a:xfrm>
            <a:off x="645795" y="3878699"/>
            <a:ext cx="13338810" cy="963692"/>
          </a:xfrm>
          <a:prstGeom prst="rect">
            <a:avLst/>
          </a:prstGeom>
          <a:solidFill>
            <a:srgbClr val="000000">
              <a:alpha val="4000"/>
            </a:srgbClr>
          </a:solidFill>
          <a:ln/>
        </p:spPr>
      </p:sp>
      <p:sp>
        <p:nvSpPr>
          <p:cNvPr id="14" name="Text 12"/>
          <p:cNvSpPr/>
          <p:nvPr/>
        </p:nvSpPr>
        <p:spPr>
          <a:xfrm>
            <a:off x="828080" y="3995738"/>
            <a:ext cx="6301026" cy="364808"/>
          </a:xfrm>
          <a:prstGeom prst="rect">
            <a:avLst/>
          </a:prstGeom>
          <a:noFill/>
          <a:ln/>
        </p:spPr>
        <p:txBody>
          <a:bodyPr wrap="non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Sense of Purpose</a:t>
            </a:r>
            <a:endParaRPr lang="en-US" sz="1750" dirty="0"/>
          </a:p>
        </p:txBody>
      </p:sp>
      <p:sp>
        <p:nvSpPr>
          <p:cNvPr id="15" name="Text 13"/>
          <p:cNvSpPr/>
          <p:nvPr/>
        </p:nvSpPr>
        <p:spPr>
          <a:xfrm>
            <a:off x="7501295" y="3995738"/>
            <a:ext cx="6301026" cy="729615"/>
          </a:xfrm>
          <a:prstGeom prst="rect">
            <a:avLst/>
          </a:prstGeom>
          <a:noFill/>
          <a:ln/>
        </p:spPr>
        <p:txBody>
          <a:bodyPr wrap="squar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Maintaining a sense of purpose can involve community activities and volunteer work.</a:t>
            </a:r>
            <a:endParaRPr lang="en-US" sz="1750" dirty="0"/>
          </a:p>
        </p:txBody>
      </p:sp>
      <p:sp>
        <p:nvSpPr>
          <p:cNvPr id="16" name="Shape 14"/>
          <p:cNvSpPr/>
          <p:nvPr/>
        </p:nvSpPr>
        <p:spPr>
          <a:xfrm>
            <a:off x="645795" y="4842391"/>
            <a:ext cx="13338810" cy="963692"/>
          </a:xfrm>
          <a:prstGeom prst="rect">
            <a:avLst/>
          </a:prstGeom>
          <a:solidFill>
            <a:srgbClr val="FFFFFF">
              <a:alpha val="4000"/>
            </a:srgbClr>
          </a:solidFill>
          <a:ln/>
        </p:spPr>
      </p:sp>
      <p:sp>
        <p:nvSpPr>
          <p:cNvPr id="17" name="Text 15"/>
          <p:cNvSpPr/>
          <p:nvPr/>
        </p:nvSpPr>
        <p:spPr>
          <a:xfrm>
            <a:off x="828080" y="4959429"/>
            <a:ext cx="6301026" cy="364808"/>
          </a:xfrm>
          <a:prstGeom prst="rect">
            <a:avLst/>
          </a:prstGeom>
          <a:noFill/>
          <a:ln/>
        </p:spPr>
        <p:txBody>
          <a:bodyPr wrap="non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Mental Stimulation</a:t>
            </a:r>
            <a:endParaRPr lang="en-US" sz="1750" dirty="0"/>
          </a:p>
        </p:txBody>
      </p:sp>
      <p:sp>
        <p:nvSpPr>
          <p:cNvPr id="18" name="Text 16"/>
          <p:cNvSpPr/>
          <p:nvPr/>
        </p:nvSpPr>
        <p:spPr>
          <a:xfrm>
            <a:off x="7501295" y="4959429"/>
            <a:ext cx="6301026" cy="729615"/>
          </a:xfrm>
          <a:prstGeom prst="rect">
            <a:avLst/>
          </a:prstGeom>
          <a:noFill/>
          <a:ln/>
        </p:spPr>
        <p:txBody>
          <a:bodyPr wrap="squar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An aging brain needs to remain stimulated to reduce cognitive decline.</a:t>
            </a:r>
            <a:endParaRPr lang="en-US" sz="1750" dirty="0"/>
          </a:p>
        </p:txBody>
      </p:sp>
      <p:sp>
        <p:nvSpPr>
          <p:cNvPr id="19" name="Shape 17"/>
          <p:cNvSpPr/>
          <p:nvPr/>
        </p:nvSpPr>
        <p:spPr>
          <a:xfrm>
            <a:off x="645795" y="5806083"/>
            <a:ext cx="13338810" cy="963692"/>
          </a:xfrm>
          <a:prstGeom prst="rect">
            <a:avLst/>
          </a:prstGeom>
          <a:solidFill>
            <a:srgbClr val="000000">
              <a:alpha val="4000"/>
            </a:srgbClr>
          </a:solidFill>
          <a:ln/>
        </p:spPr>
      </p:sp>
      <p:sp>
        <p:nvSpPr>
          <p:cNvPr id="20" name="Text 18"/>
          <p:cNvSpPr/>
          <p:nvPr/>
        </p:nvSpPr>
        <p:spPr>
          <a:xfrm>
            <a:off x="828080" y="5923121"/>
            <a:ext cx="6301026" cy="364808"/>
          </a:xfrm>
          <a:prstGeom prst="rect">
            <a:avLst/>
          </a:prstGeom>
          <a:noFill/>
          <a:ln/>
        </p:spPr>
        <p:txBody>
          <a:bodyPr wrap="non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Safety and Security</a:t>
            </a:r>
            <a:endParaRPr lang="en-US" sz="1750" dirty="0"/>
          </a:p>
        </p:txBody>
      </p:sp>
      <p:sp>
        <p:nvSpPr>
          <p:cNvPr id="21" name="Text 19"/>
          <p:cNvSpPr/>
          <p:nvPr/>
        </p:nvSpPr>
        <p:spPr>
          <a:xfrm>
            <a:off x="7501295" y="5923121"/>
            <a:ext cx="6301026" cy="729615"/>
          </a:xfrm>
          <a:prstGeom prst="rect">
            <a:avLst/>
          </a:prstGeom>
          <a:noFill/>
          <a:ln/>
        </p:spPr>
        <p:txBody>
          <a:bodyPr wrap="squar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Older adults should feel safe and secure in their environment.</a:t>
            </a:r>
            <a:endParaRPr lang="en-US" sz="1750" dirty="0"/>
          </a:p>
        </p:txBody>
      </p:sp>
      <p:sp>
        <p:nvSpPr>
          <p:cNvPr id="22" name="Shape 20"/>
          <p:cNvSpPr/>
          <p:nvPr/>
        </p:nvSpPr>
        <p:spPr>
          <a:xfrm>
            <a:off x="645795" y="6769775"/>
            <a:ext cx="13338810" cy="963692"/>
          </a:xfrm>
          <a:prstGeom prst="rect">
            <a:avLst/>
          </a:prstGeom>
          <a:solidFill>
            <a:srgbClr val="FFFFFF">
              <a:alpha val="4000"/>
            </a:srgbClr>
          </a:solidFill>
          <a:ln/>
        </p:spPr>
      </p:sp>
      <p:sp>
        <p:nvSpPr>
          <p:cNvPr id="23" name="Text 21"/>
          <p:cNvSpPr/>
          <p:nvPr/>
        </p:nvSpPr>
        <p:spPr>
          <a:xfrm>
            <a:off x="828080" y="6886813"/>
            <a:ext cx="6301026" cy="364808"/>
          </a:xfrm>
          <a:prstGeom prst="rect">
            <a:avLst/>
          </a:prstGeom>
          <a:noFill/>
          <a:ln/>
        </p:spPr>
        <p:txBody>
          <a:bodyPr wrap="non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Expression of Thoughts and Feelings</a:t>
            </a:r>
            <a:endParaRPr lang="en-US" sz="1750" dirty="0"/>
          </a:p>
        </p:txBody>
      </p:sp>
      <p:sp>
        <p:nvSpPr>
          <p:cNvPr id="24" name="Text 22"/>
          <p:cNvSpPr/>
          <p:nvPr/>
        </p:nvSpPr>
        <p:spPr>
          <a:xfrm>
            <a:off x="7501295" y="6886813"/>
            <a:ext cx="6301026" cy="729615"/>
          </a:xfrm>
          <a:prstGeom prst="rect">
            <a:avLst/>
          </a:prstGeom>
          <a:noFill/>
          <a:ln/>
        </p:spPr>
        <p:txBody>
          <a:bodyPr wrap="square" lIns="0" tIns="0" rIns="0" bIns="0" rtlCol="0" anchor="t"/>
          <a:lstStyle/>
          <a:p>
            <a:pPr indent="0" marL="0">
              <a:lnSpc>
                <a:spcPts val="2850"/>
              </a:lnSpc>
              <a:buNone/>
            </a:pPr>
            <a:r>
              <a:rPr lang="en-US" sz="1750" dirty="0">
                <a:solidFill>
                  <a:srgbClr val="BFBFBF"/>
                </a:solidFill>
                <a:latin typeface="Open Sans" pitchFamily="34" charset="0"/>
                <a:ea typeface="Open Sans" pitchFamily="34" charset="-122"/>
                <a:cs typeface="Open Sans" pitchFamily="34" charset="-120"/>
              </a:rPr>
              <a:t>They need opportunities to express their thoughts and feelings.</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102168"/>
            <a:ext cx="5670590" cy="708779"/>
          </a:xfrm>
          <a:prstGeom prst="rect">
            <a:avLst/>
          </a:prstGeom>
          <a:noFill/>
          <a:ln/>
        </p:spPr>
        <p:txBody>
          <a:bodyPr wrap="none" lIns="0" tIns="0" rIns="0" bIns="0" rtlCol="0" anchor="t"/>
          <a:lstStyle/>
          <a:p>
            <a:pPr indent="0" marL="0">
              <a:lnSpc>
                <a:spcPts val="5550"/>
              </a:lnSpc>
              <a:buNone/>
            </a:pPr>
            <a:r>
              <a:rPr lang="en-US" sz="4450" dirty="0">
                <a:solidFill>
                  <a:srgbClr val="FEFEFE"/>
                </a:solidFill>
                <a:latin typeface="Instrument Sans Medium" pitchFamily="34" charset="0"/>
                <a:ea typeface="Instrument Sans Medium" pitchFamily="34" charset="-122"/>
                <a:cs typeface="Instrument Sans Medium" pitchFamily="34" charset="-120"/>
              </a:rPr>
              <a:t>BUTLER'S THEORY</a:t>
            </a:r>
            <a:endParaRPr lang="en-US" sz="4450" dirty="0"/>
          </a:p>
        </p:txBody>
      </p:sp>
      <p:sp>
        <p:nvSpPr>
          <p:cNvPr id="4" name="Text 1"/>
          <p:cNvSpPr/>
          <p:nvPr/>
        </p:nvSpPr>
        <p:spPr>
          <a:xfrm>
            <a:off x="793790" y="3151108"/>
            <a:ext cx="7556421" cy="1360527"/>
          </a:xfrm>
          <a:prstGeom prst="rect">
            <a:avLst/>
          </a:prstGeom>
          <a:noFill/>
          <a:ln/>
        </p:spPr>
        <p:txBody>
          <a:bodyPr wrap="squar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According to Butler's theory, old people may feel insecure as their lives become miserable due to the loss of their spouse.</a:t>
            </a:r>
            <a:endParaRPr lang="en-US" sz="2200" dirty="0"/>
          </a:p>
        </p:txBody>
      </p:sp>
      <p:sp>
        <p:nvSpPr>
          <p:cNvPr id="5" name="Text 2"/>
          <p:cNvSpPr/>
          <p:nvPr/>
        </p:nvSpPr>
        <p:spPr>
          <a:xfrm>
            <a:off x="793790" y="4766786"/>
            <a:ext cx="7556421" cy="1360527"/>
          </a:xfrm>
          <a:prstGeom prst="rect">
            <a:avLst/>
          </a:prstGeom>
          <a:noFill/>
          <a:ln/>
        </p:spPr>
        <p:txBody>
          <a:bodyPr wrap="squar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It is desirable that family members should adjust with them and listen to all their issues with attention and care.</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31163" y="600908"/>
            <a:ext cx="10208181" cy="652820"/>
          </a:xfrm>
          <a:prstGeom prst="rect">
            <a:avLst/>
          </a:prstGeom>
          <a:noFill/>
          <a:ln/>
        </p:spPr>
        <p:txBody>
          <a:bodyPr wrap="none" lIns="0" tIns="0" rIns="0" bIns="0" rtlCol="0" anchor="t"/>
          <a:lstStyle/>
          <a:p>
            <a:pPr indent="0" marL="0">
              <a:lnSpc>
                <a:spcPts val="5100"/>
              </a:lnSpc>
              <a:buNone/>
            </a:pPr>
            <a:r>
              <a:rPr lang="en-US" sz="4100" dirty="0">
                <a:solidFill>
                  <a:srgbClr val="FEFEFE"/>
                </a:solidFill>
                <a:latin typeface="Instrument Sans Medium" pitchFamily="34" charset="0"/>
                <a:ea typeface="Instrument Sans Medium" pitchFamily="34" charset="-122"/>
                <a:cs typeface="Instrument Sans Medium" pitchFamily="34" charset="-120"/>
              </a:rPr>
              <a:t>INTRODUCTION TO CHILD PSYCHOLOGY</a:t>
            </a:r>
            <a:endParaRPr lang="en-US" sz="4100" dirty="0"/>
          </a:p>
        </p:txBody>
      </p:sp>
      <p:sp>
        <p:nvSpPr>
          <p:cNvPr id="3" name="Text 1"/>
          <p:cNvSpPr/>
          <p:nvPr/>
        </p:nvSpPr>
        <p:spPr>
          <a:xfrm>
            <a:off x="731163" y="1671518"/>
            <a:ext cx="13168074" cy="1253014"/>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Child psychology is a branch of psychology focuses on the mind and behaviour of children from prenatal development through adolescence, it deals with how children grow physically, mentally, emotionally and socially.</a:t>
            </a:r>
            <a:endParaRPr lang="en-US" sz="1600" dirty="0"/>
          </a:p>
        </p:txBody>
      </p:sp>
      <p:sp>
        <p:nvSpPr>
          <p:cNvPr id="4" name="Text 2"/>
          <p:cNvSpPr/>
          <p:nvPr/>
        </p:nvSpPr>
        <p:spPr>
          <a:xfrm>
            <a:off x="731163" y="2997637"/>
            <a:ext cx="13168074" cy="417671"/>
          </a:xfrm>
          <a:prstGeom prst="rect">
            <a:avLst/>
          </a:prstGeom>
          <a:noFill/>
          <a:ln/>
        </p:spPr>
        <p:txBody>
          <a:bodyPr wrap="none" lIns="0" tIns="0" rIns="0" bIns="0" rtlCol="0" anchor="t"/>
          <a:lstStyle/>
          <a:p>
            <a:pPr algn="l" marL="342900" indent="-342900">
              <a:lnSpc>
                <a:spcPts val="2600"/>
              </a:lnSpc>
              <a:buSzPct val="100000"/>
              <a:buChar char="•"/>
            </a:pPr>
            <a:r>
              <a:rPr lang="en-US" sz="1600" dirty="0">
                <a:solidFill>
                  <a:srgbClr val="BFBFBF"/>
                </a:solidFill>
                <a:latin typeface="Open Sans" pitchFamily="34" charset="0"/>
                <a:ea typeface="Open Sans" pitchFamily="34" charset="-122"/>
                <a:cs typeface="Open Sans" pitchFamily="34" charset="-120"/>
              </a:rPr>
              <a:t>it’s a journey from total dependence to full independence.</a:t>
            </a:r>
            <a:endParaRPr lang="en-US" sz="1600" dirty="0"/>
          </a:p>
        </p:txBody>
      </p:sp>
      <p:sp>
        <p:nvSpPr>
          <p:cNvPr id="5" name="Text 3"/>
          <p:cNvSpPr/>
          <p:nvPr/>
        </p:nvSpPr>
        <p:spPr>
          <a:xfrm>
            <a:off x="731163" y="3488412"/>
            <a:ext cx="13168074" cy="1253014"/>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BFBFBF"/>
                </a:solidFill>
                <a:latin typeface="Open Sans" pitchFamily="34" charset="0"/>
                <a:ea typeface="Open Sans" pitchFamily="34" charset="-122"/>
                <a:cs typeface="Open Sans" pitchFamily="34" charset="-120"/>
              </a:rPr>
              <a:t>Cultural Context</a:t>
            </a:r>
            <a:pPr algn="l" indent="0" marL="0">
              <a:lnSpc>
                <a:spcPts val="2600"/>
              </a:lnSpc>
              <a:buNone/>
            </a:pPr>
            <a:r>
              <a:rPr lang="en-US" sz="1600" dirty="0">
                <a:solidFill>
                  <a:srgbClr val="BFBFBF"/>
                </a:solidFill>
                <a:latin typeface="Open Sans" pitchFamily="34" charset="0"/>
                <a:ea typeface="Open Sans" pitchFamily="34" charset="-122"/>
                <a:cs typeface="Open Sans" pitchFamily="34" charset="-120"/>
              </a:rPr>
              <a:t>-The cultural values, customs and ways of living influence the development throughout the lifespan. Culture may play a role in how children relate to their parents, the type of education they receive and the type of childcare that is provided.</a:t>
            </a:r>
            <a:endParaRPr lang="en-US" sz="1600" dirty="0"/>
          </a:p>
        </p:txBody>
      </p:sp>
      <p:sp>
        <p:nvSpPr>
          <p:cNvPr id="6" name="Text 4"/>
          <p:cNvSpPr/>
          <p:nvPr/>
        </p:nvSpPr>
        <p:spPr>
          <a:xfrm>
            <a:off x="731163" y="4814530"/>
            <a:ext cx="13168074" cy="835343"/>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BFBFBF"/>
                </a:solidFill>
                <a:latin typeface="Open Sans" pitchFamily="34" charset="0"/>
                <a:ea typeface="Open Sans" pitchFamily="34" charset="-122"/>
                <a:cs typeface="Open Sans" pitchFamily="34" charset="-120"/>
              </a:rPr>
              <a:t>Social Context</a:t>
            </a:r>
            <a:pPr algn="l" indent="0" marL="0">
              <a:lnSpc>
                <a:spcPts val="2600"/>
              </a:lnSpc>
              <a:buNone/>
            </a:pPr>
            <a:r>
              <a:rPr lang="en-US" sz="1600" dirty="0">
                <a:solidFill>
                  <a:srgbClr val="BFBFBF"/>
                </a:solidFill>
                <a:latin typeface="Open Sans" pitchFamily="34" charset="0"/>
                <a:ea typeface="Open Sans" pitchFamily="34" charset="-122"/>
                <a:cs typeface="Open Sans" pitchFamily="34" charset="-120"/>
              </a:rPr>
              <a:t>-Relationships with peers and adults have an effect on how children think, learn and develop. Families, schools and peer groups all make up an important part of the social context.</a:t>
            </a:r>
            <a:endParaRPr lang="en-US" sz="1600" dirty="0"/>
          </a:p>
        </p:txBody>
      </p:sp>
      <p:sp>
        <p:nvSpPr>
          <p:cNvPr id="7" name="Text 5"/>
          <p:cNvSpPr/>
          <p:nvPr/>
        </p:nvSpPr>
        <p:spPr>
          <a:xfrm>
            <a:off x="731163" y="5722977"/>
            <a:ext cx="13168074" cy="1253014"/>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BFBFBF"/>
                </a:solidFill>
                <a:latin typeface="Open Sans" pitchFamily="34" charset="0"/>
                <a:ea typeface="Open Sans" pitchFamily="34" charset="-122"/>
                <a:cs typeface="Open Sans" pitchFamily="34" charset="-120"/>
              </a:rPr>
              <a:t>Socioeconomic Context</a:t>
            </a:r>
            <a:pPr algn="l" indent="0" marL="0">
              <a:lnSpc>
                <a:spcPts val="2600"/>
              </a:lnSpc>
              <a:buNone/>
            </a:pPr>
            <a:r>
              <a:rPr lang="en-US" sz="1600" dirty="0">
                <a:solidFill>
                  <a:srgbClr val="BFBFBF"/>
                </a:solidFill>
                <a:latin typeface="Open Sans" pitchFamily="34" charset="0"/>
                <a:ea typeface="Open Sans" pitchFamily="34" charset="-122"/>
                <a:cs typeface="Open Sans" pitchFamily="34" charset="-120"/>
              </a:rPr>
              <a:t>-Social class can also play a major role in child development. Socioeconomic status is based upon a number of different factors including how much education people have, how much money they earn, the job they hold and where they live.</a:t>
            </a:r>
            <a:endParaRPr lang="en-US" sz="1600" dirty="0"/>
          </a:p>
        </p:txBody>
      </p:sp>
      <p:sp>
        <p:nvSpPr>
          <p:cNvPr id="8" name="Text 6"/>
          <p:cNvSpPr/>
          <p:nvPr/>
        </p:nvSpPr>
        <p:spPr>
          <a:xfrm>
            <a:off x="731163" y="7211020"/>
            <a:ext cx="13168074" cy="417671"/>
          </a:xfrm>
          <a:prstGeom prst="rect">
            <a:avLst/>
          </a:prstGeom>
          <a:noFill/>
          <a:ln/>
        </p:spPr>
        <p:txBody>
          <a:bodyPr wrap="none" lIns="0" tIns="0" rIns="0" bIns="0" rtlCol="0" anchor="t"/>
          <a:lstStyle/>
          <a:p>
            <a:pPr indent="0" marL="0">
              <a:lnSpc>
                <a:spcPts val="3250"/>
              </a:lnSpc>
              <a:buNone/>
            </a:pPr>
            <a:endParaRPr lang="en-US" sz="2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70203" y="526613"/>
            <a:ext cx="3829883" cy="478750"/>
          </a:xfrm>
          <a:prstGeom prst="rect">
            <a:avLst/>
          </a:prstGeom>
          <a:noFill/>
          <a:ln/>
        </p:spPr>
        <p:txBody>
          <a:bodyPr wrap="none" lIns="0" tIns="0" rIns="0" bIns="0" rtlCol="0" anchor="t"/>
          <a:lstStyle/>
          <a:p>
            <a:pPr indent="0" marL="0">
              <a:lnSpc>
                <a:spcPts val="3750"/>
              </a:lnSpc>
              <a:buNone/>
            </a:pPr>
            <a:r>
              <a:rPr lang="en-US" sz="3000" dirty="0">
                <a:solidFill>
                  <a:srgbClr val="FEFEFE"/>
                </a:solidFill>
                <a:latin typeface="Instrument Sans Medium" pitchFamily="34" charset="0"/>
                <a:ea typeface="Instrument Sans Medium" pitchFamily="34" charset="-122"/>
                <a:cs typeface="Instrument Sans Medium" pitchFamily="34" charset="-120"/>
              </a:rPr>
              <a:t>ROLE OF NURSE </a:t>
            </a:r>
            <a:endParaRPr lang="en-US" sz="3000" dirty="0"/>
          </a:p>
        </p:txBody>
      </p:sp>
      <p:sp>
        <p:nvSpPr>
          <p:cNvPr id="3" name="Text 1"/>
          <p:cNvSpPr/>
          <p:nvPr/>
        </p:nvSpPr>
        <p:spPr>
          <a:xfrm>
            <a:off x="670203" y="1388269"/>
            <a:ext cx="13289994" cy="382905"/>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Shorten medical procedure.</a:t>
            </a:r>
            <a:endParaRPr lang="en-US" sz="1500" dirty="0"/>
          </a:p>
        </p:txBody>
      </p:sp>
      <p:sp>
        <p:nvSpPr>
          <p:cNvPr id="4" name="Text 2"/>
          <p:cNvSpPr/>
          <p:nvPr/>
        </p:nvSpPr>
        <p:spPr>
          <a:xfrm>
            <a:off x="670203" y="1838087"/>
            <a:ext cx="13289994" cy="382905"/>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Improvement of sleeping and rest time.</a:t>
            </a:r>
            <a:endParaRPr lang="en-US" sz="1500" dirty="0"/>
          </a:p>
        </p:txBody>
      </p:sp>
      <p:sp>
        <p:nvSpPr>
          <p:cNvPr id="5" name="Text 3"/>
          <p:cNvSpPr/>
          <p:nvPr/>
        </p:nvSpPr>
        <p:spPr>
          <a:xfrm>
            <a:off x="670203" y="2287905"/>
            <a:ext cx="13289994" cy="382905"/>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Nice and friendly attitude.</a:t>
            </a:r>
            <a:endParaRPr lang="en-US" sz="1500" dirty="0"/>
          </a:p>
        </p:txBody>
      </p:sp>
      <p:sp>
        <p:nvSpPr>
          <p:cNvPr id="6" name="Text 4"/>
          <p:cNvSpPr/>
          <p:nvPr/>
        </p:nvSpPr>
        <p:spPr>
          <a:xfrm>
            <a:off x="670203" y="2737723"/>
            <a:ext cx="13289994" cy="382905"/>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Provide entertainments like interesting games, toys and activities.</a:t>
            </a:r>
            <a:endParaRPr lang="en-US" sz="1500" dirty="0"/>
          </a:p>
        </p:txBody>
      </p:sp>
      <p:sp>
        <p:nvSpPr>
          <p:cNvPr id="7" name="Text 5"/>
          <p:cNvSpPr/>
          <p:nvPr/>
        </p:nvSpPr>
        <p:spPr>
          <a:xfrm>
            <a:off x="670203" y="3187541"/>
            <a:ext cx="13289994" cy="382905"/>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Proper communication-nurses must talk to children and listen to their concerns.</a:t>
            </a:r>
            <a:endParaRPr lang="en-US" sz="1500" dirty="0"/>
          </a:p>
        </p:txBody>
      </p:sp>
      <p:sp>
        <p:nvSpPr>
          <p:cNvPr id="8" name="Text 6"/>
          <p:cNvSpPr/>
          <p:nvPr/>
        </p:nvSpPr>
        <p:spPr>
          <a:xfrm>
            <a:off x="670203" y="3637359"/>
            <a:ext cx="13289994" cy="382905"/>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BFBFBF"/>
                </a:solidFill>
                <a:latin typeface="Open Sans" pitchFamily="34" charset="0"/>
                <a:ea typeface="Open Sans" pitchFamily="34" charset="-122"/>
                <a:cs typeface="Open Sans" pitchFamily="34" charset="-120"/>
              </a:rPr>
              <a:t>Educate parents regarding hygiene and nutritional needs of the child.</a:t>
            </a:r>
            <a:endParaRPr lang="en-US" sz="1500" dirty="0"/>
          </a:p>
        </p:txBody>
      </p:sp>
      <p:sp>
        <p:nvSpPr>
          <p:cNvPr id="9" name="Text 7"/>
          <p:cNvSpPr/>
          <p:nvPr/>
        </p:nvSpPr>
        <p:spPr>
          <a:xfrm>
            <a:off x="670203" y="4307443"/>
            <a:ext cx="12886730" cy="598408"/>
          </a:xfrm>
          <a:prstGeom prst="rect">
            <a:avLst/>
          </a:prstGeom>
          <a:noFill/>
          <a:ln/>
        </p:spPr>
        <p:txBody>
          <a:bodyPr wrap="none" lIns="0" tIns="0" rIns="0" bIns="0" rtlCol="0" anchor="t"/>
          <a:lstStyle/>
          <a:p>
            <a:pPr indent="0" marL="0">
              <a:lnSpc>
                <a:spcPts val="4700"/>
              </a:lnSpc>
              <a:buNone/>
            </a:pPr>
            <a:r>
              <a:rPr lang="en-US" sz="3750" dirty="0">
                <a:solidFill>
                  <a:srgbClr val="FEFEFE"/>
                </a:solidFill>
                <a:latin typeface="Instrument Sans Medium" pitchFamily="34" charset="0"/>
                <a:ea typeface="Instrument Sans Medium" pitchFamily="34" charset="-122"/>
                <a:cs typeface="Instrument Sans Medium" pitchFamily="34" charset="-120"/>
              </a:rPr>
              <a:t>PSYCHOLOGICAL NEEDS OF VULNERABLE INDIVIDUALS</a:t>
            </a:r>
            <a:endParaRPr lang="en-US" sz="3750" dirty="0"/>
          </a:p>
        </p:txBody>
      </p:sp>
      <p:sp>
        <p:nvSpPr>
          <p:cNvPr id="10" name="Text 8"/>
          <p:cNvSpPr/>
          <p:nvPr/>
        </p:nvSpPr>
        <p:spPr>
          <a:xfrm>
            <a:off x="670203" y="5193030"/>
            <a:ext cx="7572018" cy="478750"/>
          </a:xfrm>
          <a:prstGeom prst="rect">
            <a:avLst/>
          </a:prstGeom>
          <a:noFill/>
          <a:ln/>
        </p:spPr>
        <p:txBody>
          <a:bodyPr wrap="none" lIns="0" tIns="0" rIns="0" bIns="0" rtlCol="0" anchor="t"/>
          <a:lstStyle/>
          <a:p>
            <a:pPr indent="0" marL="0">
              <a:lnSpc>
                <a:spcPts val="3750"/>
              </a:lnSpc>
              <a:buNone/>
            </a:pPr>
            <a:r>
              <a:rPr lang="en-US" sz="3000" dirty="0">
                <a:solidFill>
                  <a:srgbClr val="FEFEFE"/>
                </a:solidFill>
                <a:latin typeface="Instrument Sans Medium" pitchFamily="34" charset="0"/>
                <a:ea typeface="Instrument Sans Medium" pitchFamily="34" charset="-122"/>
                <a:cs typeface="Instrument Sans Medium" pitchFamily="34" charset="-120"/>
              </a:rPr>
              <a:t>PSYCHOLOGY OF CHALLENGED PERSON</a:t>
            </a:r>
            <a:endParaRPr lang="en-US" sz="3000" dirty="0"/>
          </a:p>
        </p:txBody>
      </p:sp>
      <p:sp>
        <p:nvSpPr>
          <p:cNvPr id="11" name="Text 9"/>
          <p:cNvSpPr/>
          <p:nvPr/>
        </p:nvSpPr>
        <p:spPr>
          <a:xfrm>
            <a:off x="670203" y="5958959"/>
            <a:ext cx="13289994" cy="1148715"/>
          </a:xfrm>
          <a:prstGeom prst="rect">
            <a:avLst/>
          </a:prstGeom>
          <a:noFill/>
          <a:ln/>
        </p:spPr>
        <p:txBody>
          <a:bodyPr wrap="square" lIns="0" tIns="0" rIns="0" bIns="0" rtlCol="0" anchor="t"/>
          <a:lstStyle/>
          <a:p>
            <a:pPr indent="0" marL="0">
              <a:lnSpc>
                <a:spcPts val="3000"/>
              </a:lnSpc>
              <a:buNone/>
            </a:pPr>
            <a:r>
              <a:rPr lang="en-US" sz="1850" dirty="0">
                <a:solidFill>
                  <a:srgbClr val="BFBFBF"/>
                </a:solidFill>
                <a:latin typeface="Open Sans" pitchFamily="34" charset="0"/>
                <a:ea typeface="Open Sans" pitchFamily="34" charset="-122"/>
                <a:cs typeface="Open Sans" pitchFamily="34" charset="-120"/>
              </a:rPr>
              <a:t>Challenged person' means any person unable to ensure by himself, wholly or partly the necessities of a normal individual and/or social life, as a result of a deficiency either congenital or not, in his or her physical or mental capabilities.</a:t>
            </a:r>
            <a:endParaRPr lang="en-US" sz="1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623768"/>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Text 1"/>
          <p:cNvSpPr/>
          <p:nvPr/>
        </p:nvSpPr>
        <p:spPr>
          <a:xfrm>
            <a:off x="793790" y="178617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BFBFBF"/>
                </a:solidFill>
                <a:latin typeface="Open Sans" pitchFamily="34" charset="0"/>
                <a:ea typeface="Open Sans" pitchFamily="34" charset="-122"/>
                <a:cs typeface="Open Sans" pitchFamily="34" charset="-120"/>
              </a:rPr>
              <a:t>Poor frustration tolerance</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Due to underlying fears and concerns tolerance for frustration has been decreased.</a:t>
            </a:r>
            <a:endParaRPr lang="en-US" sz="1750" dirty="0"/>
          </a:p>
        </p:txBody>
      </p:sp>
      <p:sp>
        <p:nvSpPr>
          <p:cNvPr id="4" name="Text 2"/>
          <p:cNvSpPr/>
          <p:nvPr/>
        </p:nvSpPr>
        <p:spPr>
          <a:xfrm>
            <a:off x="793790" y="277248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BFBFBF"/>
                </a:solidFill>
                <a:latin typeface="Open Sans" pitchFamily="34" charset="0"/>
                <a:ea typeface="Open Sans" pitchFamily="34" charset="-122"/>
                <a:cs typeface="Open Sans" pitchFamily="34" charset="-120"/>
              </a:rPr>
              <a:t>Low self esteem</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Feeling of social rejection and social inadequacies leads to low self esteem.</a:t>
            </a:r>
            <a:endParaRPr lang="en-US" sz="1750" dirty="0"/>
          </a:p>
        </p:txBody>
      </p:sp>
      <p:sp>
        <p:nvSpPr>
          <p:cNvPr id="5" name="Text 3"/>
          <p:cNvSpPr/>
          <p:nvPr/>
        </p:nvSpPr>
        <p:spPr>
          <a:xfrm>
            <a:off x="793790" y="3305294"/>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BFBFBF"/>
                </a:solidFill>
                <a:latin typeface="Open Sans" pitchFamily="34" charset="0"/>
                <a:ea typeface="Open Sans" pitchFamily="34" charset="-122"/>
                <a:cs typeface="Open Sans" pitchFamily="34" charset="-120"/>
              </a:rPr>
              <a:t>Poor body image</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Defects of personal appearance give more worry to the disabled than defects which are not visible.</a:t>
            </a:r>
            <a:endParaRPr lang="en-US" sz="1750" dirty="0"/>
          </a:p>
        </p:txBody>
      </p:sp>
      <p:sp>
        <p:nvSpPr>
          <p:cNvPr id="6" name="Text 4"/>
          <p:cNvSpPr/>
          <p:nvPr/>
        </p:nvSpPr>
        <p:spPr>
          <a:xfrm>
            <a:off x="793790" y="429160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BFBFBF"/>
                </a:solidFill>
                <a:latin typeface="Open Sans" pitchFamily="34" charset="0"/>
                <a:ea typeface="Open Sans" pitchFamily="34" charset="-122"/>
                <a:cs typeface="Open Sans" pitchFamily="34" charset="-120"/>
              </a:rPr>
              <a:t>Anxiety</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It may be exacerbated by repeated failures growing out of or related to the disability.</a:t>
            </a:r>
            <a:endParaRPr lang="en-US" sz="1750" dirty="0"/>
          </a:p>
        </p:txBody>
      </p:sp>
      <p:sp>
        <p:nvSpPr>
          <p:cNvPr id="7" name="Text 5"/>
          <p:cNvSpPr/>
          <p:nvPr/>
        </p:nvSpPr>
        <p:spPr>
          <a:xfrm>
            <a:off x="793790" y="4824413"/>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BFBFBF"/>
                </a:solidFill>
                <a:latin typeface="Open Sans" pitchFamily="34" charset="0"/>
                <a:ea typeface="Open Sans" pitchFamily="34" charset="-122"/>
                <a:cs typeface="Open Sans" pitchFamily="34" charset="-120"/>
              </a:rPr>
              <a:t>Denial/refusal to use prosthetic devices</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This may be a first reaction to any trauma in which individual is not accepting loss.</a:t>
            </a:r>
            <a:endParaRPr lang="en-US" sz="1750" dirty="0"/>
          </a:p>
        </p:txBody>
      </p:sp>
      <p:sp>
        <p:nvSpPr>
          <p:cNvPr id="8" name="Text 6"/>
          <p:cNvSpPr/>
          <p:nvPr/>
        </p:nvSpPr>
        <p:spPr>
          <a:xfrm>
            <a:off x="793790" y="581072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BFBFBF"/>
                </a:solidFill>
                <a:latin typeface="Open Sans" pitchFamily="34" charset="0"/>
                <a:ea typeface="Open Sans" pitchFamily="34" charset="-122"/>
                <a:cs typeface="Open Sans" pitchFamily="34" charset="-120"/>
              </a:rPr>
              <a:t>Aggression</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This emotional reaction may be expression of incapability, poor self esteem and poor self concept.</a:t>
            </a:r>
            <a:endParaRPr lang="en-US" sz="1750" dirty="0"/>
          </a:p>
        </p:txBody>
      </p:sp>
      <p:sp>
        <p:nvSpPr>
          <p:cNvPr id="9" name="Text 7"/>
          <p:cNvSpPr/>
          <p:nvPr/>
        </p:nvSpPr>
        <p:spPr>
          <a:xfrm>
            <a:off x="793790" y="679704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BFBFBF"/>
                </a:solidFill>
                <a:latin typeface="Open Sans" pitchFamily="34" charset="0"/>
                <a:ea typeface="Open Sans" pitchFamily="34" charset="-122"/>
                <a:cs typeface="Open Sans" pitchFamily="34" charset="-120"/>
              </a:rPr>
              <a:t>Blaming</a:t>
            </a:r>
            <a:pPr algn="l" indent="0" marL="0">
              <a:lnSpc>
                <a:spcPts val="2850"/>
              </a:lnSpc>
              <a:buNone/>
            </a:pPr>
            <a:r>
              <a:rPr lang="en-US" sz="1750" dirty="0">
                <a:solidFill>
                  <a:srgbClr val="BFBFBF"/>
                </a:solidFill>
                <a:latin typeface="Open Sans" pitchFamily="34" charset="0"/>
                <a:ea typeface="Open Sans" pitchFamily="34" charset="-122"/>
                <a:cs typeface="Open Sans" pitchFamily="34" charset="-120"/>
              </a:rPr>
              <a:t>: Individual may blame others or self for adverse life events.</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860703"/>
            <a:ext cx="4536519" cy="566976"/>
          </a:xfrm>
          <a:prstGeom prst="rect">
            <a:avLst/>
          </a:prstGeom>
          <a:noFill/>
          <a:ln/>
        </p:spPr>
        <p:txBody>
          <a:bodyPr wrap="none" lIns="0" tIns="0" rIns="0" bIns="0" rtlCol="0" anchor="t"/>
          <a:lstStyle/>
          <a:p>
            <a:pPr indent="0" marL="0">
              <a:lnSpc>
                <a:spcPts val="4450"/>
              </a:lnSpc>
              <a:buNone/>
            </a:pPr>
            <a:r>
              <a:rPr lang="en-US" sz="3550" dirty="0">
                <a:solidFill>
                  <a:srgbClr val="FEFEFE"/>
                </a:solidFill>
                <a:latin typeface="Instrument Sans Medium" pitchFamily="34" charset="0"/>
                <a:ea typeface="Instrument Sans Medium" pitchFamily="34" charset="-122"/>
                <a:cs typeface="Instrument Sans Medium" pitchFamily="34" charset="-120"/>
              </a:rPr>
              <a:t>ROLE OF NURSE</a:t>
            </a:r>
            <a:endParaRPr lang="en-US" sz="3550" dirty="0"/>
          </a:p>
        </p:txBody>
      </p:sp>
      <p:sp>
        <p:nvSpPr>
          <p:cNvPr id="3" name="Text 1"/>
          <p:cNvSpPr/>
          <p:nvPr/>
        </p:nvSpPr>
        <p:spPr>
          <a:xfrm>
            <a:off x="793790" y="1881307"/>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Nurses should provide love and constant encouragement to make them optimistic. </a:t>
            </a:r>
            <a:endParaRPr lang="en-US" sz="1750" dirty="0"/>
          </a:p>
        </p:txBody>
      </p:sp>
      <p:sp>
        <p:nvSpPr>
          <p:cNvPr id="4" name="Text 2"/>
          <p:cNvSpPr/>
          <p:nvPr/>
        </p:nvSpPr>
        <p:spPr>
          <a:xfrm>
            <a:off x="793790" y="2414111"/>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They teach communication skills, gesture, mime, writing and demonstration. </a:t>
            </a:r>
            <a:endParaRPr lang="en-US" sz="1750" dirty="0"/>
          </a:p>
        </p:txBody>
      </p:sp>
      <p:sp>
        <p:nvSpPr>
          <p:cNvPr id="5" name="Text 3"/>
          <p:cNvSpPr/>
          <p:nvPr/>
        </p:nvSpPr>
        <p:spPr>
          <a:xfrm>
            <a:off x="793790" y="294691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They acknowledge the disability and problems of the person, provide new ideas and alternative solutions to problems.</a:t>
            </a:r>
            <a:endParaRPr lang="en-US" sz="1750" dirty="0"/>
          </a:p>
        </p:txBody>
      </p:sp>
      <p:sp>
        <p:nvSpPr>
          <p:cNvPr id="6" name="Text 4"/>
          <p:cNvSpPr/>
          <p:nvPr/>
        </p:nvSpPr>
        <p:spPr>
          <a:xfrm>
            <a:off x="793790" y="4194096"/>
            <a:ext cx="5770007" cy="566976"/>
          </a:xfrm>
          <a:prstGeom prst="rect">
            <a:avLst/>
          </a:prstGeom>
          <a:noFill/>
          <a:ln/>
        </p:spPr>
        <p:txBody>
          <a:bodyPr wrap="none" lIns="0" tIns="0" rIns="0" bIns="0" rtlCol="0" anchor="t"/>
          <a:lstStyle/>
          <a:p>
            <a:pPr indent="0" marL="0">
              <a:lnSpc>
                <a:spcPts val="4450"/>
              </a:lnSpc>
              <a:buNone/>
            </a:pPr>
            <a:r>
              <a:rPr lang="en-US" sz="3550" dirty="0">
                <a:solidFill>
                  <a:srgbClr val="FEFEFE"/>
                </a:solidFill>
                <a:latin typeface="Instrument Sans Medium" pitchFamily="34" charset="0"/>
                <a:ea typeface="Instrument Sans Medium" pitchFamily="34" charset="-122"/>
                <a:cs typeface="Instrument Sans Medium" pitchFamily="34" charset="-120"/>
              </a:rPr>
              <a:t>PSYCHOLOGY OF WOMEN</a:t>
            </a:r>
            <a:endParaRPr lang="en-US" sz="3550" dirty="0"/>
          </a:p>
        </p:txBody>
      </p:sp>
      <p:sp>
        <p:nvSpPr>
          <p:cNvPr id="7" name="Text 5"/>
          <p:cNvSpPr/>
          <p:nvPr/>
        </p:nvSpPr>
        <p:spPr>
          <a:xfrm>
            <a:off x="793790" y="5101233"/>
            <a:ext cx="13042821" cy="2267545"/>
          </a:xfrm>
          <a:prstGeom prst="rect">
            <a:avLst/>
          </a:prstGeom>
          <a:noFill/>
          <a:ln/>
        </p:spPr>
        <p:txBody>
          <a:bodyPr wrap="squar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The field of women's psychology addresses issues such as gender stereotyping, physical development all across the female life cycle, perspectives on women's personalities and mental health, women's health issues, sexuality, and reproductive wellbeing, intimate relationships of women, career psychology of women, women and leadership, gender, power, and violence against women, etc.</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37937" y="656392"/>
            <a:ext cx="4556998" cy="569476"/>
          </a:xfrm>
          <a:prstGeom prst="rect">
            <a:avLst/>
          </a:prstGeom>
          <a:noFill/>
          <a:ln/>
        </p:spPr>
        <p:txBody>
          <a:bodyPr wrap="none" lIns="0" tIns="0" rIns="0" bIns="0" rtlCol="0" anchor="t"/>
          <a:lstStyle/>
          <a:p>
            <a:pPr indent="0" marL="0">
              <a:lnSpc>
                <a:spcPts val="4450"/>
              </a:lnSpc>
              <a:buNone/>
            </a:pPr>
            <a:endParaRPr lang="en-US" sz="3550" dirty="0"/>
          </a:p>
        </p:txBody>
      </p:sp>
      <p:sp>
        <p:nvSpPr>
          <p:cNvPr id="3" name="Text 1"/>
          <p:cNvSpPr/>
          <p:nvPr/>
        </p:nvSpPr>
        <p:spPr>
          <a:xfrm>
            <a:off x="637937" y="1590318"/>
            <a:ext cx="13354526" cy="72913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BFBFBF"/>
                </a:solidFill>
                <a:latin typeface="Open Sans" pitchFamily="34" charset="0"/>
                <a:ea typeface="Open Sans" pitchFamily="34" charset="-122"/>
                <a:cs typeface="Open Sans" pitchFamily="34" charset="-120"/>
              </a:rPr>
              <a:t>Gender influence</a:t>
            </a:r>
            <a:pPr algn="l" indent="0" marL="0">
              <a:lnSpc>
                <a:spcPts val="2250"/>
              </a:lnSpc>
              <a:buNone/>
            </a:pPr>
            <a:r>
              <a:rPr lang="en-US" sz="1400" dirty="0">
                <a:solidFill>
                  <a:srgbClr val="BFBFBF"/>
                </a:solidFill>
                <a:latin typeface="Open Sans" pitchFamily="34" charset="0"/>
                <a:ea typeface="Open Sans" pitchFamily="34" charset="-122"/>
                <a:cs typeface="Open Sans" pitchFamily="34" charset="-120"/>
              </a:rPr>
              <a:t>: females are more susceptible to hormonal fluctuation. Women have lower serotonin levels than men and process the chemical more slowly, which can contribute to mood swings.</a:t>
            </a:r>
            <a:endParaRPr lang="en-US" sz="1400" dirty="0"/>
          </a:p>
        </p:txBody>
      </p:sp>
      <p:sp>
        <p:nvSpPr>
          <p:cNvPr id="4" name="Text 2"/>
          <p:cNvSpPr/>
          <p:nvPr/>
        </p:nvSpPr>
        <p:spPr>
          <a:xfrm>
            <a:off x="637937" y="2383155"/>
            <a:ext cx="13354526" cy="72913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BFBFBF"/>
                </a:solidFill>
                <a:latin typeface="Open Sans" pitchFamily="34" charset="0"/>
                <a:ea typeface="Open Sans" pitchFamily="34" charset="-122"/>
                <a:cs typeface="Open Sans" pitchFamily="34" charset="-120"/>
              </a:rPr>
              <a:t>Violence and sexual abuse</a:t>
            </a:r>
            <a:pPr algn="l" indent="0" marL="0">
              <a:lnSpc>
                <a:spcPts val="2250"/>
              </a:lnSpc>
              <a:buNone/>
            </a:pPr>
            <a:r>
              <a:rPr lang="en-US" sz="1400" dirty="0">
                <a:solidFill>
                  <a:srgbClr val="BFBFBF"/>
                </a:solidFill>
                <a:latin typeface="Open Sans" pitchFamily="34" charset="0"/>
                <a:ea typeface="Open Sans" pitchFamily="34" charset="-122"/>
                <a:cs typeface="Open Sans" pitchFamily="34" charset="-120"/>
              </a:rPr>
              <a:t>: Violence and sexual abuse are two important factors that influence women's psychology. Over a lifetime, the prevalence of violence against women is estimated to be between 16 and 50 percent.</a:t>
            </a:r>
            <a:endParaRPr lang="en-US" sz="1400" dirty="0"/>
          </a:p>
        </p:txBody>
      </p:sp>
      <p:sp>
        <p:nvSpPr>
          <p:cNvPr id="5" name="Text 3"/>
          <p:cNvSpPr/>
          <p:nvPr/>
        </p:nvSpPr>
        <p:spPr>
          <a:xfrm>
            <a:off x="637937" y="3175992"/>
            <a:ext cx="13354526" cy="72913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BFBFBF"/>
                </a:solidFill>
                <a:latin typeface="Open Sans" pitchFamily="34" charset="0"/>
                <a:ea typeface="Open Sans" pitchFamily="34" charset="-122"/>
                <a:cs typeface="Open Sans" pitchFamily="34" charset="-120"/>
              </a:rPr>
              <a:t>Maternal psychology</a:t>
            </a:r>
            <a:pPr algn="l" indent="0" marL="0">
              <a:lnSpc>
                <a:spcPts val="2250"/>
              </a:lnSpc>
              <a:buNone/>
            </a:pPr>
            <a:r>
              <a:rPr lang="en-US" sz="1400" dirty="0">
                <a:solidFill>
                  <a:srgbClr val="BFBFBF"/>
                </a:solidFill>
                <a:latin typeface="Open Sans" pitchFamily="34" charset="0"/>
                <a:ea typeface="Open Sans" pitchFamily="34" charset="-122"/>
                <a:cs typeface="Open Sans" pitchFamily="34" charset="-120"/>
              </a:rPr>
              <a:t>: Around 10% of pregnant women and 13% of new mothers worldwide experienced a mental disorder, primarily depression. Mothers' suffering may be so severe, in severe cases that they commit suicide.</a:t>
            </a:r>
            <a:endParaRPr lang="en-US" sz="1400" dirty="0"/>
          </a:p>
        </p:txBody>
      </p:sp>
      <p:sp>
        <p:nvSpPr>
          <p:cNvPr id="6" name="Text 4"/>
          <p:cNvSpPr/>
          <p:nvPr/>
        </p:nvSpPr>
        <p:spPr>
          <a:xfrm>
            <a:off x="637937" y="3968829"/>
            <a:ext cx="13354526" cy="72913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BFBFBF"/>
                </a:solidFill>
                <a:latin typeface="Open Sans" pitchFamily="34" charset="0"/>
                <a:ea typeface="Open Sans" pitchFamily="34" charset="-122"/>
                <a:cs typeface="Open Sans" pitchFamily="34" charset="-120"/>
              </a:rPr>
              <a:t>Anxiety and depression</a:t>
            </a:r>
            <a:pPr algn="l" indent="0" marL="0">
              <a:lnSpc>
                <a:spcPts val="2250"/>
              </a:lnSpc>
              <a:buNone/>
            </a:pPr>
            <a:r>
              <a:rPr lang="en-US" sz="1400" dirty="0">
                <a:solidFill>
                  <a:srgbClr val="BFBFBF"/>
                </a:solidFill>
                <a:latin typeface="Open Sans" pitchFamily="34" charset="0"/>
                <a:ea typeface="Open Sans" pitchFamily="34" charset="-122"/>
                <a:cs typeface="Open Sans" pitchFamily="34" charset="-120"/>
              </a:rPr>
              <a:t>: Anxiety disorders and depression are the most common mental health problems among women.</a:t>
            </a:r>
            <a:endParaRPr lang="en-US" sz="1400" dirty="0"/>
          </a:p>
        </p:txBody>
      </p:sp>
      <p:sp>
        <p:nvSpPr>
          <p:cNvPr id="7" name="Text 5"/>
          <p:cNvSpPr/>
          <p:nvPr/>
        </p:nvSpPr>
        <p:spPr>
          <a:xfrm>
            <a:off x="637937" y="4761667"/>
            <a:ext cx="13354526" cy="72913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BFBFBF"/>
                </a:solidFill>
                <a:latin typeface="Open Sans" pitchFamily="34" charset="0"/>
                <a:ea typeface="Open Sans" pitchFamily="34" charset="-122"/>
                <a:cs typeface="Open Sans" pitchFamily="34" charset="-120"/>
              </a:rPr>
              <a:t>Teen pregnancy :</a:t>
            </a:r>
            <a:pPr algn="l" indent="0" marL="0">
              <a:lnSpc>
                <a:spcPts val="2250"/>
              </a:lnSpc>
              <a:buNone/>
            </a:pPr>
            <a:r>
              <a:rPr lang="en-US" sz="1400" dirty="0">
                <a:solidFill>
                  <a:srgbClr val="BFBFBF"/>
                </a:solidFill>
                <a:latin typeface="Open Sans" pitchFamily="34" charset="0"/>
                <a:ea typeface="Open Sans" pitchFamily="34" charset="-122"/>
                <a:cs typeface="Open Sans" pitchFamily="34" charset="-120"/>
              </a:rPr>
              <a:t>when an unwanted pregnancy occurs in the stage of a women’s life it can significantly affect her emotional development.</a:t>
            </a:r>
            <a:endParaRPr lang="en-US" sz="1400" dirty="0"/>
          </a:p>
        </p:txBody>
      </p:sp>
      <p:sp>
        <p:nvSpPr>
          <p:cNvPr id="8" name="Text 6"/>
          <p:cNvSpPr/>
          <p:nvPr/>
        </p:nvSpPr>
        <p:spPr>
          <a:xfrm>
            <a:off x="637937" y="5554504"/>
            <a:ext cx="13354526" cy="729139"/>
          </a:xfrm>
          <a:prstGeom prst="rect">
            <a:avLst/>
          </a:prstGeom>
          <a:noFill/>
          <a:ln/>
        </p:spPr>
        <p:txBody>
          <a:bodyPr wrap="square" lIns="0" tIns="0" rIns="0" bIns="0" rtlCol="0" anchor="t"/>
          <a:lstStyle/>
          <a:p>
            <a:pPr algn="l" marL="342900" indent="-342900">
              <a:lnSpc>
                <a:spcPts val="2250"/>
              </a:lnSpc>
              <a:buSzPct val="100000"/>
              <a:buChar char="•"/>
            </a:pPr>
            <a:r>
              <a:rPr lang="en-US" sz="1400" dirty="0">
                <a:solidFill>
                  <a:srgbClr val="BFBFBF"/>
                </a:solidFill>
                <a:latin typeface="Open Sans" pitchFamily="34" charset="0"/>
                <a:ea typeface="Open Sans" pitchFamily="34" charset="-122"/>
                <a:cs typeface="Open Sans" pitchFamily="34" charset="-120"/>
              </a:rPr>
              <a:t>•</a:t>
            </a:r>
            <a:pPr algn="l" indent="0" marL="0">
              <a:lnSpc>
                <a:spcPts val="2250"/>
              </a:lnSpc>
              <a:buNone/>
            </a:pPr>
            <a:r>
              <a:rPr lang="en-US" sz="1400" b="1" dirty="0">
                <a:solidFill>
                  <a:srgbClr val="BFBFBF"/>
                </a:solidFill>
                <a:latin typeface="Open Sans" pitchFamily="34" charset="0"/>
                <a:ea typeface="Open Sans" pitchFamily="34" charset="-122"/>
                <a:cs typeface="Open Sans" pitchFamily="34" charset="-120"/>
              </a:rPr>
              <a:t>Body image: </a:t>
            </a:r>
            <a:pPr algn="l" indent="0" marL="0">
              <a:lnSpc>
                <a:spcPts val="2250"/>
              </a:lnSpc>
              <a:buNone/>
            </a:pPr>
            <a:r>
              <a:rPr lang="en-US" sz="1400" dirty="0">
                <a:solidFill>
                  <a:srgbClr val="BFBFBF"/>
                </a:solidFill>
                <a:latin typeface="Open Sans" pitchFamily="34" charset="0"/>
                <a:ea typeface="Open Sans" pitchFamily="34" charset="-122"/>
                <a:cs typeface="Open Sans" pitchFamily="34" charset="-120"/>
              </a:rPr>
              <a:t>TV, magazine, movies plays an important role in creating a body image.women’s definition regarding their own body may be distorted resulting in eating disorder such as anorexia nervosa and bulimia nervosa.</a:t>
            </a:r>
            <a:endParaRPr lang="en-US" sz="1400" dirty="0"/>
          </a:p>
        </p:txBody>
      </p:sp>
      <p:sp>
        <p:nvSpPr>
          <p:cNvPr id="9" name="Text 7"/>
          <p:cNvSpPr/>
          <p:nvPr/>
        </p:nvSpPr>
        <p:spPr>
          <a:xfrm>
            <a:off x="637937" y="6347341"/>
            <a:ext cx="13354526" cy="729139"/>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BFBFBF"/>
                </a:solidFill>
                <a:latin typeface="Open Sans" pitchFamily="34" charset="0"/>
                <a:ea typeface="Open Sans" pitchFamily="34" charset="-122"/>
                <a:cs typeface="Open Sans" pitchFamily="34" charset="-120"/>
              </a:rPr>
              <a:t>Rape: </a:t>
            </a:r>
            <a:pPr algn="l" indent="0" marL="0">
              <a:lnSpc>
                <a:spcPts val="2250"/>
              </a:lnSpc>
              <a:buNone/>
            </a:pPr>
            <a:r>
              <a:rPr lang="en-US" sz="1400" dirty="0">
                <a:solidFill>
                  <a:srgbClr val="BFBFBF"/>
                </a:solidFill>
                <a:latin typeface="Open Sans" pitchFamily="34" charset="0"/>
                <a:ea typeface="Open Sans" pitchFamily="34" charset="-122"/>
                <a:cs typeface="Open Sans" pitchFamily="34" charset="-120"/>
              </a:rPr>
              <a:t>women who have been the victim of rape by a stranger or family member experience a psychological effect known as rape trauma syndrome.</a:t>
            </a:r>
            <a:endParaRPr lang="en-US" sz="1400" dirty="0"/>
          </a:p>
        </p:txBody>
      </p:sp>
      <p:sp>
        <p:nvSpPr>
          <p:cNvPr id="10" name="Text 8"/>
          <p:cNvSpPr/>
          <p:nvPr/>
        </p:nvSpPr>
        <p:spPr>
          <a:xfrm>
            <a:off x="637937" y="7281505"/>
            <a:ext cx="13354526" cy="291584"/>
          </a:xfrm>
          <a:prstGeom prst="rect">
            <a:avLst/>
          </a:prstGeom>
          <a:noFill/>
          <a:ln/>
        </p:spPr>
        <p:txBody>
          <a:bodyPr wrap="none" lIns="0" tIns="0" rIns="0" bIns="0" rtlCol="0" anchor="t"/>
          <a:lstStyle/>
          <a:p>
            <a:pPr indent="0" marL="0">
              <a:lnSpc>
                <a:spcPts val="2250"/>
              </a:lnSpc>
              <a:buNone/>
            </a:pP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653891"/>
            <a:ext cx="4536519" cy="566976"/>
          </a:xfrm>
          <a:prstGeom prst="rect">
            <a:avLst/>
          </a:prstGeom>
          <a:noFill/>
          <a:ln/>
        </p:spPr>
        <p:txBody>
          <a:bodyPr wrap="none" lIns="0" tIns="0" rIns="0" bIns="0" rtlCol="0" anchor="t"/>
          <a:lstStyle/>
          <a:p>
            <a:pPr indent="0" marL="0">
              <a:lnSpc>
                <a:spcPts val="4450"/>
              </a:lnSpc>
              <a:buNone/>
            </a:pPr>
            <a:r>
              <a:rPr lang="en-US" sz="3550" dirty="0">
                <a:solidFill>
                  <a:srgbClr val="FEFEFE"/>
                </a:solidFill>
                <a:latin typeface="Instrument Sans Medium" pitchFamily="34" charset="0"/>
                <a:ea typeface="Instrument Sans Medium" pitchFamily="34" charset="-122"/>
                <a:cs typeface="Instrument Sans Medium" pitchFamily="34" charset="-120"/>
              </a:rPr>
              <a:t>ROLE OF NURSE</a:t>
            </a:r>
            <a:endParaRPr lang="en-US" sz="3550" dirty="0"/>
          </a:p>
        </p:txBody>
      </p:sp>
      <p:sp>
        <p:nvSpPr>
          <p:cNvPr id="3" name="Text 1"/>
          <p:cNvSpPr/>
          <p:nvPr/>
        </p:nvSpPr>
        <p:spPr>
          <a:xfrm>
            <a:off x="793790" y="1674495"/>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A nurse helps in uncovering women strength and understanding her needs and goals, and teaches her assertive skills.</a:t>
            </a:r>
            <a:endParaRPr lang="en-US" sz="1750" dirty="0"/>
          </a:p>
        </p:txBody>
      </p:sp>
      <p:sp>
        <p:nvSpPr>
          <p:cNvPr id="4" name="Text 2"/>
          <p:cNvSpPr/>
          <p:nvPr/>
        </p:nvSpPr>
        <p:spPr>
          <a:xfrm>
            <a:off x="793790" y="266080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 Nurses help to develop a positive body image.</a:t>
            </a:r>
            <a:endParaRPr lang="en-US" sz="1750" dirty="0"/>
          </a:p>
        </p:txBody>
      </p:sp>
      <p:sp>
        <p:nvSpPr>
          <p:cNvPr id="5" name="Text 3"/>
          <p:cNvSpPr/>
          <p:nvPr/>
        </p:nvSpPr>
        <p:spPr>
          <a:xfrm>
            <a:off x="793790" y="319361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Nurse helps to develop strengths to cope with mood changes, post partum depression etc.</a:t>
            </a:r>
            <a:endParaRPr lang="en-US" sz="1750" dirty="0"/>
          </a:p>
        </p:txBody>
      </p:sp>
      <p:sp>
        <p:nvSpPr>
          <p:cNvPr id="6" name="Text 4"/>
          <p:cNvSpPr/>
          <p:nvPr/>
        </p:nvSpPr>
        <p:spPr>
          <a:xfrm>
            <a:off x="793790" y="3726418"/>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 A nurse re-establishes her sense of self- worth and avoid violent situation.</a:t>
            </a:r>
            <a:endParaRPr lang="en-US" sz="1750" dirty="0"/>
          </a:p>
        </p:txBody>
      </p:sp>
      <p:sp>
        <p:nvSpPr>
          <p:cNvPr id="7" name="Text 5"/>
          <p:cNvSpPr/>
          <p:nvPr/>
        </p:nvSpPr>
        <p:spPr>
          <a:xfrm>
            <a:off x="793790" y="4259223"/>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Need to refer to psychiatrist and undergoes psychotherapy.</a:t>
            </a:r>
            <a:endParaRPr lang="en-US" sz="1750" dirty="0"/>
          </a:p>
        </p:txBody>
      </p:sp>
      <p:sp>
        <p:nvSpPr>
          <p:cNvPr id="8" name="Text 6"/>
          <p:cNvSpPr/>
          <p:nvPr/>
        </p:nvSpPr>
        <p:spPr>
          <a:xfrm>
            <a:off x="793790" y="5052893"/>
            <a:ext cx="6892528" cy="566976"/>
          </a:xfrm>
          <a:prstGeom prst="rect">
            <a:avLst/>
          </a:prstGeom>
          <a:noFill/>
          <a:ln/>
        </p:spPr>
        <p:txBody>
          <a:bodyPr wrap="none" lIns="0" tIns="0" rIns="0" bIns="0" rtlCol="0" anchor="t"/>
          <a:lstStyle/>
          <a:p>
            <a:pPr indent="0" marL="0">
              <a:lnSpc>
                <a:spcPts val="4450"/>
              </a:lnSpc>
              <a:buNone/>
            </a:pPr>
            <a:r>
              <a:rPr lang="en-US" sz="3550" dirty="0">
                <a:solidFill>
                  <a:srgbClr val="FEFEFE"/>
                </a:solidFill>
                <a:latin typeface="Instrument Sans Medium" pitchFamily="34" charset="0"/>
                <a:ea typeface="Instrument Sans Medium" pitchFamily="34" charset="-122"/>
                <a:cs typeface="Instrument Sans Medium" pitchFamily="34" charset="-120"/>
              </a:rPr>
              <a:t>PSYCHOLOGY OF SICK PERSON</a:t>
            </a:r>
            <a:endParaRPr lang="en-US" sz="3550" dirty="0"/>
          </a:p>
        </p:txBody>
      </p:sp>
      <p:sp>
        <p:nvSpPr>
          <p:cNvPr id="9" name="Text 7"/>
          <p:cNvSpPr/>
          <p:nvPr/>
        </p:nvSpPr>
        <p:spPr>
          <a:xfrm>
            <a:off x="793790" y="5960031"/>
            <a:ext cx="13042821" cy="907018"/>
          </a:xfrm>
          <a:prstGeom prst="rect">
            <a:avLst/>
          </a:prstGeom>
          <a:noFill/>
          <a:ln/>
        </p:spPr>
        <p:txBody>
          <a:bodyPr wrap="squar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Physical and mental illness cause a variety of emotional responses in the patient, such as anxiety, fear, and so on. </a:t>
            </a:r>
            <a:endParaRPr lang="en-US" sz="2200" dirty="0"/>
          </a:p>
        </p:txBody>
      </p:sp>
      <p:sp>
        <p:nvSpPr>
          <p:cNvPr id="10" name="Text 8"/>
          <p:cNvSpPr/>
          <p:nvPr/>
        </p:nvSpPr>
        <p:spPr>
          <a:xfrm>
            <a:off x="793790" y="7122200"/>
            <a:ext cx="13042821" cy="453509"/>
          </a:xfrm>
          <a:prstGeom prst="rect">
            <a:avLst/>
          </a:prstGeom>
          <a:noFill/>
          <a:ln/>
        </p:spPr>
        <p:txBody>
          <a:bodyPr wrap="none" lIns="0" tIns="0" rIns="0" bIns="0" rtlCol="0" anchor="t"/>
          <a:lstStyle/>
          <a:p>
            <a:pPr indent="0" marL="0">
              <a:lnSpc>
                <a:spcPts val="3550"/>
              </a:lnSpc>
              <a:buNone/>
            </a:pPr>
            <a:r>
              <a:rPr lang="en-US" sz="2200" dirty="0">
                <a:solidFill>
                  <a:srgbClr val="BFBFBF"/>
                </a:solidFill>
                <a:latin typeface="Open Sans" pitchFamily="34" charset="0"/>
                <a:ea typeface="Open Sans" pitchFamily="34" charset="-122"/>
                <a:cs typeface="Open Sans" pitchFamily="34" charset="-120"/>
              </a:rPr>
              <a:t>Furthermore, chronic illness makes the patient more susceptible to mental illness.</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36163" y="621625"/>
            <a:ext cx="5258872" cy="657344"/>
          </a:xfrm>
          <a:prstGeom prst="rect">
            <a:avLst/>
          </a:prstGeom>
          <a:noFill/>
          <a:ln/>
        </p:spPr>
        <p:txBody>
          <a:bodyPr wrap="none" lIns="0" tIns="0" rIns="0" bIns="0" rtlCol="0" anchor="t"/>
          <a:lstStyle/>
          <a:p>
            <a:pPr indent="0" marL="0">
              <a:lnSpc>
                <a:spcPts val="5150"/>
              </a:lnSpc>
              <a:buNone/>
            </a:pPr>
            <a:endParaRPr lang="en-US" sz="4100" dirty="0"/>
          </a:p>
        </p:txBody>
      </p:sp>
      <p:sp>
        <p:nvSpPr>
          <p:cNvPr id="3" name="Text 1"/>
          <p:cNvSpPr/>
          <p:nvPr/>
        </p:nvSpPr>
        <p:spPr>
          <a:xfrm>
            <a:off x="736163" y="1699617"/>
            <a:ext cx="13158073" cy="841058"/>
          </a:xfrm>
          <a:prstGeom prst="rect">
            <a:avLst/>
          </a:prstGeom>
          <a:noFill/>
          <a:ln/>
        </p:spPr>
        <p:txBody>
          <a:bodyPr wrap="square" lIns="0" tIns="0" rIns="0" bIns="0" rtlCol="0" anchor="t"/>
          <a:lstStyle/>
          <a:p>
            <a:pPr algn="l" marL="342900" indent="-342900">
              <a:lnSpc>
                <a:spcPts val="2650"/>
              </a:lnSpc>
              <a:buSzPct val="100000"/>
              <a:buChar char="•"/>
            </a:pPr>
            <a:r>
              <a:rPr lang="en-US" sz="1650" b="1" dirty="0">
                <a:solidFill>
                  <a:srgbClr val="BFBFBF"/>
                </a:solidFill>
                <a:latin typeface="Open Sans" pitchFamily="34" charset="0"/>
                <a:ea typeface="Open Sans" pitchFamily="34" charset="-122"/>
                <a:cs typeface="Open Sans" pitchFamily="34" charset="-120"/>
              </a:rPr>
              <a:t>Inferiority</a:t>
            </a:r>
            <a:pPr algn="l" indent="0" marL="0">
              <a:lnSpc>
                <a:spcPts val="2650"/>
              </a:lnSpc>
              <a:buNone/>
            </a:pPr>
            <a:r>
              <a:rPr lang="en-US" sz="1650" dirty="0">
                <a:solidFill>
                  <a:srgbClr val="BFBFBF"/>
                </a:solidFill>
                <a:latin typeface="Open Sans" pitchFamily="34" charset="0"/>
                <a:ea typeface="Open Sans" pitchFamily="34" charset="-122"/>
                <a:cs typeface="Open Sans" pitchFamily="34" charset="-120"/>
              </a:rPr>
              <a:t>-The patient may develop inferior feelings as he depends on the family members for activities of daily living. </a:t>
            </a:r>
            <a:endParaRPr lang="en-US" sz="1650" dirty="0"/>
          </a:p>
        </p:txBody>
      </p:sp>
      <p:sp>
        <p:nvSpPr>
          <p:cNvPr id="4" name="Text 2"/>
          <p:cNvSpPr/>
          <p:nvPr/>
        </p:nvSpPr>
        <p:spPr>
          <a:xfrm>
            <a:off x="736163" y="2614255"/>
            <a:ext cx="13158073" cy="841058"/>
          </a:xfrm>
          <a:prstGeom prst="rect">
            <a:avLst/>
          </a:prstGeom>
          <a:noFill/>
          <a:ln/>
        </p:spPr>
        <p:txBody>
          <a:bodyPr wrap="square" lIns="0" tIns="0" rIns="0" bIns="0" rtlCol="0" anchor="t"/>
          <a:lstStyle/>
          <a:p>
            <a:pPr algn="l" marL="342900" indent="-342900">
              <a:lnSpc>
                <a:spcPts val="2650"/>
              </a:lnSpc>
              <a:buSzPct val="100000"/>
              <a:buChar char="•"/>
            </a:pPr>
            <a:r>
              <a:rPr lang="en-US" sz="1650" b="1" dirty="0">
                <a:solidFill>
                  <a:srgbClr val="BFBFBF"/>
                </a:solidFill>
                <a:latin typeface="Open Sans" pitchFamily="34" charset="0"/>
                <a:ea typeface="Open Sans" pitchFamily="34" charset="-122"/>
                <a:cs typeface="Open Sans" pitchFamily="34" charset="-120"/>
              </a:rPr>
              <a:t>Anxiety, fear and phobias</a:t>
            </a:r>
            <a:pPr algn="l" indent="0" marL="0">
              <a:lnSpc>
                <a:spcPts val="2650"/>
              </a:lnSpc>
              <a:buNone/>
            </a:pPr>
            <a:r>
              <a:rPr lang="en-US" sz="1650" dirty="0">
                <a:solidFill>
                  <a:srgbClr val="BFBFBF"/>
                </a:solidFill>
                <a:latin typeface="Open Sans" pitchFamily="34" charset="0"/>
                <a:ea typeface="Open Sans" pitchFamily="34" charset="-122"/>
                <a:cs typeface="Open Sans" pitchFamily="34" charset="-120"/>
              </a:rPr>
              <a:t>-Chronic diseases such as cancer lead to anxiety, fear and phobias in patient.</a:t>
            </a:r>
            <a:endParaRPr lang="en-US" sz="1650" dirty="0"/>
          </a:p>
        </p:txBody>
      </p:sp>
      <p:sp>
        <p:nvSpPr>
          <p:cNvPr id="5" name="Text 3"/>
          <p:cNvSpPr/>
          <p:nvPr/>
        </p:nvSpPr>
        <p:spPr>
          <a:xfrm>
            <a:off x="736163" y="3528893"/>
            <a:ext cx="13158073" cy="841058"/>
          </a:xfrm>
          <a:prstGeom prst="rect">
            <a:avLst/>
          </a:prstGeom>
          <a:noFill/>
          <a:ln/>
        </p:spPr>
        <p:txBody>
          <a:bodyPr wrap="square" lIns="0" tIns="0" rIns="0" bIns="0" rtlCol="0" anchor="t"/>
          <a:lstStyle/>
          <a:p>
            <a:pPr algn="l" marL="342900" indent="-342900">
              <a:lnSpc>
                <a:spcPts val="2650"/>
              </a:lnSpc>
              <a:buSzPct val="100000"/>
              <a:buChar char="•"/>
            </a:pPr>
            <a:r>
              <a:rPr lang="en-US" sz="1650" b="1" dirty="0">
                <a:solidFill>
                  <a:srgbClr val="BFBFBF"/>
                </a:solidFill>
                <a:latin typeface="Open Sans" pitchFamily="34" charset="0"/>
                <a:ea typeface="Open Sans" pitchFamily="34" charset="-122"/>
                <a:cs typeface="Open Sans" pitchFamily="34" charset="-120"/>
              </a:rPr>
              <a:t>Poor self confidence</a:t>
            </a:r>
            <a:pPr algn="l" indent="0" marL="0">
              <a:lnSpc>
                <a:spcPts val="2650"/>
              </a:lnSpc>
              <a:buNone/>
            </a:pPr>
            <a:r>
              <a:rPr lang="en-US" sz="1650" dirty="0">
                <a:solidFill>
                  <a:srgbClr val="BFBFBF"/>
                </a:solidFill>
                <a:latin typeface="Open Sans" pitchFamily="34" charset="0"/>
                <a:ea typeface="Open Sans" pitchFamily="34" charset="-122"/>
                <a:cs typeface="Open Sans" pitchFamily="34" charset="-120"/>
              </a:rPr>
              <a:t>-self confidence may decrease, leads to hopelessness and helplessness among sick individuals.</a:t>
            </a:r>
            <a:endParaRPr lang="en-US" sz="1650" dirty="0"/>
          </a:p>
        </p:txBody>
      </p:sp>
      <p:sp>
        <p:nvSpPr>
          <p:cNvPr id="6" name="Text 4"/>
          <p:cNvSpPr/>
          <p:nvPr/>
        </p:nvSpPr>
        <p:spPr>
          <a:xfrm>
            <a:off x="736163" y="4443532"/>
            <a:ext cx="13158073" cy="841058"/>
          </a:xfrm>
          <a:prstGeom prst="rect">
            <a:avLst/>
          </a:prstGeom>
          <a:noFill/>
          <a:ln/>
        </p:spPr>
        <p:txBody>
          <a:bodyPr wrap="square" lIns="0" tIns="0" rIns="0" bIns="0" rtlCol="0" anchor="t"/>
          <a:lstStyle/>
          <a:p>
            <a:pPr algn="l" marL="342900" indent="-342900">
              <a:lnSpc>
                <a:spcPts val="2650"/>
              </a:lnSpc>
              <a:buSzPct val="100000"/>
              <a:buChar char="•"/>
            </a:pPr>
            <a:r>
              <a:rPr lang="en-US" sz="1650" b="1" dirty="0">
                <a:solidFill>
                  <a:srgbClr val="BFBFBF"/>
                </a:solidFill>
                <a:latin typeface="Open Sans" pitchFamily="34" charset="0"/>
                <a:ea typeface="Open Sans" pitchFamily="34" charset="-122"/>
                <a:cs typeface="Open Sans" pitchFamily="34" charset="-120"/>
              </a:rPr>
              <a:t>Distorted self image</a:t>
            </a:r>
            <a:pPr algn="l" indent="0" marL="0">
              <a:lnSpc>
                <a:spcPts val="2650"/>
              </a:lnSpc>
              <a:buNone/>
            </a:pPr>
            <a:r>
              <a:rPr lang="en-US" sz="1650" dirty="0">
                <a:solidFill>
                  <a:srgbClr val="BFBFBF"/>
                </a:solidFill>
                <a:latin typeface="Open Sans" pitchFamily="34" charset="0"/>
                <a:ea typeface="Open Sans" pitchFamily="34" charset="-122"/>
                <a:cs typeface="Open Sans" pitchFamily="34" charset="-120"/>
              </a:rPr>
              <a:t>-Sick individuals may have poor self- image due to low confidence, fear and worries.</a:t>
            </a:r>
            <a:endParaRPr lang="en-US" sz="1650" dirty="0"/>
          </a:p>
        </p:txBody>
      </p:sp>
      <p:sp>
        <p:nvSpPr>
          <p:cNvPr id="7" name="Text 5"/>
          <p:cNvSpPr/>
          <p:nvPr/>
        </p:nvSpPr>
        <p:spPr>
          <a:xfrm>
            <a:off x="736163" y="5358170"/>
            <a:ext cx="13158073" cy="841058"/>
          </a:xfrm>
          <a:prstGeom prst="rect">
            <a:avLst/>
          </a:prstGeom>
          <a:noFill/>
          <a:ln/>
        </p:spPr>
        <p:txBody>
          <a:bodyPr wrap="square" lIns="0" tIns="0" rIns="0" bIns="0" rtlCol="0" anchor="t"/>
          <a:lstStyle/>
          <a:p>
            <a:pPr algn="l" marL="342900" indent="-342900">
              <a:lnSpc>
                <a:spcPts val="2650"/>
              </a:lnSpc>
              <a:buSzPct val="100000"/>
              <a:buChar char="•"/>
            </a:pPr>
            <a:r>
              <a:rPr lang="en-US" sz="1650" b="1" dirty="0">
                <a:solidFill>
                  <a:srgbClr val="BFBFBF"/>
                </a:solidFill>
                <a:latin typeface="Open Sans" pitchFamily="34" charset="0"/>
                <a:ea typeface="Open Sans" pitchFamily="34" charset="-122"/>
                <a:cs typeface="Open Sans" pitchFamily="34" charset="-120"/>
              </a:rPr>
              <a:t>Depression</a:t>
            </a:r>
            <a:pPr algn="l" indent="0" marL="0">
              <a:lnSpc>
                <a:spcPts val="2650"/>
              </a:lnSpc>
              <a:buNone/>
            </a:pPr>
            <a:r>
              <a:rPr lang="en-US" sz="1650" dirty="0">
                <a:solidFill>
                  <a:srgbClr val="BFBFBF"/>
                </a:solidFill>
                <a:latin typeface="Open Sans" pitchFamily="34" charset="0"/>
                <a:ea typeface="Open Sans" pitchFamily="34" charset="-122"/>
                <a:cs typeface="Open Sans" pitchFamily="34" charset="-120"/>
              </a:rPr>
              <a:t>-Chronic disease, long-term hospitalization, uncertainty of treatment comes and many other associated factors can lead to depression among sick person.</a:t>
            </a:r>
            <a:endParaRPr lang="en-US" sz="1650" dirty="0"/>
          </a:p>
        </p:txBody>
      </p:sp>
      <p:sp>
        <p:nvSpPr>
          <p:cNvPr id="8" name="Text 6"/>
          <p:cNvSpPr/>
          <p:nvPr/>
        </p:nvSpPr>
        <p:spPr>
          <a:xfrm>
            <a:off x="736163" y="6272808"/>
            <a:ext cx="13158073" cy="841058"/>
          </a:xfrm>
          <a:prstGeom prst="rect">
            <a:avLst/>
          </a:prstGeom>
          <a:noFill/>
          <a:ln/>
        </p:spPr>
        <p:txBody>
          <a:bodyPr wrap="square" lIns="0" tIns="0" rIns="0" bIns="0" rtlCol="0" anchor="t"/>
          <a:lstStyle/>
          <a:p>
            <a:pPr algn="l" marL="342900" indent="-342900">
              <a:lnSpc>
                <a:spcPts val="2650"/>
              </a:lnSpc>
              <a:buSzPct val="100000"/>
              <a:buChar char="•"/>
            </a:pPr>
            <a:r>
              <a:rPr lang="en-US" sz="1650" b="1" dirty="0">
                <a:solidFill>
                  <a:srgbClr val="BFBFBF"/>
                </a:solidFill>
                <a:latin typeface="Open Sans" pitchFamily="34" charset="0"/>
                <a:ea typeface="Open Sans" pitchFamily="34" charset="-122"/>
                <a:cs typeface="Open Sans" pitchFamily="34" charset="-120"/>
              </a:rPr>
              <a:t>Stigma and discrimination-</a:t>
            </a:r>
            <a:pPr algn="l" indent="0" marL="0">
              <a:lnSpc>
                <a:spcPts val="2650"/>
              </a:lnSpc>
              <a:buNone/>
            </a:pPr>
            <a:r>
              <a:rPr lang="en-US" sz="1650" dirty="0">
                <a:solidFill>
                  <a:srgbClr val="BFBFBF"/>
                </a:solidFill>
                <a:latin typeface="Open Sans" pitchFamily="34" charset="0"/>
                <a:ea typeface="Open Sans" pitchFamily="34" charset="-122"/>
                <a:cs typeface="Open Sans" pitchFamily="34" charset="-120"/>
              </a:rPr>
              <a:t>Fear of negative social consequences often causes persons with chronic Illness such as HIV/tuberculosis, resulting into the feeling of stigmatization and discrimination.</a:t>
            </a:r>
            <a:endParaRPr lang="en-US" sz="1650" dirty="0"/>
          </a:p>
        </p:txBody>
      </p:sp>
      <p:sp>
        <p:nvSpPr>
          <p:cNvPr id="9" name="Text 7"/>
          <p:cNvSpPr/>
          <p:nvPr/>
        </p:nvSpPr>
        <p:spPr>
          <a:xfrm>
            <a:off x="736163" y="7187446"/>
            <a:ext cx="13158073" cy="420529"/>
          </a:xfrm>
          <a:prstGeom prst="rect">
            <a:avLst/>
          </a:prstGeom>
          <a:noFill/>
          <a:ln/>
        </p:spPr>
        <p:txBody>
          <a:bodyPr wrap="none" lIns="0" tIns="0" rIns="0" bIns="0" rtlCol="0" anchor="t"/>
          <a:lstStyle/>
          <a:p>
            <a:pPr algn="l" marL="342900" indent="-342900">
              <a:lnSpc>
                <a:spcPts val="2650"/>
              </a:lnSpc>
              <a:buSzPct val="100000"/>
              <a:buChar char="•"/>
            </a:pPr>
            <a:r>
              <a:rPr lang="en-US" sz="1650" b="1" dirty="0">
                <a:solidFill>
                  <a:srgbClr val="BFBFBF"/>
                </a:solidFill>
                <a:latin typeface="Open Sans" pitchFamily="34" charset="0"/>
                <a:ea typeface="Open Sans" pitchFamily="34" charset="-122"/>
                <a:cs typeface="Open Sans" pitchFamily="34" charset="-120"/>
              </a:rPr>
              <a:t>Aggression</a:t>
            </a:r>
            <a:pPr algn="l" indent="0" marL="0">
              <a:lnSpc>
                <a:spcPts val="2650"/>
              </a:lnSpc>
              <a:buNone/>
            </a:pPr>
            <a:r>
              <a:rPr lang="en-US" sz="1650" dirty="0">
                <a:solidFill>
                  <a:srgbClr val="BFBFBF"/>
                </a:solidFill>
                <a:latin typeface="Open Sans" pitchFamily="34" charset="0"/>
                <a:ea typeface="Open Sans" pitchFamily="34" charset="-122"/>
                <a:cs typeface="Open Sans" pitchFamily="34" charset="-120"/>
              </a:rPr>
              <a:t>- sick persons shows behaviour that is intended to cause harm or pain.</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2351723"/>
            <a:ext cx="4536519" cy="566976"/>
          </a:xfrm>
          <a:prstGeom prst="rect">
            <a:avLst/>
          </a:prstGeom>
          <a:noFill/>
          <a:ln/>
        </p:spPr>
        <p:txBody>
          <a:bodyPr wrap="none" lIns="0" tIns="0" rIns="0" bIns="0" rtlCol="0" anchor="t"/>
          <a:lstStyle/>
          <a:p>
            <a:pPr indent="0" marL="0">
              <a:lnSpc>
                <a:spcPts val="4450"/>
              </a:lnSpc>
              <a:buNone/>
            </a:pPr>
            <a:r>
              <a:rPr lang="en-US" sz="3550" dirty="0">
                <a:solidFill>
                  <a:srgbClr val="FEFEFE"/>
                </a:solidFill>
                <a:latin typeface="Instrument Sans Medium" pitchFamily="34" charset="0"/>
                <a:ea typeface="Instrument Sans Medium" pitchFamily="34" charset="-122"/>
                <a:cs typeface="Instrument Sans Medium" pitchFamily="34" charset="-120"/>
              </a:rPr>
              <a:t>ROLE OF NURSE</a:t>
            </a:r>
            <a:endParaRPr lang="en-US" sz="3550" dirty="0"/>
          </a:p>
        </p:txBody>
      </p:sp>
      <p:sp>
        <p:nvSpPr>
          <p:cNvPr id="3" name="Text 1"/>
          <p:cNvSpPr/>
          <p:nvPr/>
        </p:nvSpPr>
        <p:spPr>
          <a:xfrm>
            <a:off x="793790" y="3372326"/>
            <a:ext cx="13042821" cy="90701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Nurses should spend time with them, frequent contact is essential to promote mental health among them and nurses should maintain privacy.</a:t>
            </a:r>
            <a:endParaRPr lang="en-US" sz="1750" dirty="0"/>
          </a:p>
        </p:txBody>
      </p:sp>
      <p:sp>
        <p:nvSpPr>
          <p:cNvPr id="4" name="Text 2"/>
          <p:cNvSpPr/>
          <p:nvPr/>
        </p:nvSpPr>
        <p:spPr>
          <a:xfrm>
            <a:off x="793790" y="4358640"/>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 Nurses should help them to develop the highest level of self-independence. </a:t>
            </a:r>
            <a:endParaRPr lang="en-US" sz="1750" dirty="0"/>
          </a:p>
        </p:txBody>
      </p:sp>
      <p:sp>
        <p:nvSpPr>
          <p:cNvPr id="5" name="Text 3"/>
          <p:cNvSpPr/>
          <p:nvPr/>
        </p:nvSpPr>
        <p:spPr>
          <a:xfrm>
            <a:off x="793790" y="4891445"/>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Make them aware of current events and news. </a:t>
            </a:r>
            <a:endParaRPr lang="en-US" sz="1750" dirty="0"/>
          </a:p>
        </p:txBody>
      </p:sp>
      <p:sp>
        <p:nvSpPr>
          <p:cNvPr id="6" name="Text 4"/>
          <p:cNvSpPr/>
          <p:nvPr/>
        </p:nvSpPr>
        <p:spPr>
          <a:xfrm>
            <a:off x="793790" y="5424249"/>
            <a:ext cx="13042821" cy="453509"/>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BFBFBF"/>
                </a:solidFill>
                <a:latin typeface="Open Sans" pitchFamily="34" charset="0"/>
                <a:ea typeface="Open Sans" pitchFamily="34" charset="-122"/>
                <a:cs typeface="Open Sans" pitchFamily="34" charset="-120"/>
              </a:rPr>
              <a:t>Help to establish family relationship and friendship.</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2024-12-04T17:58:07Z</dcterms:created>
  <dcterms:modified xsi:type="dcterms:W3CDTF">2024-12-04T17:58:07Z</dcterms:modified>
</cp:coreProperties>
</file>