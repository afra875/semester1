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Rubik Spray Paint" charset="1" panose="00000000000000000000"/>
      <p:regular r:id="rId33"/>
    </p:embeddedFont>
    <p:embeddedFont>
      <p:font typeface="Poppins Bold" charset="1" panose="00000800000000000000"/>
      <p:regular r:id="rId34"/>
    </p:embeddedFont>
    <p:embeddedFont>
      <p:font typeface="Lucidity Condensed" charset="1" panose="00000600000000000000"/>
      <p:regular r:id="rId35"/>
    </p:embeddedFont>
    <p:embeddedFont>
      <p:font typeface="Canva Sans Bold" charset="1" panose="020B0803030501040103"/>
      <p:regular r:id="rId36"/>
    </p:embeddedFont>
    <p:embeddedFont>
      <p:font typeface="Canva Sans" charset="1" panose="020B0503030501040103"/>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8801" y="0"/>
            <a:ext cx="8299808" cy="10287000"/>
          </a:xfrm>
          <a:custGeom>
            <a:avLst/>
            <a:gdLst/>
            <a:ahLst/>
            <a:cxnLst/>
            <a:rect r="r" b="b" t="t" l="l"/>
            <a:pathLst>
              <a:path h="10287000" w="8299808">
                <a:moveTo>
                  <a:pt x="0" y="0"/>
                </a:moveTo>
                <a:lnTo>
                  <a:pt x="8299807" y="0"/>
                </a:lnTo>
                <a:lnTo>
                  <a:pt x="8299807" y="10287000"/>
                </a:lnTo>
                <a:lnTo>
                  <a:pt x="0" y="10287000"/>
                </a:lnTo>
                <a:lnTo>
                  <a:pt x="0" y="0"/>
                </a:lnTo>
                <a:close/>
              </a:path>
            </a:pathLst>
          </a:custGeom>
          <a:blipFill>
            <a:blip r:embed="rId2"/>
            <a:stretch>
              <a:fillRect l="-5250" t="0" r="-18691" b="0"/>
            </a:stretch>
          </a:blipFill>
        </p:spPr>
      </p:sp>
      <p:sp>
        <p:nvSpPr>
          <p:cNvPr name="TextBox 3" id="3"/>
          <p:cNvSpPr txBox="true"/>
          <p:nvPr/>
        </p:nvSpPr>
        <p:spPr>
          <a:xfrm rot="0">
            <a:off x="8315984" y="3676136"/>
            <a:ext cx="8943316" cy="1824589"/>
          </a:xfrm>
          <a:prstGeom prst="rect">
            <a:avLst/>
          </a:prstGeom>
        </p:spPr>
        <p:txBody>
          <a:bodyPr anchor="t" rtlCol="false" tIns="0" lIns="0" bIns="0" rIns="0">
            <a:spAutoFit/>
          </a:bodyPr>
          <a:lstStyle/>
          <a:p>
            <a:pPr algn="ctr">
              <a:lnSpc>
                <a:spcPts val="14836"/>
              </a:lnSpc>
            </a:pPr>
            <a:r>
              <a:rPr lang="en-US" sz="10597">
                <a:solidFill>
                  <a:srgbClr val="FFFFFF"/>
                </a:solidFill>
                <a:latin typeface="Rubik Spray Paint"/>
                <a:ea typeface="Rubik Spray Paint"/>
                <a:cs typeface="Rubik Spray Paint"/>
                <a:sym typeface="Rubik Spray Paint"/>
              </a:rPr>
              <a:t>MOTIVATION</a:t>
            </a:r>
          </a:p>
        </p:txBody>
      </p:sp>
      <p:sp>
        <p:nvSpPr>
          <p:cNvPr name="TextBox 4" id="4"/>
          <p:cNvSpPr txBox="true"/>
          <p:nvPr/>
        </p:nvSpPr>
        <p:spPr>
          <a:xfrm rot="0">
            <a:off x="9144000" y="5904606"/>
            <a:ext cx="7287284" cy="1520900"/>
          </a:xfrm>
          <a:prstGeom prst="rect">
            <a:avLst/>
          </a:prstGeom>
        </p:spPr>
        <p:txBody>
          <a:bodyPr anchor="t" rtlCol="false" tIns="0" lIns="0" bIns="0" rIns="0">
            <a:spAutoFit/>
          </a:bodyPr>
          <a:lstStyle/>
          <a:p>
            <a:pPr algn="ctr">
              <a:lnSpc>
                <a:spcPts val="5945"/>
              </a:lnSpc>
            </a:pPr>
            <a:r>
              <a:rPr lang="en-US" sz="4247" b="true">
                <a:solidFill>
                  <a:srgbClr val="FFFFFF"/>
                </a:solidFill>
                <a:latin typeface="Poppins Bold"/>
                <a:ea typeface="Poppins Bold"/>
                <a:cs typeface="Poppins Bold"/>
                <a:sym typeface="Poppins Bold"/>
              </a:rPr>
              <a:t>A motive etymologically means that 'which moves. </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14928" y="885825"/>
            <a:ext cx="4934491" cy="1293893"/>
          </a:xfrm>
          <a:prstGeom prst="rect">
            <a:avLst/>
          </a:prstGeom>
        </p:spPr>
        <p:txBody>
          <a:bodyPr anchor="t" rtlCol="false" tIns="0" lIns="0" bIns="0" rIns="0">
            <a:spAutoFit/>
          </a:bodyPr>
          <a:lstStyle/>
          <a:p>
            <a:pPr algn="ctr">
              <a:lnSpc>
                <a:spcPts val="10583"/>
              </a:lnSpc>
            </a:pPr>
            <a:r>
              <a:rPr lang="en-US" sz="7559">
                <a:solidFill>
                  <a:srgbClr val="CF4D59"/>
                </a:solidFill>
                <a:latin typeface="Lucidity Condensed"/>
                <a:ea typeface="Lucidity Condensed"/>
                <a:cs typeface="Lucidity Condensed"/>
                <a:sym typeface="Lucidity Condensed"/>
              </a:rPr>
              <a:t>definitions </a:t>
            </a:r>
          </a:p>
        </p:txBody>
      </p:sp>
      <p:sp>
        <p:nvSpPr>
          <p:cNvPr name="TextBox 3" id="3"/>
          <p:cNvSpPr txBox="true"/>
          <p:nvPr/>
        </p:nvSpPr>
        <p:spPr>
          <a:xfrm rot="0">
            <a:off x="1710741" y="2676901"/>
            <a:ext cx="15548559" cy="6638479"/>
          </a:xfrm>
          <a:prstGeom prst="rect">
            <a:avLst/>
          </a:prstGeom>
        </p:spPr>
        <p:txBody>
          <a:bodyPr anchor="t" rtlCol="false" tIns="0" lIns="0" bIns="0" rIns="0">
            <a:spAutoFit/>
          </a:bodyPr>
          <a:lstStyle/>
          <a:p>
            <a:pPr algn="ctr">
              <a:lnSpc>
                <a:spcPts val="5274"/>
              </a:lnSpc>
            </a:pPr>
            <a:r>
              <a:rPr lang="en-US" sz="3767" b="true">
                <a:solidFill>
                  <a:srgbClr val="FFFFFF"/>
                </a:solidFill>
                <a:latin typeface="Canva Sans Bold"/>
                <a:ea typeface="Canva Sans Bold"/>
                <a:cs typeface="Canva Sans Bold"/>
                <a:sym typeface="Canva Sans Bold"/>
              </a:rPr>
              <a:t>A need gives rise to one or more motives. A motive is a rather specific process which has been learned. It is directed towards a goal.</a:t>
            </a:r>
          </a:p>
          <a:p>
            <a:pPr algn="ctr">
              <a:lnSpc>
                <a:spcPts val="5274"/>
              </a:lnSpc>
            </a:pPr>
          </a:p>
          <a:p>
            <a:pPr algn="ctr">
              <a:lnSpc>
                <a:spcPts val="5274"/>
              </a:lnSpc>
            </a:pPr>
            <a:r>
              <a:rPr lang="en-US" sz="3767" b="true">
                <a:solidFill>
                  <a:srgbClr val="FFFFFF"/>
                </a:solidFill>
                <a:latin typeface="Canva Sans Bold"/>
                <a:ea typeface="Canva Sans Bold"/>
                <a:cs typeface="Canva Sans Bold"/>
                <a:sym typeface="Canva Sans Bold"/>
              </a:rPr>
              <a:t>-Carol (1969)</a:t>
            </a:r>
          </a:p>
          <a:p>
            <a:pPr algn="ctr">
              <a:lnSpc>
                <a:spcPts val="5274"/>
              </a:lnSpc>
            </a:pPr>
          </a:p>
          <a:p>
            <a:pPr algn="ctr">
              <a:lnSpc>
                <a:spcPts val="5274"/>
              </a:lnSpc>
            </a:pPr>
            <a:r>
              <a:rPr lang="en-US" sz="3767" b="true">
                <a:solidFill>
                  <a:srgbClr val="FFFFFF"/>
                </a:solidFill>
                <a:latin typeface="Canva Sans Bold"/>
                <a:ea typeface="Canva Sans Bold"/>
                <a:cs typeface="Canva Sans Bold"/>
                <a:sym typeface="Canva Sans Bold"/>
              </a:rPr>
              <a:t>A motive may be defined as a readiness or disposition to respond in some ways and not others to a variety of situations.</a:t>
            </a:r>
          </a:p>
          <a:p>
            <a:pPr algn="ctr">
              <a:lnSpc>
                <a:spcPts val="5274"/>
              </a:lnSpc>
            </a:pPr>
          </a:p>
          <a:p>
            <a:pPr algn="ctr">
              <a:lnSpc>
                <a:spcPts val="5274"/>
              </a:lnSpc>
            </a:pPr>
            <a:r>
              <a:rPr lang="en-US" sz="3767" b="true">
                <a:solidFill>
                  <a:srgbClr val="FFFFFF"/>
                </a:solidFill>
                <a:latin typeface="Canva Sans Bold"/>
                <a:ea typeface="Canva Sans Bold"/>
                <a:cs typeface="Canva Sans Bold"/>
                <a:sym typeface="Canva Sans Bold"/>
              </a:rPr>
              <a:t>-Rosen, Fox and Gregory (1972)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1055690" y="-598387"/>
            <a:ext cx="7597818" cy="13217953"/>
          </a:xfrm>
          <a:custGeom>
            <a:avLst/>
            <a:gdLst/>
            <a:ahLst/>
            <a:cxnLst/>
            <a:rect r="r" b="b" t="t" l="l"/>
            <a:pathLst>
              <a:path h="13217953" w="7597818">
                <a:moveTo>
                  <a:pt x="0" y="0"/>
                </a:moveTo>
                <a:lnTo>
                  <a:pt x="7597818" y="0"/>
                </a:lnTo>
                <a:lnTo>
                  <a:pt x="7597818" y="13217953"/>
                </a:lnTo>
                <a:lnTo>
                  <a:pt x="0" y="13217953"/>
                </a:lnTo>
                <a:lnTo>
                  <a:pt x="0" y="0"/>
                </a:lnTo>
                <a:close/>
              </a:path>
            </a:pathLst>
          </a:custGeom>
          <a:blipFill>
            <a:blip r:embed="rId2"/>
            <a:stretch>
              <a:fillRect l="-23483" t="-706" r="-15799" b="0"/>
            </a:stretch>
          </a:blipFill>
        </p:spPr>
      </p:sp>
      <p:sp>
        <p:nvSpPr>
          <p:cNvPr name="TextBox 3" id="3"/>
          <p:cNvSpPr txBox="true"/>
          <p:nvPr/>
        </p:nvSpPr>
        <p:spPr>
          <a:xfrm rot="0">
            <a:off x="253898" y="-104775"/>
            <a:ext cx="7326782" cy="896620"/>
          </a:xfrm>
          <a:prstGeom prst="rect">
            <a:avLst/>
          </a:prstGeom>
        </p:spPr>
        <p:txBody>
          <a:bodyPr anchor="t" rtlCol="false" tIns="0" lIns="0" bIns="0" rIns="0">
            <a:spAutoFit/>
          </a:bodyPr>
          <a:lstStyle/>
          <a:p>
            <a:pPr algn="ctr">
              <a:lnSpc>
                <a:spcPts val="7279"/>
              </a:lnSpc>
            </a:pPr>
            <a:r>
              <a:rPr lang="en-US" sz="5199">
                <a:solidFill>
                  <a:srgbClr val="5CE1E6"/>
                </a:solidFill>
                <a:latin typeface="Lucidity Condensed"/>
                <a:ea typeface="Lucidity Condensed"/>
                <a:cs typeface="Lucidity Condensed"/>
                <a:sym typeface="Lucidity Condensed"/>
              </a:rPr>
              <a:t>Concepts of motivation</a:t>
            </a:r>
          </a:p>
        </p:txBody>
      </p:sp>
      <p:sp>
        <p:nvSpPr>
          <p:cNvPr name="TextBox 4" id="4"/>
          <p:cNvSpPr txBox="true"/>
          <p:nvPr/>
        </p:nvSpPr>
        <p:spPr>
          <a:xfrm rot="0">
            <a:off x="253898" y="348298"/>
            <a:ext cx="10206927" cy="9590405"/>
          </a:xfrm>
          <a:prstGeom prst="rect">
            <a:avLst/>
          </a:prstGeom>
        </p:spPr>
        <p:txBody>
          <a:bodyPr anchor="t" rtlCol="false" tIns="0" lIns="0" bIns="0" rIns="0">
            <a:spAutoFit/>
          </a:bodyPr>
          <a:lstStyle/>
          <a:p>
            <a:pPr algn="ctr">
              <a:lnSpc>
                <a:spcPts val="3220"/>
              </a:lnSpc>
            </a:pPr>
          </a:p>
          <a:p>
            <a:pPr algn="ctr">
              <a:lnSpc>
                <a:spcPts val="3220"/>
              </a:lnSpc>
            </a:pPr>
          </a:p>
          <a:p>
            <a:pPr algn="ctr">
              <a:lnSpc>
                <a:spcPts val="3220"/>
              </a:lnSpc>
            </a:pPr>
            <a:r>
              <a:rPr lang="en-US" sz="2300" b="true">
                <a:solidFill>
                  <a:srgbClr val="FFFFFF"/>
                </a:solidFill>
                <a:latin typeface="Canva Sans Bold"/>
                <a:ea typeface="Canva Sans Bold"/>
                <a:cs typeface="Canva Sans Bold"/>
                <a:sym typeface="Canva Sans Bold"/>
              </a:rPr>
              <a:t>Motivation is generated through basic needs or drives.</a:t>
            </a:r>
          </a:p>
          <a:p>
            <a:pPr algn="ctr">
              <a:lnSpc>
                <a:spcPts val="3220"/>
              </a:lnSpc>
            </a:pPr>
          </a:p>
          <a:p>
            <a:pPr algn="ctr">
              <a:lnSpc>
                <a:spcPts val="3220"/>
              </a:lnSpc>
            </a:pPr>
            <a:r>
              <a:rPr lang="en-US" sz="2300" b="true">
                <a:solidFill>
                  <a:srgbClr val="FFFFFF"/>
                </a:solidFill>
                <a:latin typeface="Canva Sans Bold"/>
                <a:ea typeface="Canva Sans Bold"/>
                <a:cs typeface="Canva Sans Bold"/>
                <a:sym typeface="Canva Sans Bold"/>
              </a:rPr>
              <a:t>It compels an individual to respond by creating a kind of tension or urge to act.</a:t>
            </a:r>
          </a:p>
          <a:p>
            <a:pPr algn="ctr">
              <a:lnSpc>
                <a:spcPts val="3220"/>
              </a:lnSpc>
            </a:pPr>
          </a:p>
          <a:p>
            <a:pPr algn="ctr">
              <a:lnSpc>
                <a:spcPts val="3220"/>
              </a:lnSpc>
            </a:pPr>
            <a:r>
              <a:rPr lang="en-US" sz="2300" b="true">
                <a:solidFill>
                  <a:srgbClr val="FFFFFF"/>
                </a:solidFill>
                <a:latin typeface="Canva Sans Bold"/>
                <a:ea typeface="Canva Sans Bold"/>
                <a:cs typeface="Canva Sans Bold"/>
                <a:sym typeface="Canva Sans Bold"/>
              </a:rPr>
              <a:t>It is goal - directed activity pursued till the attainment of the goal.</a:t>
            </a:r>
          </a:p>
          <a:p>
            <a:pPr algn="ctr">
              <a:lnSpc>
                <a:spcPts val="3220"/>
              </a:lnSpc>
            </a:pPr>
          </a:p>
          <a:p>
            <a:pPr algn="ctr">
              <a:lnSpc>
                <a:spcPts val="3220"/>
              </a:lnSpc>
            </a:pPr>
            <a:r>
              <a:rPr lang="en-US" sz="2300" b="true">
                <a:solidFill>
                  <a:srgbClr val="FFFFFF"/>
                </a:solidFill>
                <a:latin typeface="Canva Sans Bold"/>
                <a:ea typeface="Canva Sans Bold"/>
                <a:cs typeface="Canva Sans Bold"/>
                <a:sym typeface="Canva Sans Bold"/>
              </a:rPr>
              <a:t>Attainment of the goal helps to release tension aroused by specific motive.</a:t>
            </a:r>
          </a:p>
          <a:p>
            <a:pPr algn="ctr">
              <a:lnSpc>
                <a:spcPts val="3220"/>
              </a:lnSpc>
            </a:pPr>
          </a:p>
          <a:p>
            <a:pPr algn="ctr">
              <a:lnSpc>
                <a:spcPts val="3220"/>
              </a:lnSpc>
            </a:pPr>
            <a:r>
              <a:rPr lang="en-US" sz="2300" b="true">
                <a:solidFill>
                  <a:srgbClr val="FFFFFF"/>
                </a:solidFill>
                <a:latin typeface="Canva Sans Bold"/>
                <a:ea typeface="Canva Sans Bold"/>
                <a:cs typeface="Canva Sans Bold"/>
                <a:sym typeface="Canva Sans Bold"/>
              </a:rPr>
              <a:t>Any change in goal may bring an alteration in nature and strength of the motive.</a:t>
            </a:r>
          </a:p>
          <a:p>
            <a:pPr algn="ctr">
              <a:lnSpc>
                <a:spcPts val="3220"/>
              </a:lnSpc>
            </a:pPr>
          </a:p>
          <a:p>
            <a:pPr algn="ctr">
              <a:lnSpc>
                <a:spcPts val="3220"/>
              </a:lnSpc>
            </a:pPr>
            <a:r>
              <a:rPr lang="en-US" sz="2300" b="true">
                <a:solidFill>
                  <a:srgbClr val="FFFFFF"/>
                </a:solidFill>
                <a:latin typeface="Canva Sans Bold"/>
                <a:ea typeface="Canva Sans Bold"/>
                <a:cs typeface="Canva Sans Bold"/>
                <a:sym typeface="Canva Sans Bold"/>
              </a:rPr>
              <a:t>Motivation is an innate state and aroused feeling .</a:t>
            </a:r>
          </a:p>
          <a:p>
            <a:pPr algn="ctr">
              <a:lnSpc>
                <a:spcPts val="3220"/>
              </a:lnSpc>
            </a:pPr>
          </a:p>
          <a:p>
            <a:pPr algn="ctr">
              <a:lnSpc>
                <a:spcPts val="3220"/>
              </a:lnSpc>
            </a:pPr>
            <a:r>
              <a:rPr lang="en-US" sz="2300" b="true">
                <a:solidFill>
                  <a:srgbClr val="FFFFFF"/>
                </a:solidFill>
                <a:latin typeface="Canva Sans Bold"/>
                <a:ea typeface="Canva Sans Bold"/>
                <a:cs typeface="Canva Sans Bold"/>
                <a:sym typeface="Canva Sans Bold"/>
              </a:rPr>
              <a:t>We experience motives as feelings of needs,wants and desires.</a:t>
            </a:r>
          </a:p>
          <a:p>
            <a:pPr algn="ctr">
              <a:lnSpc>
                <a:spcPts val="3220"/>
              </a:lnSpc>
            </a:pPr>
          </a:p>
          <a:p>
            <a:pPr algn="ctr">
              <a:lnSpc>
                <a:spcPts val="3220"/>
              </a:lnSpc>
            </a:pPr>
            <a:r>
              <a:rPr lang="en-US" sz="2300" b="true">
                <a:solidFill>
                  <a:srgbClr val="FFFFFF"/>
                </a:solidFill>
                <a:latin typeface="Canva Sans Bold"/>
                <a:ea typeface="Canva Sans Bold"/>
                <a:cs typeface="Canva Sans Bold"/>
                <a:sym typeface="Canva Sans Bold"/>
              </a:rPr>
              <a:t>Motive may be considered as a learned response or tendancy and also an innate experience.</a:t>
            </a:r>
          </a:p>
          <a:p>
            <a:pPr algn="ctr">
              <a:lnSpc>
                <a:spcPts val="3220"/>
              </a:lnSpc>
            </a:pPr>
          </a:p>
          <a:p>
            <a:pPr algn="ctr">
              <a:lnSpc>
                <a:spcPts val="3220"/>
              </a:lnSpc>
            </a:pPr>
            <a:r>
              <a:rPr lang="en-US" sz="2300" b="true">
                <a:solidFill>
                  <a:srgbClr val="FFFFFF"/>
                </a:solidFill>
                <a:latin typeface="Canva Sans Bold"/>
                <a:ea typeface="Canva Sans Bold"/>
                <a:cs typeface="Canva Sans Bold"/>
                <a:sym typeface="Canva Sans Bold"/>
              </a:rPr>
              <a:t>We cannot see motives directly but must infer them from the b huehavior of people.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65569" y="-355170"/>
            <a:ext cx="8623216" cy="10642170"/>
          </a:xfrm>
          <a:custGeom>
            <a:avLst/>
            <a:gdLst/>
            <a:ahLst/>
            <a:cxnLst/>
            <a:rect r="r" b="b" t="t" l="l"/>
            <a:pathLst>
              <a:path h="10642170" w="8623216">
                <a:moveTo>
                  <a:pt x="0" y="0"/>
                </a:moveTo>
                <a:lnTo>
                  <a:pt x="8623216" y="0"/>
                </a:lnTo>
                <a:lnTo>
                  <a:pt x="8623216" y="10642170"/>
                </a:lnTo>
                <a:lnTo>
                  <a:pt x="0" y="10642170"/>
                </a:lnTo>
                <a:lnTo>
                  <a:pt x="0" y="0"/>
                </a:lnTo>
                <a:close/>
              </a:path>
            </a:pathLst>
          </a:custGeom>
          <a:blipFill>
            <a:blip r:embed="rId2"/>
            <a:stretch>
              <a:fillRect l="-7207" t="0" r="-7207" b="-16614"/>
            </a:stretch>
          </a:blipFill>
        </p:spPr>
      </p:sp>
      <p:sp>
        <p:nvSpPr>
          <p:cNvPr name="TextBox 3" id="3"/>
          <p:cNvSpPr txBox="true"/>
          <p:nvPr/>
        </p:nvSpPr>
        <p:spPr>
          <a:xfrm rot="0">
            <a:off x="10093414" y="450386"/>
            <a:ext cx="5836282" cy="1029482"/>
          </a:xfrm>
          <a:prstGeom prst="rect">
            <a:avLst/>
          </a:prstGeom>
        </p:spPr>
        <p:txBody>
          <a:bodyPr anchor="t" rtlCol="false" tIns="0" lIns="0" bIns="0" rIns="0">
            <a:spAutoFit/>
          </a:bodyPr>
          <a:lstStyle/>
          <a:p>
            <a:pPr algn="ctr">
              <a:lnSpc>
                <a:spcPts val="8356"/>
              </a:lnSpc>
            </a:pPr>
            <a:r>
              <a:rPr lang="en-US" sz="5969">
                <a:solidFill>
                  <a:srgbClr val="FFDE59"/>
                </a:solidFill>
                <a:latin typeface="Lucidity Condensed"/>
                <a:ea typeface="Lucidity Condensed"/>
                <a:cs typeface="Lucidity Condensed"/>
                <a:sym typeface="Lucidity Condensed"/>
              </a:rPr>
              <a:t>Types of motives </a:t>
            </a:r>
          </a:p>
        </p:txBody>
      </p:sp>
      <p:sp>
        <p:nvSpPr>
          <p:cNvPr name="TextBox 4" id="4"/>
          <p:cNvSpPr txBox="true"/>
          <p:nvPr/>
        </p:nvSpPr>
        <p:spPr>
          <a:xfrm rot="0">
            <a:off x="8357642" y="1080600"/>
            <a:ext cx="9469553" cy="8695156"/>
          </a:xfrm>
          <a:prstGeom prst="rect">
            <a:avLst/>
          </a:prstGeom>
        </p:spPr>
        <p:txBody>
          <a:bodyPr anchor="t" rtlCol="false" tIns="0" lIns="0" bIns="0" rIns="0">
            <a:spAutoFit/>
          </a:bodyPr>
          <a:lstStyle/>
          <a:p>
            <a:pPr algn="ctr">
              <a:lnSpc>
                <a:spcPts val="5287"/>
              </a:lnSpc>
            </a:pPr>
          </a:p>
          <a:p>
            <a:pPr algn="ctr">
              <a:lnSpc>
                <a:spcPts val="5287"/>
              </a:lnSpc>
            </a:pPr>
            <a:r>
              <a:rPr lang="en-US" sz="3777">
                <a:solidFill>
                  <a:srgbClr val="FFFFFF"/>
                </a:solidFill>
                <a:latin typeface="Canva Sans"/>
                <a:ea typeface="Canva Sans"/>
                <a:cs typeface="Canva Sans"/>
                <a:sym typeface="Canva Sans"/>
              </a:rPr>
              <a:t>Psychologists have divided motives into two main categories.</a:t>
            </a:r>
          </a:p>
          <a:p>
            <a:pPr algn="ctr">
              <a:lnSpc>
                <a:spcPts val="5287"/>
              </a:lnSpc>
            </a:pPr>
          </a:p>
          <a:p>
            <a:pPr algn="ctr">
              <a:lnSpc>
                <a:spcPts val="5287"/>
              </a:lnSpc>
            </a:pPr>
            <a:r>
              <a:rPr lang="en-US" sz="3777">
                <a:solidFill>
                  <a:srgbClr val="CF4D59"/>
                </a:solidFill>
                <a:latin typeface="Canva Sans"/>
                <a:ea typeface="Canva Sans"/>
                <a:cs typeface="Canva Sans"/>
                <a:sym typeface="Canva Sans"/>
              </a:rPr>
              <a:t>innate       &amp;      acquired</a:t>
            </a:r>
            <a:r>
              <a:rPr lang="en-US" sz="3777">
                <a:solidFill>
                  <a:srgbClr val="FFFFFF"/>
                </a:solidFill>
                <a:latin typeface="Canva Sans"/>
                <a:ea typeface="Canva Sans"/>
                <a:cs typeface="Canva Sans"/>
                <a:sym typeface="Canva Sans"/>
              </a:rPr>
              <a:t> </a:t>
            </a:r>
          </a:p>
          <a:p>
            <a:pPr algn="ctr">
              <a:lnSpc>
                <a:spcPts val="5287"/>
              </a:lnSpc>
            </a:pPr>
          </a:p>
          <a:p>
            <a:pPr algn="ctr">
              <a:lnSpc>
                <a:spcPts val="5287"/>
              </a:lnSpc>
            </a:pPr>
            <a:r>
              <a:rPr lang="en-US" sz="3777">
                <a:solidFill>
                  <a:srgbClr val="FFFFFF"/>
                </a:solidFill>
                <a:latin typeface="Canva Sans"/>
                <a:ea typeface="Canva Sans"/>
                <a:cs typeface="Canva Sans"/>
                <a:sym typeface="Canva Sans"/>
              </a:rPr>
              <a:t>Types of motives are: </a:t>
            </a:r>
          </a:p>
          <a:p>
            <a:pPr algn="ctr">
              <a:lnSpc>
                <a:spcPts val="5287"/>
              </a:lnSpc>
            </a:pPr>
          </a:p>
          <a:p>
            <a:pPr algn="ctr" marL="815458" indent="-407729" lvl="1">
              <a:lnSpc>
                <a:spcPts val="5287"/>
              </a:lnSpc>
              <a:buFont typeface="Arial"/>
              <a:buChar char="•"/>
            </a:pPr>
            <a:r>
              <a:rPr lang="en-US" b="true" sz="3777">
                <a:solidFill>
                  <a:srgbClr val="FFFFFF"/>
                </a:solidFill>
                <a:latin typeface="Poppins Bold"/>
                <a:ea typeface="Poppins Bold"/>
                <a:cs typeface="Poppins Bold"/>
                <a:sym typeface="Poppins Bold"/>
              </a:rPr>
              <a:t>physiological or primary motives</a:t>
            </a:r>
          </a:p>
          <a:p>
            <a:pPr algn="ctr" marL="815458" indent="-407729" lvl="1">
              <a:lnSpc>
                <a:spcPts val="5287"/>
              </a:lnSpc>
              <a:buFont typeface="Arial"/>
              <a:buChar char="•"/>
            </a:pPr>
            <a:r>
              <a:rPr lang="en-US" b="true" sz="3777">
                <a:solidFill>
                  <a:srgbClr val="FFFFFF"/>
                </a:solidFill>
                <a:latin typeface="Poppins Bold"/>
                <a:ea typeface="Poppins Bold"/>
                <a:cs typeface="Poppins Bold"/>
                <a:sym typeface="Poppins Bold"/>
              </a:rPr>
              <a:t>Social or secondary motives</a:t>
            </a:r>
          </a:p>
          <a:p>
            <a:pPr algn="ctr" marL="815458" indent="-407729" lvl="1">
              <a:lnSpc>
                <a:spcPts val="5287"/>
              </a:lnSpc>
              <a:buFont typeface="Arial"/>
              <a:buChar char="•"/>
            </a:pPr>
            <a:r>
              <a:rPr lang="en-US" b="true" sz="3777">
                <a:solidFill>
                  <a:srgbClr val="FFFFFF"/>
                </a:solidFill>
                <a:latin typeface="Poppins Bold"/>
                <a:ea typeface="Poppins Bold"/>
                <a:cs typeface="Poppins Bold"/>
                <a:sym typeface="Poppins Bold"/>
              </a:rPr>
              <a:t>Personal motives</a:t>
            </a:r>
          </a:p>
          <a:p>
            <a:pPr algn="ctr" marL="815458" indent="-407729" lvl="1">
              <a:lnSpc>
                <a:spcPts val="5287"/>
              </a:lnSpc>
              <a:buFont typeface="Arial"/>
              <a:buChar char="•"/>
            </a:pPr>
            <a:r>
              <a:rPr lang="en-US" b="true" sz="3777">
                <a:solidFill>
                  <a:srgbClr val="FFFFFF"/>
                </a:solidFill>
                <a:latin typeface="Poppins Bold"/>
                <a:ea typeface="Poppins Bold"/>
                <a:cs typeface="Poppins Bold"/>
                <a:sym typeface="Poppins Bold"/>
              </a:rPr>
              <a:t>Un</a:t>
            </a:r>
            <a:r>
              <a:rPr lang="en-US" b="true" sz="3777">
                <a:solidFill>
                  <a:srgbClr val="FFFFFF"/>
                </a:solidFill>
                <a:latin typeface="Poppins Bold"/>
                <a:ea typeface="Poppins Bold"/>
                <a:cs typeface="Poppins Bold"/>
                <a:sym typeface="Poppins Bold"/>
              </a:rPr>
              <a:t>Conscious motives </a:t>
            </a:r>
          </a:p>
          <a:p>
            <a:pPr algn="ctr">
              <a:lnSpc>
                <a:spcPts val="5287"/>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028700" y="3685139"/>
            <a:ext cx="15562601" cy="5572023"/>
          </a:xfrm>
          <a:prstGeom prst="rect">
            <a:avLst/>
          </a:prstGeom>
        </p:spPr>
        <p:txBody>
          <a:bodyPr anchor="t" rtlCol="false" tIns="0" lIns="0" bIns="0" rIns="0">
            <a:spAutoFit/>
          </a:bodyPr>
          <a:lstStyle/>
          <a:p>
            <a:pPr algn="l">
              <a:lnSpc>
                <a:spcPts val="6305"/>
              </a:lnSpc>
            </a:pPr>
            <a:r>
              <a:rPr lang="en-US" sz="4504" b="true">
                <a:solidFill>
                  <a:srgbClr val="FFFFFF"/>
                </a:solidFill>
                <a:latin typeface="Canva Sans Bold"/>
                <a:ea typeface="Canva Sans Bold"/>
                <a:cs typeface="Canva Sans Bold"/>
                <a:sym typeface="Canva Sans Bold"/>
              </a:rPr>
              <a:t>Physiological motives are called biological or organic motives.</a:t>
            </a:r>
          </a:p>
          <a:p>
            <a:pPr algn="l">
              <a:lnSpc>
                <a:spcPts val="6305"/>
              </a:lnSpc>
            </a:pPr>
          </a:p>
          <a:p>
            <a:pPr algn="l">
              <a:lnSpc>
                <a:spcPts val="6305"/>
              </a:lnSpc>
            </a:pPr>
            <a:r>
              <a:rPr lang="en-US" sz="4504" b="true">
                <a:solidFill>
                  <a:srgbClr val="FFFFFF"/>
                </a:solidFill>
                <a:latin typeface="Canva Sans Bold"/>
                <a:ea typeface="Canva Sans Bold"/>
                <a:cs typeface="Canva Sans Bold"/>
                <a:sym typeface="Canva Sans Bold"/>
              </a:rPr>
              <a:t>these includes</a:t>
            </a:r>
          </a:p>
          <a:p>
            <a:pPr algn="l">
              <a:lnSpc>
                <a:spcPts val="6305"/>
              </a:lnSpc>
            </a:pPr>
          </a:p>
          <a:p>
            <a:pPr algn="l">
              <a:lnSpc>
                <a:spcPts val="6305"/>
              </a:lnSpc>
            </a:pPr>
            <a:r>
              <a:rPr lang="en-US" sz="4504" b="true">
                <a:solidFill>
                  <a:srgbClr val="FFFFFF"/>
                </a:solidFill>
                <a:latin typeface="Canva Sans Bold"/>
                <a:ea typeface="Canva Sans Bold"/>
                <a:cs typeface="Canva Sans Bold"/>
                <a:sym typeface="Canva Sans Bold"/>
              </a:rPr>
              <a:t> hunger,thirst,need for oxygen,need for rest,need for elimination of waste,sex motive.</a:t>
            </a:r>
          </a:p>
        </p:txBody>
      </p:sp>
      <p:sp>
        <p:nvSpPr>
          <p:cNvPr name="TextBox 3" id="3"/>
          <p:cNvSpPr txBox="true"/>
          <p:nvPr/>
        </p:nvSpPr>
        <p:spPr>
          <a:xfrm rot="0">
            <a:off x="0" y="866775"/>
            <a:ext cx="17620001" cy="2781715"/>
          </a:xfrm>
          <a:prstGeom prst="rect">
            <a:avLst/>
          </a:prstGeom>
        </p:spPr>
        <p:txBody>
          <a:bodyPr anchor="t" rtlCol="false" tIns="0" lIns="0" bIns="0" rIns="0">
            <a:spAutoFit/>
          </a:bodyPr>
          <a:lstStyle/>
          <a:p>
            <a:pPr algn="ctr">
              <a:lnSpc>
                <a:spcPts val="11155"/>
              </a:lnSpc>
            </a:pPr>
            <a:r>
              <a:rPr lang="en-US" sz="7968">
                <a:solidFill>
                  <a:srgbClr val="FF66C4"/>
                </a:solidFill>
                <a:latin typeface="Lucidity Condensed"/>
                <a:ea typeface="Lucidity Condensed"/>
                <a:cs typeface="Lucidity Condensed"/>
                <a:sym typeface="Lucidity Condensed"/>
              </a:rPr>
              <a:t>PHysiological or biological or primary motives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6341" y="-5883850"/>
            <a:ext cx="9341659" cy="16170850"/>
          </a:xfrm>
          <a:custGeom>
            <a:avLst/>
            <a:gdLst/>
            <a:ahLst/>
            <a:cxnLst/>
            <a:rect r="r" b="b" t="t" l="l"/>
            <a:pathLst>
              <a:path h="16170850" w="9341659">
                <a:moveTo>
                  <a:pt x="0" y="0"/>
                </a:moveTo>
                <a:lnTo>
                  <a:pt x="9341659" y="0"/>
                </a:lnTo>
                <a:lnTo>
                  <a:pt x="9341659" y="16170850"/>
                </a:lnTo>
                <a:lnTo>
                  <a:pt x="0" y="16170850"/>
                </a:lnTo>
                <a:lnTo>
                  <a:pt x="0" y="0"/>
                </a:lnTo>
                <a:close/>
              </a:path>
            </a:pathLst>
          </a:custGeom>
          <a:blipFill>
            <a:blip r:embed="rId2"/>
            <a:stretch>
              <a:fillRect l="-46169" t="0" r="-46169" b="0"/>
            </a:stretch>
          </a:blipFill>
        </p:spPr>
      </p:sp>
      <p:sp>
        <p:nvSpPr>
          <p:cNvPr name="TextBox 3" id="3"/>
          <p:cNvSpPr txBox="true"/>
          <p:nvPr/>
        </p:nvSpPr>
        <p:spPr>
          <a:xfrm rot="0">
            <a:off x="770725" y="482043"/>
            <a:ext cx="6505197" cy="5552163"/>
          </a:xfrm>
          <a:prstGeom prst="rect">
            <a:avLst/>
          </a:prstGeom>
        </p:spPr>
        <p:txBody>
          <a:bodyPr anchor="t" rtlCol="false" tIns="0" lIns="0" bIns="0" rIns="0">
            <a:spAutoFit/>
          </a:bodyPr>
          <a:lstStyle/>
          <a:p>
            <a:pPr algn="ctr">
              <a:lnSpc>
                <a:spcPts val="11075"/>
              </a:lnSpc>
            </a:pPr>
            <a:r>
              <a:rPr lang="en-US" sz="7910">
                <a:solidFill>
                  <a:srgbClr val="FFDE59"/>
                </a:solidFill>
                <a:latin typeface="Lucidity Condensed"/>
                <a:ea typeface="Lucidity Condensed"/>
                <a:cs typeface="Lucidity Condensed"/>
                <a:sym typeface="Lucidity Condensed"/>
              </a:rPr>
              <a:t>Hunger motive</a:t>
            </a:r>
          </a:p>
          <a:p>
            <a:pPr algn="ctr">
              <a:lnSpc>
                <a:spcPts val="11075"/>
              </a:lnSpc>
            </a:pPr>
          </a:p>
          <a:p>
            <a:pPr algn="ctr">
              <a:lnSpc>
                <a:spcPts val="11075"/>
              </a:lnSpc>
            </a:pPr>
          </a:p>
          <a:p>
            <a:pPr algn="ctr">
              <a:lnSpc>
                <a:spcPts val="11075"/>
              </a:lnSpc>
            </a:pPr>
          </a:p>
        </p:txBody>
      </p:sp>
      <p:sp>
        <p:nvSpPr>
          <p:cNvPr name="TextBox 4" id="4"/>
          <p:cNvSpPr txBox="true"/>
          <p:nvPr/>
        </p:nvSpPr>
        <p:spPr>
          <a:xfrm rot="0">
            <a:off x="283888" y="2647838"/>
            <a:ext cx="7499518" cy="6155865"/>
          </a:xfrm>
          <a:prstGeom prst="rect">
            <a:avLst/>
          </a:prstGeom>
        </p:spPr>
        <p:txBody>
          <a:bodyPr anchor="t" rtlCol="false" tIns="0" lIns="0" bIns="0" rIns="0">
            <a:spAutoFit/>
          </a:bodyPr>
          <a:lstStyle/>
          <a:p>
            <a:pPr algn="ctr">
              <a:lnSpc>
                <a:spcPts val="4050"/>
              </a:lnSpc>
            </a:pPr>
            <a:r>
              <a:rPr lang="en-US" sz="2893" b="true">
                <a:solidFill>
                  <a:srgbClr val="FFFFFF"/>
                </a:solidFill>
                <a:latin typeface="Canva Sans Bold"/>
                <a:ea typeface="Canva Sans Bold"/>
                <a:cs typeface="Canva Sans Bold"/>
                <a:sym typeface="Canva Sans Bold"/>
              </a:rPr>
              <a:t>Hunger motive</a:t>
            </a:r>
          </a:p>
          <a:p>
            <a:pPr algn="ctr">
              <a:lnSpc>
                <a:spcPts val="4050"/>
              </a:lnSpc>
            </a:pPr>
            <a:r>
              <a:rPr lang="en-US" sz="2893" b="true">
                <a:solidFill>
                  <a:srgbClr val="FFFFFF"/>
                </a:solidFill>
                <a:latin typeface="Canva Sans Bold"/>
                <a:ea typeface="Canva Sans Bold"/>
                <a:cs typeface="Canva Sans Bold"/>
                <a:sym typeface="Canva Sans Bold"/>
              </a:rPr>
              <a:t>Is seen to be a very dominant motive</a:t>
            </a:r>
          </a:p>
          <a:p>
            <a:pPr algn="ctr">
              <a:lnSpc>
                <a:spcPts val="4050"/>
              </a:lnSpc>
            </a:pPr>
            <a:r>
              <a:rPr lang="en-US" sz="2893" b="true">
                <a:solidFill>
                  <a:srgbClr val="FFFFFF"/>
                </a:solidFill>
                <a:latin typeface="Canva Sans Bold"/>
                <a:ea typeface="Canva Sans Bold"/>
                <a:cs typeface="Canva Sans Bold"/>
                <a:sym typeface="Canva Sans Bold"/>
              </a:rPr>
              <a:t>If hunger motive is not adequately satisfied the person has to undergoes a serious of changes which include lowering of their morale</a:t>
            </a:r>
          </a:p>
          <a:p>
            <a:pPr algn="ctr">
              <a:lnSpc>
                <a:spcPts val="4050"/>
              </a:lnSpc>
            </a:pPr>
            <a:r>
              <a:rPr lang="en-US" sz="2893" b="true">
                <a:solidFill>
                  <a:srgbClr val="FFFFFF"/>
                </a:solidFill>
                <a:latin typeface="Canva Sans Bold"/>
                <a:ea typeface="Canva Sans Bold"/>
                <a:cs typeface="Canva Sans Bold"/>
                <a:sym typeface="Canva Sans Bold"/>
              </a:rPr>
              <a:t>When food supply exhausted certain biochemical changes takes place in tissues of body.This causes stomach to contract resulting in hunger pains.hunger must satisfied for a physiological balance or homeostasis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541373" y="-375500"/>
            <a:ext cx="10412102" cy="10662500"/>
          </a:xfrm>
          <a:custGeom>
            <a:avLst/>
            <a:gdLst/>
            <a:ahLst/>
            <a:cxnLst/>
            <a:rect r="r" b="b" t="t" l="l"/>
            <a:pathLst>
              <a:path h="10662500" w="10412102">
                <a:moveTo>
                  <a:pt x="0" y="0"/>
                </a:moveTo>
                <a:lnTo>
                  <a:pt x="10412102" y="0"/>
                </a:lnTo>
                <a:lnTo>
                  <a:pt x="10412102" y="10662500"/>
                </a:lnTo>
                <a:lnTo>
                  <a:pt x="0" y="10662500"/>
                </a:lnTo>
                <a:lnTo>
                  <a:pt x="0" y="0"/>
                </a:lnTo>
                <a:close/>
              </a:path>
            </a:pathLst>
          </a:custGeom>
          <a:blipFill>
            <a:blip r:embed="rId2"/>
            <a:stretch>
              <a:fillRect l="-17568" t="0" r="-36423" b="0"/>
            </a:stretch>
          </a:blipFill>
        </p:spPr>
      </p:sp>
      <p:sp>
        <p:nvSpPr>
          <p:cNvPr name="TextBox 3" id="3"/>
          <p:cNvSpPr txBox="true"/>
          <p:nvPr/>
        </p:nvSpPr>
        <p:spPr>
          <a:xfrm rot="0">
            <a:off x="9870729" y="3184490"/>
            <a:ext cx="8020687" cy="5033402"/>
          </a:xfrm>
          <a:prstGeom prst="rect">
            <a:avLst/>
          </a:prstGeom>
        </p:spPr>
        <p:txBody>
          <a:bodyPr anchor="t" rtlCol="false" tIns="0" lIns="0" bIns="0" rIns="0">
            <a:spAutoFit/>
          </a:bodyPr>
          <a:lstStyle/>
          <a:p>
            <a:pPr algn="ctr">
              <a:lnSpc>
                <a:spcPts val="4493"/>
              </a:lnSpc>
            </a:pPr>
            <a:r>
              <a:rPr lang="en-US" sz="3209" b="true">
                <a:solidFill>
                  <a:srgbClr val="FFFFFF"/>
                </a:solidFill>
                <a:latin typeface="Canva Sans Bold"/>
                <a:ea typeface="Canva Sans Bold"/>
                <a:cs typeface="Canva Sans Bold"/>
                <a:sym typeface="Canva Sans Bold"/>
              </a:rPr>
              <a:t>Thirst motive</a:t>
            </a:r>
          </a:p>
          <a:p>
            <a:pPr algn="ctr">
              <a:lnSpc>
                <a:spcPts val="4493"/>
              </a:lnSpc>
            </a:pPr>
            <a:r>
              <a:rPr lang="en-US" sz="3209" b="true">
                <a:solidFill>
                  <a:srgbClr val="FFFFFF"/>
                </a:solidFill>
                <a:latin typeface="Canva Sans Bold"/>
                <a:ea typeface="Canva Sans Bold"/>
                <a:cs typeface="Canva Sans Bold"/>
                <a:sym typeface="Canva Sans Bold"/>
              </a:rPr>
              <a:t>When there is a deficiency of water over a long period of time the individual becomes excessively restless and needs intake of water.the tissues of the body lose fluid in the absence of fluid intake.As a result the mucous membrane of throat become dry and cause sensation of thirst</a:t>
            </a:r>
          </a:p>
        </p:txBody>
      </p:sp>
      <p:sp>
        <p:nvSpPr>
          <p:cNvPr name="TextBox 4" id="4"/>
          <p:cNvSpPr txBox="true"/>
          <p:nvPr/>
        </p:nvSpPr>
        <p:spPr>
          <a:xfrm rot="0">
            <a:off x="9870729" y="866775"/>
            <a:ext cx="8571244" cy="1415738"/>
          </a:xfrm>
          <a:prstGeom prst="rect">
            <a:avLst/>
          </a:prstGeom>
        </p:spPr>
        <p:txBody>
          <a:bodyPr anchor="t" rtlCol="false" tIns="0" lIns="0" bIns="0" rIns="0">
            <a:spAutoFit/>
          </a:bodyPr>
          <a:lstStyle/>
          <a:p>
            <a:pPr algn="ctr">
              <a:lnSpc>
                <a:spcPts val="11527"/>
              </a:lnSpc>
            </a:pPr>
            <a:r>
              <a:rPr lang="en-US" sz="8233">
                <a:solidFill>
                  <a:srgbClr val="FFDE59"/>
                </a:solidFill>
                <a:latin typeface="Lucidity Condensed"/>
                <a:ea typeface="Lucidity Condensed"/>
                <a:cs typeface="Lucidity Condensed"/>
                <a:sym typeface="Lucidity Condensed"/>
              </a:rPr>
              <a:t>Thirst motive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59034" y="0"/>
            <a:ext cx="8903566" cy="10287000"/>
          </a:xfrm>
          <a:custGeom>
            <a:avLst/>
            <a:gdLst/>
            <a:ahLst/>
            <a:cxnLst/>
            <a:rect r="r" b="b" t="t" l="l"/>
            <a:pathLst>
              <a:path h="10287000" w="8903566">
                <a:moveTo>
                  <a:pt x="0" y="0"/>
                </a:moveTo>
                <a:lnTo>
                  <a:pt x="8903566" y="0"/>
                </a:lnTo>
                <a:lnTo>
                  <a:pt x="8903566" y="10287000"/>
                </a:lnTo>
                <a:lnTo>
                  <a:pt x="0" y="10287000"/>
                </a:lnTo>
                <a:lnTo>
                  <a:pt x="0" y="0"/>
                </a:lnTo>
                <a:close/>
              </a:path>
            </a:pathLst>
          </a:custGeom>
          <a:blipFill>
            <a:blip r:embed="rId2"/>
            <a:stretch>
              <a:fillRect l="-7044" t="0" r="-13235" b="-4104"/>
            </a:stretch>
          </a:blipFill>
        </p:spPr>
      </p:sp>
      <p:sp>
        <p:nvSpPr>
          <p:cNvPr name="TextBox 3" id="3"/>
          <p:cNvSpPr txBox="true"/>
          <p:nvPr/>
        </p:nvSpPr>
        <p:spPr>
          <a:xfrm rot="0">
            <a:off x="8044532" y="-22397008"/>
            <a:ext cx="48400" cy="121947132"/>
          </a:xfrm>
          <a:prstGeom prst="rect">
            <a:avLst/>
          </a:prstGeom>
        </p:spPr>
        <p:txBody>
          <a:bodyPr anchor="t" rtlCol="false" tIns="0" lIns="0" bIns="0" rIns="0">
            <a:spAutoFit/>
          </a:bodyPr>
          <a:lstStyle/>
          <a:p>
            <a:pPr algn="ctr">
              <a:lnSpc>
                <a:spcPts val="4837"/>
              </a:lnSpc>
            </a:pPr>
            <a:r>
              <a:rPr lang="en-US" sz="3455">
                <a:solidFill>
                  <a:srgbClr val="FFDE59"/>
                </a:solidFill>
                <a:latin typeface="Canva Sans"/>
                <a:ea typeface="Canva Sans"/>
                <a:cs typeface="Canva Sans"/>
                <a:sym typeface="Canva Sans"/>
              </a:rPr>
              <a:t>It is the drive for air and oxygen.one cannot survive for a long period without a regular supply of air or oxygen.When an individual suffers from oxygen deficiency,his memory,sensory activity and muscular control are seriously impaired</a:t>
            </a:r>
          </a:p>
        </p:txBody>
      </p:sp>
      <p:sp>
        <p:nvSpPr>
          <p:cNvPr name="TextBox 4" id="4"/>
          <p:cNvSpPr txBox="true"/>
          <p:nvPr/>
        </p:nvSpPr>
        <p:spPr>
          <a:xfrm rot="0">
            <a:off x="8496769" y="3580050"/>
            <a:ext cx="9406312" cy="5678250"/>
          </a:xfrm>
          <a:prstGeom prst="rect">
            <a:avLst/>
          </a:prstGeom>
        </p:spPr>
        <p:txBody>
          <a:bodyPr anchor="t" rtlCol="false" tIns="0" lIns="0" bIns="0" rIns="0">
            <a:spAutoFit/>
          </a:bodyPr>
          <a:lstStyle/>
          <a:p>
            <a:pPr algn="ctr">
              <a:lnSpc>
                <a:spcPts val="5656"/>
              </a:lnSpc>
            </a:pPr>
            <a:r>
              <a:rPr lang="en-US" sz="4040" b="true">
                <a:solidFill>
                  <a:srgbClr val="FFFFFF"/>
                </a:solidFill>
                <a:latin typeface="Canva Sans Bold"/>
                <a:ea typeface="Canva Sans Bold"/>
                <a:cs typeface="Canva Sans Bold"/>
                <a:sym typeface="Canva Sans Bold"/>
              </a:rPr>
              <a:t>It is the drive for air and oxygen.one cannot survive for a long period without a regular supply of air or oxygen.When an individual suffers from oxygen deficiency,his memory,sensory activity and muscular control are seriously impaired</a:t>
            </a:r>
          </a:p>
        </p:txBody>
      </p:sp>
      <p:sp>
        <p:nvSpPr>
          <p:cNvPr name="TextBox 5" id="5"/>
          <p:cNvSpPr txBox="true"/>
          <p:nvPr/>
        </p:nvSpPr>
        <p:spPr>
          <a:xfrm rot="0">
            <a:off x="7391406" y="1048997"/>
            <a:ext cx="11617038" cy="1285443"/>
          </a:xfrm>
          <a:prstGeom prst="rect">
            <a:avLst/>
          </a:prstGeom>
        </p:spPr>
        <p:txBody>
          <a:bodyPr anchor="t" rtlCol="false" tIns="0" lIns="0" bIns="0" rIns="0">
            <a:spAutoFit/>
          </a:bodyPr>
          <a:lstStyle/>
          <a:p>
            <a:pPr algn="ctr">
              <a:lnSpc>
                <a:spcPts val="10416"/>
              </a:lnSpc>
            </a:pPr>
            <a:r>
              <a:rPr lang="en-US" sz="7440">
                <a:solidFill>
                  <a:srgbClr val="FFDE59"/>
                </a:solidFill>
                <a:latin typeface="Lucidity Condensed"/>
                <a:ea typeface="Lucidity Condensed"/>
                <a:cs typeface="Lucidity Condensed"/>
                <a:sym typeface="Lucidity Condensed"/>
              </a:rPr>
              <a:t>Respiration motive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469818"/>
            <a:ext cx="9806731" cy="13226636"/>
          </a:xfrm>
          <a:custGeom>
            <a:avLst/>
            <a:gdLst/>
            <a:ahLst/>
            <a:cxnLst/>
            <a:rect r="r" b="b" t="t" l="l"/>
            <a:pathLst>
              <a:path h="13226636" w="9806731">
                <a:moveTo>
                  <a:pt x="0" y="0"/>
                </a:moveTo>
                <a:lnTo>
                  <a:pt x="9806731" y="0"/>
                </a:lnTo>
                <a:lnTo>
                  <a:pt x="9806731" y="13226636"/>
                </a:lnTo>
                <a:lnTo>
                  <a:pt x="0" y="13226636"/>
                </a:lnTo>
                <a:lnTo>
                  <a:pt x="0" y="0"/>
                </a:lnTo>
                <a:close/>
              </a:path>
            </a:pathLst>
          </a:custGeom>
          <a:blipFill>
            <a:blip r:embed="rId2"/>
            <a:stretch>
              <a:fillRect l="-1673" t="-3547" r="-1673" b="0"/>
            </a:stretch>
          </a:blipFill>
        </p:spPr>
      </p:sp>
      <p:sp>
        <p:nvSpPr>
          <p:cNvPr name="TextBox 3" id="3"/>
          <p:cNvSpPr txBox="true"/>
          <p:nvPr/>
        </p:nvSpPr>
        <p:spPr>
          <a:xfrm rot="0">
            <a:off x="10065840" y="2965004"/>
            <a:ext cx="8222160" cy="5405736"/>
          </a:xfrm>
          <a:prstGeom prst="rect">
            <a:avLst/>
          </a:prstGeom>
        </p:spPr>
        <p:txBody>
          <a:bodyPr anchor="t" rtlCol="false" tIns="0" lIns="0" bIns="0" rIns="0">
            <a:spAutoFit/>
          </a:bodyPr>
          <a:lstStyle/>
          <a:p>
            <a:pPr algn="ctr">
              <a:lnSpc>
                <a:spcPts val="5390"/>
              </a:lnSpc>
            </a:pPr>
            <a:r>
              <a:rPr lang="en-US" sz="3850" b="true">
                <a:solidFill>
                  <a:srgbClr val="FFFFFF"/>
                </a:solidFill>
                <a:latin typeface="Canva Sans Bold"/>
                <a:ea typeface="Canva Sans Bold"/>
                <a:cs typeface="Canva Sans Bold"/>
                <a:sym typeface="Canva Sans Bold"/>
              </a:rPr>
              <a:t> </a:t>
            </a:r>
          </a:p>
          <a:p>
            <a:pPr algn="ctr">
              <a:lnSpc>
                <a:spcPts val="5390"/>
              </a:lnSpc>
            </a:pPr>
            <a:r>
              <a:rPr lang="en-US" sz="3850" b="true">
                <a:solidFill>
                  <a:srgbClr val="FFFFFF"/>
                </a:solidFill>
                <a:latin typeface="Canva Sans Bold"/>
                <a:ea typeface="Canva Sans Bold"/>
                <a:cs typeface="Canva Sans Bold"/>
                <a:sym typeface="Canva Sans Bold"/>
              </a:rPr>
              <a:t>Need for rest is another physiological motive.when the body continues to perform activities for a long time without adequate rest or sleep it is possible that fatigue, confusion or discomfort are experienced</a:t>
            </a:r>
          </a:p>
        </p:txBody>
      </p:sp>
      <p:sp>
        <p:nvSpPr>
          <p:cNvPr name="TextBox 4" id="4"/>
          <p:cNvSpPr txBox="true"/>
          <p:nvPr/>
        </p:nvSpPr>
        <p:spPr>
          <a:xfrm rot="0">
            <a:off x="9806731" y="1926426"/>
            <a:ext cx="8256826" cy="1105253"/>
          </a:xfrm>
          <a:prstGeom prst="rect">
            <a:avLst/>
          </a:prstGeom>
        </p:spPr>
        <p:txBody>
          <a:bodyPr anchor="t" rtlCol="false" tIns="0" lIns="0" bIns="0" rIns="0">
            <a:spAutoFit/>
          </a:bodyPr>
          <a:lstStyle/>
          <a:p>
            <a:pPr algn="ctr">
              <a:lnSpc>
                <a:spcPts val="8935"/>
              </a:lnSpc>
            </a:pPr>
            <a:r>
              <a:rPr lang="en-US" sz="6382">
                <a:solidFill>
                  <a:srgbClr val="FFDE59"/>
                </a:solidFill>
                <a:latin typeface="Lucidity Condensed"/>
                <a:ea typeface="Lucidity Condensed"/>
                <a:cs typeface="Lucidity Condensed"/>
                <a:sym typeface="Lucidity Condensed"/>
              </a:rPr>
              <a:t>Need for rest and sleep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6336792" cy="8229600"/>
          </a:xfrm>
          <a:custGeom>
            <a:avLst/>
            <a:gdLst/>
            <a:ahLst/>
            <a:cxnLst/>
            <a:rect r="r" b="b" t="t" l="l"/>
            <a:pathLst>
              <a:path h="8229600" w="6336792">
                <a:moveTo>
                  <a:pt x="0" y="0"/>
                </a:moveTo>
                <a:lnTo>
                  <a:pt x="6336792" y="0"/>
                </a:lnTo>
                <a:lnTo>
                  <a:pt x="6336792" y="8229600"/>
                </a:lnTo>
                <a:lnTo>
                  <a:pt x="0" y="8229600"/>
                </a:lnTo>
                <a:lnTo>
                  <a:pt x="0" y="0"/>
                </a:lnTo>
                <a:close/>
              </a:path>
            </a:pathLst>
          </a:custGeom>
          <a:blipFill>
            <a:blip r:embed="rId2"/>
            <a:stretch>
              <a:fillRect l="0" t="0" r="0" b="0"/>
            </a:stretch>
          </a:blipFill>
        </p:spPr>
      </p:sp>
      <p:sp>
        <p:nvSpPr>
          <p:cNvPr name="TextBox 3" id="3"/>
          <p:cNvSpPr txBox="true"/>
          <p:nvPr/>
        </p:nvSpPr>
        <p:spPr>
          <a:xfrm rot="0">
            <a:off x="7424816" y="2638350"/>
            <a:ext cx="9834484" cy="6619950"/>
          </a:xfrm>
          <a:prstGeom prst="rect">
            <a:avLst/>
          </a:prstGeom>
        </p:spPr>
        <p:txBody>
          <a:bodyPr anchor="t" rtlCol="false" tIns="0" lIns="0" bIns="0" rIns="0">
            <a:spAutoFit/>
          </a:bodyPr>
          <a:lstStyle/>
          <a:p>
            <a:pPr algn="ctr">
              <a:lnSpc>
                <a:spcPts val="6574"/>
              </a:lnSpc>
            </a:pPr>
            <a:r>
              <a:rPr lang="en-US" sz="4696" b="true">
                <a:solidFill>
                  <a:srgbClr val="FFFFFF"/>
                </a:solidFill>
                <a:latin typeface="Canva Sans Bold"/>
                <a:ea typeface="Canva Sans Bold"/>
                <a:cs typeface="Canva Sans Bold"/>
                <a:sym typeface="Canva Sans Bold"/>
              </a:rPr>
              <a:t> </a:t>
            </a:r>
          </a:p>
          <a:p>
            <a:pPr algn="ctr">
              <a:lnSpc>
                <a:spcPts val="6574"/>
              </a:lnSpc>
            </a:pPr>
            <a:r>
              <a:rPr lang="en-US" sz="4696" b="true">
                <a:solidFill>
                  <a:srgbClr val="FFFFFF"/>
                </a:solidFill>
                <a:latin typeface="Canva Sans Bold"/>
                <a:ea typeface="Canva Sans Bold"/>
                <a:cs typeface="Canva Sans Bold"/>
                <a:sym typeface="Canva Sans Bold"/>
              </a:rPr>
              <a:t>When bladder or intestine becomes distended with waste material they cause pressure &amp; discomfort.The person becomes restless until the waste material are disposed and pressure is relieved</a:t>
            </a:r>
          </a:p>
        </p:txBody>
      </p:sp>
      <p:sp>
        <p:nvSpPr>
          <p:cNvPr name="TextBox 4" id="4"/>
          <p:cNvSpPr txBox="true"/>
          <p:nvPr/>
        </p:nvSpPr>
        <p:spPr>
          <a:xfrm rot="0">
            <a:off x="7550692" y="895350"/>
            <a:ext cx="9708608" cy="2364307"/>
          </a:xfrm>
          <a:prstGeom prst="rect">
            <a:avLst/>
          </a:prstGeom>
        </p:spPr>
        <p:txBody>
          <a:bodyPr anchor="t" rtlCol="false" tIns="0" lIns="0" bIns="0" rIns="0">
            <a:spAutoFit/>
          </a:bodyPr>
          <a:lstStyle/>
          <a:p>
            <a:pPr algn="ctr">
              <a:lnSpc>
                <a:spcPts val="9465"/>
              </a:lnSpc>
            </a:pPr>
            <a:r>
              <a:rPr lang="en-US" sz="6761">
                <a:solidFill>
                  <a:srgbClr val="FFDE59"/>
                </a:solidFill>
                <a:latin typeface="Lucidity Condensed"/>
                <a:ea typeface="Lucidity Condensed"/>
                <a:cs typeface="Lucidity Condensed"/>
                <a:sym typeface="Lucidity Condensed"/>
              </a:rPr>
              <a:t>Need for elimination of waste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184205" y="-431190"/>
            <a:ext cx="5549129" cy="11149380"/>
          </a:xfrm>
          <a:custGeom>
            <a:avLst/>
            <a:gdLst/>
            <a:ahLst/>
            <a:cxnLst/>
            <a:rect r="r" b="b" t="t" l="l"/>
            <a:pathLst>
              <a:path h="11149380" w="5549129">
                <a:moveTo>
                  <a:pt x="0" y="0"/>
                </a:moveTo>
                <a:lnTo>
                  <a:pt x="5549130" y="0"/>
                </a:lnTo>
                <a:lnTo>
                  <a:pt x="5549130" y="11149380"/>
                </a:lnTo>
                <a:lnTo>
                  <a:pt x="0" y="11149380"/>
                </a:lnTo>
                <a:lnTo>
                  <a:pt x="0" y="0"/>
                </a:lnTo>
                <a:close/>
              </a:path>
            </a:pathLst>
          </a:custGeom>
          <a:blipFill>
            <a:blip r:embed="rId2"/>
            <a:stretch>
              <a:fillRect l="-73156" t="0" r="-94738" b="0"/>
            </a:stretch>
          </a:blipFill>
        </p:spPr>
      </p:sp>
      <p:sp>
        <p:nvSpPr>
          <p:cNvPr name="TextBox 3" id="3"/>
          <p:cNvSpPr txBox="true"/>
          <p:nvPr/>
        </p:nvSpPr>
        <p:spPr>
          <a:xfrm rot="0">
            <a:off x="5001215" y="3941736"/>
            <a:ext cx="12258085" cy="4843994"/>
          </a:xfrm>
          <a:prstGeom prst="rect">
            <a:avLst/>
          </a:prstGeom>
        </p:spPr>
        <p:txBody>
          <a:bodyPr anchor="t" rtlCol="false" tIns="0" lIns="0" bIns="0" rIns="0">
            <a:spAutoFit/>
          </a:bodyPr>
          <a:lstStyle/>
          <a:p>
            <a:pPr algn="ctr">
              <a:lnSpc>
                <a:spcPts val="5483"/>
              </a:lnSpc>
            </a:pPr>
            <a:r>
              <a:rPr lang="en-US" sz="3916" b="true">
                <a:solidFill>
                  <a:srgbClr val="FFFFFF"/>
                </a:solidFill>
                <a:latin typeface="Canva Sans Bold"/>
                <a:ea typeface="Canva Sans Bold"/>
                <a:cs typeface="Canva Sans Bold"/>
                <a:sym typeface="Canva Sans Bold"/>
              </a:rPr>
              <a:t>The motivation for reproduction and sexual behaviour is driven by the biological need for procreation and continuation of species.hormonal and neurological signals trigger sexual desire and activity.These motives are linked to the release of neurotransmitters like dopamine,which provides pleasure and reinforcement</a:t>
            </a:r>
          </a:p>
        </p:txBody>
      </p:sp>
      <p:sp>
        <p:nvSpPr>
          <p:cNvPr name="TextBox 4" id="4"/>
          <p:cNvSpPr txBox="true"/>
          <p:nvPr/>
        </p:nvSpPr>
        <p:spPr>
          <a:xfrm rot="0">
            <a:off x="8398482" y="1193510"/>
            <a:ext cx="5046026" cy="1458283"/>
          </a:xfrm>
          <a:prstGeom prst="rect">
            <a:avLst/>
          </a:prstGeom>
        </p:spPr>
        <p:txBody>
          <a:bodyPr anchor="t" rtlCol="false" tIns="0" lIns="0" bIns="0" rIns="0">
            <a:spAutoFit/>
          </a:bodyPr>
          <a:lstStyle/>
          <a:p>
            <a:pPr algn="ctr">
              <a:lnSpc>
                <a:spcPts val="11830"/>
              </a:lnSpc>
            </a:pPr>
            <a:r>
              <a:rPr lang="en-US" sz="8450">
                <a:solidFill>
                  <a:srgbClr val="FFDE59"/>
                </a:solidFill>
                <a:latin typeface="Lucidity Condensed"/>
                <a:ea typeface="Lucidity Condensed"/>
                <a:cs typeface="Lucidity Condensed"/>
                <a:sym typeface="Lucidity Condensed"/>
              </a:rPr>
              <a:t>Sex motive</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770041" y="4591732"/>
            <a:ext cx="14747917" cy="4026913"/>
          </a:xfrm>
          <a:prstGeom prst="rect">
            <a:avLst/>
          </a:prstGeom>
        </p:spPr>
        <p:txBody>
          <a:bodyPr anchor="t" rtlCol="false" tIns="0" lIns="0" bIns="0" rIns="0">
            <a:spAutoFit/>
          </a:bodyPr>
          <a:lstStyle/>
          <a:p>
            <a:pPr algn="ctr">
              <a:lnSpc>
                <a:spcPts val="6419"/>
              </a:lnSpc>
            </a:pPr>
            <a:r>
              <a:rPr lang="en-US" sz="4585" b="true">
                <a:solidFill>
                  <a:srgbClr val="FFFFFF"/>
                </a:solidFill>
                <a:latin typeface="Canva Sans Bold"/>
                <a:ea typeface="Canva Sans Bold"/>
                <a:cs typeface="Canva Sans Bold"/>
                <a:sym typeface="Canva Sans Bold"/>
              </a:rPr>
              <a:t>Human beings are not only biological but also social beings. Therefore human behavior is activated by social motives such as affiliation motive,need for status,power motives and social approval.</a:t>
            </a:r>
          </a:p>
        </p:txBody>
      </p:sp>
      <p:sp>
        <p:nvSpPr>
          <p:cNvPr name="TextBox 3" id="3"/>
          <p:cNvSpPr txBox="true"/>
          <p:nvPr/>
        </p:nvSpPr>
        <p:spPr>
          <a:xfrm rot="0">
            <a:off x="3249757" y="857250"/>
            <a:ext cx="12633865" cy="3166434"/>
          </a:xfrm>
          <a:prstGeom prst="rect">
            <a:avLst/>
          </a:prstGeom>
        </p:spPr>
        <p:txBody>
          <a:bodyPr anchor="t" rtlCol="false" tIns="0" lIns="0" bIns="0" rIns="0">
            <a:spAutoFit/>
          </a:bodyPr>
          <a:lstStyle/>
          <a:p>
            <a:pPr algn="ctr">
              <a:lnSpc>
                <a:spcPts val="12752"/>
              </a:lnSpc>
            </a:pPr>
            <a:r>
              <a:rPr lang="en-US" sz="9109">
                <a:solidFill>
                  <a:srgbClr val="FF66C4"/>
                </a:solidFill>
                <a:latin typeface="Lucidity Condensed"/>
                <a:ea typeface="Lucidity Condensed"/>
                <a:cs typeface="Lucidity Condensed"/>
                <a:sym typeface="Lucidity Condensed"/>
              </a:rPr>
              <a:t>Social or secondary motives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4102" y="0"/>
            <a:ext cx="9158102" cy="10609711"/>
          </a:xfrm>
          <a:custGeom>
            <a:avLst/>
            <a:gdLst/>
            <a:ahLst/>
            <a:cxnLst/>
            <a:rect r="r" b="b" t="t" l="l"/>
            <a:pathLst>
              <a:path h="10609711" w="9158102">
                <a:moveTo>
                  <a:pt x="0" y="0"/>
                </a:moveTo>
                <a:lnTo>
                  <a:pt x="9158102" y="0"/>
                </a:lnTo>
                <a:lnTo>
                  <a:pt x="9158102" y="10609711"/>
                </a:lnTo>
                <a:lnTo>
                  <a:pt x="0" y="10609711"/>
                </a:lnTo>
                <a:lnTo>
                  <a:pt x="0" y="0"/>
                </a:lnTo>
                <a:close/>
              </a:path>
            </a:pathLst>
          </a:custGeom>
          <a:blipFill>
            <a:blip r:embed="rId2"/>
            <a:stretch>
              <a:fillRect l="-2931" t="0" r="-15618" b="-2330"/>
            </a:stretch>
          </a:blipFill>
        </p:spPr>
      </p:sp>
      <p:sp>
        <p:nvSpPr>
          <p:cNvPr name="TextBox 3" id="3"/>
          <p:cNvSpPr txBox="true"/>
          <p:nvPr/>
        </p:nvSpPr>
        <p:spPr>
          <a:xfrm rot="0">
            <a:off x="10581144" y="332250"/>
            <a:ext cx="7348674" cy="1250024"/>
          </a:xfrm>
          <a:prstGeom prst="rect">
            <a:avLst/>
          </a:prstGeom>
        </p:spPr>
        <p:txBody>
          <a:bodyPr anchor="t" rtlCol="false" tIns="0" lIns="0" bIns="0" rIns="0">
            <a:spAutoFit/>
          </a:bodyPr>
          <a:lstStyle/>
          <a:p>
            <a:pPr algn="ctr">
              <a:lnSpc>
                <a:spcPts val="10178"/>
              </a:lnSpc>
            </a:pPr>
            <a:r>
              <a:rPr lang="en-US" sz="7270">
                <a:solidFill>
                  <a:srgbClr val="FFDE59"/>
                </a:solidFill>
                <a:latin typeface="Lucidity Condensed"/>
                <a:ea typeface="Lucidity Condensed"/>
                <a:cs typeface="Lucidity Condensed"/>
                <a:sym typeface="Lucidity Condensed"/>
              </a:rPr>
              <a:t>Affiliated motives</a:t>
            </a:r>
          </a:p>
        </p:txBody>
      </p:sp>
      <p:sp>
        <p:nvSpPr>
          <p:cNvPr name="TextBox 4" id="4"/>
          <p:cNvSpPr txBox="true"/>
          <p:nvPr/>
        </p:nvSpPr>
        <p:spPr>
          <a:xfrm rot="0">
            <a:off x="10581144" y="1980948"/>
            <a:ext cx="6917425" cy="6581140"/>
          </a:xfrm>
          <a:prstGeom prst="rect">
            <a:avLst/>
          </a:prstGeom>
        </p:spPr>
        <p:txBody>
          <a:bodyPr anchor="t" rtlCol="false" tIns="0" lIns="0" bIns="0" rIns="0">
            <a:spAutoFit/>
          </a:bodyPr>
          <a:lstStyle/>
          <a:p>
            <a:pPr algn="ctr">
              <a:lnSpc>
                <a:spcPts val="4759"/>
              </a:lnSpc>
            </a:pPr>
            <a:r>
              <a:rPr lang="en-US" sz="3399" b="true">
                <a:solidFill>
                  <a:srgbClr val="FFFFFF"/>
                </a:solidFill>
                <a:latin typeface="Canva Sans Bold"/>
                <a:ea typeface="Canva Sans Bold"/>
                <a:cs typeface="Canva Sans Bold"/>
                <a:sym typeface="Canva Sans Bold"/>
              </a:rPr>
              <a:t> </a:t>
            </a:r>
          </a:p>
          <a:p>
            <a:pPr algn="ctr">
              <a:lnSpc>
                <a:spcPts val="4759"/>
              </a:lnSpc>
            </a:pPr>
            <a:r>
              <a:rPr lang="en-US" sz="3399" b="true">
                <a:solidFill>
                  <a:srgbClr val="FFFFFF"/>
                </a:solidFill>
                <a:latin typeface="Canva Sans Bold"/>
                <a:ea typeface="Canva Sans Bold"/>
                <a:cs typeface="Canva Sans Bold"/>
                <a:sym typeface="Canva Sans Bold"/>
              </a:rPr>
              <a:t> In general ,human beings love company and resent loneliness as pleasures of life cannot be enjoyed alone.Even the simple routine activities of eating and drinking cannot be enjoyed without company.The need to be attached to others through friendship,sociability or group membership</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505900" y="-839049"/>
            <a:ext cx="9782100" cy="11126049"/>
          </a:xfrm>
          <a:custGeom>
            <a:avLst/>
            <a:gdLst/>
            <a:ahLst/>
            <a:cxnLst/>
            <a:rect r="r" b="b" t="t" l="l"/>
            <a:pathLst>
              <a:path h="11126049" w="9782100">
                <a:moveTo>
                  <a:pt x="0" y="0"/>
                </a:moveTo>
                <a:lnTo>
                  <a:pt x="9782100" y="0"/>
                </a:lnTo>
                <a:lnTo>
                  <a:pt x="9782100" y="11126049"/>
                </a:lnTo>
                <a:lnTo>
                  <a:pt x="0" y="11126049"/>
                </a:lnTo>
                <a:lnTo>
                  <a:pt x="0" y="0"/>
                </a:lnTo>
                <a:close/>
              </a:path>
            </a:pathLst>
          </a:custGeom>
          <a:blipFill>
            <a:blip r:embed="rId2"/>
            <a:stretch>
              <a:fillRect l="-27043" t="0" r="-38998" b="0"/>
            </a:stretch>
          </a:blipFill>
        </p:spPr>
      </p:sp>
      <p:sp>
        <p:nvSpPr>
          <p:cNvPr name="TextBox 3" id="3"/>
          <p:cNvSpPr txBox="true"/>
          <p:nvPr/>
        </p:nvSpPr>
        <p:spPr>
          <a:xfrm rot="0">
            <a:off x="0" y="914400"/>
            <a:ext cx="8148257" cy="1038628"/>
          </a:xfrm>
          <a:prstGeom prst="rect">
            <a:avLst/>
          </a:prstGeom>
        </p:spPr>
        <p:txBody>
          <a:bodyPr anchor="t" rtlCol="false" tIns="0" lIns="0" bIns="0" rIns="0">
            <a:spAutoFit/>
          </a:bodyPr>
          <a:lstStyle/>
          <a:p>
            <a:pPr algn="ctr">
              <a:lnSpc>
                <a:spcPts val="8498"/>
              </a:lnSpc>
            </a:pPr>
            <a:r>
              <a:rPr lang="en-US" sz="6070">
                <a:solidFill>
                  <a:srgbClr val="FFDE59"/>
                </a:solidFill>
                <a:latin typeface="Lucidity Condensed"/>
                <a:ea typeface="Lucidity Condensed"/>
                <a:cs typeface="Lucidity Condensed"/>
                <a:sym typeface="Lucidity Condensed"/>
              </a:rPr>
              <a:t>Need for status</a:t>
            </a:r>
          </a:p>
        </p:txBody>
      </p:sp>
      <p:sp>
        <p:nvSpPr>
          <p:cNvPr name="TextBox 4" id="4"/>
          <p:cNvSpPr txBox="true"/>
          <p:nvPr/>
        </p:nvSpPr>
        <p:spPr>
          <a:xfrm rot="0">
            <a:off x="388831" y="2939272"/>
            <a:ext cx="7370595" cy="4362163"/>
          </a:xfrm>
          <a:prstGeom prst="rect">
            <a:avLst/>
          </a:prstGeom>
        </p:spPr>
        <p:txBody>
          <a:bodyPr anchor="t" rtlCol="false" tIns="0" lIns="0" bIns="0" rIns="0">
            <a:spAutoFit/>
          </a:bodyPr>
          <a:lstStyle/>
          <a:p>
            <a:pPr algn="l">
              <a:lnSpc>
                <a:spcPts val="5790"/>
              </a:lnSpc>
            </a:pPr>
            <a:r>
              <a:rPr lang="en-US" sz="4136" b="true">
                <a:solidFill>
                  <a:srgbClr val="FFFFFF"/>
                </a:solidFill>
                <a:latin typeface="Canva Sans Bold"/>
                <a:ea typeface="Canva Sans Bold"/>
                <a:cs typeface="Canva Sans Bold"/>
                <a:sym typeface="Canva Sans Bold"/>
              </a:rPr>
              <a:t>Most individuals have a desire to demonstrate some standing or position among the people of their society or group. Nobody likes to be considered inferior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172700" y="-603892"/>
            <a:ext cx="8115300" cy="11494783"/>
          </a:xfrm>
          <a:custGeom>
            <a:avLst/>
            <a:gdLst/>
            <a:ahLst/>
            <a:cxnLst/>
            <a:rect r="r" b="b" t="t" l="l"/>
            <a:pathLst>
              <a:path h="11494783" w="8115300">
                <a:moveTo>
                  <a:pt x="0" y="0"/>
                </a:moveTo>
                <a:lnTo>
                  <a:pt x="8115300" y="0"/>
                </a:lnTo>
                <a:lnTo>
                  <a:pt x="8115300" y="11494784"/>
                </a:lnTo>
                <a:lnTo>
                  <a:pt x="0" y="11494784"/>
                </a:lnTo>
                <a:lnTo>
                  <a:pt x="0" y="0"/>
                </a:lnTo>
                <a:close/>
              </a:path>
            </a:pathLst>
          </a:custGeom>
          <a:blipFill>
            <a:blip r:embed="rId2"/>
            <a:stretch>
              <a:fillRect l="0" t="-7032" r="0" b="-18631"/>
            </a:stretch>
          </a:blipFill>
        </p:spPr>
      </p:sp>
      <p:sp>
        <p:nvSpPr>
          <p:cNvPr name="TextBox 3" id="3"/>
          <p:cNvSpPr txBox="true"/>
          <p:nvPr/>
        </p:nvSpPr>
        <p:spPr>
          <a:xfrm rot="0">
            <a:off x="1698546" y="876300"/>
            <a:ext cx="6024996" cy="1278890"/>
          </a:xfrm>
          <a:prstGeom prst="rect">
            <a:avLst/>
          </a:prstGeom>
        </p:spPr>
        <p:txBody>
          <a:bodyPr anchor="t" rtlCol="false" tIns="0" lIns="0" bIns="0" rIns="0">
            <a:spAutoFit/>
          </a:bodyPr>
          <a:lstStyle/>
          <a:p>
            <a:pPr algn="ctr">
              <a:lnSpc>
                <a:spcPts val="10360"/>
              </a:lnSpc>
            </a:pPr>
            <a:r>
              <a:rPr lang="en-US" sz="7400">
                <a:solidFill>
                  <a:srgbClr val="FFDE59"/>
                </a:solidFill>
                <a:latin typeface="Lucidity Condensed"/>
                <a:ea typeface="Lucidity Condensed"/>
                <a:cs typeface="Lucidity Condensed"/>
                <a:sym typeface="Lucidity Condensed"/>
              </a:rPr>
              <a:t>Power motive</a:t>
            </a:r>
          </a:p>
        </p:txBody>
      </p:sp>
      <p:sp>
        <p:nvSpPr>
          <p:cNvPr name="TextBox 4" id="4"/>
          <p:cNvSpPr txBox="true"/>
          <p:nvPr/>
        </p:nvSpPr>
        <p:spPr>
          <a:xfrm rot="0">
            <a:off x="1333392" y="3545972"/>
            <a:ext cx="7810608" cy="4780915"/>
          </a:xfrm>
          <a:prstGeom prst="rect">
            <a:avLst/>
          </a:prstGeom>
        </p:spPr>
        <p:txBody>
          <a:bodyPr anchor="t" rtlCol="false" tIns="0" lIns="0" bIns="0" rIns="0">
            <a:spAutoFit/>
          </a:bodyPr>
          <a:lstStyle/>
          <a:p>
            <a:pPr algn="l">
              <a:lnSpc>
                <a:spcPts val="4759"/>
              </a:lnSpc>
            </a:pPr>
            <a:r>
              <a:rPr lang="en-US" sz="3399" b="true">
                <a:solidFill>
                  <a:srgbClr val="FFFFFF"/>
                </a:solidFill>
                <a:latin typeface="Canva Sans Bold"/>
                <a:ea typeface="Canva Sans Bold"/>
                <a:cs typeface="Canva Sans Bold"/>
                <a:sym typeface="Canva Sans Bold"/>
              </a:rPr>
              <a:t>The desire to be in a position of control, to be the boss, to give orders, to command respect and obedience is called the power motive. Power motive directs the behavior of dictators, gang leaders and the builders of fraudulent financial empires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3121062"/>
            <a:ext cx="8641912" cy="13408062"/>
          </a:xfrm>
          <a:custGeom>
            <a:avLst/>
            <a:gdLst/>
            <a:ahLst/>
            <a:cxnLst/>
            <a:rect r="r" b="b" t="t" l="l"/>
            <a:pathLst>
              <a:path h="13408062" w="8641912">
                <a:moveTo>
                  <a:pt x="0" y="0"/>
                </a:moveTo>
                <a:lnTo>
                  <a:pt x="8641912" y="0"/>
                </a:lnTo>
                <a:lnTo>
                  <a:pt x="8641912" y="13408062"/>
                </a:lnTo>
                <a:lnTo>
                  <a:pt x="0" y="13408062"/>
                </a:lnTo>
                <a:lnTo>
                  <a:pt x="0" y="0"/>
                </a:lnTo>
                <a:close/>
              </a:path>
            </a:pathLst>
          </a:custGeom>
          <a:blipFill>
            <a:blip r:embed="rId2"/>
            <a:stretch>
              <a:fillRect l="-10543" t="-2844" r="-49020" b="0"/>
            </a:stretch>
          </a:blipFill>
        </p:spPr>
      </p:sp>
      <p:sp>
        <p:nvSpPr>
          <p:cNvPr name="TextBox 3" id="3"/>
          <p:cNvSpPr txBox="true"/>
          <p:nvPr/>
        </p:nvSpPr>
        <p:spPr>
          <a:xfrm rot="0">
            <a:off x="9845907" y="1283311"/>
            <a:ext cx="6566135" cy="1177290"/>
          </a:xfrm>
          <a:prstGeom prst="rect">
            <a:avLst/>
          </a:prstGeom>
        </p:spPr>
        <p:txBody>
          <a:bodyPr anchor="t" rtlCol="false" tIns="0" lIns="0" bIns="0" rIns="0">
            <a:spAutoFit/>
          </a:bodyPr>
          <a:lstStyle/>
          <a:p>
            <a:pPr algn="ctr">
              <a:lnSpc>
                <a:spcPts val="9660"/>
              </a:lnSpc>
            </a:pPr>
            <a:r>
              <a:rPr lang="en-US" sz="6900">
                <a:solidFill>
                  <a:srgbClr val="FFDE59"/>
                </a:solidFill>
                <a:latin typeface="Lucidity Condensed"/>
                <a:ea typeface="Lucidity Condensed"/>
                <a:cs typeface="Lucidity Condensed"/>
                <a:sym typeface="Lucidity Condensed"/>
              </a:rPr>
              <a:t>Social approval </a:t>
            </a:r>
          </a:p>
        </p:txBody>
      </p:sp>
      <p:sp>
        <p:nvSpPr>
          <p:cNvPr name="TextBox 4" id="4"/>
          <p:cNvSpPr txBox="true"/>
          <p:nvPr/>
        </p:nvSpPr>
        <p:spPr>
          <a:xfrm rot="0">
            <a:off x="9125510" y="4070969"/>
            <a:ext cx="8006930" cy="4315224"/>
          </a:xfrm>
          <a:prstGeom prst="rect">
            <a:avLst/>
          </a:prstGeom>
        </p:spPr>
        <p:txBody>
          <a:bodyPr anchor="t" rtlCol="false" tIns="0" lIns="0" bIns="0" rIns="0">
            <a:spAutoFit/>
          </a:bodyPr>
          <a:lstStyle/>
          <a:p>
            <a:pPr algn="l">
              <a:lnSpc>
                <a:spcPts val="5753"/>
              </a:lnSpc>
            </a:pPr>
            <a:r>
              <a:rPr lang="en-US" sz="4109" b="true">
                <a:solidFill>
                  <a:srgbClr val="FFFFFF"/>
                </a:solidFill>
                <a:latin typeface="Canva Sans Bold"/>
                <a:ea typeface="Canva Sans Bold"/>
                <a:cs typeface="Canva Sans Bold"/>
                <a:sym typeface="Canva Sans Bold"/>
              </a:rPr>
              <a:t>We try our best to avoid doing anything that may evoke social disapproval. We often show an almost compulsive tendency to conform to the norms set by our social group.</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06441" y="562164"/>
            <a:ext cx="16279300" cy="2140506"/>
          </a:xfrm>
          <a:prstGeom prst="rect">
            <a:avLst/>
          </a:prstGeom>
        </p:spPr>
        <p:txBody>
          <a:bodyPr anchor="t" rtlCol="false" tIns="0" lIns="0" bIns="0" rIns="0">
            <a:spAutoFit/>
          </a:bodyPr>
          <a:lstStyle/>
          <a:p>
            <a:pPr algn="ctr">
              <a:lnSpc>
                <a:spcPts val="17469"/>
              </a:lnSpc>
            </a:pPr>
            <a:r>
              <a:rPr lang="en-US" sz="12478">
                <a:solidFill>
                  <a:srgbClr val="FF66C4"/>
                </a:solidFill>
                <a:latin typeface="Lucidity Condensed"/>
                <a:ea typeface="Lucidity Condensed"/>
                <a:cs typeface="Lucidity Condensed"/>
                <a:sym typeface="Lucidity Condensed"/>
              </a:rPr>
              <a:t>Personal motives</a:t>
            </a:r>
          </a:p>
        </p:txBody>
      </p:sp>
      <p:sp>
        <p:nvSpPr>
          <p:cNvPr name="TextBox 3" id="3"/>
          <p:cNvSpPr txBox="true"/>
          <p:nvPr/>
        </p:nvSpPr>
        <p:spPr>
          <a:xfrm rot="0">
            <a:off x="1028700" y="2626470"/>
            <a:ext cx="14434781" cy="4259777"/>
          </a:xfrm>
          <a:prstGeom prst="rect">
            <a:avLst/>
          </a:prstGeom>
        </p:spPr>
        <p:txBody>
          <a:bodyPr anchor="t" rtlCol="false" tIns="0" lIns="0" bIns="0" rIns="0">
            <a:spAutoFit/>
          </a:bodyPr>
          <a:lstStyle/>
          <a:p>
            <a:pPr algn="ctr">
              <a:lnSpc>
                <a:spcPts val="5659"/>
              </a:lnSpc>
            </a:pPr>
            <a:r>
              <a:rPr lang="en-US" sz="4042" b="true">
                <a:solidFill>
                  <a:srgbClr val="FFFFFF"/>
                </a:solidFill>
                <a:latin typeface="Canva Sans Bold"/>
                <a:ea typeface="Canva Sans Bold"/>
                <a:cs typeface="Canva Sans Bold"/>
                <a:sym typeface="Canva Sans Bold"/>
              </a:rPr>
              <a:t>Though allied with physiological needs and common social motives they are no longer common as they are so much individualised </a:t>
            </a:r>
            <a:r>
              <a:rPr lang="en-US" sz="4042" b="true">
                <a:solidFill>
                  <a:srgbClr val="FFFFFF"/>
                </a:solidFill>
                <a:latin typeface="Canva Sans Bold"/>
                <a:ea typeface="Canva Sans Bold"/>
                <a:cs typeface="Canva Sans Bold"/>
                <a:sym typeface="Canva Sans Bold"/>
              </a:rPr>
              <a:t>need for achievement,vocational ambitious and life goals,specific interest,habits and attitudes,levels of aspiration,curiosity and fear are our personal motives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782788" cy="11774174"/>
          </a:xfrm>
          <a:custGeom>
            <a:avLst/>
            <a:gdLst/>
            <a:ahLst/>
            <a:cxnLst/>
            <a:rect r="r" b="b" t="t" l="l"/>
            <a:pathLst>
              <a:path h="11774174" w="9782788">
                <a:moveTo>
                  <a:pt x="0" y="0"/>
                </a:moveTo>
                <a:lnTo>
                  <a:pt x="9782788" y="0"/>
                </a:lnTo>
                <a:lnTo>
                  <a:pt x="9782788" y="11774174"/>
                </a:lnTo>
                <a:lnTo>
                  <a:pt x="0" y="11774174"/>
                </a:lnTo>
                <a:lnTo>
                  <a:pt x="0" y="0"/>
                </a:lnTo>
                <a:close/>
              </a:path>
            </a:pathLst>
          </a:custGeom>
          <a:blipFill>
            <a:blip r:embed="rId2"/>
            <a:stretch>
              <a:fillRect l="-32103" t="0" r="-23445" b="-2100"/>
            </a:stretch>
          </a:blipFill>
        </p:spPr>
      </p:sp>
      <p:sp>
        <p:nvSpPr>
          <p:cNvPr name="TextBox 3" id="3"/>
          <p:cNvSpPr txBox="true"/>
          <p:nvPr/>
        </p:nvSpPr>
        <p:spPr>
          <a:xfrm rot="0">
            <a:off x="10053467" y="181022"/>
            <a:ext cx="8234533" cy="1113055"/>
          </a:xfrm>
          <a:prstGeom prst="rect">
            <a:avLst/>
          </a:prstGeom>
        </p:spPr>
        <p:txBody>
          <a:bodyPr anchor="t" rtlCol="false" tIns="0" lIns="0" bIns="0" rIns="0">
            <a:spAutoFit/>
          </a:bodyPr>
          <a:lstStyle/>
          <a:p>
            <a:pPr algn="ctr">
              <a:lnSpc>
                <a:spcPts val="9041"/>
              </a:lnSpc>
            </a:pPr>
            <a:r>
              <a:rPr lang="en-US" sz="6458">
                <a:solidFill>
                  <a:srgbClr val="FFDE59"/>
                </a:solidFill>
                <a:latin typeface="Lucidity Condensed"/>
                <a:ea typeface="Lucidity Condensed"/>
                <a:cs typeface="Lucidity Condensed"/>
                <a:sym typeface="Lucidity Condensed"/>
              </a:rPr>
              <a:t>need for achievement </a:t>
            </a:r>
          </a:p>
        </p:txBody>
      </p:sp>
      <p:sp>
        <p:nvSpPr>
          <p:cNvPr name="TextBox 4" id="4"/>
          <p:cNvSpPr txBox="true"/>
          <p:nvPr/>
        </p:nvSpPr>
        <p:spPr>
          <a:xfrm rot="0">
            <a:off x="10053467" y="1616531"/>
            <a:ext cx="8962696" cy="1083070"/>
          </a:xfrm>
          <a:prstGeom prst="rect">
            <a:avLst/>
          </a:prstGeom>
        </p:spPr>
        <p:txBody>
          <a:bodyPr anchor="t" rtlCol="false" tIns="0" lIns="0" bIns="0" rIns="0">
            <a:spAutoFit/>
          </a:bodyPr>
          <a:lstStyle/>
          <a:p>
            <a:pPr algn="l">
              <a:lnSpc>
                <a:spcPts val="4353"/>
              </a:lnSpc>
            </a:pPr>
            <a:r>
              <a:rPr lang="en-US" sz="3109" b="true">
                <a:solidFill>
                  <a:srgbClr val="FFFFFF"/>
                </a:solidFill>
                <a:latin typeface="Canva Sans Bold"/>
                <a:ea typeface="Canva Sans Bold"/>
                <a:cs typeface="Canva Sans Bold"/>
                <a:sym typeface="Canva Sans Bold"/>
              </a:rPr>
              <a:t>Achievement motivation refers to a drive towards some standard of excellence</a:t>
            </a:r>
          </a:p>
        </p:txBody>
      </p:sp>
      <p:sp>
        <p:nvSpPr>
          <p:cNvPr name="TextBox 5" id="5"/>
          <p:cNvSpPr txBox="true"/>
          <p:nvPr/>
        </p:nvSpPr>
        <p:spPr>
          <a:xfrm rot="0">
            <a:off x="10053467" y="3032976"/>
            <a:ext cx="8730759" cy="1489622"/>
          </a:xfrm>
          <a:prstGeom prst="rect">
            <a:avLst/>
          </a:prstGeom>
        </p:spPr>
        <p:txBody>
          <a:bodyPr anchor="t" rtlCol="false" tIns="0" lIns="0" bIns="0" rIns="0">
            <a:spAutoFit/>
          </a:bodyPr>
          <a:lstStyle/>
          <a:p>
            <a:pPr algn="l">
              <a:lnSpc>
                <a:spcPts val="3994"/>
              </a:lnSpc>
            </a:pPr>
            <a:r>
              <a:rPr lang="en-US" sz="2853" b="true">
                <a:solidFill>
                  <a:srgbClr val="FFFFFF"/>
                </a:solidFill>
                <a:latin typeface="Canva Sans Bold"/>
                <a:ea typeface="Canva Sans Bold"/>
                <a:cs typeface="Canva Sans Bold"/>
                <a:sym typeface="Canva Sans Bold"/>
              </a:rPr>
              <a:t>People with high need for achievement prefer tasks which would promise success and are moderately difficult</a:t>
            </a:r>
          </a:p>
        </p:txBody>
      </p:sp>
      <p:sp>
        <p:nvSpPr>
          <p:cNvPr name="TextBox 6" id="6"/>
          <p:cNvSpPr txBox="true"/>
          <p:nvPr/>
        </p:nvSpPr>
        <p:spPr>
          <a:xfrm rot="0">
            <a:off x="10053467" y="4966399"/>
            <a:ext cx="7315624" cy="1472096"/>
          </a:xfrm>
          <a:prstGeom prst="rect">
            <a:avLst/>
          </a:prstGeom>
        </p:spPr>
        <p:txBody>
          <a:bodyPr anchor="t" rtlCol="false" tIns="0" lIns="0" bIns="0" rIns="0">
            <a:spAutoFit/>
          </a:bodyPr>
          <a:lstStyle/>
          <a:p>
            <a:pPr algn="l">
              <a:lnSpc>
                <a:spcPts val="3910"/>
              </a:lnSpc>
            </a:pPr>
            <a:r>
              <a:rPr lang="en-US" sz="2793" b="true">
                <a:solidFill>
                  <a:srgbClr val="FFFFFF"/>
                </a:solidFill>
                <a:latin typeface="Canva Sans Bold"/>
                <a:ea typeface="Canva Sans Bold"/>
                <a:cs typeface="Canva Sans Bold"/>
                <a:sym typeface="Canva Sans Bold"/>
              </a:rPr>
              <a:t>David C Mclellad  has found that while high achievers tend to succeed,low achievers tend to avoid failures</a:t>
            </a:r>
          </a:p>
        </p:txBody>
      </p:sp>
      <p:sp>
        <p:nvSpPr>
          <p:cNvPr name="TextBox 7" id="7"/>
          <p:cNvSpPr txBox="true"/>
          <p:nvPr/>
        </p:nvSpPr>
        <p:spPr>
          <a:xfrm rot="0">
            <a:off x="10053467" y="6882296"/>
            <a:ext cx="7012942" cy="2127279"/>
          </a:xfrm>
          <a:prstGeom prst="rect">
            <a:avLst/>
          </a:prstGeom>
        </p:spPr>
        <p:txBody>
          <a:bodyPr anchor="t" rtlCol="false" tIns="0" lIns="0" bIns="0" rIns="0">
            <a:spAutoFit/>
          </a:bodyPr>
          <a:lstStyle/>
          <a:p>
            <a:pPr algn="l">
              <a:lnSpc>
                <a:spcPts val="4258"/>
              </a:lnSpc>
            </a:pPr>
            <a:r>
              <a:rPr lang="en-US" sz="3041" b="true">
                <a:solidFill>
                  <a:srgbClr val="FFFFFF"/>
                </a:solidFill>
                <a:latin typeface="Canva Sans Bold"/>
                <a:ea typeface="Canva Sans Bold"/>
                <a:cs typeface="Canva Sans Bold"/>
                <a:sym typeface="Canva Sans Bold"/>
              </a:rPr>
              <a:t>High achievers challenge failures and work harder while low achievers accept  failure and go for less difficult task</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0"/>
            <a:ext cx="9132915" cy="10287000"/>
          </a:xfrm>
          <a:custGeom>
            <a:avLst/>
            <a:gdLst/>
            <a:ahLst/>
            <a:cxnLst/>
            <a:rect r="r" b="b" t="t" l="l"/>
            <a:pathLst>
              <a:path h="10287000" w="9132915">
                <a:moveTo>
                  <a:pt x="0" y="0"/>
                </a:moveTo>
                <a:lnTo>
                  <a:pt x="9132915" y="0"/>
                </a:lnTo>
                <a:lnTo>
                  <a:pt x="9132915" y="10287000"/>
                </a:lnTo>
                <a:lnTo>
                  <a:pt x="0" y="10287000"/>
                </a:lnTo>
                <a:lnTo>
                  <a:pt x="0" y="0"/>
                </a:lnTo>
                <a:close/>
              </a:path>
            </a:pathLst>
          </a:custGeom>
          <a:blipFill>
            <a:blip r:embed="rId2"/>
            <a:stretch>
              <a:fillRect l="0" t="-29012" r="0" b="-29012"/>
            </a:stretch>
          </a:blipFill>
        </p:spPr>
      </p:sp>
      <p:sp>
        <p:nvSpPr>
          <p:cNvPr name="TextBox 3" id="3"/>
          <p:cNvSpPr txBox="true"/>
          <p:nvPr/>
        </p:nvSpPr>
        <p:spPr>
          <a:xfrm rot="0">
            <a:off x="0" y="467885"/>
            <a:ext cx="9172406" cy="2095390"/>
          </a:xfrm>
          <a:prstGeom prst="rect">
            <a:avLst/>
          </a:prstGeom>
        </p:spPr>
        <p:txBody>
          <a:bodyPr anchor="t" rtlCol="false" tIns="0" lIns="0" bIns="0" rIns="0">
            <a:spAutoFit/>
          </a:bodyPr>
          <a:lstStyle/>
          <a:p>
            <a:pPr algn="ctr">
              <a:lnSpc>
                <a:spcPts val="8435"/>
              </a:lnSpc>
            </a:pPr>
            <a:r>
              <a:rPr lang="en-US" sz="6025">
                <a:solidFill>
                  <a:srgbClr val="FFDE59"/>
                </a:solidFill>
                <a:latin typeface="Lucidity Condensed"/>
                <a:ea typeface="Lucidity Condensed"/>
                <a:cs typeface="Lucidity Condensed"/>
                <a:sym typeface="Lucidity Condensed"/>
              </a:rPr>
              <a:t>Vocational Ambitions and Life Goals</a:t>
            </a:r>
          </a:p>
        </p:txBody>
      </p:sp>
      <p:sp>
        <p:nvSpPr>
          <p:cNvPr name="TextBox 4" id="4"/>
          <p:cNvSpPr txBox="true"/>
          <p:nvPr/>
        </p:nvSpPr>
        <p:spPr>
          <a:xfrm rot="0">
            <a:off x="439036" y="3631954"/>
            <a:ext cx="7638163" cy="2940861"/>
          </a:xfrm>
          <a:prstGeom prst="rect">
            <a:avLst/>
          </a:prstGeom>
        </p:spPr>
        <p:txBody>
          <a:bodyPr anchor="t" rtlCol="false" tIns="0" lIns="0" bIns="0" rIns="0">
            <a:spAutoFit/>
          </a:bodyPr>
          <a:lstStyle/>
          <a:p>
            <a:pPr algn="l">
              <a:lnSpc>
                <a:spcPts val="5905"/>
              </a:lnSpc>
            </a:pPr>
            <a:r>
              <a:rPr lang="en-US" sz="4218" b="true">
                <a:solidFill>
                  <a:srgbClr val="FFFFFF"/>
                </a:solidFill>
                <a:latin typeface="Canva Sans Bold"/>
                <a:ea typeface="Canva Sans Bold"/>
                <a:cs typeface="Canva Sans Bold"/>
                <a:sym typeface="Canva Sans Bold"/>
              </a:rPr>
              <a:t>These desires are common to many others but there is something unique about each ones desires.</a:t>
            </a:r>
          </a:p>
        </p:txBody>
      </p:sp>
      <p:sp>
        <p:nvSpPr>
          <p:cNvPr name="TextBox 5" id="5"/>
          <p:cNvSpPr txBox="true"/>
          <p:nvPr/>
        </p:nvSpPr>
        <p:spPr>
          <a:xfrm rot="0">
            <a:off x="-28406" y="6895671"/>
            <a:ext cx="9172406" cy="1331527"/>
          </a:xfrm>
          <a:prstGeom prst="rect">
            <a:avLst/>
          </a:prstGeom>
        </p:spPr>
        <p:txBody>
          <a:bodyPr anchor="t" rtlCol="false" tIns="0" lIns="0" bIns="0" rIns="0">
            <a:spAutoFit/>
          </a:bodyPr>
          <a:lstStyle/>
          <a:p>
            <a:pPr algn="l">
              <a:lnSpc>
                <a:spcPts val="5358"/>
              </a:lnSpc>
            </a:pPr>
            <a:r>
              <a:rPr lang="en-US" sz="3827" b="true">
                <a:solidFill>
                  <a:srgbClr val="FFFFFF"/>
                </a:solidFill>
                <a:latin typeface="Canva Sans Bold"/>
                <a:ea typeface="Canva Sans Bold"/>
                <a:cs typeface="Canva Sans Bold"/>
                <a:sym typeface="Canva Sans Bold"/>
              </a:rPr>
              <a:t>These are powerful determinants of our behaviour</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729342" y="-58467"/>
            <a:ext cx="7558658" cy="10345467"/>
          </a:xfrm>
          <a:custGeom>
            <a:avLst/>
            <a:gdLst/>
            <a:ahLst/>
            <a:cxnLst/>
            <a:rect r="r" b="b" t="t" l="l"/>
            <a:pathLst>
              <a:path h="10345467" w="7558658">
                <a:moveTo>
                  <a:pt x="0" y="0"/>
                </a:moveTo>
                <a:lnTo>
                  <a:pt x="7558658" y="0"/>
                </a:lnTo>
                <a:lnTo>
                  <a:pt x="7558658" y="10345467"/>
                </a:lnTo>
                <a:lnTo>
                  <a:pt x="0" y="10345467"/>
                </a:lnTo>
                <a:lnTo>
                  <a:pt x="0" y="0"/>
                </a:lnTo>
                <a:close/>
              </a:path>
            </a:pathLst>
          </a:custGeom>
          <a:blipFill>
            <a:blip r:embed="rId2"/>
            <a:stretch>
              <a:fillRect l="-17421" t="-30005" r="-13609" b="-40948"/>
            </a:stretch>
          </a:blipFill>
        </p:spPr>
      </p:sp>
      <p:sp>
        <p:nvSpPr>
          <p:cNvPr name="TextBox 3" id="3"/>
          <p:cNvSpPr txBox="true"/>
          <p:nvPr/>
        </p:nvSpPr>
        <p:spPr>
          <a:xfrm rot="0">
            <a:off x="1028700" y="359798"/>
            <a:ext cx="7930752" cy="1204454"/>
          </a:xfrm>
          <a:prstGeom prst="rect">
            <a:avLst/>
          </a:prstGeom>
        </p:spPr>
        <p:txBody>
          <a:bodyPr anchor="t" rtlCol="false" tIns="0" lIns="0" bIns="0" rIns="0">
            <a:spAutoFit/>
          </a:bodyPr>
          <a:lstStyle/>
          <a:p>
            <a:pPr algn="ctr">
              <a:lnSpc>
                <a:spcPts val="9885"/>
              </a:lnSpc>
            </a:pPr>
            <a:r>
              <a:rPr lang="en-US" sz="7060">
                <a:solidFill>
                  <a:srgbClr val="FFDE59"/>
                </a:solidFill>
                <a:latin typeface="Lucidity Condensed"/>
                <a:ea typeface="Lucidity Condensed"/>
                <a:cs typeface="Lucidity Condensed"/>
                <a:sym typeface="Lucidity Condensed"/>
              </a:rPr>
              <a:t>Levels of aspiration</a:t>
            </a:r>
          </a:p>
        </p:txBody>
      </p:sp>
      <p:sp>
        <p:nvSpPr>
          <p:cNvPr name="TextBox 4" id="4"/>
          <p:cNvSpPr txBox="true"/>
          <p:nvPr/>
        </p:nvSpPr>
        <p:spPr>
          <a:xfrm rot="0">
            <a:off x="695907" y="1905635"/>
            <a:ext cx="8596338" cy="8381365"/>
          </a:xfrm>
          <a:prstGeom prst="rect">
            <a:avLst/>
          </a:prstGeom>
        </p:spPr>
        <p:txBody>
          <a:bodyPr anchor="t" rtlCol="false" tIns="0" lIns="0" bIns="0" rIns="0">
            <a:spAutoFit/>
          </a:bodyPr>
          <a:lstStyle/>
          <a:p>
            <a:pPr algn="ctr">
              <a:lnSpc>
                <a:spcPts val="4759"/>
              </a:lnSpc>
            </a:pPr>
            <a:r>
              <a:rPr lang="en-US" sz="3399" b="true">
                <a:solidFill>
                  <a:srgbClr val="FFFFFF"/>
                </a:solidFill>
                <a:latin typeface="Canva Sans Bold"/>
                <a:ea typeface="Canva Sans Bold"/>
                <a:cs typeface="Canva Sans Bold"/>
                <a:sym typeface="Canva Sans Bold"/>
              </a:rPr>
              <a:t>it imply the degree of expectations which a person has</a:t>
            </a:r>
          </a:p>
          <a:p>
            <a:pPr algn="ctr">
              <a:lnSpc>
                <a:spcPts val="4759"/>
              </a:lnSpc>
            </a:pPr>
            <a:r>
              <a:rPr lang="en-US" sz="3399" b="true">
                <a:solidFill>
                  <a:srgbClr val="FFFFFF"/>
                </a:solidFill>
                <a:latin typeface="Canva Sans Bold"/>
                <a:ea typeface="Canva Sans Bold"/>
                <a:cs typeface="Canva Sans Bold"/>
                <a:sym typeface="Canva Sans Bold"/>
              </a:rPr>
              <a:t>I.e,how much he expects to achieve</a:t>
            </a:r>
          </a:p>
          <a:p>
            <a:pPr algn="ctr">
              <a:lnSpc>
                <a:spcPts val="4759"/>
              </a:lnSpc>
            </a:pPr>
          </a:p>
          <a:p>
            <a:pPr algn="ctr">
              <a:lnSpc>
                <a:spcPts val="4759"/>
              </a:lnSpc>
            </a:pPr>
            <a:r>
              <a:rPr lang="en-US" sz="3399" b="true">
                <a:solidFill>
                  <a:srgbClr val="FFFFFF"/>
                </a:solidFill>
                <a:latin typeface="Canva Sans Bold"/>
                <a:ea typeface="Canva Sans Bold"/>
                <a:cs typeface="Canva Sans Bold"/>
                <a:sym typeface="Canva Sans Bold"/>
              </a:rPr>
              <a:t>in general people tendto set their goals slightly higher than the level of sure of attaining.this is healthy tendency for progress</a:t>
            </a:r>
          </a:p>
          <a:p>
            <a:pPr algn="ctr">
              <a:lnSpc>
                <a:spcPts val="4759"/>
              </a:lnSpc>
            </a:pPr>
          </a:p>
          <a:p>
            <a:pPr algn="ctr">
              <a:lnSpc>
                <a:spcPts val="4759"/>
              </a:lnSpc>
            </a:pPr>
            <a:r>
              <a:rPr lang="en-US" sz="3399" b="true">
                <a:solidFill>
                  <a:srgbClr val="FFFFFF"/>
                </a:solidFill>
                <a:latin typeface="Canva Sans Bold"/>
                <a:ea typeface="Canva Sans Bold"/>
                <a:cs typeface="Canva Sans Bold"/>
                <a:sym typeface="Canva Sans Bold"/>
              </a:rPr>
              <a:t>there are a few who set their level of aspiration much higher or lower in comparison to their actual level of performance leading to frustration and disappoinment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982612"/>
            <a:ext cx="8229600" cy="12252224"/>
          </a:xfrm>
          <a:custGeom>
            <a:avLst/>
            <a:gdLst/>
            <a:ahLst/>
            <a:cxnLst/>
            <a:rect r="r" b="b" t="t" l="l"/>
            <a:pathLst>
              <a:path h="12252224" w="8229600">
                <a:moveTo>
                  <a:pt x="0" y="0"/>
                </a:moveTo>
                <a:lnTo>
                  <a:pt x="8229600" y="0"/>
                </a:lnTo>
                <a:lnTo>
                  <a:pt x="8229600" y="12252224"/>
                </a:lnTo>
                <a:lnTo>
                  <a:pt x="0" y="12252224"/>
                </a:lnTo>
                <a:lnTo>
                  <a:pt x="0" y="0"/>
                </a:lnTo>
                <a:close/>
              </a:path>
            </a:pathLst>
          </a:custGeom>
          <a:blipFill>
            <a:blip r:embed="rId2"/>
            <a:stretch>
              <a:fillRect l="-24439" t="0" r="-24439" b="0"/>
            </a:stretch>
          </a:blipFill>
        </p:spPr>
      </p:sp>
      <p:sp>
        <p:nvSpPr>
          <p:cNvPr name="TextBox 3" id="3"/>
          <p:cNvSpPr txBox="true"/>
          <p:nvPr/>
        </p:nvSpPr>
        <p:spPr>
          <a:xfrm rot="0">
            <a:off x="10098569" y="895350"/>
            <a:ext cx="5873842" cy="1208497"/>
          </a:xfrm>
          <a:prstGeom prst="rect">
            <a:avLst/>
          </a:prstGeom>
        </p:spPr>
        <p:txBody>
          <a:bodyPr anchor="t" rtlCol="false" tIns="0" lIns="0" bIns="0" rIns="0">
            <a:spAutoFit/>
          </a:bodyPr>
          <a:lstStyle/>
          <a:p>
            <a:pPr algn="ctr">
              <a:lnSpc>
                <a:spcPts val="9884"/>
              </a:lnSpc>
            </a:pPr>
            <a:r>
              <a:rPr lang="en-US" sz="7060">
                <a:solidFill>
                  <a:srgbClr val="FFDE59"/>
                </a:solidFill>
                <a:latin typeface="Lucidity Condensed"/>
                <a:ea typeface="Lucidity Condensed"/>
                <a:cs typeface="Lucidity Condensed"/>
                <a:sym typeface="Lucidity Condensed"/>
              </a:rPr>
              <a:t>force of habit</a:t>
            </a:r>
          </a:p>
        </p:txBody>
      </p:sp>
      <p:sp>
        <p:nvSpPr>
          <p:cNvPr name="TextBox 4" id="4"/>
          <p:cNvSpPr txBox="true"/>
          <p:nvPr/>
        </p:nvSpPr>
        <p:spPr>
          <a:xfrm rot="0">
            <a:off x="8494785" y="3931548"/>
            <a:ext cx="9081411" cy="4180840"/>
          </a:xfrm>
          <a:prstGeom prst="rect">
            <a:avLst/>
          </a:prstGeom>
        </p:spPr>
        <p:txBody>
          <a:bodyPr anchor="t" rtlCol="false" tIns="0" lIns="0" bIns="0" rIns="0">
            <a:spAutoFit/>
          </a:bodyPr>
          <a:lstStyle/>
          <a:p>
            <a:pPr algn="l">
              <a:lnSpc>
                <a:spcPts val="4759"/>
              </a:lnSpc>
            </a:pPr>
            <a:r>
              <a:rPr lang="en-US" sz="3399" b="true">
                <a:solidFill>
                  <a:srgbClr val="FFFFFF"/>
                </a:solidFill>
                <a:latin typeface="Canva Sans Bold"/>
                <a:ea typeface="Canva Sans Bold"/>
                <a:cs typeface="Canva Sans Bold"/>
                <a:sym typeface="Canva Sans Bold"/>
              </a:rPr>
              <a:t>once we have formed a certain habit ,it is difficult to change</a:t>
            </a:r>
          </a:p>
          <a:p>
            <a:pPr algn="l">
              <a:lnSpc>
                <a:spcPts val="4759"/>
              </a:lnSpc>
            </a:pPr>
            <a:r>
              <a:rPr lang="en-US" sz="3399" b="true">
                <a:solidFill>
                  <a:srgbClr val="FFFFFF"/>
                </a:solidFill>
                <a:latin typeface="Canva Sans Bold"/>
                <a:ea typeface="Canva Sans Bold"/>
                <a:cs typeface="Canva Sans Bold"/>
                <a:sym typeface="Canva Sans Bold"/>
              </a:rPr>
              <a:t>A habit which has been formed acts as a drive and compels us to continue the accustomed ways of doing things</a:t>
            </a:r>
          </a:p>
          <a:p>
            <a:pPr algn="l">
              <a:lnSpc>
                <a:spcPts val="4759"/>
              </a:lnSpc>
            </a:pPr>
            <a:r>
              <a:rPr lang="en-US" sz="3399" b="true">
                <a:solidFill>
                  <a:srgbClr val="FFFFFF"/>
                </a:solidFill>
                <a:latin typeface="Canva Sans Bold"/>
                <a:ea typeface="Canva Sans Bold"/>
                <a:cs typeface="Canva Sans Bold"/>
                <a:sym typeface="Canva Sans Bold"/>
              </a:rPr>
              <a:t>In other words  once formed persist and influence our behaviour greatly</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109468" y="0"/>
            <a:ext cx="8561611" cy="11399487"/>
          </a:xfrm>
          <a:custGeom>
            <a:avLst/>
            <a:gdLst/>
            <a:ahLst/>
            <a:cxnLst/>
            <a:rect r="r" b="b" t="t" l="l"/>
            <a:pathLst>
              <a:path h="11399487" w="8561611">
                <a:moveTo>
                  <a:pt x="0" y="0"/>
                </a:moveTo>
                <a:lnTo>
                  <a:pt x="8561611" y="0"/>
                </a:lnTo>
                <a:lnTo>
                  <a:pt x="8561611" y="11399487"/>
                </a:lnTo>
                <a:lnTo>
                  <a:pt x="0" y="11399487"/>
                </a:lnTo>
                <a:lnTo>
                  <a:pt x="0" y="0"/>
                </a:lnTo>
                <a:close/>
              </a:path>
            </a:pathLst>
          </a:custGeom>
          <a:blipFill>
            <a:blip r:embed="rId2"/>
            <a:stretch>
              <a:fillRect l="-8894" t="-13764" r="-165" b="0"/>
            </a:stretch>
          </a:blipFill>
        </p:spPr>
      </p:sp>
      <p:sp>
        <p:nvSpPr>
          <p:cNvPr name="TextBox 3" id="3"/>
          <p:cNvSpPr txBox="true"/>
          <p:nvPr/>
        </p:nvSpPr>
        <p:spPr>
          <a:xfrm rot="0">
            <a:off x="0" y="794484"/>
            <a:ext cx="10193112" cy="1345884"/>
          </a:xfrm>
          <a:prstGeom prst="rect">
            <a:avLst/>
          </a:prstGeom>
        </p:spPr>
        <p:txBody>
          <a:bodyPr anchor="t" rtlCol="false" tIns="0" lIns="0" bIns="0" rIns="0">
            <a:spAutoFit/>
          </a:bodyPr>
          <a:lstStyle/>
          <a:p>
            <a:pPr algn="ctr">
              <a:lnSpc>
                <a:spcPts val="10972"/>
              </a:lnSpc>
            </a:pPr>
            <a:r>
              <a:rPr lang="en-US" sz="7837">
                <a:solidFill>
                  <a:srgbClr val="FFDE59"/>
                </a:solidFill>
                <a:latin typeface="Lucidity Condensed"/>
                <a:ea typeface="Lucidity Condensed"/>
                <a:cs typeface="Lucidity Condensed"/>
                <a:sym typeface="Lucidity Condensed"/>
              </a:rPr>
              <a:t>interests and attitudes </a:t>
            </a:r>
          </a:p>
        </p:txBody>
      </p:sp>
      <p:sp>
        <p:nvSpPr>
          <p:cNvPr name="TextBox 4" id="4"/>
          <p:cNvSpPr txBox="true"/>
          <p:nvPr/>
        </p:nvSpPr>
        <p:spPr>
          <a:xfrm rot="0">
            <a:off x="487635" y="2975911"/>
            <a:ext cx="8130063" cy="5380990"/>
          </a:xfrm>
          <a:prstGeom prst="rect">
            <a:avLst/>
          </a:prstGeom>
        </p:spPr>
        <p:txBody>
          <a:bodyPr anchor="t" rtlCol="false" tIns="0" lIns="0" bIns="0" rIns="0">
            <a:spAutoFit/>
          </a:bodyPr>
          <a:lstStyle/>
          <a:p>
            <a:pPr algn="l">
              <a:lnSpc>
                <a:spcPts val="4759"/>
              </a:lnSpc>
            </a:pPr>
            <a:r>
              <a:rPr lang="en-US" sz="3399" b="true">
                <a:solidFill>
                  <a:srgbClr val="FFFFFF"/>
                </a:solidFill>
                <a:latin typeface="Canva Sans Bold"/>
                <a:ea typeface="Canva Sans Bold"/>
                <a:cs typeface="Canva Sans Bold"/>
                <a:sym typeface="Canva Sans Bold"/>
              </a:rPr>
              <a:t>Interest and attitude are another set of personal motives</a:t>
            </a:r>
          </a:p>
          <a:p>
            <a:pPr algn="l">
              <a:lnSpc>
                <a:spcPts val="4759"/>
              </a:lnSpc>
            </a:pPr>
          </a:p>
          <a:p>
            <a:pPr algn="l">
              <a:lnSpc>
                <a:spcPts val="4759"/>
              </a:lnSpc>
            </a:pPr>
            <a:r>
              <a:rPr lang="en-US" sz="3399" b="true">
                <a:solidFill>
                  <a:srgbClr val="FFFFFF"/>
                </a:solidFill>
                <a:latin typeface="Canva Sans Bold"/>
                <a:ea typeface="Canva Sans Bold"/>
                <a:cs typeface="Canva Sans Bold"/>
                <a:sym typeface="Canva Sans Bold"/>
              </a:rPr>
              <a:t>The interests we have developed and the attitudes we have formed color our everyday behaviour in many ways</a:t>
            </a:r>
          </a:p>
          <a:p>
            <a:pPr algn="l">
              <a:lnSpc>
                <a:spcPts val="4759"/>
              </a:lnSpc>
            </a:pPr>
          </a:p>
          <a:p>
            <a:pPr algn="l">
              <a:lnSpc>
                <a:spcPts val="4759"/>
              </a:lnSpc>
            </a:pPr>
            <a:r>
              <a:rPr lang="en-US" sz="3399" b="true">
                <a:solidFill>
                  <a:srgbClr val="FFFFFF"/>
                </a:solidFill>
                <a:latin typeface="Canva Sans Bold"/>
                <a:ea typeface="Canva Sans Bold"/>
                <a:cs typeface="Canva Sans Bold"/>
                <a:sym typeface="Canva Sans Bold"/>
              </a:rPr>
              <a:t>Interest are one such group  that they can predict our choice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0"/>
            <a:ext cx="9989332" cy="10287000"/>
          </a:xfrm>
          <a:custGeom>
            <a:avLst/>
            <a:gdLst/>
            <a:ahLst/>
            <a:cxnLst/>
            <a:rect r="r" b="b" t="t" l="l"/>
            <a:pathLst>
              <a:path h="10287000" w="9989332">
                <a:moveTo>
                  <a:pt x="0" y="0"/>
                </a:moveTo>
                <a:lnTo>
                  <a:pt x="9989332" y="0"/>
                </a:lnTo>
                <a:lnTo>
                  <a:pt x="9989332" y="10287000"/>
                </a:lnTo>
                <a:lnTo>
                  <a:pt x="0" y="10287000"/>
                </a:lnTo>
                <a:lnTo>
                  <a:pt x="0" y="0"/>
                </a:lnTo>
                <a:close/>
              </a:path>
            </a:pathLst>
          </a:custGeom>
          <a:blipFill>
            <a:blip r:embed="rId2"/>
            <a:stretch>
              <a:fillRect l="0" t="-13549" r="0" b="-12711"/>
            </a:stretch>
          </a:blipFill>
        </p:spPr>
      </p:sp>
      <p:sp>
        <p:nvSpPr>
          <p:cNvPr name="TextBox 3" id="3"/>
          <p:cNvSpPr txBox="true"/>
          <p:nvPr/>
        </p:nvSpPr>
        <p:spPr>
          <a:xfrm rot="0">
            <a:off x="1537525" y="958703"/>
            <a:ext cx="5792032" cy="1798099"/>
          </a:xfrm>
          <a:prstGeom prst="rect">
            <a:avLst/>
          </a:prstGeom>
        </p:spPr>
        <p:txBody>
          <a:bodyPr anchor="t" rtlCol="false" tIns="0" lIns="0" bIns="0" rIns="0">
            <a:spAutoFit/>
          </a:bodyPr>
          <a:lstStyle/>
          <a:p>
            <a:pPr algn="ctr">
              <a:lnSpc>
                <a:spcPts val="14604"/>
              </a:lnSpc>
            </a:pPr>
            <a:r>
              <a:rPr lang="en-US" sz="10431">
                <a:solidFill>
                  <a:srgbClr val="FFDE59"/>
                </a:solidFill>
                <a:latin typeface="Lucidity Condensed"/>
                <a:ea typeface="Lucidity Condensed"/>
                <a:cs typeface="Lucidity Condensed"/>
                <a:sym typeface="Lucidity Condensed"/>
              </a:rPr>
              <a:t>Curiosity </a:t>
            </a:r>
          </a:p>
        </p:txBody>
      </p:sp>
      <p:sp>
        <p:nvSpPr>
          <p:cNvPr name="TextBox 4" id="4"/>
          <p:cNvSpPr txBox="true"/>
          <p:nvPr/>
        </p:nvSpPr>
        <p:spPr>
          <a:xfrm rot="0">
            <a:off x="597469" y="3338665"/>
            <a:ext cx="7672146" cy="5380990"/>
          </a:xfrm>
          <a:prstGeom prst="rect">
            <a:avLst/>
          </a:prstGeom>
        </p:spPr>
        <p:txBody>
          <a:bodyPr anchor="t" rtlCol="false" tIns="0" lIns="0" bIns="0" rIns="0">
            <a:spAutoFit/>
          </a:bodyPr>
          <a:lstStyle/>
          <a:p>
            <a:pPr algn="l">
              <a:lnSpc>
                <a:spcPts val="4759"/>
              </a:lnSpc>
            </a:pPr>
            <a:r>
              <a:rPr lang="en-US" sz="3399" b="true">
                <a:solidFill>
                  <a:srgbClr val="FFFFFF"/>
                </a:solidFill>
                <a:latin typeface="Canva Sans Bold"/>
                <a:ea typeface="Canva Sans Bold"/>
                <a:cs typeface="Canva Sans Bold"/>
                <a:sym typeface="Canva Sans Bold"/>
              </a:rPr>
              <a:t>This is a motive which is close to exploration</a:t>
            </a:r>
          </a:p>
          <a:p>
            <a:pPr algn="l">
              <a:lnSpc>
                <a:spcPts val="4759"/>
              </a:lnSpc>
            </a:pPr>
          </a:p>
          <a:p>
            <a:pPr algn="l">
              <a:lnSpc>
                <a:spcPts val="4759"/>
              </a:lnSpc>
            </a:pPr>
            <a:r>
              <a:rPr lang="en-US" sz="3399" b="true">
                <a:solidFill>
                  <a:srgbClr val="FFFFFF"/>
                </a:solidFill>
                <a:latin typeface="Canva Sans Bold"/>
                <a:ea typeface="Canva Sans Bold"/>
                <a:cs typeface="Canva Sans Bold"/>
                <a:sym typeface="Canva Sans Bold"/>
              </a:rPr>
              <a:t>The extent of man's knowledge and experience widens as a result of this drive</a:t>
            </a:r>
          </a:p>
          <a:p>
            <a:pPr algn="l">
              <a:lnSpc>
                <a:spcPts val="4759"/>
              </a:lnSpc>
            </a:pPr>
          </a:p>
          <a:p>
            <a:pPr algn="l">
              <a:lnSpc>
                <a:spcPts val="4759"/>
              </a:lnSpc>
            </a:pPr>
            <a:r>
              <a:rPr lang="en-US" sz="3399" b="true">
                <a:solidFill>
                  <a:srgbClr val="FFFFFF"/>
                </a:solidFill>
                <a:latin typeface="Canva Sans Bold"/>
                <a:ea typeface="Canva Sans Bold"/>
                <a:cs typeface="Canva Sans Bold"/>
                <a:sym typeface="Canva Sans Bold"/>
              </a:rPr>
              <a:t>Curiosity this adds to our competency</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451000" y="-375426"/>
            <a:ext cx="9837000" cy="11037852"/>
          </a:xfrm>
          <a:custGeom>
            <a:avLst/>
            <a:gdLst/>
            <a:ahLst/>
            <a:cxnLst/>
            <a:rect r="r" b="b" t="t" l="l"/>
            <a:pathLst>
              <a:path h="11037852" w="9837000">
                <a:moveTo>
                  <a:pt x="0" y="0"/>
                </a:moveTo>
                <a:lnTo>
                  <a:pt x="9837000" y="0"/>
                </a:lnTo>
                <a:lnTo>
                  <a:pt x="9837000" y="11037852"/>
                </a:lnTo>
                <a:lnTo>
                  <a:pt x="0" y="11037852"/>
                </a:lnTo>
                <a:lnTo>
                  <a:pt x="0" y="0"/>
                </a:lnTo>
                <a:close/>
              </a:path>
            </a:pathLst>
          </a:custGeom>
          <a:blipFill>
            <a:blip r:embed="rId2"/>
            <a:stretch>
              <a:fillRect l="-29410" t="0" r="-12624" b="0"/>
            </a:stretch>
          </a:blipFill>
        </p:spPr>
      </p:sp>
      <p:sp>
        <p:nvSpPr>
          <p:cNvPr name="TextBox 3" id="3"/>
          <p:cNvSpPr txBox="true"/>
          <p:nvPr/>
        </p:nvSpPr>
        <p:spPr>
          <a:xfrm rot="0">
            <a:off x="2041990" y="322156"/>
            <a:ext cx="2958621" cy="2147789"/>
          </a:xfrm>
          <a:prstGeom prst="rect">
            <a:avLst/>
          </a:prstGeom>
        </p:spPr>
        <p:txBody>
          <a:bodyPr anchor="t" rtlCol="false" tIns="0" lIns="0" bIns="0" rIns="0">
            <a:spAutoFit/>
          </a:bodyPr>
          <a:lstStyle/>
          <a:p>
            <a:pPr algn="ctr">
              <a:lnSpc>
                <a:spcPts val="17469"/>
              </a:lnSpc>
            </a:pPr>
            <a:r>
              <a:rPr lang="en-US" sz="12478">
                <a:solidFill>
                  <a:srgbClr val="FFDE59"/>
                </a:solidFill>
                <a:latin typeface="Lucidity Condensed"/>
                <a:ea typeface="Lucidity Condensed"/>
                <a:cs typeface="Lucidity Condensed"/>
                <a:sym typeface="Lucidity Condensed"/>
              </a:rPr>
              <a:t>fear</a:t>
            </a:r>
          </a:p>
        </p:txBody>
      </p:sp>
      <p:sp>
        <p:nvSpPr>
          <p:cNvPr name="TextBox 4" id="4"/>
          <p:cNvSpPr txBox="true"/>
          <p:nvPr/>
        </p:nvSpPr>
        <p:spPr>
          <a:xfrm rot="0">
            <a:off x="1028700" y="3619817"/>
            <a:ext cx="6915349" cy="2980690"/>
          </a:xfrm>
          <a:prstGeom prst="rect">
            <a:avLst/>
          </a:prstGeom>
        </p:spPr>
        <p:txBody>
          <a:bodyPr anchor="t" rtlCol="false" tIns="0" lIns="0" bIns="0" rIns="0">
            <a:spAutoFit/>
          </a:bodyPr>
          <a:lstStyle/>
          <a:p>
            <a:pPr algn="l">
              <a:lnSpc>
                <a:spcPts val="4759"/>
              </a:lnSpc>
            </a:pPr>
            <a:r>
              <a:rPr lang="en-US" sz="3399" b="true">
                <a:solidFill>
                  <a:srgbClr val="FFFFFF"/>
                </a:solidFill>
                <a:latin typeface="Canva Sans Bold"/>
                <a:ea typeface="Canva Sans Bold"/>
                <a:cs typeface="Canva Sans Bold"/>
                <a:sym typeface="Canva Sans Bold"/>
              </a:rPr>
              <a:t>Fear is a learned motive</a:t>
            </a:r>
          </a:p>
          <a:p>
            <a:pPr algn="l">
              <a:lnSpc>
                <a:spcPts val="4759"/>
              </a:lnSpc>
            </a:pPr>
          </a:p>
          <a:p>
            <a:pPr algn="l">
              <a:lnSpc>
                <a:spcPts val="4759"/>
              </a:lnSpc>
            </a:pPr>
            <a:r>
              <a:rPr lang="en-US" sz="3399" b="true">
                <a:solidFill>
                  <a:srgbClr val="FFFFFF"/>
                </a:solidFill>
                <a:latin typeface="Canva Sans Bold"/>
                <a:ea typeface="Canva Sans Bold"/>
                <a:cs typeface="Canva Sans Bold"/>
                <a:sym typeface="Canva Sans Bold"/>
              </a:rPr>
              <a:t>It motivates individuals to escape from fear producing situation</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467608" y="3603216"/>
            <a:ext cx="15352785" cy="2140506"/>
          </a:xfrm>
          <a:prstGeom prst="rect">
            <a:avLst/>
          </a:prstGeom>
        </p:spPr>
        <p:txBody>
          <a:bodyPr anchor="t" rtlCol="false" tIns="0" lIns="0" bIns="0" rIns="0">
            <a:spAutoFit/>
          </a:bodyPr>
          <a:lstStyle/>
          <a:p>
            <a:pPr algn="ctr">
              <a:lnSpc>
                <a:spcPts val="17469"/>
              </a:lnSpc>
            </a:pPr>
            <a:r>
              <a:rPr lang="en-US" sz="12478">
                <a:solidFill>
                  <a:srgbClr val="FF66C4"/>
                </a:solidFill>
                <a:latin typeface="Lucidity Condensed"/>
                <a:ea typeface="Lucidity Condensed"/>
                <a:cs typeface="Lucidity Condensed"/>
                <a:sym typeface="Lucidity Condensed"/>
              </a:rPr>
              <a:t>Unconscious motives </a:t>
            </a:r>
          </a:p>
        </p:txBody>
      </p:sp>
      <p:sp>
        <p:nvSpPr>
          <p:cNvPr name="TextBox 3" id="3"/>
          <p:cNvSpPr txBox="true"/>
          <p:nvPr/>
        </p:nvSpPr>
        <p:spPr>
          <a:xfrm rot="0">
            <a:off x="1307063" y="6026481"/>
            <a:ext cx="15673875" cy="712470"/>
          </a:xfrm>
          <a:prstGeom prst="rect">
            <a:avLst/>
          </a:prstGeom>
        </p:spPr>
        <p:txBody>
          <a:bodyPr anchor="t" rtlCol="false" tIns="0" lIns="0" bIns="0" rIns="0">
            <a:spAutoFit/>
          </a:bodyPr>
          <a:lstStyle/>
          <a:p>
            <a:pPr algn="ctr">
              <a:lnSpc>
                <a:spcPts val="5880"/>
              </a:lnSpc>
            </a:pPr>
            <a:r>
              <a:rPr lang="en-US" sz="4200" b="true">
                <a:solidFill>
                  <a:srgbClr val="FFFFFF"/>
                </a:solidFill>
                <a:latin typeface="Canva Sans Bold"/>
                <a:ea typeface="Canva Sans Bold"/>
                <a:cs typeface="Canva Sans Bold"/>
                <a:sym typeface="Canva Sans Bold"/>
              </a:rPr>
              <a:t>Unconscious motives are those of which we are not aware of</a:t>
            </a:r>
          </a:p>
        </p:txBody>
      </p:sp>
      <p:sp>
        <p:nvSpPr>
          <p:cNvPr name="TextBox 4" id="4"/>
          <p:cNvSpPr txBox="true"/>
          <p:nvPr/>
        </p:nvSpPr>
        <p:spPr>
          <a:xfrm rot="0">
            <a:off x="0" y="7440293"/>
            <a:ext cx="18288000" cy="1500505"/>
          </a:xfrm>
          <a:prstGeom prst="rect">
            <a:avLst/>
          </a:prstGeom>
        </p:spPr>
        <p:txBody>
          <a:bodyPr anchor="t" rtlCol="false" tIns="0" lIns="0" bIns="0" rIns="0">
            <a:spAutoFit/>
          </a:bodyPr>
          <a:lstStyle/>
          <a:p>
            <a:pPr algn="ctr">
              <a:lnSpc>
                <a:spcPts val="6019"/>
              </a:lnSpc>
            </a:pPr>
            <a:r>
              <a:rPr lang="en-US" sz="4299" b="true">
                <a:solidFill>
                  <a:srgbClr val="FFFFFF"/>
                </a:solidFill>
                <a:latin typeface="Canva Sans Bold"/>
                <a:ea typeface="Canva Sans Bold"/>
                <a:cs typeface="Canva Sans Bold"/>
                <a:sym typeface="Canva Sans Bold"/>
              </a:rPr>
              <a:t>They may be in the form of our repressed desires or wishes or complexes.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723360" cy="10211992"/>
          </a:xfrm>
          <a:custGeom>
            <a:avLst/>
            <a:gdLst/>
            <a:ahLst/>
            <a:cxnLst/>
            <a:rect r="r" b="b" t="t" l="l"/>
            <a:pathLst>
              <a:path h="10211992" w="9723360">
                <a:moveTo>
                  <a:pt x="0" y="0"/>
                </a:moveTo>
                <a:lnTo>
                  <a:pt x="9723360" y="0"/>
                </a:lnTo>
                <a:lnTo>
                  <a:pt x="9723360" y="10211992"/>
                </a:lnTo>
                <a:lnTo>
                  <a:pt x="0" y="10211992"/>
                </a:lnTo>
                <a:lnTo>
                  <a:pt x="0" y="0"/>
                </a:lnTo>
                <a:close/>
              </a:path>
            </a:pathLst>
          </a:custGeom>
          <a:blipFill>
            <a:blip r:embed="rId2"/>
            <a:stretch>
              <a:fillRect l="0" t="-17834" r="0" b="-17834"/>
            </a:stretch>
          </a:blipFill>
        </p:spPr>
      </p:sp>
      <p:sp>
        <p:nvSpPr>
          <p:cNvPr name="TextBox 3" id="3"/>
          <p:cNvSpPr txBox="true"/>
          <p:nvPr/>
        </p:nvSpPr>
        <p:spPr>
          <a:xfrm rot="0">
            <a:off x="10170621" y="1782089"/>
            <a:ext cx="7088679" cy="7181215"/>
          </a:xfrm>
          <a:prstGeom prst="rect">
            <a:avLst/>
          </a:prstGeom>
        </p:spPr>
        <p:txBody>
          <a:bodyPr anchor="t" rtlCol="false" tIns="0" lIns="0" bIns="0" rIns="0">
            <a:spAutoFit/>
          </a:bodyPr>
          <a:lstStyle/>
          <a:p>
            <a:pPr algn="l">
              <a:lnSpc>
                <a:spcPts val="4759"/>
              </a:lnSpc>
            </a:pPr>
            <a:r>
              <a:rPr lang="en-US" sz="3399" b="true">
                <a:solidFill>
                  <a:srgbClr val="FFFFFF"/>
                </a:solidFill>
                <a:latin typeface="Canva Sans Bold"/>
                <a:ea typeface="Canva Sans Bold"/>
                <a:cs typeface="Canva Sans Bold"/>
                <a:sym typeface="Canva Sans Bold"/>
              </a:rPr>
              <a:t>They determine our irrational fears or phobies,eccentric likes and dislikes, chronic headache and gastric troubles(for which we have no organic causes) and also neuroses and insanities.</a:t>
            </a:r>
          </a:p>
          <a:p>
            <a:pPr algn="l">
              <a:lnSpc>
                <a:spcPts val="4759"/>
              </a:lnSpc>
            </a:pPr>
            <a:r>
              <a:rPr lang="en-US" sz="3399" b="true">
                <a:solidFill>
                  <a:srgbClr val="FFFFFF"/>
                </a:solidFill>
                <a:latin typeface="Canva Sans Bold"/>
                <a:ea typeface="Canva Sans Bold"/>
                <a:cs typeface="Canva Sans Bold"/>
                <a:sym typeface="Canva Sans Bold"/>
              </a:rPr>
              <a:t>according to Freud,it is the unconscious mind that guids, directs and motivates dreams.the root cause of mental diseases is ttraceed to the unconscious mind</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3414860" y="3268698"/>
            <a:ext cx="11458279" cy="3368604"/>
          </a:xfrm>
          <a:prstGeom prst="rect">
            <a:avLst/>
          </a:prstGeom>
        </p:spPr>
        <p:txBody>
          <a:bodyPr anchor="t" rtlCol="false" tIns="0" lIns="0" bIns="0" rIns="0">
            <a:spAutoFit/>
          </a:bodyPr>
          <a:lstStyle/>
          <a:p>
            <a:pPr algn="ctr">
              <a:lnSpc>
                <a:spcPts val="27572"/>
              </a:lnSpc>
            </a:pPr>
            <a:r>
              <a:rPr lang="en-US" sz="19694">
                <a:solidFill>
                  <a:srgbClr val="8C52FF"/>
                </a:solidFill>
                <a:latin typeface="Lucidity Condensed"/>
                <a:ea typeface="Lucidity Condensed"/>
                <a:cs typeface="Lucidity Condensed"/>
                <a:sym typeface="Lucidity Condensed"/>
              </a:rPr>
              <a:t>Thankyou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DAGdB5QdBpo</dc:identifier>
  <dcterms:modified xsi:type="dcterms:W3CDTF">2011-08-01T06:04:30Z</dcterms:modified>
  <cp:revision>1</cp:revision>
  <dc:title>MOTIVATION</dc:title>
</cp:coreProperties>
</file>