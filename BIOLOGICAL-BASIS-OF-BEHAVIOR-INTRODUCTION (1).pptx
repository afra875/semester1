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4630400" cy="8229600"/>
  <p:notesSz cx="8229600" cy="14630400"/>
  <p:embeddedFontLst>
    <p:embeddedFont>
      <p:font typeface="Fira Mono Medium"/>
      <p:regular r:id="rId31"/>
    </p:embeddedFont>
    <p:embeddedFont>
      <p:font typeface="Fira Mono Medium"/>
      <p:regular r:id="rId32"/>
    </p:embeddedFont>
    <p:embeddedFont>
      <p:font typeface="Fira Sans"/>
      <p:regular r:id="rId33"/>
    </p:embeddedFont>
    <p:embeddedFont>
      <p:font typeface="Fira Sans"/>
      <p:regular r:id="rId34"/>
    </p:embeddedFont>
    <p:embeddedFont>
      <p:font typeface="Fira Sans"/>
      <p:regular r:id="rId35"/>
    </p:embeddedFont>
    <p:embeddedFont>
      <p:font typeface="Fira Sans"/>
      <p:regular r:id="rId36"/>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5-1.pn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6-1.png"/><Relationship Id="rId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7-1.png"/><Relationship Id="rId3"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8-1.png"/><Relationship Id="rId3"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9-1.png"/><Relationship Id="rId3"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0-1.png"/><Relationship Id="rId3"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1-1.png"/><Relationship Id="rId3"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2-1.png"/><Relationship Id="rId3"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3-1.png"/><Relationship Id="rId3"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4-1.png"/><Relationship Id="rId3"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5-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5.xml"/><Relationship Id="rId4"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797129"/>
            <a:ext cx="7556421" cy="2934653"/>
          </a:xfrm>
          <a:prstGeom prst="rect">
            <a:avLst/>
          </a:prstGeom>
          <a:noFill/>
          <a:ln/>
        </p:spPr>
        <p:txBody>
          <a:bodyPr wrap="square" lIns="0" tIns="0" rIns="0" bIns="0" rtlCol="0" anchor="t"/>
          <a:lstStyle/>
          <a:p>
            <a:pPr indent="0" marL="0">
              <a:lnSpc>
                <a:spcPts val="7700"/>
              </a:lnSpc>
              <a:buNone/>
            </a:pPr>
            <a:r>
              <a:rPr lang="en-US" sz="6150" dirty="0">
                <a:solidFill>
                  <a:srgbClr val="FBF3FA"/>
                </a:solidFill>
                <a:latin typeface="Fira Mono Medium" pitchFamily="34" charset="0"/>
                <a:ea typeface="Fira Mono Medium" pitchFamily="34" charset="-122"/>
                <a:cs typeface="Fira Mono Medium" pitchFamily="34" charset="-120"/>
              </a:rPr>
              <a:t>BIOLOGICAL BASIS OF BEHAVIOR-INTRODUCTION</a:t>
            </a:r>
            <a:endParaRPr lang="en-US" sz="6150" dirty="0"/>
          </a:p>
        </p:txBody>
      </p:sp>
      <p:sp>
        <p:nvSpPr>
          <p:cNvPr id="4" name="Text 1"/>
          <p:cNvSpPr/>
          <p:nvPr/>
        </p:nvSpPr>
        <p:spPr>
          <a:xfrm>
            <a:off x="6280190" y="5071943"/>
            <a:ext cx="7556421" cy="1360527"/>
          </a:xfrm>
          <a:prstGeom prst="rect">
            <a:avLst/>
          </a:prstGeom>
          <a:noFill/>
          <a:ln/>
        </p:spPr>
        <p:txBody>
          <a:bodyPr wrap="squar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This presentation explores the intricate relationship between the body and the mind, delving into the biological underpinnings of human behaviour.</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623768"/>
            <a:ext cx="2835235" cy="354330"/>
          </a:xfrm>
          <a:prstGeom prst="rect">
            <a:avLst/>
          </a:prstGeom>
          <a:noFill/>
          <a:ln/>
        </p:spPr>
        <p:txBody>
          <a:bodyPr wrap="none" lIns="0" tIns="0" rIns="0" bIns="0" rtlCol="0" anchor="t"/>
          <a:lstStyle/>
          <a:p>
            <a:pPr indent="0" marL="0">
              <a:lnSpc>
                <a:spcPts val="2750"/>
              </a:lnSpc>
              <a:buNone/>
            </a:pPr>
            <a:endParaRPr lang="en-US" sz="2200" dirty="0"/>
          </a:p>
        </p:txBody>
      </p:sp>
      <p:sp>
        <p:nvSpPr>
          <p:cNvPr id="3" name="Text 1"/>
          <p:cNvSpPr/>
          <p:nvPr/>
        </p:nvSpPr>
        <p:spPr>
          <a:xfrm>
            <a:off x="793790" y="1431727"/>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Psychology studies human behaviour, which involves both the body and the mind. They are interrelated and interact upon each other. Mental functions and physical states affect each other.</a:t>
            </a:r>
            <a:endParaRPr lang="en-US" sz="1750" dirty="0"/>
          </a:p>
        </p:txBody>
      </p:sp>
      <p:sp>
        <p:nvSpPr>
          <p:cNvPr id="4" name="Text 2"/>
          <p:cNvSpPr/>
          <p:nvPr/>
        </p:nvSpPr>
        <p:spPr>
          <a:xfrm>
            <a:off x="793790" y="2418040"/>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Body and the mind are two aspects of the living, dynamic and adjusting personality.</a:t>
            </a:r>
            <a:endParaRPr lang="en-US" sz="1750" dirty="0"/>
          </a:p>
        </p:txBody>
      </p:sp>
      <p:sp>
        <p:nvSpPr>
          <p:cNvPr id="5" name="Text 3"/>
          <p:cNvSpPr/>
          <p:nvPr/>
        </p:nvSpPr>
        <p:spPr>
          <a:xfrm>
            <a:off x="793790" y="2950845"/>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Mind is the sum total of various mental processes such as observing, knowing, thinking, reasoning, feeling, imagining, remembering, judging etc.</a:t>
            </a:r>
            <a:endParaRPr lang="en-US" sz="1750" dirty="0"/>
          </a:p>
        </p:txBody>
      </p:sp>
      <p:sp>
        <p:nvSpPr>
          <p:cNvPr id="6" name="Text 4"/>
          <p:cNvSpPr/>
          <p:nvPr/>
        </p:nvSpPr>
        <p:spPr>
          <a:xfrm>
            <a:off x="793790" y="3937159"/>
            <a:ext cx="13042821" cy="136052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Body is represented by physical states and bodily functions. Our nervous system and glands which are an important part of our body are responsible for our ways of thinking, feeling and doing.</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1862"/>
          </a:xfrm>
          <a:prstGeom prst="rect">
            <a:avLst/>
          </a:prstGeom>
        </p:spPr>
      </p:pic>
      <p:sp>
        <p:nvSpPr>
          <p:cNvPr id="3" name="Shape 0"/>
          <p:cNvSpPr/>
          <p:nvPr/>
        </p:nvSpPr>
        <p:spPr>
          <a:xfrm>
            <a:off x="6300311" y="567452"/>
            <a:ext cx="22860" cy="6142434"/>
          </a:xfrm>
          <a:prstGeom prst="roundRect">
            <a:avLst>
              <a:gd name="adj" fmla="val 135424"/>
            </a:avLst>
          </a:prstGeom>
          <a:solidFill>
            <a:srgbClr val="474748"/>
          </a:solidFill>
          <a:ln/>
        </p:spPr>
      </p:sp>
      <p:sp>
        <p:nvSpPr>
          <p:cNvPr id="4" name="Shape 1"/>
          <p:cNvSpPr/>
          <p:nvPr/>
        </p:nvSpPr>
        <p:spPr>
          <a:xfrm>
            <a:off x="6469440" y="968693"/>
            <a:ext cx="722233" cy="22860"/>
          </a:xfrm>
          <a:prstGeom prst="roundRect">
            <a:avLst>
              <a:gd name="adj" fmla="val 135424"/>
            </a:avLst>
          </a:prstGeom>
          <a:solidFill>
            <a:srgbClr val="474748"/>
          </a:solidFill>
          <a:ln/>
        </p:spPr>
      </p:sp>
      <p:sp>
        <p:nvSpPr>
          <p:cNvPr id="5" name="Shape 2"/>
          <p:cNvSpPr/>
          <p:nvPr/>
        </p:nvSpPr>
        <p:spPr>
          <a:xfrm>
            <a:off x="6131183" y="799624"/>
            <a:ext cx="361117" cy="361117"/>
          </a:xfrm>
          <a:prstGeom prst="roundRect">
            <a:avLst>
              <a:gd name="adj" fmla="val 8573"/>
            </a:avLst>
          </a:prstGeom>
          <a:solidFill>
            <a:srgbClr val="2E2E2F"/>
          </a:solidFill>
          <a:ln/>
        </p:spPr>
      </p:sp>
      <p:sp>
        <p:nvSpPr>
          <p:cNvPr id="6" name="Text 3"/>
          <p:cNvSpPr/>
          <p:nvPr/>
        </p:nvSpPr>
        <p:spPr>
          <a:xfrm>
            <a:off x="7446764" y="773787"/>
            <a:ext cx="2579727" cy="322421"/>
          </a:xfrm>
          <a:prstGeom prst="rect">
            <a:avLst/>
          </a:prstGeom>
          <a:noFill/>
          <a:ln/>
        </p:spPr>
        <p:txBody>
          <a:bodyPr wrap="none" lIns="0" tIns="0" rIns="0" bIns="0" rtlCol="0" anchor="t"/>
          <a:lstStyle/>
          <a:p>
            <a:pPr algn="l" indent="0" marL="0">
              <a:lnSpc>
                <a:spcPts val="2500"/>
              </a:lnSpc>
              <a:buNone/>
            </a:pPr>
            <a:endParaRPr lang="en-US" sz="2000" dirty="0"/>
          </a:p>
        </p:txBody>
      </p:sp>
      <p:sp>
        <p:nvSpPr>
          <p:cNvPr id="7" name="Text 4"/>
          <p:cNvSpPr/>
          <p:nvPr/>
        </p:nvSpPr>
        <p:spPr>
          <a:xfrm>
            <a:off x="7446764" y="1220033"/>
            <a:ext cx="6461403" cy="2063948"/>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E0D6DE"/>
                </a:solidFill>
                <a:latin typeface="Fira Sans" pitchFamily="34" charset="0"/>
                <a:ea typeface="Fira Sans" pitchFamily="34" charset="-122"/>
                <a:cs typeface="Fira Sans" pitchFamily="34" charset="-120"/>
              </a:rPr>
              <a:t>All behaviours have an anatomical and physiological basis. Physiological structures, body fluids, chemicals and mechanical events, all influence both our overt behaviour and our feelings and experiences.</a:t>
            </a:r>
            <a:endParaRPr lang="en-US" sz="1600" dirty="0"/>
          </a:p>
        </p:txBody>
      </p:sp>
      <p:sp>
        <p:nvSpPr>
          <p:cNvPr id="8" name="Shape 5"/>
          <p:cNvSpPr/>
          <p:nvPr/>
        </p:nvSpPr>
        <p:spPr>
          <a:xfrm>
            <a:off x="6469440" y="4097893"/>
            <a:ext cx="722233" cy="22860"/>
          </a:xfrm>
          <a:prstGeom prst="roundRect">
            <a:avLst>
              <a:gd name="adj" fmla="val 135424"/>
            </a:avLst>
          </a:prstGeom>
          <a:solidFill>
            <a:srgbClr val="474748"/>
          </a:solidFill>
          <a:ln/>
        </p:spPr>
      </p:sp>
      <p:sp>
        <p:nvSpPr>
          <p:cNvPr id="9" name="Shape 6"/>
          <p:cNvSpPr/>
          <p:nvPr/>
        </p:nvSpPr>
        <p:spPr>
          <a:xfrm>
            <a:off x="6131183" y="3928824"/>
            <a:ext cx="361117" cy="361117"/>
          </a:xfrm>
          <a:prstGeom prst="roundRect">
            <a:avLst>
              <a:gd name="adj" fmla="val 8573"/>
            </a:avLst>
          </a:prstGeom>
          <a:solidFill>
            <a:srgbClr val="2E2E2F"/>
          </a:solidFill>
          <a:ln/>
        </p:spPr>
      </p:sp>
      <p:sp>
        <p:nvSpPr>
          <p:cNvPr id="10" name="Text 7"/>
          <p:cNvSpPr/>
          <p:nvPr/>
        </p:nvSpPr>
        <p:spPr>
          <a:xfrm>
            <a:off x="7446764" y="3902988"/>
            <a:ext cx="6461403" cy="412790"/>
          </a:xfrm>
          <a:prstGeom prst="rect">
            <a:avLst/>
          </a:prstGeom>
          <a:noFill/>
          <a:ln/>
        </p:spPr>
        <p:txBody>
          <a:bodyPr wrap="none" lIns="0" tIns="0" rIns="0" bIns="0" rtlCol="0" anchor="t"/>
          <a:lstStyle/>
          <a:p>
            <a:pPr algn="l" indent="0" marL="0">
              <a:lnSpc>
                <a:spcPts val="3250"/>
              </a:lnSpc>
              <a:buNone/>
            </a:pPr>
            <a:endParaRPr lang="en-US" sz="2000" dirty="0"/>
          </a:p>
        </p:txBody>
      </p:sp>
      <p:sp>
        <p:nvSpPr>
          <p:cNvPr id="11" name="Text 8"/>
          <p:cNvSpPr/>
          <p:nvPr/>
        </p:nvSpPr>
        <p:spPr>
          <a:xfrm>
            <a:off x="7446764" y="4439603"/>
            <a:ext cx="6461403" cy="2063948"/>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E0D6DE"/>
                </a:solidFill>
                <a:latin typeface="Fira Sans" pitchFamily="34" charset="0"/>
                <a:ea typeface="Fira Sans" pitchFamily="34" charset="-122"/>
                <a:cs typeface="Fira Sans" pitchFamily="34" charset="-120"/>
              </a:rPr>
              <a:t>Emotions are a combination of bodily responses and mental processes. Body provides energy to fight or cope, mind contributes to the understanding, to offer an explanation for one's own actions or actions of others.</a:t>
            </a:r>
            <a:endParaRPr lang="en-US" sz="1600" dirty="0"/>
          </a:p>
        </p:txBody>
      </p:sp>
      <p:sp>
        <p:nvSpPr>
          <p:cNvPr id="12" name="Text 9"/>
          <p:cNvSpPr/>
          <p:nvPr/>
        </p:nvSpPr>
        <p:spPr>
          <a:xfrm>
            <a:off x="6208633" y="7019449"/>
            <a:ext cx="5159573" cy="644962"/>
          </a:xfrm>
          <a:prstGeom prst="rect">
            <a:avLst/>
          </a:prstGeom>
          <a:noFill/>
          <a:ln/>
        </p:spPr>
        <p:txBody>
          <a:bodyPr wrap="none" lIns="0" tIns="0" rIns="0" bIns="0" rtlCol="0" anchor="t"/>
          <a:lstStyle/>
          <a:p>
            <a:pPr indent="0" marL="0">
              <a:lnSpc>
                <a:spcPts val="5050"/>
              </a:lnSpc>
              <a:buNone/>
            </a:pPr>
            <a:endParaRPr lang="en-US" sz="4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78788"/>
            <a:ext cx="13042821" cy="1417558"/>
          </a:xfrm>
          <a:prstGeom prst="rect">
            <a:avLst/>
          </a:prstGeom>
          <a:noFill/>
          <a:ln/>
        </p:spPr>
        <p:txBody>
          <a:bodyPr wrap="square" lIns="0" tIns="0" rIns="0" bIns="0" rtlCol="0" anchor="t"/>
          <a:lstStyle/>
          <a:p>
            <a:pPr indent="0" marL="0">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EFFECTS OF BODILY CONDITIONS ON MENTAL FUNCTIONING</a:t>
            </a:r>
            <a:endParaRPr lang="en-US" sz="4450" dirty="0"/>
          </a:p>
        </p:txBody>
      </p:sp>
      <p:sp>
        <p:nvSpPr>
          <p:cNvPr id="3" name="Shape 1"/>
          <p:cNvSpPr/>
          <p:nvPr/>
        </p:nvSpPr>
        <p:spPr>
          <a:xfrm>
            <a:off x="793790" y="2536508"/>
            <a:ext cx="13042821" cy="4914305"/>
          </a:xfrm>
          <a:prstGeom prst="roundRect">
            <a:avLst>
              <a:gd name="adj" fmla="val 692"/>
            </a:avLst>
          </a:prstGeom>
          <a:noFill/>
          <a:ln w="7620">
            <a:solidFill>
              <a:srgbClr val="FFFFFF">
                <a:alpha val="24000"/>
              </a:srgbClr>
            </a:solidFill>
            <a:prstDash val="solid"/>
          </a:ln>
        </p:spPr>
      </p:sp>
      <p:sp>
        <p:nvSpPr>
          <p:cNvPr id="4" name="Shape 2"/>
          <p:cNvSpPr/>
          <p:nvPr/>
        </p:nvSpPr>
        <p:spPr>
          <a:xfrm>
            <a:off x="801410" y="2544128"/>
            <a:ext cx="13027581" cy="740926"/>
          </a:xfrm>
          <a:prstGeom prst="rect">
            <a:avLst/>
          </a:prstGeom>
          <a:solidFill>
            <a:srgbClr val="FFFFFF">
              <a:alpha val="4000"/>
            </a:srgbClr>
          </a:solidFill>
          <a:ln/>
        </p:spPr>
      </p:sp>
      <p:sp>
        <p:nvSpPr>
          <p:cNvPr id="5" name="Text 3"/>
          <p:cNvSpPr/>
          <p:nvPr/>
        </p:nvSpPr>
        <p:spPr>
          <a:xfrm>
            <a:off x="1028224" y="2687836"/>
            <a:ext cx="6056352" cy="453509"/>
          </a:xfrm>
          <a:prstGeom prst="rect">
            <a:avLst/>
          </a:prstGeom>
          <a:noFill/>
          <a:ln/>
        </p:spPr>
        <p:txBody>
          <a:bodyPr wrap="non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Increased blood pressure</a:t>
            </a:r>
            <a:endParaRPr lang="en-US" sz="2200" dirty="0"/>
          </a:p>
        </p:txBody>
      </p:sp>
      <p:sp>
        <p:nvSpPr>
          <p:cNvPr id="6" name="Text 4"/>
          <p:cNvSpPr/>
          <p:nvPr/>
        </p:nvSpPr>
        <p:spPr>
          <a:xfrm>
            <a:off x="7545824" y="2687836"/>
            <a:ext cx="6056352" cy="453509"/>
          </a:xfrm>
          <a:prstGeom prst="rect">
            <a:avLst/>
          </a:prstGeom>
          <a:noFill/>
          <a:ln/>
        </p:spPr>
        <p:txBody>
          <a:bodyPr wrap="non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Mental excitement</a:t>
            </a:r>
            <a:endParaRPr lang="en-US" sz="2200" dirty="0"/>
          </a:p>
        </p:txBody>
      </p:sp>
      <p:sp>
        <p:nvSpPr>
          <p:cNvPr id="7" name="Shape 5"/>
          <p:cNvSpPr/>
          <p:nvPr/>
        </p:nvSpPr>
        <p:spPr>
          <a:xfrm>
            <a:off x="801410" y="3285053"/>
            <a:ext cx="13027581" cy="740926"/>
          </a:xfrm>
          <a:prstGeom prst="rect">
            <a:avLst/>
          </a:prstGeom>
          <a:solidFill>
            <a:srgbClr val="000000">
              <a:alpha val="4000"/>
            </a:srgbClr>
          </a:solidFill>
          <a:ln/>
        </p:spPr>
      </p:sp>
      <p:sp>
        <p:nvSpPr>
          <p:cNvPr id="8" name="Text 6"/>
          <p:cNvSpPr/>
          <p:nvPr/>
        </p:nvSpPr>
        <p:spPr>
          <a:xfrm>
            <a:off x="1028224" y="3428762"/>
            <a:ext cx="6056352" cy="453509"/>
          </a:xfrm>
          <a:prstGeom prst="rect">
            <a:avLst/>
          </a:prstGeom>
          <a:noFill/>
          <a:ln/>
        </p:spPr>
        <p:txBody>
          <a:bodyPr wrap="non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Severe pain</a:t>
            </a:r>
            <a:endParaRPr lang="en-US" sz="2200" dirty="0"/>
          </a:p>
        </p:txBody>
      </p:sp>
      <p:sp>
        <p:nvSpPr>
          <p:cNvPr id="9" name="Text 7"/>
          <p:cNvSpPr/>
          <p:nvPr/>
        </p:nvSpPr>
        <p:spPr>
          <a:xfrm>
            <a:off x="7545824" y="3428762"/>
            <a:ext cx="6056352" cy="453509"/>
          </a:xfrm>
          <a:prstGeom prst="rect">
            <a:avLst/>
          </a:prstGeom>
          <a:noFill/>
          <a:ln/>
        </p:spPr>
        <p:txBody>
          <a:bodyPr wrap="non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Reduced concentration level</a:t>
            </a:r>
            <a:endParaRPr lang="en-US" sz="2200" dirty="0"/>
          </a:p>
        </p:txBody>
      </p:sp>
      <p:sp>
        <p:nvSpPr>
          <p:cNvPr id="10" name="Shape 8"/>
          <p:cNvSpPr/>
          <p:nvPr/>
        </p:nvSpPr>
        <p:spPr>
          <a:xfrm>
            <a:off x="801410" y="4025979"/>
            <a:ext cx="13027581" cy="740926"/>
          </a:xfrm>
          <a:prstGeom prst="rect">
            <a:avLst/>
          </a:prstGeom>
          <a:solidFill>
            <a:srgbClr val="FFFFFF">
              <a:alpha val="4000"/>
            </a:srgbClr>
          </a:solidFill>
          <a:ln/>
        </p:spPr>
      </p:sp>
      <p:sp>
        <p:nvSpPr>
          <p:cNvPr id="11" name="Text 9"/>
          <p:cNvSpPr/>
          <p:nvPr/>
        </p:nvSpPr>
        <p:spPr>
          <a:xfrm>
            <a:off x="1028224" y="4169688"/>
            <a:ext cx="6056352" cy="453509"/>
          </a:xfrm>
          <a:prstGeom prst="rect">
            <a:avLst/>
          </a:prstGeom>
          <a:noFill/>
          <a:ln/>
        </p:spPr>
        <p:txBody>
          <a:bodyPr wrap="non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Chronic illness</a:t>
            </a:r>
            <a:endParaRPr lang="en-US" sz="2200" dirty="0"/>
          </a:p>
        </p:txBody>
      </p:sp>
      <p:sp>
        <p:nvSpPr>
          <p:cNvPr id="12" name="Text 10"/>
          <p:cNvSpPr/>
          <p:nvPr/>
        </p:nvSpPr>
        <p:spPr>
          <a:xfrm>
            <a:off x="7545824" y="4169688"/>
            <a:ext cx="6056352" cy="453509"/>
          </a:xfrm>
          <a:prstGeom prst="rect">
            <a:avLst/>
          </a:prstGeom>
          <a:noFill/>
          <a:ln/>
        </p:spPr>
        <p:txBody>
          <a:bodyPr wrap="non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Depression</a:t>
            </a:r>
            <a:endParaRPr lang="en-US" sz="2200" dirty="0"/>
          </a:p>
        </p:txBody>
      </p:sp>
      <p:sp>
        <p:nvSpPr>
          <p:cNvPr id="13" name="Shape 11"/>
          <p:cNvSpPr/>
          <p:nvPr/>
        </p:nvSpPr>
        <p:spPr>
          <a:xfrm>
            <a:off x="801410" y="4766905"/>
            <a:ext cx="13027581" cy="740926"/>
          </a:xfrm>
          <a:prstGeom prst="rect">
            <a:avLst/>
          </a:prstGeom>
          <a:solidFill>
            <a:srgbClr val="000000">
              <a:alpha val="4000"/>
            </a:srgbClr>
          </a:solidFill>
          <a:ln/>
        </p:spPr>
      </p:sp>
      <p:sp>
        <p:nvSpPr>
          <p:cNvPr id="14" name="Text 12"/>
          <p:cNvSpPr/>
          <p:nvPr/>
        </p:nvSpPr>
        <p:spPr>
          <a:xfrm>
            <a:off x="1028224" y="4910614"/>
            <a:ext cx="6056352" cy="453509"/>
          </a:xfrm>
          <a:prstGeom prst="rect">
            <a:avLst/>
          </a:prstGeom>
          <a:noFill/>
          <a:ln/>
        </p:spPr>
        <p:txBody>
          <a:bodyPr wrap="non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Malfunctioning of endocrine glands</a:t>
            </a:r>
            <a:endParaRPr lang="en-US" sz="2200" dirty="0"/>
          </a:p>
        </p:txBody>
      </p:sp>
      <p:sp>
        <p:nvSpPr>
          <p:cNvPr id="15" name="Text 13"/>
          <p:cNvSpPr/>
          <p:nvPr/>
        </p:nvSpPr>
        <p:spPr>
          <a:xfrm>
            <a:off x="7545824" y="4910614"/>
            <a:ext cx="6056352" cy="453509"/>
          </a:xfrm>
          <a:prstGeom prst="rect">
            <a:avLst/>
          </a:prstGeom>
          <a:noFill/>
          <a:ln/>
        </p:spPr>
        <p:txBody>
          <a:bodyPr wrap="non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Lethargy, nervous tension etc.</a:t>
            </a:r>
            <a:endParaRPr lang="en-US" sz="2200" dirty="0"/>
          </a:p>
        </p:txBody>
      </p:sp>
      <p:sp>
        <p:nvSpPr>
          <p:cNvPr id="16" name="Shape 14"/>
          <p:cNvSpPr/>
          <p:nvPr/>
        </p:nvSpPr>
        <p:spPr>
          <a:xfrm>
            <a:off x="801410" y="5507831"/>
            <a:ext cx="13027581" cy="1194435"/>
          </a:xfrm>
          <a:prstGeom prst="rect">
            <a:avLst/>
          </a:prstGeom>
          <a:solidFill>
            <a:srgbClr val="FFFFFF">
              <a:alpha val="4000"/>
            </a:srgbClr>
          </a:solidFill>
          <a:ln/>
        </p:spPr>
      </p:sp>
      <p:sp>
        <p:nvSpPr>
          <p:cNvPr id="17" name="Text 15"/>
          <p:cNvSpPr/>
          <p:nvPr/>
        </p:nvSpPr>
        <p:spPr>
          <a:xfrm>
            <a:off x="1028224" y="5651540"/>
            <a:ext cx="6056352" cy="453509"/>
          </a:xfrm>
          <a:prstGeom prst="rect">
            <a:avLst/>
          </a:prstGeom>
          <a:noFill/>
          <a:ln/>
        </p:spPr>
        <p:txBody>
          <a:bodyPr wrap="non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Physical fatigue</a:t>
            </a:r>
            <a:endParaRPr lang="en-US" sz="2200" dirty="0"/>
          </a:p>
        </p:txBody>
      </p:sp>
      <p:sp>
        <p:nvSpPr>
          <p:cNvPr id="18" name="Text 16"/>
          <p:cNvSpPr/>
          <p:nvPr/>
        </p:nvSpPr>
        <p:spPr>
          <a:xfrm>
            <a:off x="7545824" y="5651540"/>
            <a:ext cx="6056352" cy="907018"/>
          </a:xfrm>
          <a:prstGeom prst="rect">
            <a:avLst/>
          </a:prstGeom>
          <a:noFill/>
          <a:ln/>
        </p:spPr>
        <p:txBody>
          <a:bodyPr wrap="squar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Mood changes, reduced motivation, interest and concentration</a:t>
            </a:r>
            <a:endParaRPr lang="en-US" sz="2200" dirty="0"/>
          </a:p>
        </p:txBody>
      </p:sp>
      <p:sp>
        <p:nvSpPr>
          <p:cNvPr id="19" name="Shape 17"/>
          <p:cNvSpPr/>
          <p:nvPr/>
        </p:nvSpPr>
        <p:spPr>
          <a:xfrm>
            <a:off x="801410" y="6702266"/>
            <a:ext cx="13027581" cy="740926"/>
          </a:xfrm>
          <a:prstGeom prst="rect">
            <a:avLst/>
          </a:prstGeom>
          <a:solidFill>
            <a:srgbClr val="000000">
              <a:alpha val="4000"/>
            </a:srgbClr>
          </a:solidFill>
          <a:ln/>
        </p:spPr>
      </p:sp>
      <p:sp>
        <p:nvSpPr>
          <p:cNvPr id="20" name="Text 18"/>
          <p:cNvSpPr/>
          <p:nvPr/>
        </p:nvSpPr>
        <p:spPr>
          <a:xfrm>
            <a:off x="1028224" y="6845975"/>
            <a:ext cx="6056352" cy="453509"/>
          </a:xfrm>
          <a:prstGeom prst="rect">
            <a:avLst/>
          </a:prstGeom>
          <a:noFill/>
          <a:ln/>
        </p:spPr>
        <p:txBody>
          <a:bodyPr wrap="non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Brain injury</a:t>
            </a:r>
            <a:endParaRPr lang="en-US" sz="2200" dirty="0"/>
          </a:p>
        </p:txBody>
      </p:sp>
      <p:sp>
        <p:nvSpPr>
          <p:cNvPr id="21" name="Text 19"/>
          <p:cNvSpPr/>
          <p:nvPr/>
        </p:nvSpPr>
        <p:spPr>
          <a:xfrm>
            <a:off x="7545824" y="6845975"/>
            <a:ext cx="6056352" cy="453509"/>
          </a:xfrm>
          <a:prstGeom prst="rect">
            <a:avLst/>
          </a:prstGeom>
          <a:noFill/>
          <a:ln/>
        </p:spPr>
        <p:txBody>
          <a:bodyPr wrap="non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Affects many psychological functions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66788"/>
            <a:ext cx="13042821" cy="1417558"/>
          </a:xfrm>
          <a:prstGeom prst="rect">
            <a:avLst/>
          </a:prstGeom>
          <a:noFill/>
          <a:ln/>
        </p:spPr>
        <p:txBody>
          <a:bodyPr wrap="square" lIns="0" tIns="0" rIns="0" bIns="0" rtlCol="0" anchor="t"/>
          <a:lstStyle/>
          <a:p>
            <a:pPr indent="0" marL="0">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EFFECTS OF MENTAL CONDITIONS ON BODILY FUNCTIONING</a:t>
            </a:r>
            <a:endParaRPr lang="en-US" sz="4450" dirty="0"/>
          </a:p>
        </p:txBody>
      </p:sp>
      <p:sp>
        <p:nvSpPr>
          <p:cNvPr id="3" name="Shape 1"/>
          <p:cNvSpPr/>
          <p:nvPr/>
        </p:nvSpPr>
        <p:spPr>
          <a:xfrm>
            <a:off x="793790" y="2979658"/>
            <a:ext cx="510302" cy="510302"/>
          </a:xfrm>
          <a:prstGeom prst="roundRect">
            <a:avLst>
              <a:gd name="adj" fmla="val 6667"/>
            </a:avLst>
          </a:prstGeom>
          <a:solidFill>
            <a:srgbClr val="2E2E2F"/>
          </a:solidFill>
          <a:ln/>
        </p:spPr>
      </p:sp>
      <p:sp>
        <p:nvSpPr>
          <p:cNvPr id="4" name="Text 2"/>
          <p:cNvSpPr/>
          <p:nvPr/>
        </p:nvSpPr>
        <p:spPr>
          <a:xfrm>
            <a:off x="946785" y="3064669"/>
            <a:ext cx="204192" cy="340281"/>
          </a:xfrm>
          <a:prstGeom prst="rect">
            <a:avLst/>
          </a:prstGeom>
          <a:noFill/>
          <a:ln/>
        </p:spPr>
        <p:txBody>
          <a:bodyPr wrap="none" lIns="0" tIns="0" rIns="0" bIns="0" rtlCol="0" anchor="t"/>
          <a:lstStyle/>
          <a:p>
            <a:pPr algn="ctr" indent="0" marL="0">
              <a:lnSpc>
                <a:spcPts val="2650"/>
              </a:lnSpc>
              <a:buNone/>
            </a:pPr>
            <a:r>
              <a:rPr lang="en-US" sz="2650" dirty="0">
                <a:solidFill>
                  <a:srgbClr val="E0D6DE"/>
                </a:solidFill>
                <a:latin typeface="Fira Mono Medium" pitchFamily="34" charset="0"/>
                <a:ea typeface="Fira Mono Medium" pitchFamily="34" charset="-122"/>
                <a:cs typeface="Fira Mono Medium" pitchFamily="34" charset="-120"/>
              </a:rPr>
              <a:t>1</a:t>
            </a:r>
            <a:endParaRPr lang="en-US" sz="2650" dirty="0"/>
          </a:p>
        </p:txBody>
      </p:sp>
      <p:sp>
        <p:nvSpPr>
          <p:cNvPr id="5" name="Text 3"/>
          <p:cNvSpPr/>
          <p:nvPr/>
        </p:nvSpPr>
        <p:spPr>
          <a:xfrm>
            <a:off x="1530906" y="2979658"/>
            <a:ext cx="2835235" cy="354330"/>
          </a:xfrm>
          <a:prstGeom prst="rect">
            <a:avLst/>
          </a:prstGeom>
          <a:noFill/>
          <a:ln/>
        </p:spPr>
        <p:txBody>
          <a:bodyPr wrap="none" lIns="0" tIns="0" rIns="0" bIns="0" rtlCol="0" anchor="t"/>
          <a:lstStyle/>
          <a:p>
            <a:pPr indent="0" marL="0">
              <a:lnSpc>
                <a:spcPts val="2750"/>
              </a:lnSpc>
              <a:buNone/>
            </a:pPr>
            <a:endParaRPr lang="en-US" sz="2200" dirty="0"/>
          </a:p>
        </p:txBody>
      </p:sp>
      <p:sp>
        <p:nvSpPr>
          <p:cNvPr id="6" name="Text 4"/>
          <p:cNvSpPr/>
          <p:nvPr/>
        </p:nvSpPr>
        <p:spPr>
          <a:xfrm>
            <a:off x="1530906" y="3470077"/>
            <a:ext cx="3459242" cy="1814036"/>
          </a:xfrm>
          <a:prstGeom prst="rect">
            <a:avLst/>
          </a:prstGeom>
          <a:noFill/>
          <a:ln/>
        </p:spPr>
        <p:txBody>
          <a:bodyPr wrap="squar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Unpleasant emotions like fear, anger etc cause irritability, insomnia, headache etc.</a:t>
            </a:r>
            <a:endParaRPr lang="en-US" sz="2200" dirty="0"/>
          </a:p>
        </p:txBody>
      </p:sp>
      <p:sp>
        <p:nvSpPr>
          <p:cNvPr id="7" name="Shape 5"/>
          <p:cNvSpPr/>
          <p:nvPr/>
        </p:nvSpPr>
        <p:spPr>
          <a:xfrm>
            <a:off x="5216962" y="2979658"/>
            <a:ext cx="510302" cy="510302"/>
          </a:xfrm>
          <a:prstGeom prst="roundRect">
            <a:avLst>
              <a:gd name="adj" fmla="val 6667"/>
            </a:avLst>
          </a:prstGeom>
          <a:solidFill>
            <a:srgbClr val="2E2E2F"/>
          </a:solidFill>
          <a:ln/>
        </p:spPr>
      </p:sp>
      <p:sp>
        <p:nvSpPr>
          <p:cNvPr id="8" name="Text 6"/>
          <p:cNvSpPr/>
          <p:nvPr/>
        </p:nvSpPr>
        <p:spPr>
          <a:xfrm>
            <a:off x="5369957" y="3064669"/>
            <a:ext cx="204192" cy="340281"/>
          </a:xfrm>
          <a:prstGeom prst="rect">
            <a:avLst/>
          </a:prstGeom>
          <a:noFill/>
          <a:ln/>
        </p:spPr>
        <p:txBody>
          <a:bodyPr wrap="none" lIns="0" tIns="0" rIns="0" bIns="0" rtlCol="0" anchor="t"/>
          <a:lstStyle/>
          <a:p>
            <a:pPr algn="ctr" indent="0" marL="0">
              <a:lnSpc>
                <a:spcPts val="2650"/>
              </a:lnSpc>
              <a:buNone/>
            </a:pPr>
            <a:r>
              <a:rPr lang="en-US" sz="2650" dirty="0">
                <a:solidFill>
                  <a:srgbClr val="E0D6DE"/>
                </a:solidFill>
                <a:latin typeface="Fira Mono Medium" pitchFamily="34" charset="0"/>
                <a:ea typeface="Fira Mono Medium" pitchFamily="34" charset="-122"/>
                <a:cs typeface="Fira Mono Medium" pitchFamily="34" charset="-120"/>
              </a:rPr>
              <a:t>2</a:t>
            </a:r>
            <a:endParaRPr lang="en-US" sz="2650" dirty="0"/>
          </a:p>
        </p:txBody>
      </p:sp>
      <p:sp>
        <p:nvSpPr>
          <p:cNvPr id="9" name="Text 7"/>
          <p:cNvSpPr/>
          <p:nvPr/>
        </p:nvSpPr>
        <p:spPr>
          <a:xfrm>
            <a:off x="5954078" y="2979658"/>
            <a:ext cx="3459242" cy="453509"/>
          </a:xfrm>
          <a:prstGeom prst="rect">
            <a:avLst/>
          </a:prstGeom>
          <a:noFill/>
          <a:ln/>
        </p:spPr>
        <p:txBody>
          <a:bodyPr wrap="none" lIns="0" tIns="0" rIns="0" bIns="0" rtlCol="0" anchor="t"/>
          <a:lstStyle/>
          <a:p>
            <a:pPr indent="0" marL="0">
              <a:lnSpc>
                <a:spcPts val="3550"/>
              </a:lnSpc>
              <a:buNone/>
            </a:pPr>
            <a:endParaRPr lang="en-US" sz="2200" dirty="0"/>
          </a:p>
        </p:txBody>
      </p:sp>
      <p:sp>
        <p:nvSpPr>
          <p:cNvPr id="10" name="Text 8"/>
          <p:cNvSpPr/>
          <p:nvPr/>
        </p:nvSpPr>
        <p:spPr>
          <a:xfrm>
            <a:off x="5954078" y="3569256"/>
            <a:ext cx="3459242" cy="1360527"/>
          </a:xfrm>
          <a:prstGeom prst="rect">
            <a:avLst/>
          </a:prstGeom>
          <a:noFill/>
          <a:ln/>
        </p:spPr>
        <p:txBody>
          <a:bodyPr wrap="squar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Emotional conflicts are responsible for peptic ulcer, ulcerative colitis etc.</a:t>
            </a:r>
            <a:endParaRPr lang="en-US" sz="2200" dirty="0"/>
          </a:p>
        </p:txBody>
      </p:sp>
      <p:sp>
        <p:nvSpPr>
          <p:cNvPr id="11" name="Shape 9"/>
          <p:cNvSpPr/>
          <p:nvPr/>
        </p:nvSpPr>
        <p:spPr>
          <a:xfrm>
            <a:off x="9640133" y="2979658"/>
            <a:ext cx="510302" cy="510302"/>
          </a:xfrm>
          <a:prstGeom prst="roundRect">
            <a:avLst>
              <a:gd name="adj" fmla="val 6667"/>
            </a:avLst>
          </a:prstGeom>
          <a:solidFill>
            <a:srgbClr val="2E2E2F"/>
          </a:solidFill>
          <a:ln/>
        </p:spPr>
      </p:sp>
      <p:sp>
        <p:nvSpPr>
          <p:cNvPr id="12" name="Text 10"/>
          <p:cNvSpPr/>
          <p:nvPr/>
        </p:nvSpPr>
        <p:spPr>
          <a:xfrm>
            <a:off x="9793129" y="3064669"/>
            <a:ext cx="204192" cy="340281"/>
          </a:xfrm>
          <a:prstGeom prst="rect">
            <a:avLst/>
          </a:prstGeom>
          <a:noFill/>
          <a:ln/>
        </p:spPr>
        <p:txBody>
          <a:bodyPr wrap="none" lIns="0" tIns="0" rIns="0" bIns="0" rtlCol="0" anchor="t"/>
          <a:lstStyle/>
          <a:p>
            <a:pPr algn="ctr" indent="0" marL="0">
              <a:lnSpc>
                <a:spcPts val="2650"/>
              </a:lnSpc>
              <a:buNone/>
            </a:pPr>
            <a:r>
              <a:rPr lang="en-US" sz="2650" dirty="0">
                <a:solidFill>
                  <a:srgbClr val="E0D6DE"/>
                </a:solidFill>
                <a:latin typeface="Fira Mono Medium" pitchFamily="34" charset="0"/>
                <a:ea typeface="Fira Mono Medium" pitchFamily="34" charset="-122"/>
                <a:cs typeface="Fira Mono Medium" pitchFamily="34" charset="-120"/>
              </a:rPr>
              <a:t>3</a:t>
            </a:r>
            <a:endParaRPr lang="en-US" sz="2650" dirty="0"/>
          </a:p>
        </p:txBody>
      </p:sp>
      <p:sp>
        <p:nvSpPr>
          <p:cNvPr id="13" name="Text 11"/>
          <p:cNvSpPr/>
          <p:nvPr/>
        </p:nvSpPr>
        <p:spPr>
          <a:xfrm>
            <a:off x="10377249" y="2979658"/>
            <a:ext cx="3459242" cy="453509"/>
          </a:xfrm>
          <a:prstGeom prst="rect">
            <a:avLst/>
          </a:prstGeom>
          <a:noFill/>
          <a:ln/>
        </p:spPr>
        <p:txBody>
          <a:bodyPr wrap="none" lIns="0" tIns="0" rIns="0" bIns="0" rtlCol="0" anchor="t"/>
          <a:lstStyle/>
          <a:p>
            <a:pPr indent="0" marL="0">
              <a:lnSpc>
                <a:spcPts val="3550"/>
              </a:lnSpc>
              <a:buNone/>
            </a:pPr>
            <a:endParaRPr lang="en-US" sz="2200" dirty="0"/>
          </a:p>
        </p:txBody>
      </p:sp>
      <p:sp>
        <p:nvSpPr>
          <p:cNvPr id="14" name="Text 12"/>
          <p:cNvSpPr/>
          <p:nvPr/>
        </p:nvSpPr>
        <p:spPr>
          <a:xfrm>
            <a:off x="10377249" y="3569256"/>
            <a:ext cx="3459242" cy="1360527"/>
          </a:xfrm>
          <a:prstGeom prst="rect">
            <a:avLst/>
          </a:prstGeom>
          <a:noFill/>
          <a:ln/>
        </p:spPr>
        <p:txBody>
          <a:bodyPr wrap="squar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Deep thinking and concentration can cause physical strain.</a:t>
            </a:r>
            <a:endParaRPr lang="en-US" sz="2200" dirty="0"/>
          </a:p>
        </p:txBody>
      </p:sp>
      <p:sp>
        <p:nvSpPr>
          <p:cNvPr id="15" name="Shape 13"/>
          <p:cNvSpPr/>
          <p:nvPr/>
        </p:nvSpPr>
        <p:spPr>
          <a:xfrm>
            <a:off x="793790" y="5766078"/>
            <a:ext cx="510302" cy="510302"/>
          </a:xfrm>
          <a:prstGeom prst="roundRect">
            <a:avLst>
              <a:gd name="adj" fmla="val 6667"/>
            </a:avLst>
          </a:prstGeom>
          <a:solidFill>
            <a:srgbClr val="2E2E2F"/>
          </a:solidFill>
          <a:ln/>
        </p:spPr>
      </p:sp>
      <p:sp>
        <p:nvSpPr>
          <p:cNvPr id="16" name="Text 14"/>
          <p:cNvSpPr/>
          <p:nvPr/>
        </p:nvSpPr>
        <p:spPr>
          <a:xfrm>
            <a:off x="946785" y="5851088"/>
            <a:ext cx="204192" cy="340281"/>
          </a:xfrm>
          <a:prstGeom prst="rect">
            <a:avLst/>
          </a:prstGeom>
          <a:noFill/>
          <a:ln/>
        </p:spPr>
        <p:txBody>
          <a:bodyPr wrap="none" lIns="0" tIns="0" rIns="0" bIns="0" rtlCol="0" anchor="t"/>
          <a:lstStyle/>
          <a:p>
            <a:pPr algn="ctr" indent="0" marL="0">
              <a:lnSpc>
                <a:spcPts val="2650"/>
              </a:lnSpc>
              <a:buNone/>
            </a:pPr>
            <a:r>
              <a:rPr lang="en-US" sz="2650" dirty="0">
                <a:solidFill>
                  <a:srgbClr val="E0D6DE"/>
                </a:solidFill>
                <a:latin typeface="Fira Mono Medium" pitchFamily="34" charset="0"/>
                <a:ea typeface="Fira Mono Medium" pitchFamily="34" charset="-122"/>
                <a:cs typeface="Fira Mono Medium" pitchFamily="34" charset="-120"/>
              </a:rPr>
              <a:t>4</a:t>
            </a:r>
            <a:endParaRPr lang="en-US" sz="2650" dirty="0"/>
          </a:p>
        </p:txBody>
      </p:sp>
      <p:sp>
        <p:nvSpPr>
          <p:cNvPr id="17" name="Text 15"/>
          <p:cNvSpPr/>
          <p:nvPr/>
        </p:nvSpPr>
        <p:spPr>
          <a:xfrm>
            <a:off x="1530906" y="5766078"/>
            <a:ext cx="12305705" cy="453509"/>
          </a:xfrm>
          <a:prstGeom prst="rect">
            <a:avLst/>
          </a:prstGeom>
          <a:noFill/>
          <a:ln/>
        </p:spPr>
        <p:txBody>
          <a:bodyPr wrap="none" lIns="0" tIns="0" rIns="0" bIns="0" rtlCol="0" anchor="t"/>
          <a:lstStyle/>
          <a:p>
            <a:pPr indent="0" marL="0">
              <a:lnSpc>
                <a:spcPts val="3550"/>
              </a:lnSpc>
              <a:buNone/>
            </a:pPr>
            <a:endParaRPr lang="en-US" sz="2200" dirty="0"/>
          </a:p>
        </p:txBody>
      </p:sp>
      <p:sp>
        <p:nvSpPr>
          <p:cNvPr id="18" name="Text 16"/>
          <p:cNvSpPr/>
          <p:nvPr/>
        </p:nvSpPr>
        <p:spPr>
          <a:xfrm>
            <a:off x="1530906" y="6355675"/>
            <a:ext cx="12305705" cy="907018"/>
          </a:xfrm>
          <a:prstGeom prst="rect">
            <a:avLst/>
          </a:prstGeom>
          <a:noFill/>
          <a:ln/>
        </p:spPr>
        <p:txBody>
          <a:bodyPr wrap="squar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Repressed feelings of dependency and wish to receive love affect parasympathetic nervous system resulting in gastrointestinal disorders and respiratory disorders.</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07231"/>
            <a:ext cx="11226165" cy="708779"/>
          </a:xfrm>
          <a:prstGeom prst="rect">
            <a:avLst/>
          </a:prstGeom>
          <a:noFill/>
          <a:ln/>
        </p:spPr>
        <p:txBody>
          <a:bodyPr wrap="none" lIns="0" tIns="0" rIns="0" bIns="0" rtlCol="0" anchor="t"/>
          <a:lstStyle/>
          <a:p>
            <a:pPr indent="0" marL="0">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Body-Mind Relationship and Health</a:t>
            </a:r>
            <a:endParaRPr lang="en-US" sz="4450" dirty="0"/>
          </a:p>
        </p:txBody>
      </p:sp>
      <p:pic>
        <p:nvPicPr>
          <p:cNvPr id="3" name="Image 0" descr="preencoded.png">    </p:cNvPr>
          <p:cNvPicPr>
            <a:picLocks noChangeAspect="1"/>
          </p:cNvPicPr>
          <p:nvPr/>
        </p:nvPicPr>
        <p:blipFill>
          <a:blip r:embed="rId1"/>
          <a:stretch>
            <a:fillRect/>
          </a:stretch>
        </p:blipFill>
        <p:spPr>
          <a:xfrm>
            <a:off x="793790" y="1756172"/>
            <a:ext cx="1134070" cy="1922026"/>
          </a:xfrm>
          <a:prstGeom prst="rect">
            <a:avLst/>
          </a:prstGeom>
        </p:spPr>
      </p:pic>
      <p:sp>
        <p:nvSpPr>
          <p:cNvPr id="4" name="Text 1"/>
          <p:cNvSpPr/>
          <p:nvPr/>
        </p:nvSpPr>
        <p:spPr>
          <a:xfrm>
            <a:off x="2268022" y="1982986"/>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E0D6DE"/>
                </a:solidFill>
                <a:latin typeface="Fira Mono Medium" pitchFamily="34" charset="0"/>
                <a:ea typeface="Fira Mono Medium" pitchFamily="34" charset="-122"/>
                <a:cs typeface="Fira Mono Medium" pitchFamily="34" charset="-120"/>
              </a:rPr>
              <a:t>Relationship</a:t>
            </a:r>
            <a:endParaRPr lang="en-US" sz="2650" dirty="0"/>
          </a:p>
        </p:txBody>
      </p:sp>
      <p:sp>
        <p:nvSpPr>
          <p:cNvPr id="5" name="Text 2"/>
          <p:cNvSpPr/>
          <p:nvPr/>
        </p:nvSpPr>
        <p:spPr>
          <a:xfrm>
            <a:off x="2268022" y="2544366"/>
            <a:ext cx="11568589" cy="907018"/>
          </a:xfrm>
          <a:prstGeom prst="rect">
            <a:avLst/>
          </a:prstGeom>
          <a:noFill/>
          <a:ln/>
        </p:spPr>
        <p:txBody>
          <a:bodyPr wrap="square" lIns="0" tIns="0" rIns="0" bIns="0" rtlCol="0" anchor="t"/>
          <a:lstStyle/>
          <a:p>
            <a:pPr algn="l" indent="0" marL="0">
              <a:lnSpc>
                <a:spcPts val="3550"/>
              </a:lnSpc>
              <a:buNone/>
            </a:pPr>
            <a:r>
              <a:rPr lang="en-US" sz="2200" dirty="0">
                <a:solidFill>
                  <a:srgbClr val="E0D6DE"/>
                </a:solidFill>
                <a:latin typeface="Fira Sans" pitchFamily="34" charset="0"/>
                <a:ea typeface="Fira Sans" pitchFamily="34" charset="-122"/>
                <a:cs typeface="Fira Sans" pitchFamily="34" charset="-120"/>
              </a:rPr>
              <a:t>The relationship between body and mind has an effect on health and illness. If the relation is positive it leads to good health while an adverse relationship leads to illness.</a:t>
            </a:r>
            <a:endParaRPr lang="en-US" sz="2200" dirty="0"/>
          </a:p>
        </p:txBody>
      </p:sp>
      <p:pic>
        <p:nvPicPr>
          <p:cNvPr id="6" name="Image 1" descr="preencoded.png">    </p:cNvPr>
          <p:cNvPicPr>
            <a:picLocks noChangeAspect="1"/>
          </p:cNvPicPr>
          <p:nvPr/>
        </p:nvPicPr>
        <p:blipFill>
          <a:blip r:embed="rId2"/>
          <a:stretch>
            <a:fillRect/>
          </a:stretch>
        </p:blipFill>
        <p:spPr>
          <a:xfrm>
            <a:off x="793790" y="3678198"/>
            <a:ext cx="1134070" cy="1922026"/>
          </a:xfrm>
          <a:prstGeom prst="rect">
            <a:avLst/>
          </a:prstGeom>
        </p:spPr>
      </p:pic>
      <p:sp>
        <p:nvSpPr>
          <p:cNvPr id="7" name="Text 3"/>
          <p:cNvSpPr/>
          <p:nvPr/>
        </p:nvSpPr>
        <p:spPr>
          <a:xfrm>
            <a:off x="2268022" y="3905012"/>
            <a:ext cx="4490204" cy="425291"/>
          </a:xfrm>
          <a:prstGeom prst="rect">
            <a:avLst/>
          </a:prstGeom>
          <a:noFill/>
          <a:ln/>
        </p:spPr>
        <p:txBody>
          <a:bodyPr wrap="none" lIns="0" tIns="0" rIns="0" bIns="0" rtlCol="0" anchor="t"/>
          <a:lstStyle/>
          <a:p>
            <a:pPr algn="l" indent="0" marL="0">
              <a:lnSpc>
                <a:spcPts val="3300"/>
              </a:lnSpc>
              <a:buNone/>
            </a:pPr>
            <a:r>
              <a:rPr lang="en-US" sz="2650" dirty="0">
                <a:solidFill>
                  <a:srgbClr val="E0D6DE"/>
                </a:solidFill>
                <a:latin typeface="Fira Mono Medium" pitchFamily="34" charset="0"/>
                <a:ea typeface="Fira Mono Medium" pitchFamily="34" charset="-122"/>
                <a:cs typeface="Fira Mono Medium" pitchFamily="34" charset="-120"/>
              </a:rPr>
              <a:t>Psychosomatic Medicine</a:t>
            </a:r>
            <a:endParaRPr lang="en-US" sz="2650" dirty="0"/>
          </a:p>
        </p:txBody>
      </p:sp>
      <p:sp>
        <p:nvSpPr>
          <p:cNvPr id="8" name="Text 4"/>
          <p:cNvSpPr/>
          <p:nvPr/>
        </p:nvSpPr>
        <p:spPr>
          <a:xfrm>
            <a:off x="2268022" y="4466392"/>
            <a:ext cx="11568589" cy="907018"/>
          </a:xfrm>
          <a:prstGeom prst="rect">
            <a:avLst/>
          </a:prstGeom>
          <a:noFill/>
          <a:ln/>
        </p:spPr>
        <p:txBody>
          <a:bodyPr wrap="square" lIns="0" tIns="0" rIns="0" bIns="0" rtlCol="0" anchor="t"/>
          <a:lstStyle/>
          <a:p>
            <a:pPr algn="l" indent="0" marL="0">
              <a:lnSpc>
                <a:spcPts val="3550"/>
              </a:lnSpc>
              <a:buNone/>
            </a:pPr>
            <a:r>
              <a:rPr lang="en-US" sz="2200" dirty="0">
                <a:solidFill>
                  <a:srgbClr val="E0D6DE"/>
                </a:solidFill>
                <a:latin typeface="Fira Sans" pitchFamily="34" charset="0"/>
                <a:ea typeface="Fira Sans" pitchFamily="34" charset="-122"/>
                <a:cs typeface="Fira Sans" pitchFamily="34" charset="-120"/>
              </a:rPr>
              <a:t>Psychosomatic medicine deals with physical diseases caused by psychological factors. Here patients are given treatment for both mind and body.</a:t>
            </a:r>
            <a:endParaRPr lang="en-US" sz="2200" dirty="0"/>
          </a:p>
        </p:txBody>
      </p:sp>
      <p:pic>
        <p:nvPicPr>
          <p:cNvPr id="9" name="Image 2" descr="preencoded.png">    </p:cNvPr>
          <p:cNvPicPr>
            <a:picLocks noChangeAspect="1"/>
          </p:cNvPicPr>
          <p:nvPr/>
        </p:nvPicPr>
        <p:blipFill>
          <a:blip r:embed="rId3"/>
          <a:stretch>
            <a:fillRect/>
          </a:stretch>
        </p:blipFill>
        <p:spPr>
          <a:xfrm>
            <a:off x="793790" y="5600224"/>
            <a:ext cx="1134070" cy="1922026"/>
          </a:xfrm>
          <a:prstGeom prst="rect">
            <a:avLst/>
          </a:prstGeom>
        </p:spPr>
      </p:pic>
      <p:sp>
        <p:nvSpPr>
          <p:cNvPr id="10" name="Text 5"/>
          <p:cNvSpPr/>
          <p:nvPr/>
        </p:nvSpPr>
        <p:spPr>
          <a:xfrm>
            <a:off x="2268022" y="5827038"/>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E0D6DE"/>
                </a:solidFill>
                <a:latin typeface="Fira Mono Medium" pitchFamily="34" charset="0"/>
                <a:ea typeface="Fira Mono Medium" pitchFamily="34" charset="-122"/>
                <a:cs typeface="Fira Mono Medium" pitchFamily="34" charset="-120"/>
              </a:rPr>
              <a:t>Treatment</a:t>
            </a:r>
            <a:endParaRPr lang="en-US" sz="2650" dirty="0"/>
          </a:p>
        </p:txBody>
      </p:sp>
      <p:sp>
        <p:nvSpPr>
          <p:cNvPr id="11" name="Text 6"/>
          <p:cNvSpPr/>
          <p:nvPr/>
        </p:nvSpPr>
        <p:spPr>
          <a:xfrm>
            <a:off x="2268022" y="6388417"/>
            <a:ext cx="11568589" cy="907018"/>
          </a:xfrm>
          <a:prstGeom prst="rect">
            <a:avLst/>
          </a:prstGeom>
          <a:noFill/>
          <a:ln/>
        </p:spPr>
        <p:txBody>
          <a:bodyPr wrap="square" lIns="0" tIns="0" rIns="0" bIns="0" rtlCol="0" anchor="t"/>
          <a:lstStyle/>
          <a:p>
            <a:pPr algn="l" indent="0" marL="0">
              <a:lnSpc>
                <a:spcPts val="3550"/>
              </a:lnSpc>
              <a:buNone/>
            </a:pPr>
            <a:r>
              <a:rPr lang="en-US" sz="2200" dirty="0">
                <a:solidFill>
                  <a:srgbClr val="E0D6DE"/>
                </a:solidFill>
                <a:latin typeface="Fira Sans" pitchFamily="34" charset="0"/>
                <a:ea typeface="Fira Sans" pitchFamily="34" charset="-122"/>
                <a:cs typeface="Fira Sans" pitchFamily="34" charset="-120"/>
              </a:rPr>
              <a:t>EG:-in case of peptic ulcer the treatment includes both by way of drugs and psychotherapy.</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98275" y="560189"/>
            <a:ext cx="6405920" cy="635556"/>
          </a:xfrm>
          <a:prstGeom prst="rect">
            <a:avLst/>
          </a:prstGeom>
          <a:noFill/>
          <a:ln/>
        </p:spPr>
        <p:txBody>
          <a:bodyPr wrap="none" lIns="0" tIns="0" rIns="0" bIns="0" rtlCol="0" anchor="t"/>
          <a:lstStyle/>
          <a:p>
            <a:pPr indent="0" marL="0">
              <a:lnSpc>
                <a:spcPts val="5000"/>
              </a:lnSpc>
              <a:buNone/>
            </a:pPr>
            <a:r>
              <a:rPr lang="en-US" sz="4000" dirty="0">
                <a:solidFill>
                  <a:srgbClr val="FBF3FA"/>
                </a:solidFill>
                <a:latin typeface="Fira Mono Medium" pitchFamily="34" charset="0"/>
                <a:ea typeface="Fira Mono Medium" pitchFamily="34" charset="-122"/>
                <a:cs typeface="Fira Mono Medium" pitchFamily="34" charset="-120"/>
              </a:rPr>
              <a:t>GENETICS AND BEHAVIOR</a:t>
            </a:r>
            <a:endParaRPr lang="en-US" sz="4000" dirty="0"/>
          </a:p>
        </p:txBody>
      </p:sp>
      <p:pic>
        <p:nvPicPr>
          <p:cNvPr id="4" name="Image 1" descr="preencoded.png">    </p:cNvPr>
          <p:cNvPicPr>
            <a:picLocks noChangeAspect="1"/>
          </p:cNvPicPr>
          <p:nvPr/>
        </p:nvPicPr>
        <p:blipFill>
          <a:blip r:embed="rId2"/>
          <a:stretch>
            <a:fillRect/>
          </a:stretch>
        </p:blipFill>
        <p:spPr>
          <a:xfrm>
            <a:off x="6198275" y="1500783"/>
            <a:ext cx="508516" cy="508516"/>
          </a:xfrm>
          <a:prstGeom prst="rect">
            <a:avLst/>
          </a:prstGeom>
        </p:spPr>
      </p:pic>
      <p:sp>
        <p:nvSpPr>
          <p:cNvPr id="5" name="Text 1"/>
          <p:cNvSpPr/>
          <p:nvPr/>
        </p:nvSpPr>
        <p:spPr>
          <a:xfrm>
            <a:off x="6198275" y="2212657"/>
            <a:ext cx="2542580" cy="317897"/>
          </a:xfrm>
          <a:prstGeom prst="rect">
            <a:avLst/>
          </a:prstGeom>
          <a:noFill/>
          <a:ln/>
        </p:spPr>
        <p:txBody>
          <a:bodyPr wrap="none" lIns="0" tIns="0" rIns="0" bIns="0" rtlCol="0" anchor="t"/>
          <a:lstStyle/>
          <a:p>
            <a:pPr algn="l" indent="0" marL="0">
              <a:lnSpc>
                <a:spcPts val="2500"/>
              </a:lnSpc>
              <a:buNone/>
            </a:pPr>
            <a:r>
              <a:rPr lang="en-US" sz="2000" dirty="0">
                <a:solidFill>
                  <a:srgbClr val="E0D6DE"/>
                </a:solidFill>
                <a:latin typeface="Fira Mono Medium" pitchFamily="34" charset="0"/>
                <a:ea typeface="Fira Mono Medium" pitchFamily="34" charset="-122"/>
                <a:cs typeface="Fira Mono Medium" pitchFamily="34" charset="-120"/>
              </a:rPr>
              <a:t>Gene</a:t>
            </a:r>
            <a:endParaRPr lang="en-US" sz="2000" dirty="0"/>
          </a:p>
        </p:txBody>
      </p:sp>
      <p:sp>
        <p:nvSpPr>
          <p:cNvPr id="6" name="Text 2"/>
          <p:cNvSpPr/>
          <p:nvPr/>
        </p:nvSpPr>
        <p:spPr>
          <a:xfrm>
            <a:off x="6198275" y="2652593"/>
            <a:ext cx="3707606" cy="2034183"/>
          </a:xfrm>
          <a:prstGeom prst="rect">
            <a:avLst/>
          </a:prstGeom>
          <a:noFill/>
          <a:ln/>
        </p:spPr>
        <p:txBody>
          <a:bodyPr wrap="square" lIns="0" tIns="0" rIns="0" bIns="0" rtlCol="0" anchor="t"/>
          <a:lstStyle/>
          <a:p>
            <a:pPr algn="l" indent="0" marL="0">
              <a:lnSpc>
                <a:spcPts val="3200"/>
              </a:lnSpc>
              <a:buNone/>
            </a:pPr>
            <a:r>
              <a:rPr lang="en-US" sz="2000" dirty="0">
                <a:solidFill>
                  <a:srgbClr val="E0D6DE"/>
                </a:solidFill>
                <a:latin typeface="Fira Sans" pitchFamily="34" charset="0"/>
                <a:ea typeface="Fira Sans" pitchFamily="34" charset="-122"/>
                <a:cs typeface="Fira Sans" pitchFamily="34" charset="-120"/>
              </a:rPr>
              <a:t>Gene is the basic unit of heredity that get transferred from generation to generation through the immediate parents to their offspring.</a:t>
            </a:r>
            <a:endParaRPr lang="en-US" sz="2000" dirty="0"/>
          </a:p>
        </p:txBody>
      </p:sp>
      <p:pic>
        <p:nvPicPr>
          <p:cNvPr id="7" name="Image 2" descr="preencoded.png">    </p:cNvPr>
          <p:cNvPicPr>
            <a:picLocks noChangeAspect="1"/>
          </p:cNvPicPr>
          <p:nvPr/>
        </p:nvPicPr>
        <p:blipFill>
          <a:blip r:embed="rId3"/>
          <a:stretch>
            <a:fillRect/>
          </a:stretch>
        </p:blipFill>
        <p:spPr>
          <a:xfrm>
            <a:off x="10210919" y="1500783"/>
            <a:ext cx="508516" cy="508516"/>
          </a:xfrm>
          <a:prstGeom prst="rect">
            <a:avLst/>
          </a:prstGeom>
        </p:spPr>
      </p:pic>
      <p:sp>
        <p:nvSpPr>
          <p:cNvPr id="8" name="Text 3"/>
          <p:cNvSpPr/>
          <p:nvPr/>
        </p:nvSpPr>
        <p:spPr>
          <a:xfrm>
            <a:off x="10210919" y="2212657"/>
            <a:ext cx="3707606" cy="406837"/>
          </a:xfrm>
          <a:prstGeom prst="rect">
            <a:avLst/>
          </a:prstGeom>
          <a:noFill/>
          <a:ln/>
        </p:spPr>
        <p:txBody>
          <a:bodyPr wrap="none" lIns="0" tIns="0" rIns="0" bIns="0" rtlCol="0" anchor="t"/>
          <a:lstStyle/>
          <a:p>
            <a:pPr algn="l" indent="0" marL="0">
              <a:lnSpc>
                <a:spcPts val="3200"/>
              </a:lnSpc>
              <a:buNone/>
            </a:pPr>
            <a:r>
              <a:rPr lang="en-US" sz="2000" dirty="0">
                <a:solidFill>
                  <a:srgbClr val="E0D6DE"/>
                </a:solidFill>
                <a:latin typeface="Fira Sans" pitchFamily="34" charset="0"/>
                <a:ea typeface="Fira Sans" pitchFamily="34" charset="-122"/>
                <a:cs typeface="Fira Sans" pitchFamily="34" charset="-120"/>
              </a:rPr>
              <a:t>Genetics</a:t>
            </a:r>
            <a:endParaRPr lang="en-US" sz="2000" dirty="0"/>
          </a:p>
        </p:txBody>
      </p:sp>
      <p:sp>
        <p:nvSpPr>
          <p:cNvPr id="9" name="Text 4"/>
          <p:cNvSpPr/>
          <p:nvPr/>
        </p:nvSpPr>
        <p:spPr>
          <a:xfrm>
            <a:off x="10210919" y="2741533"/>
            <a:ext cx="3707606" cy="1627346"/>
          </a:xfrm>
          <a:prstGeom prst="rect">
            <a:avLst/>
          </a:prstGeom>
          <a:noFill/>
          <a:ln/>
        </p:spPr>
        <p:txBody>
          <a:bodyPr wrap="square" lIns="0" tIns="0" rIns="0" bIns="0" rtlCol="0" anchor="t"/>
          <a:lstStyle/>
          <a:p>
            <a:pPr algn="l" indent="0" marL="0">
              <a:lnSpc>
                <a:spcPts val="3200"/>
              </a:lnSpc>
              <a:buNone/>
            </a:pPr>
            <a:r>
              <a:rPr lang="en-US" sz="2000" dirty="0">
                <a:solidFill>
                  <a:srgbClr val="E0D6DE"/>
                </a:solidFill>
                <a:latin typeface="Fira Sans" pitchFamily="34" charset="0"/>
                <a:ea typeface="Fira Sans" pitchFamily="34" charset="-122"/>
                <a:cs typeface="Fira Sans" pitchFamily="34" charset="-120"/>
              </a:rPr>
              <a:t>Genetics is the mechanism of the transfer of hereditary characteristics in the form of genes, chromosomes and DNA.</a:t>
            </a:r>
            <a:endParaRPr lang="en-US" sz="2000" dirty="0"/>
          </a:p>
        </p:txBody>
      </p:sp>
      <p:pic>
        <p:nvPicPr>
          <p:cNvPr id="10" name="Image 3" descr="preencoded.png">    </p:cNvPr>
          <p:cNvPicPr>
            <a:picLocks noChangeAspect="1"/>
          </p:cNvPicPr>
          <p:nvPr/>
        </p:nvPicPr>
        <p:blipFill>
          <a:blip r:embed="rId4"/>
          <a:stretch>
            <a:fillRect/>
          </a:stretch>
        </p:blipFill>
        <p:spPr>
          <a:xfrm>
            <a:off x="6198275" y="5296972"/>
            <a:ext cx="508516" cy="508516"/>
          </a:xfrm>
          <a:prstGeom prst="rect">
            <a:avLst/>
          </a:prstGeom>
        </p:spPr>
      </p:pic>
      <p:sp>
        <p:nvSpPr>
          <p:cNvPr id="11" name="Text 5"/>
          <p:cNvSpPr/>
          <p:nvPr/>
        </p:nvSpPr>
        <p:spPr>
          <a:xfrm>
            <a:off x="6198275" y="6008846"/>
            <a:ext cx="2542580" cy="317897"/>
          </a:xfrm>
          <a:prstGeom prst="rect">
            <a:avLst/>
          </a:prstGeom>
          <a:noFill/>
          <a:ln/>
        </p:spPr>
        <p:txBody>
          <a:bodyPr wrap="none" lIns="0" tIns="0" rIns="0" bIns="0" rtlCol="0" anchor="t"/>
          <a:lstStyle/>
          <a:p>
            <a:pPr algn="l" indent="0" marL="0">
              <a:lnSpc>
                <a:spcPts val="2500"/>
              </a:lnSpc>
              <a:buNone/>
            </a:pPr>
            <a:r>
              <a:rPr lang="en-US" sz="2000" dirty="0">
                <a:solidFill>
                  <a:srgbClr val="E0D6DE"/>
                </a:solidFill>
                <a:latin typeface="Fira Mono Medium" pitchFamily="34" charset="0"/>
                <a:ea typeface="Fira Mono Medium" pitchFamily="34" charset="-122"/>
                <a:cs typeface="Fira Mono Medium" pitchFamily="34" charset="-120"/>
              </a:rPr>
              <a:t>Heredity</a:t>
            </a:r>
            <a:endParaRPr lang="en-US" sz="2000" dirty="0"/>
          </a:p>
        </p:txBody>
      </p:sp>
      <p:sp>
        <p:nvSpPr>
          <p:cNvPr id="12" name="Text 6"/>
          <p:cNvSpPr/>
          <p:nvPr/>
        </p:nvSpPr>
        <p:spPr>
          <a:xfrm>
            <a:off x="6198275" y="6448782"/>
            <a:ext cx="3707606" cy="1220510"/>
          </a:xfrm>
          <a:prstGeom prst="rect">
            <a:avLst/>
          </a:prstGeom>
          <a:noFill/>
          <a:ln/>
        </p:spPr>
        <p:txBody>
          <a:bodyPr wrap="square" lIns="0" tIns="0" rIns="0" bIns="0" rtlCol="0" anchor="t"/>
          <a:lstStyle/>
          <a:p>
            <a:pPr algn="l" indent="0" marL="0">
              <a:lnSpc>
                <a:spcPts val="3200"/>
              </a:lnSpc>
              <a:buNone/>
            </a:pPr>
            <a:r>
              <a:rPr lang="en-US" sz="2000" dirty="0">
                <a:solidFill>
                  <a:srgbClr val="E0D6DE"/>
                </a:solidFill>
                <a:latin typeface="Fira Sans" pitchFamily="34" charset="0"/>
                <a:ea typeface="Fira Sans" pitchFamily="34" charset="-122"/>
                <a:cs typeface="Fira Sans" pitchFamily="34" charset="-120"/>
              </a:rPr>
              <a:t>Heredity is considered as 'the sum total of inborn individual traits'.</a:t>
            </a:r>
            <a:endParaRPr lang="en-US" sz="2000" dirty="0"/>
          </a:p>
        </p:txBody>
      </p:sp>
      <p:pic>
        <p:nvPicPr>
          <p:cNvPr id="13" name="Image 4" descr="preencoded.png">    </p:cNvPr>
          <p:cNvPicPr>
            <a:picLocks noChangeAspect="1"/>
          </p:cNvPicPr>
          <p:nvPr/>
        </p:nvPicPr>
        <p:blipFill>
          <a:blip r:embed="rId5"/>
          <a:stretch>
            <a:fillRect/>
          </a:stretch>
        </p:blipFill>
        <p:spPr>
          <a:xfrm>
            <a:off x="10210919" y="5296972"/>
            <a:ext cx="508516" cy="508516"/>
          </a:xfrm>
          <a:prstGeom prst="rect">
            <a:avLst/>
          </a:prstGeom>
        </p:spPr>
      </p:pic>
      <p:sp>
        <p:nvSpPr>
          <p:cNvPr id="14" name="Text 7"/>
          <p:cNvSpPr/>
          <p:nvPr/>
        </p:nvSpPr>
        <p:spPr>
          <a:xfrm>
            <a:off x="10210919" y="6008846"/>
            <a:ext cx="3707606" cy="406837"/>
          </a:xfrm>
          <a:prstGeom prst="rect">
            <a:avLst/>
          </a:prstGeom>
          <a:noFill/>
          <a:ln/>
        </p:spPr>
        <p:txBody>
          <a:bodyPr wrap="none" lIns="0" tIns="0" rIns="0" bIns="0" rtlCol="0" anchor="t"/>
          <a:lstStyle/>
          <a:p>
            <a:pPr algn="l" indent="0" marL="0">
              <a:lnSpc>
                <a:spcPts val="3200"/>
              </a:lnSpc>
              <a:buNone/>
            </a:pPr>
            <a:r>
              <a:rPr lang="en-US" sz="2000" dirty="0">
                <a:solidFill>
                  <a:srgbClr val="E0D6DE"/>
                </a:solidFill>
                <a:latin typeface="Fira Sans" pitchFamily="34" charset="0"/>
                <a:ea typeface="Fira Sans" pitchFamily="34" charset="-122"/>
                <a:cs typeface="Fira Sans" pitchFamily="34" charset="-120"/>
              </a:rPr>
              <a:t>Study of Heredity</a:t>
            </a:r>
            <a:endParaRPr lang="en-US" sz="2000" dirty="0"/>
          </a:p>
        </p:txBody>
      </p:sp>
      <p:sp>
        <p:nvSpPr>
          <p:cNvPr id="15" name="Text 8"/>
          <p:cNvSpPr/>
          <p:nvPr/>
        </p:nvSpPr>
        <p:spPr>
          <a:xfrm>
            <a:off x="10210919" y="6537722"/>
            <a:ext cx="3707606" cy="813673"/>
          </a:xfrm>
          <a:prstGeom prst="rect">
            <a:avLst/>
          </a:prstGeom>
          <a:noFill/>
          <a:ln/>
        </p:spPr>
        <p:txBody>
          <a:bodyPr wrap="square" lIns="0" tIns="0" rIns="0" bIns="0" rtlCol="0" anchor="t"/>
          <a:lstStyle/>
          <a:p>
            <a:pPr algn="l" indent="0" marL="0">
              <a:lnSpc>
                <a:spcPts val="3200"/>
              </a:lnSpc>
              <a:buNone/>
            </a:pPr>
            <a:r>
              <a:rPr lang="en-US" sz="2000" dirty="0">
                <a:solidFill>
                  <a:srgbClr val="E0D6DE"/>
                </a:solidFill>
                <a:latin typeface="Fira Sans" pitchFamily="34" charset="0"/>
                <a:ea typeface="Fira Sans" pitchFamily="34" charset="-122"/>
                <a:cs typeface="Fira Sans" pitchFamily="34" charset="-120"/>
              </a:rPr>
              <a:t>The study of heredity is called</a:t>
            </a:r>
            <a:pPr algn="l" indent="0" marL="0">
              <a:lnSpc>
                <a:spcPts val="3200"/>
              </a:lnSpc>
              <a:buNone/>
            </a:pPr>
            <a:r>
              <a:rPr lang="en-US" sz="2000" dirty="0">
                <a:solidFill>
                  <a:srgbClr val="B05EF1"/>
                </a:solidFill>
                <a:latin typeface="Fira Sans" pitchFamily="34" charset="0"/>
                <a:ea typeface="Fira Sans" pitchFamily="34" charset="-122"/>
                <a:cs typeface="Fira Sans" pitchFamily="34" charset="-120"/>
              </a:rPr>
              <a:t> genetics.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718780"/>
            <a:ext cx="7143988" cy="708779"/>
          </a:xfrm>
          <a:prstGeom prst="rect">
            <a:avLst/>
          </a:prstGeom>
          <a:noFill/>
          <a:ln/>
        </p:spPr>
        <p:txBody>
          <a:bodyPr wrap="none" lIns="0" tIns="0" rIns="0" bIns="0" rtlCol="0" anchor="t"/>
          <a:lstStyle/>
          <a:p>
            <a:pPr indent="0" marL="0">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MECHANISM OF HEREDITY</a:t>
            </a:r>
            <a:endParaRPr lang="en-US" sz="4450" dirty="0"/>
          </a:p>
        </p:txBody>
      </p:sp>
      <p:sp>
        <p:nvSpPr>
          <p:cNvPr id="3" name="Shape 1"/>
          <p:cNvSpPr/>
          <p:nvPr/>
        </p:nvSpPr>
        <p:spPr>
          <a:xfrm>
            <a:off x="793790" y="1767721"/>
            <a:ext cx="4196358" cy="3565922"/>
          </a:xfrm>
          <a:prstGeom prst="roundRect">
            <a:avLst>
              <a:gd name="adj" fmla="val 954"/>
            </a:avLst>
          </a:prstGeom>
          <a:solidFill>
            <a:srgbClr val="2E2E2F"/>
          </a:solidFill>
          <a:ln/>
        </p:spPr>
      </p:sp>
      <p:sp>
        <p:nvSpPr>
          <p:cNvPr id="4" name="Text 2"/>
          <p:cNvSpPr/>
          <p:nvPr/>
        </p:nvSpPr>
        <p:spPr>
          <a:xfrm>
            <a:off x="1020604" y="1994535"/>
            <a:ext cx="3742730" cy="708660"/>
          </a:xfrm>
          <a:prstGeom prst="rect">
            <a:avLst/>
          </a:prstGeom>
          <a:noFill/>
          <a:ln/>
        </p:spPr>
        <p:txBody>
          <a:bodyPr wrap="square" lIns="0" tIns="0" rIns="0" bIns="0" rtlCol="0" anchor="t"/>
          <a:lstStyle/>
          <a:p>
            <a:pPr indent="0" marL="0">
              <a:lnSpc>
                <a:spcPts val="2750"/>
              </a:lnSpc>
              <a:buNone/>
            </a:pPr>
            <a:r>
              <a:rPr lang="en-US" sz="2200" dirty="0">
                <a:solidFill>
                  <a:srgbClr val="D8AFF8"/>
                </a:solidFill>
                <a:latin typeface="Fira Mono Medium" pitchFamily="34" charset="0"/>
                <a:ea typeface="Fira Mono Medium" pitchFamily="34" charset="-122"/>
                <a:cs typeface="Fira Mono Medium" pitchFamily="34" charset="-120"/>
              </a:rPr>
              <a:t>Fusion of Sperm and Ovum</a:t>
            </a:r>
            <a:endParaRPr lang="en-US" sz="2200" dirty="0"/>
          </a:p>
        </p:txBody>
      </p:sp>
      <p:sp>
        <p:nvSpPr>
          <p:cNvPr id="5" name="Text 3"/>
          <p:cNvSpPr/>
          <p:nvPr/>
        </p:nvSpPr>
        <p:spPr>
          <a:xfrm>
            <a:off x="1020604" y="2839283"/>
            <a:ext cx="3742730" cy="2267545"/>
          </a:xfrm>
          <a:prstGeom prst="rect">
            <a:avLst/>
          </a:prstGeom>
          <a:noFill/>
          <a:ln/>
        </p:spPr>
        <p:txBody>
          <a:bodyPr wrap="squar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The life cycle of an individual begins with the fusion of a sperm and ovum. When a sperm unites with an ovum, zygote is produced.</a:t>
            </a:r>
            <a:endParaRPr lang="en-US" sz="2200" dirty="0"/>
          </a:p>
        </p:txBody>
      </p:sp>
      <p:sp>
        <p:nvSpPr>
          <p:cNvPr id="6" name="Shape 4"/>
          <p:cNvSpPr/>
          <p:nvPr/>
        </p:nvSpPr>
        <p:spPr>
          <a:xfrm>
            <a:off x="5216962" y="1767721"/>
            <a:ext cx="4196358" cy="3565922"/>
          </a:xfrm>
          <a:prstGeom prst="roundRect">
            <a:avLst>
              <a:gd name="adj" fmla="val 954"/>
            </a:avLst>
          </a:prstGeom>
          <a:solidFill>
            <a:srgbClr val="2E2E2F"/>
          </a:solidFill>
          <a:ln/>
        </p:spPr>
      </p:sp>
      <p:sp>
        <p:nvSpPr>
          <p:cNvPr id="7" name="Text 5"/>
          <p:cNvSpPr/>
          <p:nvPr/>
        </p:nvSpPr>
        <p:spPr>
          <a:xfrm>
            <a:off x="5443776" y="1994535"/>
            <a:ext cx="3742730" cy="453509"/>
          </a:xfrm>
          <a:prstGeom prst="rect">
            <a:avLst/>
          </a:prstGeom>
          <a:noFill/>
          <a:ln/>
        </p:spPr>
        <p:txBody>
          <a:bodyPr wrap="none" lIns="0" tIns="0" rIns="0" bIns="0" rtlCol="0" anchor="t"/>
          <a:lstStyle/>
          <a:p>
            <a:pPr indent="0" marL="0">
              <a:lnSpc>
                <a:spcPts val="3550"/>
              </a:lnSpc>
              <a:buNone/>
            </a:pPr>
            <a:r>
              <a:rPr lang="en-US" sz="2200" dirty="0">
                <a:solidFill>
                  <a:srgbClr val="5E98F1"/>
                </a:solidFill>
                <a:latin typeface="Fira Sans" pitchFamily="34" charset="0"/>
                <a:ea typeface="Fira Sans" pitchFamily="34" charset="-122"/>
                <a:cs typeface="Fira Sans" pitchFamily="34" charset="-120"/>
              </a:rPr>
              <a:t>Genes</a:t>
            </a:r>
            <a:endParaRPr lang="en-US" sz="2200" dirty="0"/>
          </a:p>
        </p:txBody>
      </p:sp>
      <p:sp>
        <p:nvSpPr>
          <p:cNvPr id="8" name="Text 6"/>
          <p:cNvSpPr/>
          <p:nvPr/>
        </p:nvSpPr>
        <p:spPr>
          <a:xfrm>
            <a:off x="5443776" y="2584133"/>
            <a:ext cx="3742730" cy="1814036"/>
          </a:xfrm>
          <a:prstGeom prst="rect">
            <a:avLst/>
          </a:prstGeom>
          <a:noFill/>
          <a:ln/>
        </p:spPr>
        <p:txBody>
          <a:bodyPr wrap="squar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The genes which are the carriers of distinctive traits are present both in the sperm and the ovum.</a:t>
            </a:r>
            <a:endParaRPr lang="en-US" sz="2200" dirty="0"/>
          </a:p>
        </p:txBody>
      </p:sp>
      <p:sp>
        <p:nvSpPr>
          <p:cNvPr id="9" name="Shape 7"/>
          <p:cNvSpPr/>
          <p:nvPr/>
        </p:nvSpPr>
        <p:spPr>
          <a:xfrm>
            <a:off x="9640133" y="1767721"/>
            <a:ext cx="4196358" cy="3565922"/>
          </a:xfrm>
          <a:prstGeom prst="roundRect">
            <a:avLst>
              <a:gd name="adj" fmla="val 954"/>
            </a:avLst>
          </a:prstGeom>
          <a:solidFill>
            <a:srgbClr val="2E2E2F"/>
          </a:solidFill>
          <a:ln/>
        </p:spPr>
      </p:sp>
      <p:sp>
        <p:nvSpPr>
          <p:cNvPr id="10" name="Text 8"/>
          <p:cNvSpPr/>
          <p:nvPr/>
        </p:nvSpPr>
        <p:spPr>
          <a:xfrm>
            <a:off x="9866948" y="1994535"/>
            <a:ext cx="2835235" cy="354330"/>
          </a:xfrm>
          <a:prstGeom prst="rect">
            <a:avLst/>
          </a:prstGeom>
          <a:noFill/>
          <a:ln/>
        </p:spPr>
        <p:txBody>
          <a:bodyPr wrap="none" lIns="0" tIns="0" rIns="0" bIns="0" rtlCol="0" anchor="t"/>
          <a:lstStyle/>
          <a:p>
            <a:pPr indent="0" marL="0">
              <a:lnSpc>
                <a:spcPts val="2750"/>
              </a:lnSpc>
              <a:buNone/>
            </a:pPr>
            <a:r>
              <a:rPr lang="en-US" sz="2200" dirty="0">
                <a:solidFill>
                  <a:srgbClr val="5CC97B"/>
                </a:solidFill>
                <a:latin typeface="Fira Mono Medium" pitchFamily="34" charset="0"/>
                <a:ea typeface="Fira Mono Medium" pitchFamily="34" charset="-122"/>
                <a:cs typeface="Fira Mono Medium" pitchFamily="34" charset="-120"/>
              </a:rPr>
              <a:t>Chromosomes</a:t>
            </a:r>
            <a:endParaRPr lang="en-US" sz="2200" dirty="0"/>
          </a:p>
        </p:txBody>
      </p:sp>
      <p:sp>
        <p:nvSpPr>
          <p:cNvPr id="11" name="Text 9"/>
          <p:cNvSpPr/>
          <p:nvPr/>
        </p:nvSpPr>
        <p:spPr>
          <a:xfrm>
            <a:off x="9866948" y="2484953"/>
            <a:ext cx="3742730" cy="2267545"/>
          </a:xfrm>
          <a:prstGeom prst="rect">
            <a:avLst/>
          </a:prstGeom>
          <a:noFill/>
          <a:ln/>
        </p:spPr>
        <p:txBody>
          <a:bodyPr wrap="squar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In the fertilized ovum there are 23 pairs of chromosomes, half of which are given by the father and the other half by the mother.</a:t>
            </a:r>
            <a:endParaRPr lang="en-US" sz="2200" dirty="0"/>
          </a:p>
        </p:txBody>
      </p:sp>
      <p:sp>
        <p:nvSpPr>
          <p:cNvPr id="12" name="Shape 10"/>
          <p:cNvSpPr/>
          <p:nvPr/>
        </p:nvSpPr>
        <p:spPr>
          <a:xfrm>
            <a:off x="793790" y="5560457"/>
            <a:ext cx="13042821" cy="1950244"/>
          </a:xfrm>
          <a:prstGeom prst="roundRect">
            <a:avLst>
              <a:gd name="adj" fmla="val 1745"/>
            </a:avLst>
          </a:prstGeom>
          <a:solidFill>
            <a:srgbClr val="2E2E2F"/>
          </a:solidFill>
          <a:ln/>
        </p:spPr>
      </p:sp>
      <p:sp>
        <p:nvSpPr>
          <p:cNvPr id="13" name="Text 11"/>
          <p:cNvSpPr/>
          <p:nvPr/>
        </p:nvSpPr>
        <p:spPr>
          <a:xfrm>
            <a:off x="1020604" y="5787271"/>
            <a:ext cx="12589193" cy="453509"/>
          </a:xfrm>
          <a:prstGeom prst="rect">
            <a:avLst/>
          </a:prstGeom>
          <a:noFill/>
          <a:ln/>
        </p:spPr>
        <p:txBody>
          <a:bodyPr wrap="none" lIns="0" tIns="0" rIns="0" bIns="0" rtlCol="0" anchor="t"/>
          <a:lstStyle/>
          <a:p>
            <a:pPr indent="0" marL="0">
              <a:lnSpc>
                <a:spcPts val="3550"/>
              </a:lnSpc>
              <a:buNone/>
            </a:pPr>
            <a:r>
              <a:rPr lang="en-US" sz="2200" dirty="0">
                <a:solidFill>
                  <a:srgbClr val="995515"/>
                </a:solidFill>
                <a:latin typeface="Fira Sans" pitchFamily="34" charset="0"/>
                <a:ea typeface="Fira Sans" pitchFamily="34" charset="-122"/>
                <a:cs typeface="Fira Sans" pitchFamily="34" charset="-120"/>
              </a:rPr>
              <a:t>Sex Chromosomes</a:t>
            </a:r>
            <a:endParaRPr lang="en-US" sz="2200" dirty="0"/>
          </a:p>
        </p:txBody>
      </p:sp>
      <p:sp>
        <p:nvSpPr>
          <p:cNvPr id="14" name="Text 12"/>
          <p:cNvSpPr/>
          <p:nvPr/>
        </p:nvSpPr>
        <p:spPr>
          <a:xfrm>
            <a:off x="1020604" y="6376868"/>
            <a:ext cx="12589193" cy="907018"/>
          </a:xfrm>
          <a:prstGeom prst="rect">
            <a:avLst/>
          </a:prstGeom>
          <a:noFill/>
          <a:ln/>
        </p:spPr>
        <p:txBody>
          <a:bodyPr wrap="squar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While females have 23 pairs of XX chromosomes, males have 22 pairs of XX chromosomes and two single chromosomes represented by X and Y.</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623768"/>
            <a:ext cx="5670590" cy="708779"/>
          </a:xfrm>
          <a:prstGeom prst="rect">
            <a:avLst/>
          </a:prstGeom>
          <a:noFill/>
          <a:ln/>
        </p:spPr>
        <p:txBody>
          <a:bodyPr wrap="none" lIns="0" tIns="0" rIns="0" bIns="0" rtlCol="0" anchor="t"/>
          <a:lstStyle/>
          <a:p>
            <a:pPr indent="0" marL="0">
              <a:lnSpc>
                <a:spcPts val="5550"/>
              </a:lnSpc>
              <a:buNone/>
            </a:pPr>
            <a:endParaRPr lang="en-US" sz="4450" dirty="0"/>
          </a:p>
        </p:txBody>
      </p:sp>
      <p:sp>
        <p:nvSpPr>
          <p:cNvPr id="3" name="Shape 1"/>
          <p:cNvSpPr/>
          <p:nvPr/>
        </p:nvSpPr>
        <p:spPr>
          <a:xfrm>
            <a:off x="793790" y="1672709"/>
            <a:ext cx="4196358" cy="4671298"/>
          </a:xfrm>
          <a:prstGeom prst="roundRect">
            <a:avLst>
              <a:gd name="adj" fmla="val 811"/>
            </a:avLst>
          </a:prstGeom>
          <a:solidFill>
            <a:srgbClr val="2E2E2F"/>
          </a:solidFill>
          <a:ln/>
        </p:spPr>
      </p:sp>
      <p:sp>
        <p:nvSpPr>
          <p:cNvPr id="4" name="Text 2"/>
          <p:cNvSpPr/>
          <p:nvPr/>
        </p:nvSpPr>
        <p:spPr>
          <a:xfrm>
            <a:off x="1020604" y="1899523"/>
            <a:ext cx="3742730" cy="708660"/>
          </a:xfrm>
          <a:prstGeom prst="rect">
            <a:avLst/>
          </a:prstGeom>
          <a:noFill/>
          <a:ln/>
        </p:spPr>
        <p:txBody>
          <a:bodyPr wrap="square" lIns="0" tIns="0" rIns="0" bIns="0" rtlCol="0" anchor="t"/>
          <a:lstStyle/>
          <a:p>
            <a:pPr indent="0" marL="0">
              <a:lnSpc>
                <a:spcPts val="2750"/>
              </a:lnSpc>
              <a:buNone/>
            </a:pPr>
            <a:r>
              <a:rPr lang="en-US" sz="2200" dirty="0">
                <a:solidFill>
                  <a:srgbClr val="B05EF1"/>
                </a:solidFill>
                <a:latin typeface="Fira Mono Medium" pitchFamily="34" charset="0"/>
                <a:ea typeface="Fira Mono Medium" pitchFamily="34" charset="-122"/>
                <a:cs typeface="Fira Mono Medium" pitchFamily="34" charset="-120"/>
              </a:rPr>
              <a:t>Sex-Linked Characteristics</a:t>
            </a:r>
            <a:endParaRPr lang="en-US" sz="2200" dirty="0"/>
          </a:p>
        </p:txBody>
      </p:sp>
      <p:sp>
        <p:nvSpPr>
          <p:cNvPr id="5" name="Text 3"/>
          <p:cNvSpPr/>
          <p:nvPr/>
        </p:nvSpPr>
        <p:spPr>
          <a:xfrm>
            <a:off x="1020604" y="2744272"/>
            <a:ext cx="3742730" cy="2267545"/>
          </a:xfrm>
          <a:prstGeom prst="rect">
            <a:avLst/>
          </a:prstGeom>
          <a:noFill/>
          <a:ln/>
        </p:spPr>
        <p:txBody>
          <a:bodyPr wrap="squar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Some characteristics are sex linked, i.e. one sex shows the characteristics while the other sex not apparently affected is the carrier.</a:t>
            </a:r>
            <a:endParaRPr lang="en-US" sz="2200" dirty="0"/>
          </a:p>
        </p:txBody>
      </p:sp>
      <p:sp>
        <p:nvSpPr>
          <p:cNvPr id="6" name="Shape 4"/>
          <p:cNvSpPr/>
          <p:nvPr/>
        </p:nvSpPr>
        <p:spPr>
          <a:xfrm>
            <a:off x="5216962" y="1672709"/>
            <a:ext cx="4196358" cy="4671298"/>
          </a:xfrm>
          <a:prstGeom prst="roundRect">
            <a:avLst>
              <a:gd name="adj" fmla="val 811"/>
            </a:avLst>
          </a:prstGeom>
          <a:solidFill>
            <a:srgbClr val="2E2E2F"/>
          </a:solidFill>
          <a:ln/>
        </p:spPr>
      </p:sp>
      <p:sp>
        <p:nvSpPr>
          <p:cNvPr id="7" name="Text 5"/>
          <p:cNvSpPr/>
          <p:nvPr/>
        </p:nvSpPr>
        <p:spPr>
          <a:xfrm>
            <a:off x="5443776" y="1899523"/>
            <a:ext cx="3742730" cy="453509"/>
          </a:xfrm>
          <a:prstGeom prst="rect">
            <a:avLst/>
          </a:prstGeom>
          <a:noFill/>
          <a:ln/>
        </p:spPr>
        <p:txBody>
          <a:bodyPr wrap="none" lIns="0" tIns="0" rIns="0" bIns="0" rtlCol="0" anchor="t"/>
          <a:lstStyle/>
          <a:p>
            <a:pPr indent="0" marL="0">
              <a:lnSpc>
                <a:spcPts val="3550"/>
              </a:lnSpc>
              <a:buNone/>
            </a:pPr>
            <a:r>
              <a:rPr lang="en-US" sz="2200" dirty="0">
                <a:solidFill>
                  <a:srgbClr val="AEE4BD"/>
                </a:solidFill>
                <a:latin typeface="Fira Sans" pitchFamily="34" charset="0"/>
                <a:ea typeface="Fira Sans" pitchFamily="34" charset="-122"/>
                <a:cs typeface="Fira Sans" pitchFamily="34" charset="-120"/>
              </a:rPr>
              <a:t>Colour Blindness</a:t>
            </a:r>
            <a:endParaRPr lang="en-US" sz="2200" dirty="0"/>
          </a:p>
        </p:txBody>
      </p:sp>
      <p:sp>
        <p:nvSpPr>
          <p:cNvPr id="8" name="Text 6"/>
          <p:cNvSpPr/>
          <p:nvPr/>
        </p:nvSpPr>
        <p:spPr>
          <a:xfrm>
            <a:off x="5443776" y="2489121"/>
            <a:ext cx="3742730" cy="3628072"/>
          </a:xfrm>
          <a:prstGeom prst="rect">
            <a:avLst/>
          </a:prstGeom>
          <a:noFill/>
          <a:ln/>
        </p:spPr>
        <p:txBody>
          <a:bodyPr wrap="squar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EG:-Colour blindness. The sons of a colour blind man and normal woman do not inherit the defect, but daughters may be carriers of the disorder to another generation of males, their sons.</a:t>
            </a:r>
            <a:endParaRPr lang="en-US" sz="2200" dirty="0"/>
          </a:p>
        </p:txBody>
      </p:sp>
      <p:sp>
        <p:nvSpPr>
          <p:cNvPr id="9" name="Shape 7"/>
          <p:cNvSpPr/>
          <p:nvPr/>
        </p:nvSpPr>
        <p:spPr>
          <a:xfrm>
            <a:off x="9640133" y="1672709"/>
            <a:ext cx="4196358" cy="4671298"/>
          </a:xfrm>
          <a:prstGeom prst="roundRect">
            <a:avLst>
              <a:gd name="adj" fmla="val 811"/>
            </a:avLst>
          </a:prstGeom>
          <a:solidFill>
            <a:srgbClr val="2E2E2F"/>
          </a:solidFill>
          <a:ln/>
        </p:spPr>
      </p:sp>
      <p:sp>
        <p:nvSpPr>
          <p:cNvPr id="10" name="Text 8"/>
          <p:cNvSpPr/>
          <p:nvPr/>
        </p:nvSpPr>
        <p:spPr>
          <a:xfrm>
            <a:off x="9866948" y="1899523"/>
            <a:ext cx="3742730" cy="453509"/>
          </a:xfrm>
          <a:prstGeom prst="rect">
            <a:avLst/>
          </a:prstGeom>
          <a:noFill/>
          <a:ln/>
        </p:spPr>
        <p:txBody>
          <a:bodyPr wrap="none" lIns="0" tIns="0" rIns="0" bIns="0" rtlCol="0" anchor="t"/>
          <a:lstStyle/>
          <a:p>
            <a:pPr indent="0" marL="0">
              <a:lnSpc>
                <a:spcPts val="3550"/>
              </a:lnSpc>
              <a:buNone/>
            </a:pPr>
            <a:r>
              <a:rPr lang="en-US" sz="2200" dirty="0">
                <a:solidFill>
                  <a:srgbClr val="FF6BD8"/>
                </a:solidFill>
                <a:latin typeface="Fira Sans" pitchFamily="34" charset="0"/>
                <a:ea typeface="Fira Sans" pitchFamily="34" charset="-122"/>
                <a:cs typeface="Fira Sans" pitchFamily="34" charset="-120"/>
              </a:rPr>
              <a:t>Mutations</a:t>
            </a:r>
            <a:endParaRPr lang="en-US" sz="2200" dirty="0"/>
          </a:p>
        </p:txBody>
      </p:sp>
      <p:sp>
        <p:nvSpPr>
          <p:cNvPr id="11" name="Text 9"/>
          <p:cNvSpPr/>
          <p:nvPr/>
        </p:nvSpPr>
        <p:spPr>
          <a:xfrm>
            <a:off x="9866948" y="2489121"/>
            <a:ext cx="3742730" cy="3174563"/>
          </a:xfrm>
          <a:prstGeom prst="rect">
            <a:avLst/>
          </a:prstGeom>
          <a:noFill/>
          <a:ln/>
        </p:spPr>
        <p:txBody>
          <a:bodyPr wrap="squar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Changes occur in the reproductive cells of a living thing which causes the introduction of completely new traits in the next generations. Such changes are called mutations.</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623768"/>
            <a:ext cx="5670590" cy="708779"/>
          </a:xfrm>
          <a:prstGeom prst="rect">
            <a:avLst/>
          </a:prstGeom>
          <a:noFill/>
          <a:ln/>
        </p:spPr>
        <p:txBody>
          <a:bodyPr wrap="none" lIns="0" tIns="0" rIns="0" bIns="0" rtlCol="0" anchor="t"/>
          <a:lstStyle/>
          <a:p>
            <a:pPr indent="0" marL="0">
              <a:lnSpc>
                <a:spcPts val="5550"/>
              </a:lnSpc>
              <a:buNone/>
            </a:pPr>
            <a:endParaRPr lang="en-US" sz="4450" dirty="0"/>
          </a:p>
        </p:txBody>
      </p:sp>
      <p:pic>
        <p:nvPicPr>
          <p:cNvPr id="3" name="Image 0" descr="preencoded.png">    </p:cNvPr>
          <p:cNvPicPr>
            <a:picLocks noChangeAspect="1"/>
          </p:cNvPicPr>
          <p:nvPr/>
        </p:nvPicPr>
        <p:blipFill>
          <a:blip r:embed="rId1"/>
          <a:stretch>
            <a:fillRect/>
          </a:stretch>
        </p:blipFill>
        <p:spPr>
          <a:xfrm>
            <a:off x="793790" y="1786176"/>
            <a:ext cx="4120753" cy="2546747"/>
          </a:xfrm>
          <a:prstGeom prst="rect">
            <a:avLst/>
          </a:prstGeom>
        </p:spPr>
      </p:pic>
      <p:sp>
        <p:nvSpPr>
          <p:cNvPr id="4" name="Text 1"/>
          <p:cNvSpPr/>
          <p:nvPr/>
        </p:nvSpPr>
        <p:spPr>
          <a:xfrm>
            <a:off x="793790" y="4616410"/>
            <a:ext cx="2835235" cy="354330"/>
          </a:xfrm>
          <a:prstGeom prst="rect">
            <a:avLst/>
          </a:prstGeom>
          <a:noFill/>
          <a:ln/>
        </p:spPr>
        <p:txBody>
          <a:bodyPr wrap="none" lIns="0" tIns="0" rIns="0" bIns="0" rtlCol="0" anchor="t"/>
          <a:lstStyle/>
          <a:p>
            <a:pPr algn="l" indent="0" marL="0">
              <a:lnSpc>
                <a:spcPts val="2750"/>
              </a:lnSpc>
              <a:buNone/>
            </a:pPr>
            <a:endParaRPr lang="en-US" sz="2200" dirty="0"/>
          </a:p>
        </p:txBody>
      </p:sp>
      <p:sp>
        <p:nvSpPr>
          <p:cNvPr id="5" name="Text 2"/>
          <p:cNvSpPr/>
          <p:nvPr/>
        </p:nvSpPr>
        <p:spPr>
          <a:xfrm>
            <a:off x="793790" y="5106829"/>
            <a:ext cx="4120753" cy="1360527"/>
          </a:xfrm>
          <a:prstGeom prst="rect">
            <a:avLst/>
          </a:prstGeom>
          <a:noFill/>
          <a:ln/>
        </p:spPr>
        <p:txBody>
          <a:bodyPr wrap="square" lIns="0" tIns="0" rIns="0" bIns="0" rtlCol="0" anchor="t"/>
          <a:lstStyle/>
          <a:p>
            <a:pPr algn="l" indent="0" marL="0">
              <a:lnSpc>
                <a:spcPts val="3550"/>
              </a:lnSpc>
              <a:buNone/>
            </a:pPr>
            <a:r>
              <a:rPr lang="en-US" sz="2200" dirty="0">
                <a:solidFill>
                  <a:srgbClr val="E0D6DE"/>
                </a:solidFill>
                <a:latin typeface="Fira Sans" pitchFamily="34" charset="0"/>
                <a:ea typeface="Fira Sans" pitchFamily="34" charset="-122"/>
                <a:cs typeface="Fira Sans" pitchFamily="34" charset="-120"/>
              </a:rPr>
              <a:t>Heredity is the basis for development of human personality.</a:t>
            </a:r>
            <a:endParaRPr lang="en-US" sz="2200" dirty="0"/>
          </a:p>
        </p:txBody>
      </p:sp>
      <p:pic>
        <p:nvPicPr>
          <p:cNvPr id="6" name="Image 1" descr="preencoded.png">    </p:cNvPr>
          <p:cNvPicPr>
            <a:picLocks noChangeAspect="1"/>
          </p:cNvPicPr>
          <p:nvPr/>
        </p:nvPicPr>
        <p:blipFill>
          <a:blip r:embed="rId2"/>
          <a:stretch>
            <a:fillRect/>
          </a:stretch>
        </p:blipFill>
        <p:spPr>
          <a:xfrm>
            <a:off x="5254704" y="1786176"/>
            <a:ext cx="4120872" cy="2546866"/>
          </a:xfrm>
          <a:prstGeom prst="rect">
            <a:avLst/>
          </a:prstGeom>
        </p:spPr>
      </p:pic>
      <p:sp>
        <p:nvSpPr>
          <p:cNvPr id="7" name="Text 3"/>
          <p:cNvSpPr/>
          <p:nvPr/>
        </p:nvSpPr>
        <p:spPr>
          <a:xfrm>
            <a:off x="5254704" y="4616529"/>
            <a:ext cx="4120872" cy="453509"/>
          </a:xfrm>
          <a:prstGeom prst="rect">
            <a:avLst/>
          </a:prstGeom>
          <a:noFill/>
          <a:ln/>
        </p:spPr>
        <p:txBody>
          <a:bodyPr wrap="none" lIns="0" tIns="0" rIns="0" bIns="0" rtlCol="0" anchor="t"/>
          <a:lstStyle/>
          <a:p>
            <a:pPr algn="l" indent="0" marL="0">
              <a:lnSpc>
                <a:spcPts val="3550"/>
              </a:lnSpc>
              <a:buNone/>
            </a:pPr>
            <a:endParaRPr lang="en-US" sz="2200" dirty="0"/>
          </a:p>
        </p:txBody>
      </p:sp>
      <p:sp>
        <p:nvSpPr>
          <p:cNvPr id="8" name="Text 4"/>
          <p:cNvSpPr/>
          <p:nvPr/>
        </p:nvSpPr>
        <p:spPr>
          <a:xfrm>
            <a:off x="5254704" y="5206127"/>
            <a:ext cx="4120872" cy="1814036"/>
          </a:xfrm>
          <a:prstGeom prst="rect">
            <a:avLst/>
          </a:prstGeom>
          <a:noFill/>
          <a:ln/>
        </p:spPr>
        <p:txBody>
          <a:bodyPr wrap="square" lIns="0" tIns="0" rIns="0" bIns="0" rtlCol="0" anchor="t"/>
          <a:lstStyle/>
          <a:p>
            <a:pPr algn="l" indent="0" marL="0">
              <a:lnSpc>
                <a:spcPts val="3550"/>
              </a:lnSpc>
              <a:buNone/>
            </a:pPr>
            <a:r>
              <a:rPr lang="en-US" sz="2200" dirty="0">
                <a:solidFill>
                  <a:srgbClr val="E0D6DE"/>
                </a:solidFill>
                <a:latin typeface="Fira Sans" pitchFamily="34" charset="0"/>
                <a:ea typeface="Fira Sans" pitchFamily="34" charset="-122"/>
                <a:cs typeface="Fira Sans" pitchFamily="34" charset="-120"/>
              </a:rPr>
              <a:t>The child inherits the traits and characteristics of his parents and forefathers through genes at the time of conception.</a:t>
            </a:r>
            <a:endParaRPr lang="en-US" sz="2200" dirty="0"/>
          </a:p>
        </p:txBody>
      </p:sp>
      <p:pic>
        <p:nvPicPr>
          <p:cNvPr id="9" name="Image 2" descr="preencoded.png">    </p:cNvPr>
          <p:cNvPicPr>
            <a:picLocks noChangeAspect="1"/>
          </p:cNvPicPr>
          <p:nvPr/>
        </p:nvPicPr>
        <p:blipFill>
          <a:blip r:embed="rId3"/>
          <a:stretch>
            <a:fillRect/>
          </a:stretch>
        </p:blipFill>
        <p:spPr>
          <a:xfrm>
            <a:off x="9715738" y="1786176"/>
            <a:ext cx="4120753" cy="2546747"/>
          </a:xfrm>
          <a:prstGeom prst="rect">
            <a:avLst/>
          </a:prstGeom>
        </p:spPr>
      </p:pic>
      <p:sp>
        <p:nvSpPr>
          <p:cNvPr id="10" name="Text 5"/>
          <p:cNvSpPr/>
          <p:nvPr/>
        </p:nvSpPr>
        <p:spPr>
          <a:xfrm>
            <a:off x="9715738" y="4616410"/>
            <a:ext cx="4120753" cy="453509"/>
          </a:xfrm>
          <a:prstGeom prst="rect">
            <a:avLst/>
          </a:prstGeom>
          <a:noFill/>
          <a:ln/>
        </p:spPr>
        <p:txBody>
          <a:bodyPr wrap="none" lIns="0" tIns="0" rIns="0" bIns="0" rtlCol="0" anchor="t"/>
          <a:lstStyle/>
          <a:p>
            <a:pPr algn="l" indent="0" marL="0">
              <a:lnSpc>
                <a:spcPts val="3550"/>
              </a:lnSpc>
              <a:buNone/>
            </a:pPr>
            <a:endParaRPr lang="en-US" sz="2200" dirty="0"/>
          </a:p>
        </p:txBody>
      </p:sp>
      <p:sp>
        <p:nvSpPr>
          <p:cNvPr id="11" name="Text 6"/>
          <p:cNvSpPr/>
          <p:nvPr/>
        </p:nvSpPr>
        <p:spPr>
          <a:xfrm>
            <a:off x="9715738" y="5206008"/>
            <a:ext cx="4120753" cy="2267545"/>
          </a:xfrm>
          <a:prstGeom prst="rect">
            <a:avLst/>
          </a:prstGeom>
          <a:noFill/>
          <a:ln/>
        </p:spPr>
        <p:txBody>
          <a:bodyPr wrap="square" lIns="0" tIns="0" rIns="0" bIns="0" rtlCol="0" anchor="t"/>
          <a:lstStyle/>
          <a:p>
            <a:pPr algn="l" indent="0" marL="0">
              <a:lnSpc>
                <a:spcPts val="3550"/>
              </a:lnSpc>
              <a:buNone/>
            </a:pPr>
            <a:r>
              <a:rPr lang="en-US" sz="2200" dirty="0">
                <a:solidFill>
                  <a:srgbClr val="E0D6DE"/>
                </a:solidFill>
                <a:latin typeface="Fira Sans" pitchFamily="34" charset="0"/>
                <a:ea typeface="Fira Sans" pitchFamily="34" charset="-122"/>
                <a:cs typeface="Fira Sans" pitchFamily="34" charset="-120"/>
              </a:rPr>
              <a:t>Genetic factors have been found responsible for causing cognitive malfunctioning and mental deficiency among children.</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93790" y="878919"/>
            <a:ext cx="6244709" cy="4163139"/>
          </a:xfrm>
          <a:prstGeom prst="rect">
            <a:avLst/>
          </a:prstGeom>
        </p:spPr>
      </p:pic>
      <p:sp>
        <p:nvSpPr>
          <p:cNvPr id="3" name="Text 0"/>
          <p:cNvSpPr/>
          <p:nvPr/>
        </p:nvSpPr>
        <p:spPr>
          <a:xfrm>
            <a:off x="7599521" y="1143476"/>
            <a:ext cx="5670590" cy="708779"/>
          </a:xfrm>
          <a:prstGeom prst="rect">
            <a:avLst/>
          </a:prstGeom>
          <a:noFill/>
          <a:ln/>
        </p:spPr>
        <p:txBody>
          <a:bodyPr wrap="none" lIns="0" tIns="0" rIns="0" bIns="0" rtlCol="0" anchor="t"/>
          <a:lstStyle/>
          <a:p>
            <a:pPr indent="0" marL="0">
              <a:lnSpc>
                <a:spcPts val="5550"/>
              </a:lnSpc>
              <a:buNone/>
            </a:pPr>
            <a:endParaRPr lang="en-US" sz="4450" dirty="0"/>
          </a:p>
        </p:txBody>
      </p:sp>
      <p:sp>
        <p:nvSpPr>
          <p:cNvPr id="4" name="Text 1"/>
          <p:cNvSpPr/>
          <p:nvPr/>
        </p:nvSpPr>
        <p:spPr>
          <a:xfrm>
            <a:off x="7599521" y="2079069"/>
            <a:ext cx="6244709" cy="2721054"/>
          </a:xfrm>
          <a:prstGeom prst="rect">
            <a:avLst/>
          </a:prstGeom>
          <a:noFill/>
          <a:ln/>
        </p:spPr>
        <p:txBody>
          <a:bodyPr wrap="square" lIns="0" tIns="0" rIns="0" bIns="0" rtlCol="0" anchor="t"/>
          <a:lstStyle/>
          <a:p>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Eg:-</a:t>
            </a:r>
            <a:pPr indent="0" marL="0">
              <a:lnSpc>
                <a:spcPts val="3550"/>
              </a:lnSpc>
              <a:buNone/>
            </a:pPr>
            <a:r>
              <a:rPr lang="en-US" sz="2200" dirty="0">
                <a:solidFill>
                  <a:srgbClr val="FF6BD8"/>
                </a:solidFill>
                <a:latin typeface="Fira Sans" pitchFamily="34" charset="0"/>
                <a:ea typeface="Fira Sans" pitchFamily="34" charset="-122"/>
                <a:cs typeface="Fira Sans" pitchFamily="34" charset="-120"/>
              </a:rPr>
              <a:t>Down syndrome</a:t>
            </a:r>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 is a genetic disorder that occurs when a person has an extra or partial copy of chromosome 21. This extra genetic material changes how the body and brain develop, leading to physical and mental challenges.</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93790" y="992386"/>
            <a:ext cx="6244709" cy="6244709"/>
          </a:xfrm>
          <a:prstGeom prst="rect">
            <a:avLst/>
          </a:prstGeom>
        </p:spPr>
      </p:pic>
      <p:sp>
        <p:nvSpPr>
          <p:cNvPr id="3" name="Text 0"/>
          <p:cNvSpPr/>
          <p:nvPr/>
        </p:nvSpPr>
        <p:spPr>
          <a:xfrm>
            <a:off x="7599521" y="2977991"/>
            <a:ext cx="5670590" cy="708779"/>
          </a:xfrm>
          <a:prstGeom prst="rect">
            <a:avLst/>
          </a:prstGeom>
          <a:noFill/>
          <a:ln/>
        </p:spPr>
        <p:txBody>
          <a:bodyPr wrap="none" lIns="0" tIns="0" rIns="0" bIns="0" rtlCol="0" anchor="t"/>
          <a:lstStyle/>
          <a:p>
            <a:pPr indent="0" marL="0">
              <a:lnSpc>
                <a:spcPts val="5550"/>
              </a:lnSpc>
              <a:buNone/>
            </a:pPr>
            <a:endParaRPr lang="en-US" sz="4450" dirty="0"/>
          </a:p>
        </p:txBody>
      </p:sp>
      <p:sp>
        <p:nvSpPr>
          <p:cNvPr id="4" name="Text 1"/>
          <p:cNvSpPr/>
          <p:nvPr/>
        </p:nvSpPr>
        <p:spPr>
          <a:xfrm>
            <a:off x="7599521" y="3913584"/>
            <a:ext cx="6244709" cy="1360527"/>
          </a:xfrm>
          <a:prstGeom prst="rect">
            <a:avLst/>
          </a:prstGeom>
          <a:noFill/>
          <a:ln/>
        </p:spPr>
        <p:txBody>
          <a:bodyPr wrap="square" lIns="0" tIns="0" rIns="0" bIns="0" rtlCol="0" anchor="t"/>
          <a:lstStyle/>
          <a:p>
            <a:pPr indent="0" marL="0">
              <a:lnSpc>
                <a:spcPts val="3550"/>
              </a:lnSpc>
              <a:buNone/>
            </a:pPr>
            <a:r>
              <a:rPr lang="en-US" sz="2200" dirty="0">
                <a:solidFill>
                  <a:srgbClr val="FAA1A1"/>
                </a:solidFill>
                <a:latin typeface="Fira Sans" pitchFamily="34" charset="0"/>
                <a:ea typeface="Fira Sans" pitchFamily="34" charset="-122"/>
                <a:cs typeface="Fira Sans" pitchFamily="34" charset="-120"/>
              </a:rPr>
              <a:t>Klinefelter's syndrome</a:t>
            </a:r>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 is a chromosomal abnormality that occurs in males, caused by the presence of an extra X chromosome.</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82955" y="868085"/>
            <a:ext cx="4901565" cy="6493431"/>
          </a:xfrm>
          <a:prstGeom prst="rect">
            <a:avLst/>
          </a:prstGeom>
        </p:spPr>
      </p:pic>
      <p:sp>
        <p:nvSpPr>
          <p:cNvPr id="3" name="Text 0"/>
          <p:cNvSpPr/>
          <p:nvPr/>
        </p:nvSpPr>
        <p:spPr>
          <a:xfrm>
            <a:off x="7595711" y="2993350"/>
            <a:ext cx="5592961" cy="699135"/>
          </a:xfrm>
          <a:prstGeom prst="rect">
            <a:avLst/>
          </a:prstGeom>
          <a:noFill/>
          <a:ln/>
        </p:spPr>
        <p:txBody>
          <a:bodyPr wrap="none" lIns="0" tIns="0" rIns="0" bIns="0" rtlCol="0" anchor="t"/>
          <a:lstStyle/>
          <a:p>
            <a:pPr indent="0" marL="0">
              <a:lnSpc>
                <a:spcPts val="5500"/>
              </a:lnSpc>
              <a:buNone/>
            </a:pPr>
            <a:endParaRPr lang="en-US" sz="4400" dirty="0"/>
          </a:p>
        </p:txBody>
      </p:sp>
      <p:sp>
        <p:nvSpPr>
          <p:cNvPr id="4" name="Text 1"/>
          <p:cNvSpPr/>
          <p:nvPr/>
        </p:nvSpPr>
        <p:spPr>
          <a:xfrm>
            <a:off x="7595711" y="3916204"/>
            <a:ext cx="6259354" cy="1342311"/>
          </a:xfrm>
          <a:prstGeom prst="rect">
            <a:avLst/>
          </a:prstGeom>
          <a:noFill/>
          <a:ln/>
        </p:spPr>
        <p:txBody>
          <a:bodyPr wrap="square" lIns="0" tIns="0" rIns="0" bIns="0" rtlCol="0" anchor="t"/>
          <a:lstStyle/>
          <a:p>
            <a:pPr indent="0" marL="0">
              <a:lnSpc>
                <a:spcPts val="3500"/>
              </a:lnSpc>
              <a:buNone/>
            </a:pPr>
            <a:r>
              <a:rPr lang="en-US" sz="2200" dirty="0">
                <a:solidFill>
                  <a:srgbClr val="F44444"/>
                </a:solidFill>
                <a:latin typeface="Fira Sans" pitchFamily="34" charset="0"/>
                <a:ea typeface="Fira Sans" pitchFamily="34" charset="-122"/>
                <a:cs typeface="Fira Sans" pitchFamily="34" charset="-120"/>
              </a:rPr>
              <a:t>Phenylketonuria</a:t>
            </a:r>
            <a:pPr indent="0" marL="0">
              <a:lnSpc>
                <a:spcPts val="3500"/>
              </a:lnSpc>
              <a:buNone/>
            </a:pPr>
            <a:r>
              <a:rPr lang="en-US" sz="2200" dirty="0">
                <a:solidFill>
                  <a:srgbClr val="E0D6DE"/>
                </a:solidFill>
                <a:latin typeface="Fira Sans" pitchFamily="34" charset="0"/>
                <a:ea typeface="Fira Sans" pitchFamily="34" charset="-122"/>
                <a:cs typeface="Fira Sans" pitchFamily="34" charset="-120"/>
              </a:rPr>
              <a:t> is a genetic disorder caused by defective recessive genes that disrupt metabolism.</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2586871"/>
            <a:ext cx="5670590" cy="708779"/>
          </a:xfrm>
          <a:prstGeom prst="rect">
            <a:avLst/>
          </a:prstGeom>
          <a:noFill/>
          <a:ln/>
        </p:spPr>
        <p:txBody>
          <a:bodyPr wrap="none" lIns="0" tIns="0" rIns="0" bIns="0" rtlCol="0" anchor="t"/>
          <a:lstStyle/>
          <a:p>
            <a:pPr indent="0" marL="0">
              <a:lnSpc>
                <a:spcPts val="5550"/>
              </a:lnSpc>
              <a:buNone/>
            </a:pPr>
            <a:endParaRPr lang="en-US" sz="4450" dirty="0"/>
          </a:p>
        </p:txBody>
      </p:sp>
      <p:sp>
        <p:nvSpPr>
          <p:cNvPr id="3" name="Text 1"/>
          <p:cNvSpPr/>
          <p:nvPr/>
        </p:nvSpPr>
        <p:spPr>
          <a:xfrm>
            <a:off x="793790" y="3749278"/>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B05EF1"/>
                </a:solidFill>
                <a:latin typeface="Fira Sans" pitchFamily="34" charset="0"/>
                <a:ea typeface="Fira Sans" pitchFamily="34" charset="-122"/>
                <a:cs typeface="Fira Sans" pitchFamily="34" charset="-120"/>
              </a:rPr>
              <a:t>Learning disabilities and behavioural disorders</a:t>
            </a:r>
            <a:pPr algn="l" indent="0" marL="0">
              <a:lnSpc>
                <a:spcPts val="2850"/>
              </a:lnSpc>
              <a:buNone/>
            </a:pPr>
            <a:r>
              <a:rPr lang="en-US" sz="1750" dirty="0">
                <a:solidFill>
                  <a:srgbClr val="E0D6DE"/>
                </a:solidFill>
                <a:latin typeface="Fira Sans" pitchFamily="34" charset="0"/>
                <a:ea typeface="Fira Sans" pitchFamily="34" charset="-122"/>
                <a:cs typeface="Fira Sans" pitchFamily="34" charset="-120"/>
              </a:rPr>
              <a:t>-genetic or hereditary factors have been found responsible for causing learning disabilities and behavioural disorders.</a:t>
            </a:r>
            <a:endParaRPr lang="en-US" sz="1750" dirty="0"/>
          </a:p>
        </p:txBody>
      </p:sp>
      <p:sp>
        <p:nvSpPr>
          <p:cNvPr id="4" name="Text 2"/>
          <p:cNvSpPr/>
          <p:nvPr/>
        </p:nvSpPr>
        <p:spPr>
          <a:xfrm>
            <a:off x="793790" y="4735592"/>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The most severe cases of emotional disturbances like </a:t>
            </a:r>
            <a:pPr algn="l" indent="0" marL="0">
              <a:lnSpc>
                <a:spcPts val="2850"/>
              </a:lnSpc>
              <a:buNone/>
            </a:pPr>
            <a:r>
              <a:rPr lang="en-US" sz="1750" dirty="0">
                <a:solidFill>
                  <a:srgbClr val="F44444"/>
                </a:solidFill>
                <a:latin typeface="Fira Sans" pitchFamily="34" charset="0"/>
                <a:ea typeface="Fira Sans" pitchFamily="34" charset="-122"/>
                <a:cs typeface="Fira Sans" pitchFamily="34" charset="-120"/>
              </a:rPr>
              <a:t>schizophrenia</a:t>
            </a:r>
            <a:pPr algn="l" indent="0" marL="0">
              <a:lnSpc>
                <a:spcPts val="2850"/>
              </a:lnSpc>
              <a:buNone/>
            </a:pPr>
            <a:r>
              <a:rPr lang="en-US" sz="1750" dirty="0">
                <a:solidFill>
                  <a:srgbClr val="E0D6DE"/>
                </a:solidFill>
                <a:latin typeface="Fira Sans" pitchFamily="34" charset="0"/>
                <a:ea typeface="Fira Sans" pitchFamily="34" charset="-122"/>
                <a:cs typeface="Fira Sans" pitchFamily="34" charset="-120"/>
              </a:rPr>
              <a:t> has been found to be linked with genetic factors.</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198007"/>
            <a:ext cx="6463546" cy="708779"/>
          </a:xfrm>
          <a:prstGeom prst="rect">
            <a:avLst/>
          </a:prstGeom>
          <a:noFill/>
          <a:ln/>
        </p:spPr>
        <p:txBody>
          <a:bodyPr wrap="none" lIns="0" tIns="0" rIns="0" bIns="0" rtlCol="0" anchor="t"/>
          <a:lstStyle/>
          <a:p>
            <a:pPr indent="0" marL="0">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BRAIN AND BEHAVIOUR</a:t>
            </a:r>
            <a:endParaRPr lang="en-US" sz="4450" dirty="0"/>
          </a:p>
        </p:txBody>
      </p:sp>
      <p:sp>
        <p:nvSpPr>
          <p:cNvPr id="3" name="Text 1"/>
          <p:cNvSpPr/>
          <p:nvPr/>
        </p:nvSpPr>
        <p:spPr>
          <a:xfrm>
            <a:off x="793790" y="2360414"/>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Brain is responsible for eliciting responses to stimuli.</a:t>
            </a:r>
            <a:endParaRPr lang="en-US" sz="1750" dirty="0"/>
          </a:p>
        </p:txBody>
      </p:sp>
      <p:sp>
        <p:nvSpPr>
          <p:cNvPr id="4" name="Text 2"/>
          <p:cNvSpPr/>
          <p:nvPr/>
        </p:nvSpPr>
        <p:spPr>
          <a:xfrm>
            <a:off x="793790" y="3069074"/>
            <a:ext cx="13042821" cy="1814036"/>
          </a:xfrm>
          <a:prstGeom prst="rect">
            <a:avLst/>
          </a:prstGeom>
          <a:noFill/>
          <a:ln/>
        </p:spPr>
        <p:txBody>
          <a:bodyPr wrap="square" lIns="0" tIns="0" rIns="0" bIns="0" rtlCol="0" anchor="t"/>
          <a:lstStyle/>
          <a:p>
            <a:pPr algn="l" indent="0" marL="0">
              <a:lnSpc>
                <a:spcPts val="3550"/>
              </a:lnSpc>
              <a:buNone/>
            </a:pPr>
            <a:r>
              <a:rPr lang="en-US" sz="2200" dirty="0">
                <a:solidFill>
                  <a:srgbClr val="E0D6DE"/>
                </a:solidFill>
                <a:latin typeface="Fira Sans" pitchFamily="34" charset="0"/>
                <a:ea typeface="Fira Sans" pitchFamily="34" charset="-122"/>
                <a:cs typeface="Fira Sans" pitchFamily="34" charset="-120"/>
              </a:rPr>
              <a:t>Eg:-An individual sees a snake at a distance . This snake works here as a stimulus .The visual sensory experience of the snake is received by receptor organ, eye . The reaction may be attacking or fleeing . Here fear or attack response are generated through emotional reactions from secretion of some glands(adrenal).</a:t>
            </a:r>
            <a:endParaRPr lang="en-US" sz="2200" dirty="0"/>
          </a:p>
        </p:txBody>
      </p:sp>
      <p:sp>
        <p:nvSpPr>
          <p:cNvPr id="5" name="Text 3"/>
          <p:cNvSpPr/>
          <p:nvPr/>
        </p:nvSpPr>
        <p:spPr>
          <a:xfrm>
            <a:off x="793790" y="5138261"/>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The entire behaviour is managed and controlled by the coordination and functioning of nervous system.</a:t>
            </a:r>
            <a:endParaRPr lang="en-US" sz="1750" dirty="0"/>
          </a:p>
        </p:txBody>
      </p:sp>
      <p:sp>
        <p:nvSpPr>
          <p:cNvPr id="6" name="Text 4"/>
          <p:cNvSpPr/>
          <p:nvPr/>
        </p:nvSpPr>
        <p:spPr>
          <a:xfrm>
            <a:off x="793790" y="6124575"/>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The proper growth and development of nervous tissues and nervous system as a whole helps in the task of proper intellectual developments.</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991076"/>
            <a:ext cx="5670590" cy="708779"/>
          </a:xfrm>
          <a:prstGeom prst="rect">
            <a:avLst/>
          </a:prstGeom>
          <a:noFill/>
          <a:ln/>
        </p:spPr>
        <p:txBody>
          <a:bodyPr wrap="none" lIns="0" tIns="0" rIns="0" bIns="0" rtlCol="0" anchor="t"/>
          <a:lstStyle/>
          <a:p>
            <a:pPr indent="0" marL="0">
              <a:lnSpc>
                <a:spcPts val="5550"/>
              </a:lnSpc>
              <a:buNone/>
            </a:pPr>
            <a:endParaRPr lang="en-US" sz="4450" dirty="0"/>
          </a:p>
        </p:txBody>
      </p:sp>
      <p:sp>
        <p:nvSpPr>
          <p:cNvPr id="3" name="Text 1"/>
          <p:cNvSpPr/>
          <p:nvPr/>
        </p:nvSpPr>
        <p:spPr>
          <a:xfrm>
            <a:off x="793790" y="2153483"/>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Any defect in the spinal cord or brain seriously affects the intellectual growth.</a:t>
            </a:r>
            <a:endParaRPr lang="en-US" sz="1750" dirty="0"/>
          </a:p>
        </p:txBody>
      </p:sp>
      <p:sp>
        <p:nvSpPr>
          <p:cNvPr id="4" name="Text 2"/>
          <p:cNvSpPr/>
          <p:nvPr/>
        </p:nvSpPr>
        <p:spPr>
          <a:xfrm>
            <a:off x="793790" y="2686288"/>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During emotional outburst nerve tissues cause the change in the secretion of hormones by some glands and consequently influence the emotional behaviour of an individual.</a:t>
            </a:r>
            <a:endParaRPr lang="en-US" sz="1750" dirty="0"/>
          </a:p>
        </p:txBody>
      </p:sp>
      <p:sp>
        <p:nvSpPr>
          <p:cNvPr id="5" name="Text 3"/>
          <p:cNvSpPr/>
          <p:nvPr/>
        </p:nvSpPr>
        <p:spPr>
          <a:xfrm>
            <a:off x="793790" y="3672602"/>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The personality of an individual is influenced through the mechanism of the nervous system.</a:t>
            </a:r>
            <a:endParaRPr lang="en-US" sz="1750" dirty="0"/>
          </a:p>
        </p:txBody>
      </p:sp>
      <p:sp>
        <p:nvSpPr>
          <p:cNvPr id="6" name="Text 4"/>
          <p:cNvSpPr/>
          <p:nvPr/>
        </p:nvSpPr>
        <p:spPr>
          <a:xfrm>
            <a:off x="793790" y="4205407"/>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Human behaviour involves the body-mind interaction of the various bodily factors . the most important are:</a:t>
            </a:r>
            <a:endParaRPr lang="en-US" sz="1750" dirty="0"/>
          </a:p>
        </p:txBody>
      </p:sp>
      <p:sp>
        <p:nvSpPr>
          <p:cNvPr id="7" name="Text 5"/>
          <p:cNvSpPr/>
          <p:nvPr/>
        </p:nvSpPr>
        <p:spPr>
          <a:xfrm>
            <a:off x="793790" y="5367576"/>
            <a:ext cx="13042821" cy="453509"/>
          </a:xfrm>
          <a:prstGeom prst="rect">
            <a:avLst/>
          </a:prstGeom>
          <a:noFill/>
          <a:ln/>
        </p:spPr>
        <p:txBody>
          <a:bodyPr wrap="none" lIns="0" tIns="0" rIns="0" bIns="0" rtlCol="0" anchor="t"/>
          <a:lstStyle/>
          <a:p>
            <a:pPr algn="l" indent="0" marL="0">
              <a:lnSpc>
                <a:spcPts val="3550"/>
              </a:lnSpc>
              <a:buNone/>
            </a:pPr>
            <a:r>
              <a:rPr lang="en-US" sz="2200" dirty="0">
                <a:solidFill>
                  <a:srgbClr val="E0D6DE"/>
                </a:solidFill>
                <a:latin typeface="Fira Sans" pitchFamily="34" charset="0"/>
                <a:ea typeface="Fira Sans" pitchFamily="34" charset="-122"/>
                <a:cs typeface="Fira Sans" pitchFamily="34" charset="-120"/>
              </a:rPr>
              <a:t>1)The sense organs called</a:t>
            </a:r>
            <a:pPr algn="l" indent="0" marL="0">
              <a:lnSpc>
                <a:spcPts val="3550"/>
              </a:lnSpc>
              <a:buNone/>
            </a:pPr>
            <a:r>
              <a:rPr lang="en-US" sz="2200" dirty="0">
                <a:solidFill>
                  <a:srgbClr val="5CC97B"/>
                </a:solidFill>
                <a:latin typeface="Fira Sans" pitchFamily="34" charset="0"/>
                <a:ea typeface="Fira Sans" pitchFamily="34" charset="-122"/>
                <a:cs typeface="Fira Sans" pitchFamily="34" charset="-120"/>
              </a:rPr>
              <a:t> receptors</a:t>
            </a:r>
            <a:endParaRPr lang="en-US" sz="2200" dirty="0"/>
          </a:p>
        </p:txBody>
      </p:sp>
      <p:sp>
        <p:nvSpPr>
          <p:cNvPr id="8" name="Text 6"/>
          <p:cNvSpPr/>
          <p:nvPr/>
        </p:nvSpPr>
        <p:spPr>
          <a:xfrm>
            <a:off x="793790" y="6076236"/>
            <a:ext cx="13042821" cy="453509"/>
          </a:xfrm>
          <a:prstGeom prst="rect">
            <a:avLst/>
          </a:prstGeom>
          <a:noFill/>
          <a:ln/>
        </p:spPr>
        <p:txBody>
          <a:bodyPr wrap="none" lIns="0" tIns="0" rIns="0" bIns="0" rtlCol="0" anchor="t"/>
          <a:lstStyle/>
          <a:p>
            <a:pPr algn="l" indent="0" marL="0">
              <a:lnSpc>
                <a:spcPts val="3550"/>
              </a:lnSpc>
              <a:buNone/>
            </a:pPr>
            <a:r>
              <a:rPr lang="en-US" sz="2200" dirty="0">
                <a:solidFill>
                  <a:srgbClr val="E0D6DE"/>
                </a:solidFill>
                <a:latin typeface="Fira Sans" pitchFamily="34" charset="0"/>
                <a:ea typeface="Fira Sans" pitchFamily="34" charset="-122"/>
                <a:cs typeface="Fira Sans" pitchFamily="34" charset="-120"/>
              </a:rPr>
              <a:t>2)The muscles and endocrine glans called </a:t>
            </a:r>
            <a:pPr algn="l" indent="0" marL="0">
              <a:lnSpc>
                <a:spcPts val="3550"/>
              </a:lnSpc>
              <a:buNone/>
            </a:pPr>
            <a:r>
              <a:rPr lang="en-US" sz="2200" dirty="0">
                <a:solidFill>
                  <a:srgbClr val="F44444"/>
                </a:solidFill>
                <a:latin typeface="Fira Sans" pitchFamily="34" charset="0"/>
                <a:ea typeface="Fira Sans" pitchFamily="34" charset="-122"/>
                <a:cs typeface="Fira Sans" pitchFamily="34" charset="-120"/>
              </a:rPr>
              <a:t>effectors</a:t>
            </a:r>
            <a:endParaRPr lang="en-US" sz="2200" dirty="0"/>
          </a:p>
        </p:txBody>
      </p:sp>
      <p:sp>
        <p:nvSpPr>
          <p:cNvPr id="9" name="Text 7"/>
          <p:cNvSpPr/>
          <p:nvPr/>
        </p:nvSpPr>
        <p:spPr>
          <a:xfrm>
            <a:off x="793790" y="6784896"/>
            <a:ext cx="13042821" cy="453509"/>
          </a:xfrm>
          <a:prstGeom prst="rect">
            <a:avLst/>
          </a:prstGeom>
          <a:noFill/>
          <a:ln/>
        </p:spPr>
        <p:txBody>
          <a:bodyPr wrap="none" lIns="0" tIns="0" rIns="0" bIns="0" rtlCol="0" anchor="t"/>
          <a:lstStyle/>
          <a:p>
            <a:pPr algn="l" indent="0" marL="0">
              <a:lnSpc>
                <a:spcPts val="3550"/>
              </a:lnSpc>
              <a:buNone/>
            </a:pPr>
            <a:r>
              <a:rPr lang="en-US" sz="2200" dirty="0">
                <a:solidFill>
                  <a:srgbClr val="E0D6DE"/>
                </a:solidFill>
                <a:latin typeface="Fira Sans" pitchFamily="34" charset="0"/>
                <a:ea typeface="Fira Sans" pitchFamily="34" charset="-122"/>
                <a:cs typeface="Fira Sans" pitchFamily="34" charset="-120"/>
              </a:rPr>
              <a:t>3)The nervous system known as the </a:t>
            </a:r>
            <a:pPr algn="l" indent="0" marL="0">
              <a:lnSpc>
                <a:spcPts val="3550"/>
              </a:lnSpc>
              <a:buNone/>
            </a:pPr>
            <a:r>
              <a:rPr lang="en-US" sz="2200" dirty="0">
                <a:solidFill>
                  <a:srgbClr val="D8AFF8"/>
                </a:solidFill>
                <a:latin typeface="Fira Sans" pitchFamily="34" charset="0"/>
                <a:ea typeface="Fira Sans" pitchFamily="34" charset="-122"/>
                <a:cs typeface="Fira Sans" pitchFamily="34" charset="-120"/>
              </a:rPr>
              <a:t>connecting mechanism.</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1453039"/>
            <a:ext cx="5670590" cy="708779"/>
          </a:xfrm>
          <a:prstGeom prst="rect">
            <a:avLst/>
          </a:prstGeom>
          <a:noFill/>
          <a:ln/>
        </p:spPr>
        <p:txBody>
          <a:bodyPr wrap="none" lIns="0" tIns="0" rIns="0" bIns="0" rtlCol="0" anchor="t"/>
          <a:lstStyle/>
          <a:p>
            <a:pPr indent="0" marL="0">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RECEPTORS</a:t>
            </a:r>
            <a:endParaRPr lang="en-US" sz="4450" dirty="0"/>
          </a:p>
        </p:txBody>
      </p:sp>
      <p:sp>
        <p:nvSpPr>
          <p:cNvPr id="3" name="Text 1"/>
          <p:cNvSpPr/>
          <p:nvPr/>
        </p:nvSpPr>
        <p:spPr>
          <a:xfrm>
            <a:off x="793790" y="2615446"/>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Behaviour in all in forms has a biological base. The behaviour is based on various stimuli present in the external environment and lying within our body.</a:t>
            </a:r>
            <a:endParaRPr lang="en-US" sz="1750" dirty="0"/>
          </a:p>
        </p:txBody>
      </p:sp>
      <p:sp>
        <p:nvSpPr>
          <p:cNvPr id="4" name="Text 2"/>
          <p:cNvSpPr/>
          <p:nvPr/>
        </p:nvSpPr>
        <p:spPr>
          <a:xfrm>
            <a:off x="793790" y="3601760"/>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The stimuli in the form of various sensory experiences are received by our sensory organs known as receptors.</a:t>
            </a:r>
            <a:endParaRPr lang="en-US" sz="1750" dirty="0"/>
          </a:p>
        </p:txBody>
      </p:sp>
      <p:sp>
        <p:nvSpPr>
          <p:cNvPr id="5" name="Text 3"/>
          <p:cNvSpPr/>
          <p:nvPr/>
        </p:nvSpPr>
        <p:spPr>
          <a:xfrm>
            <a:off x="793790" y="4848939"/>
            <a:ext cx="3673793" cy="425291"/>
          </a:xfrm>
          <a:prstGeom prst="rect">
            <a:avLst/>
          </a:prstGeom>
          <a:noFill/>
          <a:ln/>
        </p:spPr>
        <p:txBody>
          <a:bodyPr wrap="none" lIns="0" tIns="0" rIns="0" bIns="0" rtlCol="0" anchor="t"/>
          <a:lstStyle/>
          <a:p>
            <a:pPr indent="0" marL="0">
              <a:lnSpc>
                <a:spcPts val="3300"/>
              </a:lnSpc>
              <a:buNone/>
            </a:pPr>
            <a:r>
              <a:rPr lang="en-US" sz="2650" dirty="0">
                <a:solidFill>
                  <a:srgbClr val="FBF3FA"/>
                </a:solidFill>
                <a:latin typeface="Fira Mono Medium" pitchFamily="34" charset="0"/>
                <a:ea typeface="Fira Mono Medium" pitchFamily="34" charset="-122"/>
                <a:cs typeface="Fira Mono Medium" pitchFamily="34" charset="-120"/>
              </a:rPr>
              <a:t>EXTERNAL RECEPTORS</a:t>
            </a:r>
            <a:endParaRPr lang="en-US" sz="2650" dirty="0"/>
          </a:p>
        </p:txBody>
      </p:sp>
      <p:sp>
        <p:nvSpPr>
          <p:cNvPr id="6" name="Text 4"/>
          <p:cNvSpPr/>
          <p:nvPr/>
        </p:nvSpPr>
        <p:spPr>
          <a:xfrm>
            <a:off x="793790" y="5614392"/>
            <a:ext cx="13042821" cy="453509"/>
          </a:xfrm>
          <a:prstGeom prst="rect">
            <a:avLst/>
          </a:prstGeom>
          <a:noFill/>
          <a:ln/>
        </p:spPr>
        <p:txBody>
          <a:bodyPr wrap="none" lIns="0" tIns="0" rIns="0" bIns="0" rtlCol="0" anchor="t"/>
          <a:lstStyle/>
          <a:p>
            <a:pPr algn="l" indent="0" marL="0">
              <a:lnSpc>
                <a:spcPts val="3550"/>
              </a:lnSpc>
              <a:buNone/>
            </a:pPr>
            <a:r>
              <a:rPr lang="en-US" sz="2200" dirty="0">
                <a:solidFill>
                  <a:srgbClr val="E0D6DE"/>
                </a:solidFill>
                <a:latin typeface="Fira Sans" pitchFamily="34" charset="0"/>
                <a:ea typeface="Fira Sans" pitchFamily="34" charset="-122"/>
                <a:cs typeface="Fira Sans" pitchFamily="34" charset="-120"/>
              </a:rPr>
              <a:t>External receptors are those sensory mechanisms that help us make contact with the outer world.</a:t>
            </a:r>
            <a:endParaRPr lang="en-US" sz="2200" dirty="0"/>
          </a:p>
        </p:txBody>
      </p:sp>
      <p:sp>
        <p:nvSpPr>
          <p:cNvPr id="7" name="Text 5"/>
          <p:cNvSpPr/>
          <p:nvPr/>
        </p:nvSpPr>
        <p:spPr>
          <a:xfrm>
            <a:off x="793790" y="6323052"/>
            <a:ext cx="13042821" cy="453509"/>
          </a:xfrm>
          <a:prstGeom prst="rect">
            <a:avLst/>
          </a:prstGeom>
          <a:noFill/>
          <a:ln/>
        </p:spPr>
        <p:txBody>
          <a:bodyPr wrap="none" lIns="0" tIns="0" rIns="0" bIns="0" rtlCol="0" anchor="t"/>
          <a:lstStyle/>
          <a:p>
            <a:pPr algn="l" indent="0" marL="0">
              <a:lnSpc>
                <a:spcPts val="3550"/>
              </a:lnSpc>
              <a:buNone/>
            </a:pPr>
            <a:r>
              <a:rPr lang="en-US" sz="2200" dirty="0">
                <a:solidFill>
                  <a:srgbClr val="E0D6DE"/>
                </a:solidFill>
                <a:latin typeface="Fira Sans" pitchFamily="34" charset="0"/>
                <a:ea typeface="Fira Sans" pitchFamily="34" charset="-122"/>
                <a:cs typeface="Fira Sans" pitchFamily="34" charset="-120"/>
              </a:rPr>
              <a:t>Eg: - eyes, ears ,nose , tongue and skin.</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1008102"/>
            <a:ext cx="5670590" cy="708779"/>
          </a:xfrm>
          <a:prstGeom prst="rect">
            <a:avLst/>
          </a:prstGeom>
          <a:noFill/>
          <a:ln/>
        </p:spPr>
        <p:txBody>
          <a:bodyPr wrap="none" lIns="0" tIns="0" rIns="0" bIns="0" rtlCol="0" anchor="t"/>
          <a:lstStyle/>
          <a:p>
            <a:pPr indent="0" marL="0">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Sense organs:-</a:t>
            </a:r>
            <a:endParaRPr lang="en-US" sz="4450" dirty="0"/>
          </a:p>
        </p:txBody>
      </p:sp>
      <p:sp>
        <p:nvSpPr>
          <p:cNvPr id="3" name="Text 1"/>
          <p:cNvSpPr/>
          <p:nvPr/>
        </p:nvSpPr>
        <p:spPr>
          <a:xfrm>
            <a:off x="793790" y="2170509"/>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Sense organs helps in assimilating knowledge of the world around us.</a:t>
            </a:r>
            <a:endParaRPr lang="en-US" sz="1750" dirty="0"/>
          </a:p>
        </p:txBody>
      </p:sp>
      <p:sp>
        <p:nvSpPr>
          <p:cNvPr id="4" name="Text 2"/>
          <p:cNvSpPr/>
          <p:nvPr/>
        </p:nvSpPr>
        <p:spPr>
          <a:xfrm>
            <a:off x="793790" y="2703314"/>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Sense organs consist of receptors which are specialized sensitive cells associated with endings of sensory nervefiber.</a:t>
            </a:r>
            <a:endParaRPr lang="en-US" sz="1750" dirty="0"/>
          </a:p>
        </p:txBody>
      </p:sp>
      <p:sp>
        <p:nvSpPr>
          <p:cNvPr id="5" name="Text 3"/>
          <p:cNvSpPr/>
          <p:nvPr/>
        </p:nvSpPr>
        <p:spPr>
          <a:xfrm>
            <a:off x="793790" y="3689628"/>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When the receptors are not functioning properly they lead to sensory defects- visual, auditory , cutaneous , olfactory , gustatory and kinesthetic disorders.</a:t>
            </a:r>
            <a:endParaRPr lang="en-US" sz="1750" dirty="0"/>
          </a:p>
        </p:txBody>
      </p:sp>
      <p:sp>
        <p:nvSpPr>
          <p:cNvPr id="6" name="Text 4"/>
          <p:cNvSpPr/>
          <p:nvPr/>
        </p:nvSpPr>
        <p:spPr>
          <a:xfrm>
            <a:off x="793790" y="4936808"/>
            <a:ext cx="3673793" cy="425291"/>
          </a:xfrm>
          <a:prstGeom prst="rect">
            <a:avLst/>
          </a:prstGeom>
          <a:noFill/>
          <a:ln/>
        </p:spPr>
        <p:txBody>
          <a:bodyPr wrap="none" lIns="0" tIns="0" rIns="0" bIns="0" rtlCol="0" anchor="t"/>
          <a:lstStyle/>
          <a:p>
            <a:pPr algn="l" indent="0" marL="0">
              <a:lnSpc>
                <a:spcPts val="3300"/>
              </a:lnSpc>
              <a:buNone/>
            </a:pPr>
            <a:r>
              <a:rPr lang="en-US" sz="2650" dirty="0">
                <a:solidFill>
                  <a:srgbClr val="FBF3FA"/>
                </a:solidFill>
                <a:latin typeface="Fira Mono Medium" pitchFamily="34" charset="0"/>
                <a:ea typeface="Fira Mono Medium" pitchFamily="34" charset="-122"/>
                <a:cs typeface="Fira Mono Medium" pitchFamily="34" charset="-120"/>
              </a:rPr>
              <a:t>INTERNAL RECEPTORS</a:t>
            </a:r>
            <a:endParaRPr lang="en-US" sz="2650" dirty="0"/>
          </a:p>
        </p:txBody>
      </p:sp>
      <p:sp>
        <p:nvSpPr>
          <p:cNvPr id="7" name="Text 5"/>
          <p:cNvSpPr/>
          <p:nvPr/>
        </p:nvSpPr>
        <p:spPr>
          <a:xfrm>
            <a:off x="793790" y="5702260"/>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Internal receptors are associated with the internal stimuli present in our body.</a:t>
            </a:r>
            <a:endParaRPr lang="en-US" sz="1750" dirty="0"/>
          </a:p>
        </p:txBody>
      </p:sp>
      <p:sp>
        <p:nvSpPr>
          <p:cNvPr id="8" name="Text 6"/>
          <p:cNvSpPr/>
          <p:nvPr/>
        </p:nvSpPr>
        <p:spPr>
          <a:xfrm>
            <a:off x="793790" y="6235065"/>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They are responsible for feelings of pain, hunger or nausea.</a:t>
            </a:r>
            <a:endParaRPr lang="en-US" sz="1750" dirty="0"/>
          </a:p>
        </p:txBody>
      </p:sp>
      <p:sp>
        <p:nvSpPr>
          <p:cNvPr id="9" name="Text 7"/>
          <p:cNvSpPr/>
          <p:nvPr/>
        </p:nvSpPr>
        <p:spPr>
          <a:xfrm>
            <a:off x="793790" y="6767870"/>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It helps us in maintaining balance, bodily posture and equilibrium.</a:t>
            </a:r>
            <a:endParaRPr lang="en-US" sz="1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1867019"/>
            <a:ext cx="5670590" cy="708779"/>
          </a:xfrm>
          <a:prstGeom prst="rect">
            <a:avLst/>
          </a:prstGeom>
          <a:noFill/>
          <a:ln/>
        </p:spPr>
        <p:txBody>
          <a:bodyPr wrap="none" lIns="0" tIns="0" rIns="0" bIns="0" rtlCol="0" anchor="t"/>
          <a:lstStyle/>
          <a:p>
            <a:pPr indent="0" marL="0">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EFFECTORS</a:t>
            </a:r>
            <a:endParaRPr lang="en-US" sz="4450" dirty="0"/>
          </a:p>
        </p:txBody>
      </p:sp>
      <p:sp>
        <p:nvSpPr>
          <p:cNvPr id="3" name="Text 1"/>
          <p:cNvSpPr/>
          <p:nvPr/>
        </p:nvSpPr>
        <p:spPr>
          <a:xfrm>
            <a:off x="793790" y="3029426"/>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Effectors are termed as the</a:t>
            </a:r>
            <a:pPr algn="l" indent="0" marL="0">
              <a:lnSpc>
                <a:spcPts val="2850"/>
              </a:lnSpc>
              <a:buNone/>
            </a:pPr>
            <a:r>
              <a:rPr lang="en-US" sz="1750" dirty="0">
                <a:solidFill>
                  <a:srgbClr val="B05EF1"/>
                </a:solidFill>
                <a:latin typeface="Fira Sans" pitchFamily="34" charset="0"/>
                <a:ea typeface="Fira Sans" pitchFamily="34" charset="-122"/>
                <a:cs typeface="Fira Sans" pitchFamily="34" charset="-120"/>
              </a:rPr>
              <a:t> organs of receptors.</a:t>
            </a:r>
            <a:endParaRPr lang="en-US" sz="1750" dirty="0"/>
          </a:p>
        </p:txBody>
      </p:sp>
      <p:sp>
        <p:nvSpPr>
          <p:cNvPr id="4" name="Text 2"/>
          <p:cNvSpPr/>
          <p:nvPr/>
        </p:nvSpPr>
        <p:spPr>
          <a:xfrm>
            <a:off x="793790" y="3562231"/>
            <a:ext cx="13042821" cy="1814036"/>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What is received through the sensory organs in the form of sensory input is responded through the bodily reactions and motor activities carried out through muscles and glands particularly the hormones secreted by the ductless glands which are responsible for most of our behaviour patterns.</a:t>
            </a:r>
            <a:endParaRPr lang="en-US" sz="1750" dirty="0"/>
          </a:p>
        </p:txBody>
      </p:sp>
      <p:sp>
        <p:nvSpPr>
          <p:cNvPr id="5" name="Text 3"/>
          <p:cNvSpPr/>
          <p:nvPr/>
        </p:nvSpPr>
        <p:spPr>
          <a:xfrm>
            <a:off x="793790" y="5455563"/>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The under activity or over activity of these glands causes deficiency or excess of hormonal secretion . this affects the entire personality of an individual.</a:t>
            </a:r>
            <a:endParaRPr lang="en-US" sz="1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94015" y="1261467"/>
            <a:ext cx="4803458" cy="5706666"/>
          </a:xfrm>
          <a:prstGeom prst="rect">
            <a:avLst/>
          </a:prstGeom>
        </p:spPr>
      </p:pic>
      <p:sp>
        <p:nvSpPr>
          <p:cNvPr id="3" name="Text 0"/>
          <p:cNvSpPr/>
          <p:nvPr/>
        </p:nvSpPr>
        <p:spPr>
          <a:xfrm>
            <a:off x="7564755" y="1018818"/>
            <a:ext cx="4957763" cy="619720"/>
          </a:xfrm>
          <a:prstGeom prst="rect">
            <a:avLst/>
          </a:prstGeom>
          <a:noFill/>
          <a:ln/>
        </p:spPr>
        <p:txBody>
          <a:bodyPr wrap="none" lIns="0" tIns="0" rIns="0" bIns="0" rtlCol="0" anchor="t"/>
          <a:lstStyle/>
          <a:p>
            <a:pPr indent="0" marL="0">
              <a:lnSpc>
                <a:spcPts val="4850"/>
              </a:lnSpc>
              <a:buNone/>
            </a:pPr>
            <a:r>
              <a:rPr lang="en-US" sz="3900" dirty="0">
                <a:solidFill>
                  <a:srgbClr val="FBF3FA"/>
                </a:solidFill>
                <a:latin typeface="Fira Mono Medium" pitchFamily="34" charset="0"/>
                <a:ea typeface="Fira Mono Medium" pitchFamily="34" charset="-122"/>
                <a:cs typeface="Fira Mono Medium" pitchFamily="34" charset="-120"/>
              </a:rPr>
              <a:t>MUSCLES</a:t>
            </a:r>
            <a:endParaRPr lang="en-US" sz="3900" dirty="0"/>
          </a:p>
        </p:txBody>
      </p:sp>
      <p:sp>
        <p:nvSpPr>
          <p:cNvPr id="4" name="Text 1"/>
          <p:cNvSpPr/>
          <p:nvPr/>
        </p:nvSpPr>
        <p:spPr>
          <a:xfrm>
            <a:off x="7564755" y="1836777"/>
            <a:ext cx="6379250" cy="1189792"/>
          </a:xfrm>
          <a:prstGeom prst="rect">
            <a:avLst/>
          </a:prstGeom>
          <a:noFill/>
          <a:ln/>
        </p:spPr>
        <p:txBody>
          <a:bodyPr wrap="square" lIns="0" tIns="0" rIns="0" bIns="0" rtlCol="0" anchor="t"/>
          <a:lstStyle/>
          <a:p>
            <a:pPr algn="l" indent="0" marL="0">
              <a:lnSpc>
                <a:spcPts val="3100"/>
              </a:lnSpc>
              <a:buNone/>
            </a:pPr>
            <a:r>
              <a:rPr lang="en-US" sz="1950" dirty="0">
                <a:solidFill>
                  <a:srgbClr val="E0D6DE"/>
                </a:solidFill>
                <a:latin typeface="Fira Sans" pitchFamily="34" charset="0"/>
                <a:ea typeface="Fira Sans" pitchFamily="34" charset="-122"/>
                <a:cs typeface="Fira Sans" pitchFamily="34" charset="-120"/>
              </a:rPr>
              <a:t>Our behaviour and activity involves movement of different parts of our body . muscles helps to carry out motor activities in order to respond to various stimuli.</a:t>
            </a:r>
            <a:endParaRPr lang="en-US" sz="1950" dirty="0"/>
          </a:p>
        </p:txBody>
      </p:sp>
      <p:sp>
        <p:nvSpPr>
          <p:cNvPr id="5" name="Text 2"/>
          <p:cNvSpPr/>
          <p:nvPr/>
        </p:nvSpPr>
        <p:spPr>
          <a:xfrm>
            <a:off x="7564755" y="3205043"/>
            <a:ext cx="6379250" cy="1586389"/>
          </a:xfrm>
          <a:prstGeom prst="rect">
            <a:avLst/>
          </a:prstGeom>
          <a:noFill/>
          <a:ln/>
        </p:spPr>
        <p:txBody>
          <a:bodyPr wrap="square" lIns="0" tIns="0" rIns="0" bIns="0" rtlCol="0" anchor="t"/>
          <a:lstStyle/>
          <a:p>
            <a:pPr algn="l" indent="0" marL="0">
              <a:lnSpc>
                <a:spcPts val="3100"/>
              </a:lnSpc>
              <a:buNone/>
            </a:pPr>
            <a:r>
              <a:rPr lang="en-US" sz="1950" dirty="0">
                <a:solidFill>
                  <a:srgbClr val="E0D6DE"/>
                </a:solidFill>
                <a:latin typeface="Fira Sans" pitchFamily="34" charset="0"/>
                <a:ea typeface="Fira Sans" pitchFamily="34" charset="-122"/>
                <a:cs typeface="Fira Sans" pitchFamily="34" charset="-120"/>
              </a:rPr>
              <a:t>1)</a:t>
            </a:r>
            <a:pPr algn="l" indent="0" marL="0">
              <a:lnSpc>
                <a:spcPts val="3100"/>
              </a:lnSpc>
              <a:buNone/>
            </a:pPr>
            <a:r>
              <a:rPr lang="en-US" sz="1950" dirty="0">
                <a:solidFill>
                  <a:srgbClr val="FF6BD8"/>
                </a:solidFill>
                <a:latin typeface="Fira Sans" pitchFamily="34" charset="0"/>
                <a:ea typeface="Fira Sans" pitchFamily="34" charset="-122"/>
                <a:cs typeface="Fira Sans" pitchFamily="34" charset="-120"/>
              </a:rPr>
              <a:t>Smooth muscles</a:t>
            </a:r>
            <a:pPr algn="l" indent="0" marL="0">
              <a:lnSpc>
                <a:spcPts val="3100"/>
              </a:lnSpc>
              <a:buNone/>
            </a:pPr>
            <a:r>
              <a:rPr lang="en-US" sz="1950" dirty="0">
                <a:solidFill>
                  <a:srgbClr val="E0D6DE"/>
                </a:solidFill>
                <a:latin typeface="Fira Sans" pitchFamily="34" charset="0"/>
                <a:ea typeface="Fira Sans" pitchFamily="34" charset="-122"/>
                <a:cs typeface="Fira Sans" pitchFamily="34" charset="-120"/>
              </a:rPr>
              <a:t>-concerned with digestion, excretion and blood circulation . their contraction or relaxation cause constriction or dilation of blood vessels thus increasing or decreasing blood pressure.</a:t>
            </a:r>
            <a:endParaRPr lang="en-US" sz="1950" dirty="0"/>
          </a:p>
        </p:txBody>
      </p:sp>
      <p:sp>
        <p:nvSpPr>
          <p:cNvPr id="6" name="Text 3"/>
          <p:cNvSpPr/>
          <p:nvPr/>
        </p:nvSpPr>
        <p:spPr>
          <a:xfrm>
            <a:off x="7564755" y="4969907"/>
            <a:ext cx="6379250" cy="793194"/>
          </a:xfrm>
          <a:prstGeom prst="rect">
            <a:avLst/>
          </a:prstGeom>
          <a:noFill/>
          <a:ln/>
        </p:spPr>
        <p:txBody>
          <a:bodyPr wrap="square" lIns="0" tIns="0" rIns="0" bIns="0" rtlCol="0" anchor="t"/>
          <a:lstStyle/>
          <a:p>
            <a:pPr algn="l" indent="0" marL="0">
              <a:lnSpc>
                <a:spcPts val="3100"/>
              </a:lnSpc>
              <a:buNone/>
            </a:pPr>
            <a:r>
              <a:rPr lang="en-US" sz="1950" dirty="0">
                <a:solidFill>
                  <a:srgbClr val="E0D6DE"/>
                </a:solidFill>
                <a:latin typeface="Fira Sans" pitchFamily="34" charset="0"/>
                <a:ea typeface="Fira Sans" pitchFamily="34" charset="-122"/>
                <a:cs typeface="Fira Sans" pitchFamily="34" charset="-120"/>
              </a:rPr>
              <a:t>2)</a:t>
            </a:r>
            <a:pPr algn="l" indent="0" marL="0">
              <a:lnSpc>
                <a:spcPts val="3100"/>
              </a:lnSpc>
              <a:buNone/>
            </a:pPr>
            <a:r>
              <a:rPr lang="en-US" sz="1950" dirty="0">
                <a:solidFill>
                  <a:srgbClr val="AEE4BD"/>
                </a:solidFill>
                <a:latin typeface="Fira Sans" pitchFamily="34" charset="0"/>
                <a:ea typeface="Fira Sans" pitchFamily="34" charset="-122"/>
                <a:cs typeface="Fira Sans" pitchFamily="34" charset="-120"/>
              </a:rPr>
              <a:t>Cardiac muscles</a:t>
            </a:r>
            <a:pPr algn="l" indent="0" marL="0">
              <a:lnSpc>
                <a:spcPts val="3100"/>
              </a:lnSpc>
              <a:buNone/>
            </a:pPr>
            <a:r>
              <a:rPr lang="en-US" sz="1950" dirty="0">
                <a:solidFill>
                  <a:srgbClr val="E0D6DE"/>
                </a:solidFill>
                <a:latin typeface="Fira Sans" pitchFamily="34" charset="0"/>
                <a:ea typeface="Fira Sans" pitchFamily="34" charset="-122"/>
                <a:cs typeface="Fira Sans" pitchFamily="34" charset="-120"/>
              </a:rPr>
              <a:t>-when one is emotionally upset their normal functioning disturbed causing heart attack.</a:t>
            </a:r>
            <a:endParaRPr lang="en-US" sz="1950" dirty="0"/>
          </a:p>
        </p:txBody>
      </p:sp>
      <p:sp>
        <p:nvSpPr>
          <p:cNvPr id="7" name="Text 4"/>
          <p:cNvSpPr/>
          <p:nvPr/>
        </p:nvSpPr>
        <p:spPr>
          <a:xfrm>
            <a:off x="7564755" y="5941576"/>
            <a:ext cx="6379250" cy="793194"/>
          </a:xfrm>
          <a:prstGeom prst="rect">
            <a:avLst/>
          </a:prstGeom>
          <a:noFill/>
          <a:ln/>
        </p:spPr>
        <p:txBody>
          <a:bodyPr wrap="square" lIns="0" tIns="0" rIns="0" bIns="0" rtlCol="0" anchor="t"/>
          <a:lstStyle/>
          <a:p>
            <a:pPr algn="l" indent="0" marL="0">
              <a:lnSpc>
                <a:spcPts val="3100"/>
              </a:lnSpc>
              <a:buNone/>
            </a:pPr>
            <a:r>
              <a:rPr lang="en-US" sz="1950" dirty="0">
                <a:solidFill>
                  <a:srgbClr val="E0D6DE"/>
                </a:solidFill>
                <a:latin typeface="Fira Sans" pitchFamily="34" charset="0"/>
                <a:ea typeface="Fira Sans" pitchFamily="34" charset="-122"/>
                <a:cs typeface="Fira Sans" pitchFamily="34" charset="-120"/>
              </a:rPr>
              <a:t>3)</a:t>
            </a:r>
            <a:pPr algn="l" indent="0" marL="0">
              <a:lnSpc>
                <a:spcPts val="3100"/>
              </a:lnSpc>
              <a:buNone/>
            </a:pPr>
            <a:r>
              <a:rPr lang="en-US" sz="1950" dirty="0">
                <a:solidFill>
                  <a:srgbClr val="995515"/>
                </a:solidFill>
                <a:latin typeface="Fira Sans" pitchFamily="34" charset="0"/>
                <a:ea typeface="Fira Sans" pitchFamily="34" charset="-122"/>
                <a:cs typeface="Fira Sans" pitchFamily="34" charset="-120"/>
              </a:rPr>
              <a:t>Skeletal muscles</a:t>
            </a:r>
            <a:pPr algn="l" indent="0" marL="0">
              <a:lnSpc>
                <a:spcPts val="3100"/>
              </a:lnSpc>
              <a:buNone/>
            </a:pPr>
            <a:r>
              <a:rPr lang="en-US" sz="1950" dirty="0">
                <a:solidFill>
                  <a:srgbClr val="E0D6DE"/>
                </a:solidFill>
                <a:latin typeface="Fira Sans" pitchFamily="34" charset="0"/>
                <a:ea typeface="Fira Sans" pitchFamily="34" charset="-122"/>
                <a:cs typeface="Fira Sans" pitchFamily="34" charset="-120"/>
              </a:rPr>
              <a:t>-enable the individual to perform voluntary motor activities.</a:t>
            </a:r>
            <a:endParaRPr lang="en-US" sz="1950" dirty="0"/>
          </a:p>
        </p:txBody>
      </p:sp>
      <p:sp>
        <p:nvSpPr>
          <p:cNvPr id="8" name="Text 5"/>
          <p:cNvSpPr/>
          <p:nvPr/>
        </p:nvSpPr>
        <p:spPr>
          <a:xfrm>
            <a:off x="7564755" y="6913245"/>
            <a:ext cx="6379250" cy="317302"/>
          </a:xfrm>
          <a:prstGeom prst="rect">
            <a:avLst/>
          </a:prstGeom>
          <a:noFill/>
          <a:ln/>
        </p:spPr>
        <p:txBody>
          <a:bodyPr wrap="none" lIns="0" tIns="0" rIns="0" bIns="0" rtlCol="0" anchor="t"/>
          <a:lstStyle/>
          <a:p>
            <a:pPr indent="0" marL="0">
              <a:lnSpc>
                <a:spcPts val="2450"/>
              </a:lnSpc>
              <a:buNone/>
            </a:pP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9243" y="1588413"/>
            <a:ext cx="4783693" cy="5052774"/>
          </a:xfrm>
          <a:prstGeom prst="rect">
            <a:avLst/>
          </a:prstGeom>
        </p:spPr>
      </p:pic>
      <p:sp>
        <p:nvSpPr>
          <p:cNvPr id="3" name="Text 0"/>
          <p:cNvSpPr/>
          <p:nvPr/>
        </p:nvSpPr>
        <p:spPr>
          <a:xfrm>
            <a:off x="7535108" y="653415"/>
            <a:ext cx="4352092" cy="543878"/>
          </a:xfrm>
          <a:prstGeom prst="rect">
            <a:avLst/>
          </a:prstGeom>
          <a:noFill/>
          <a:ln/>
        </p:spPr>
        <p:txBody>
          <a:bodyPr wrap="none" lIns="0" tIns="0" rIns="0" bIns="0" rtlCol="0" anchor="t"/>
          <a:lstStyle/>
          <a:p>
            <a:pPr indent="0" marL="0">
              <a:lnSpc>
                <a:spcPts val="4250"/>
              </a:lnSpc>
              <a:buNone/>
            </a:pPr>
            <a:r>
              <a:rPr lang="en-US" sz="3400" dirty="0">
                <a:solidFill>
                  <a:srgbClr val="FBF3FA"/>
                </a:solidFill>
                <a:latin typeface="Fira Mono Medium" pitchFamily="34" charset="0"/>
                <a:ea typeface="Fira Mono Medium" pitchFamily="34" charset="-122"/>
                <a:cs typeface="Fira Mono Medium" pitchFamily="34" charset="-120"/>
              </a:rPr>
              <a:t>GLANDS</a:t>
            </a:r>
            <a:endParaRPr lang="en-US" sz="3400" dirty="0"/>
          </a:p>
        </p:txBody>
      </p:sp>
      <p:sp>
        <p:nvSpPr>
          <p:cNvPr id="4" name="Text 1"/>
          <p:cNvSpPr/>
          <p:nvPr/>
        </p:nvSpPr>
        <p:spPr>
          <a:xfrm>
            <a:off x="7535108" y="1371362"/>
            <a:ext cx="6493669" cy="348139"/>
          </a:xfrm>
          <a:prstGeom prst="rect">
            <a:avLst/>
          </a:prstGeom>
          <a:noFill/>
          <a:ln/>
        </p:spPr>
        <p:txBody>
          <a:bodyPr wrap="none" lIns="0" tIns="0" rIns="0" bIns="0" rtlCol="0" anchor="t"/>
          <a:lstStyle/>
          <a:p>
            <a:pPr algn="l" marL="342900" indent="-342900">
              <a:lnSpc>
                <a:spcPts val="2150"/>
              </a:lnSpc>
              <a:buSzPct val="100000"/>
              <a:buChar char="•"/>
            </a:pPr>
            <a:r>
              <a:rPr lang="en-US" sz="1350" dirty="0">
                <a:solidFill>
                  <a:srgbClr val="E0D6DE"/>
                </a:solidFill>
                <a:latin typeface="Fira Sans" pitchFamily="34" charset="0"/>
                <a:ea typeface="Fira Sans" pitchFamily="34" charset="-122"/>
                <a:cs typeface="Fira Sans" pitchFamily="34" charset="-120"/>
              </a:rPr>
              <a:t>Glands play an important role in human behaviour.</a:t>
            </a:r>
            <a:endParaRPr lang="en-US" sz="1350" dirty="0"/>
          </a:p>
        </p:txBody>
      </p:sp>
      <p:sp>
        <p:nvSpPr>
          <p:cNvPr id="5" name="Text 2"/>
          <p:cNvSpPr/>
          <p:nvPr/>
        </p:nvSpPr>
        <p:spPr>
          <a:xfrm>
            <a:off x="7535108" y="1780342"/>
            <a:ext cx="6493669" cy="1044416"/>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E0D6DE"/>
                </a:solidFill>
                <a:latin typeface="Fira Sans" pitchFamily="34" charset="0"/>
                <a:ea typeface="Fira Sans" pitchFamily="34" charset="-122"/>
                <a:cs typeface="Fira Sans" pitchFamily="34" charset="-120"/>
              </a:rPr>
              <a:t>They assist in digestion , elimination of waste products , production and prolongation of emotional states and regulation of metabolism of body.</a:t>
            </a:r>
            <a:endParaRPr lang="en-US" sz="1350" dirty="0"/>
          </a:p>
        </p:txBody>
      </p:sp>
      <p:sp>
        <p:nvSpPr>
          <p:cNvPr id="6" name="Text 3"/>
          <p:cNvSpPr/>
          <p:nvPr/>
        </p:nvSpPr>
        <p:spPr>
          <a:xfrm>
            <a:off x="7535108" y="2981325"/>
            <a:ext cx="6493669" cy="696278"/>
          </a:xfrm>
          <a:prstGeom prst="rect">
            <a:avLst/>
          </a:prstGeom>
          <a:noFill/>
          <a:ln/>
        </p:spPr>
        <p:txBody>
          <a:bodyPr wrap="square" lIns="0" tIns="0" rIns="0" bIns="0" rtlCol="0" anchor="t"/>
          <a:lstStyle/>
          <a:p>
            <a:pPr algn="l" indent="0" marL="0">
              <a:lnSpc>
                <a:spcPts val="2700"/>
              </a:lnSpc>
              <a:buNone/>
            </a:pPr>
            <a:r>
              <a:rPr lang="en-US" sz="1700" dirty="0">
                <a:solidFill>
                  <a:srgbClr val="E0D6DE"/>
                </a:solidFill>
                <a:latin typeface="Fira Sans" pitchFamily="34" charset="0"/>
                <a:ea typeface="Fira Sans" pitchFamily="34" charset="-122"/>
                <a:cs typeface="Fira Sans" pitchFamily="34" charset="-120"/>
              </a:rPr>
              <a:t>1)</a:t>
            </a:r>
            <a:pPr algn="l" indent="0" marL="0">
              <a:lnSpc>
                <a:spcPts val="2700"/>
              </a:lnSpc>
              <a:buNone/>
            </a:pPr>
            <a:r>
              <a:rPr lang="en-US" sz="1700" dirty="0">
                <a:solidFill>
                  <a:srgbClr val="F44444"/>
                </a:solidFill>
                <a:latin typeface="Fira Sans" pitchFamily="34" charset="0"/>
                <a:ea typeface="Fira Sans" pitchFamily="34" charset="-122"/>
                <a:cs typeface="Fira Sans" pitchFamily="34" charset="-120"/>
              </a:rPr>
              <a:t>Duct glands or exocrine glands</a:t>
            </a:r>
            <a:pPr algn="l" indent="0" marL="0">
              <a:lnSpc>
                <a:spcPts val="2700"/>
              </a:lnSpc>
              <a:buNone/>
            </a:pPr>
            <a:r>
              <a:rPr lang="en-US" sz="1700" dirty="0">
                <a:solidFill>
                  <a:srgbClr val="E0D6DE"/>
                </a:solidFill>
                <a:latin typeface="Fira Sans" pitchFamily="34" charset="0"/>
                <a:ea typeface="Fira Sans" pitchFamily="34" charset="-122"/>
                <a:cs typeface="Fira Sans" pitchFamily="34" charset="-120"/>
              </a:rPr>
              <a:t>-release their chemical secretion through little ducts in the body.</a:t>
            </a:r>
            <a:endParaRPr lang="en-US" sz="1700" dirty="0"/>
          </a:p>
        </p:txBody>
      </p:sp>
      <p:sp>
        <p:nvSpPr>
          <p:cNvPr id="7" name="Text 4"/>
          <p:cNvSpPr/>
          <p:nvPr/>
        </p:nvSpPr>
        <p:spPr>
          <a:xfrm>
            <a:off x="7535108" y="3834170"/>
            <a:ext cx="6493669" cy="348139"/>
          </a:xfrm>
          <a:prstGeom prst="rect">
            <a:avLst/>
          </a:prstGeom>
          <a:noFill/>
          <a:ln/>
        </p:spPr>
        <p:txBody>
          <a:bodyPr wrap="none" lIns="0" tIns="0" rIns="0" bIns="0" rtlCol="0" anchor="t"/>
          <a:lstStyle/>
          <a:p>
            <a:pPr algn="l" indent="0" marL="0">
              <a:lnSpc>
                <a:spcPts val="2700"/>
              </a:lnSpc>
              <a:buNone/>
            </a:pPr>
            <a:r>
              <a:rPr lang="en-US" sz="1700" dirty="0">
                <a:solidFill>
                  <a:srgbClr val="E0D6DE"/>
                </a:solidFill>
                <a:latin typeface="Fira Sans" pitchFamily="34" charset="0"/>
                <a:ea typeface="Fira Sans" pitchFamily="34" charset="-122"/>
                <a:cs typeface="Fira Sans" pitchFamily="34" charset="-120"/>
              </a:rPr>
              <a:t>Eg:-salivary glands, sweat glands, kidneys etc.</a:t>
            </a:r>
            <a:endParaRPr lang="en-US" sz="1700" dirty="0"/>
          </a:p>
        </p:txBody>
      </p:sp>
      <p:sp>
        <p:nvSpPr>
          <p:cNvPr id="8" name="Text 5"/>
          <p:cNvSpPr/>
          <p:nvPr/>
        </p:nvSpPr>
        <p:spPr>
          <a:xfrm>
            <a:off x="7535108" y="4338876"/>
            <a:ext cx="6493669" cy="1044416"/>
          </a:xfrm>
          <a:prstGeom prst="rect">
            <a:avLst/>
          </a:prstGeom>
          <a:noFill/>
          <a:ln/>
        </p:spPr>
        <p:txBody>
          <a:bodyPr wrap="square" lIns="0" tIns="0" rIns="0" bIns="0" rtlCol="0" anchor="t"/>
          <a:lstStyle/>
          <a:p>
            <a:pPr algn="l" indent="0" marL="0">
              <a:lnSpc>
                <a:spcPts val="2700"/>
              </a:lnSpc>
              <a:buNone/>
            </a:pPr>
            <a:r>
              <a:rPr lang="en-US" sz="1700" dirty="0">
                <a:solidFill>
                  <a:srgbClr val="E0D6DE"/>
                </a:solidFill>
                <a:latin typeface="Fira Sans" pitchFamily="34" charset="0"/>
                <a:ea typeface="Fira Sans" pitchFamily="34" charset="-122"/>
                <a:cs typeface="Fira Sans" pitchFamily="34" charset="-120"/>
              </a:rPr>
              <a:t>2)</a:t>
            </a:r>
            <a:pPr algn="l" indent="0" marL="0">
              <a:lnSpc>
                <a:spcPts val="2700"/>
              </a:lnSpc>
              <a:buNone/>
            </a:pPr>
            <a:r>
              <a:rPr lang="en-US" sz="1700" dirty="0">
                <a:solidFill>
                  <a:srgbClr val="F9D933"/>
                </a:solidFill>
                <a:latin typeface="Fira Sans" pitchFamily="34" charset="0"/>
                <a:ea typeface="Fira Sans" pitchFamily="34" charset="-122"/>
                <a:cs typeface="Fira Sans" pitchFamily="34" charset="-120"/>
              </a:rPr>
              <a:t>Ductless or endocrine glands</a:t>
            </a:r>
            <a:pPr algn="l" indent="0" marL="0">
              <a:lnSpc>
                <a:spcPts val="2700"/>
              </a:lnSpc>
              <a:buNone/>
            </a:pPr>
            <a:r>
              <a:rPr lang="en-US" sz="1700" dirty="0">
                <a:solidFill>
                  <a:srgbClr val="E0D6DE"/>
                </a:solidFill>
                <a:latin typeface="Fira Sans" pitchFamily="34" charset="0"/>
                <a:ea typeface="Fira Sans" pitchFamily="34" charset="-122"/>
                <a:cs typeface="Fira Sans" pitchFamily="34" charset="-120"/>
              </a:rPr>
              <a:t>-secrete chemical substance called hormones . the hormones are released to blood and carried to all parts of the body.</a:t>
            </a:r>
            <a:endParaRPr lang="en-US" sz="1700" dirty="0"/>
          </a:p>
        </p:txBody>
      </p:sp>
      <p:sp>
        <p:nvSpPr>
          <p:cNvPr id="9" name="Text 6"/>
          <p:cNvSpPr/>
          <p:nvPr/>
        </p:nvSpPr>
        <p:spPr>
          <a:xfrm>
            <a:off x="7535108" y="5539859"/>
            <a:ext cx="6493669" cy="696278"/>
          </a:xfrm>
          <a:prstGeom prst="rect">
            <a:avLst/>
          </a:prstGeom>
          <a:noFill/>
          <a:ln/>
        </p:spPr>
        <p:txBody>
          <a:bodyPr wrap="square" lIns="0" tIns="0" rIns="0" bIns="0" rtlCol="0" anchor="t"/>
          <a:lstStyle/>
          <a:p>
            <a:pPr algn="l" indent="0" marL="0">
              <a:lnSpc>
                <a:spcPts val="2700"/>
              </a:lnSpc>
              <a:buNone/>
            </a:pPr>
            <a:r>
              <a:rPr lang="en-US" sz="1700" dirty="0">
                <a:solidFill>
                  <a:srgbClr val="E0D6DE"/>
                </a:solidFill>
                <a:latin typeface="Fira Sans" pitchFamily="34" charset="0"/>
                <a:ea typeface="Fira Sans" pitchFamily="34" charset="-122"/>
                <a:cs typeface="Fira Sans" pitchFamily="34" charset="-120"/>
              </a:rPr>
              <a:t>Eg:-pituitary gland, thyroid and parathyroid gland, adrenal glands etc.</a:t>
            </a:r>
            <a:endParaRPr lang="en-US" sz="1700" dirty="0"/>
          </a:p>
        </p:txBody>
      </p:sp>
      <p:sp>
        <p:nvSpPr>
          <p:cNvPr id="10" name="Text 7"/>
          <p:cNvSpPr/>
          <p:nvPr/>
        </p:nvSpPr>
        <p:spPr>
          <a:xfrm>
            <a:off x="7535108" y="6392704"/>
            <a:ext cx="6493669" cy="696278"/>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E0D6DE"/>
                </a:solidFill>
                <a:latin typeface="Fira Sans" pitchFamily="34" charset="0"/>
                <a:ea typeface="Fira Sans" pitchFamily="34" charset="-122"/>
                <a:cs typeface="Fira Sans" pitchFamily="34" charset="-120"/>
              </a:rPr>
              <a:t>They play a vital role in the determination of human personality.</a:t>
            </a:r>
            <a:endParaRPr lang="en-US" sz="1350" dirty="0"/>
          </a:p>
        </p:txBody>
      </p:sp>
      <p:sp>
        <p:nvSpPr>
          <p:cNvPr id="11" name="Text 8"/>
          <p:cNvSpPr/>
          <p:nvPr/>
        </p:nvSpPr>
        <p:spPr>
          <a:xfrm>
            <a:off x="7535108" y="7245548"/>
            <a:ext cx="6493669" cy="348139"/>
          </a:xfrm>
          <a:prstGeom prst="rect">
            <a:avLst/>
          </a:prstGeom>
          <a:noFill/>
          <a:ln/>
        </p:spPr>
        <p:txBody>
          <a:bodyPr wrap="none" lIns="0" tIns="0" rIns="0" bIns="0" rtlCol="0" anchor="t"/>
          <a:lstStyle/>
          <a:p>
            <a:pPr indent="0" marL="0">
              <a:lnSpc>
                <a:spcPts val="2700"/>
              </a:lnSpc>
              <a:buNone/>
            </a:pP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778431"/>
            <a:ext cx="5670590" cy="708779"/>
          </a:xfrm>
          <a:prstGeom prst="rect">
            <a:avLst/>
          </a:prstGeom>
          <a:noFill/>
          <a:ln/>
        </p:spPr>
        <p:txBody>
          <a:bodyPr wrap="none" lIns="0" tIns="0" rIns="0" bIns="0" rtlCol="0" anchor="t"/>
          <a:lstStyle/>
          <a:p>
            <a:pPr indent="0" marL="0">
              <a:lnSpc>
                <a:spcPts val="5550"/>
              </a:lnSpc>
              <a:buNone/>
            </a:pPr>
            <a:endParaRPr lang="en-US" sz="4450" dirty="0"/>
          </a:p>
        </p:txBody>
      </p:sp>
      <p:sp>
        <p:nvSpPr>
          <p:cNvPr id="3" name="Text 1"/>
          <p:cNvSpPr/>
          <p:nvPr/>
        </p:nvSpPr>
        <p:spPr>
          <a:xfrm>
            <a:off x="793790" y="1940838"/>
            <a:ext cx="13042821" cy="453509"/>
          </a:xfrm>
          <a:prstGeom prst="rect">
            <a:avLst/>
          </a:prstGeom>
          <a:noFill/>
          <a:ln/>
        </p:spPr>
        <p:txBody>
          <a:bodyPr wrap="none" lIns="0" tIns="0" rIns="0" bIns="0" rtlCol="0" anchor="t"/>
          <a:lstStyle/>
          <a:p>
            <a:pPr indent="0" marL="0">
              <a:lnSpc>
                <a:spcPts val="3550"/>
              </a:lnSpc>
              <a:buNone/>
            </a:pPr>
            <a:endParaRPr lang="en-US" sz="2200" dirty="0"/>
          </a:p>
        </p:txBody>
      </p:sp>
      <p:sp>
        <p:nvSpPr>
          <p:cNvPr id="4" name="Text 2"/>
          <p:cNvSpPr/>
          <p:nvPr/>
        </p:nvSpPr>
        <p:spPr>
          <a:xfrm>
            <a:off x="793790" y="2649498"/>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The functioning of all endocrine glands have a great influence on various aspects of growth and development of human behaviour.</a:t>
            </a:r>
            <a:endParaRPr lang="en-US" sz="1750" dirty="0"/>
          </a:p>
        </p:txBody>
      </p:sp>
      <p:sp>
        <p:nvSpPr>
          <p:cNvPr id="5" name="Text 3"/>
          <p:cNvSpPr/>
          <p:nvPr/>
        </p:nvSpPr>
        <p:spPr>
          <a:xfrm>
            <a:off x="793790" y="3635812"/>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The slight imbalance of hormones cause unusual restlessness, anxiety and weakness.</a:t>
            </a:r>
            <a:endParaRPr lang="en-US" sz="1750" dirty="0"/>
          </a:p>
        </p:txBody>
      </p:sp>
      <p:sp>
        <p:nvSpPr>
          <p:cNvPr id="6" name="Text 4"/>
          <p:cNvSpPr/>
          <p:nvPr/>
        </p:nvSpPr>
        <p:spPr>
          <a:xfrm>
            <a:off x="793790" y="4429482"/>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CONNECTORS</a:t>
            </a:r>
            <a:endParaRPr lang="en-US" sz="4450" dirty="0"/>
          </a:p>
        </p:txBody>
      </p:sp>
      <p:sp>
        <p:nvSpPr>
          <p:cNvPr id="7" name="Text 5"/>
          <p:cNvSpPr/>
          <p:nvPr/>
        </p:nvSpPr>
        <p:spPr>
          <a:xfrm>
            <a:off x="793790" y="5478423"/>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Connectors help in regulating the activities of receptors and effectors.</a:t>
            </a:r>
            <a:endParaRPr lang="en-US" sz="1750" dirty="0"/>
          </a:p>
        </p:txBody>
      </p:sp>
      <p:sp>
        <p:nvSpPr>
          <p:cNvPr id="8" name="Text 6"/>
          <p:cNvSpPr/>
          <p:nvPr/>
        </p:nvSpPr>
        <p:spPr>
          <a:xfrm>
            <a:off x="793790" y="6011228"/>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5E98F1"/>
                </a:solidFill>
                <a:latin typeface="Fira Sans" pitchFamily="34" charset="0"/>
                <a:ea typeface="Fira Sans" pitchFamily="34" charset="-122"/>
                <a:cs typeface="Fira Sans" pitchFamily="34" charset="-120"/>
              </a:rPr>
              <a:t>NEURON</a:t>
            </a:r>
            <a:pPr algn="l" indent="0" marL="0">
              <a:lnSpc>
                <a:spcPts val="2850"/>
              </a:lnSpc>
              <a:buNone/>
            </a:pPr>
            <a:r>
              <a:rPr lang="en-US" sz="1750" dirty="0">
                <a:solidFill>
                  <a:srgbClr val="E0D6DE"/>
                </a:solidFill>
                <a:latin typeface="Fira Sans" pitchFamily="34" charset="0"/>
                <a:ea typeface="Fira Sans" pitchFamily="34" charset="-122"/>
                <a:cs typeface="Fira Sans" pitchFamily="34" charset="-120"/>
              </a:rPr>
              <a:t>-A nerve cell with all its branches is called neuron.</a:t>
            </a:r>
            <a:endParaRPr lang="en-US" sz="1750" dirty="0"/>
          </a:p>
        </p:txBody>
      </p:sp>
      <p:sp>
        <p:nvSpPr>
          <p:cNvPr id="9" name="Text 7"/>
          <p:cNvSpPr/>
          <p:nvPr/>
        </p:nvSpPr>
        <p:spPr>
          <a:xfrm>
            <a:off x="793790" y="6544032"/>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FFA44F"/>
                </a:solidFill>
                <a:latin typeface="Fira Sans" pitchFamily="34" charset="0"/>
                <a:ea typeface="Fira Sans" pitchFamily="34" charset="-122"/>
                <a:cs typeface="Fira Sans" pitchFamily="34" charset="-120"/>
              </a:rPr>
              <a:t>SYNAPSE</a:t>
            </a:r>
            <a:pPr algn="l" indent="0" marL="0">
              <a:lnSpc>
                <a:spcPts val="2850"/>
              </a:lnSpc>
              <a:buNone/>
            </a:pPr>
            <a:r>
              <a:rPr lang="en-US" sz="1750" dirty="0">
                <a:solidFill>
                  <a:srgbClr val="E0D6DE"/>
                </a:solidFill>
                <a:latin typeface="Fira Sans" pitchFamily="34" charset="0"/>
                <a:ea typeface="Fira Sans" pitchFamily="34" charset="-122"/>
                <a:cs typeface="Fira Sans" pitchFamily="34" charset="-120"/>
              </a:rPr>
              <a:t>-Information is transmitted through the body from one neuron to another . the junction between two neurons is called synapse.</a:t>
            </a:r>
            <a:endParaRPr lang="en-US" sz="1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93790" y="1811536"/>
            <a:ext cx="6244709" cy="4606409"/>
          </a:xfrm>
          <a:prstGeom prst="rect">
            <a:avLst/>
          </a:prstGeom>
        </p:spPr>
      </p:pic>
      <p:sp>
        <p:nvSpPr>
          <p:cNvPr id="3" name="Text 0"/>
          <p:cNvSpPr/>
          <p:nvPr/>
        </p:nvSpPr>
        <p:spPr>
          <a:xfrm>
            <a:off x="7599521" y="1648777"/>
            <a:ext cx="6244709" cy="1360527"/>
          </a:xfrm>
          <a:prstGeom prst="rect">
            <a:avLst/>
          </a:prstGeom>
          <a:noFill/>
          <a:ln/>
        </p:spPr>
        <p:txBody>
          <a:bodyPr wrap="square" lIns="0" tIns="0" rIns="0" bIns="0" rtlCol="0" anchor="t"/>
          <a:lstStyle/>
          <a:p>
            <a:pPr indent="0" marL="0">
              <a:lnSpc>
                <a:spcPts val="3550"/>
              </a:lnSpc>
              <a:buNone/>
            </a:pPr>
            <a:r>
              <a:rPr lang="en-US" sz="2200" dirty="0">
                <a:solidFill>
                  <a:srgbClr val="FAA1A1"/>
                </a:solidFill>
                <a:latin typeface="Fira Sans" pitchFamily="34" charset="0"/>
                <a:ea typeface="Fira Sans" pitchFamily="34" charset="-122"/>
                <a:cs typeface="Fira Sans" pitchFamily="34" charset="-120"/>
              </a:rPr>
              <a:t>NERVOUS SYSTEM</a:t>
            </a:r>
            <a:pPr indent="0" marL="0">
              <a:lnSpc>
                <a:spcPts val="3550"/>
              </a:lnSpc>
              <a:buNone/>
            </a:pPr>
            <a:r>
              <a:rPr lang="en-US" sz="2200" dirty="0">
                <a:solidFill>
                  <a:srgbClr val="E0D6DE"/>
                </a:solidFill>
                <a:latin typeface="Fira Sans" pitchFamily="34" charset="0"/>
                <a:ea typeface="Fira Sans" pitchFamily="34" charset="-122"/>
                <a:cs typeface="Fira Sans" pitchFamily="34" charset="-120"/>
              </a:rPr>
              <a:t>-The nervous system is the master controlling , communicating and regulatory system in the body.</a:t>
            </a:r>
            <a:endParaRPr lang="en-US" sz="2200" dirty="0"/>
          </a:p>
        </p:txBody>
      </p:sp>
      <p:sp>
        <p:nvSpPr>
          <p:cNvPr id="4" name="Text 1"/>
          <p:cNvSpPr/>
          <p:nvPr/>
        </p:nvSpPr>
        <p:spPr>
          <a:xfrm>
            <a:off x="7599521" y="3213378"/>
            <a:ext cx="6244709" cy="136052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It is divided in to </a:t>
            </a:r>
            <a:pPr algn="l" indent="0" marL="0">
              <a:lnSpc>
                <a:spcPts val="2850"/>
              </a:lnSpc>
              <a:buNone/>
            </a:pPr>
            <a:r>
              <a:rPr lang="en-US" sz="1750" dirty="0">
                <a:solidFill>
                  <a:srgbClr val="FFA44F"/>
                </a:solidFill>
                <a:latin typeface="Fira Sans" pitchFamily="34" charset="0"/>
                <a:ea typeface="Fira Sans" pitchFamily="34" charset="-122"/>
                <a:cs typeface="Fira Sans" pitchFamily="34" charset="-120"/>
              </a:rPr>
              <a:t>central nervous system(CNS)</a:t>
            </a:r>
            <a:pPr algn="l" indent="0" marL="0">
              <a:lnSpc>
                <a:spcPts val="2850"/>
              </a:lnSpc>
              <a:buNone/>
            </a:pPr>
            <a:r>
              <a:rPr lang="en-US" sz="1750" dirty="0">
                <a:solidFill>
                  <a:srgbClr val="E0D6DE"/>
                </a:solidFill>
                <a:latin typeface="Fira Sans" pitchFamily="34" charset="0"/>
                <a:ea typeface="Fira Sans" pitchFamily="34" charset="-122"/>
                <a:cs typeface="Fira Sans" pitchFamily="34" charset="-120"/>
              </a:rPr>
              <a:t> and </a:t>
            </a:r>
            <a:pPr algn="l" indent="0" marL="0">
              <a:lnSpc>
                <a:spcPts val="2850"/>
              </a:lnSpc>
              <a:buNone/>
            </a:pPr>
            <a:r>
              <a:rPr lang="en-US" sz="1750" dirty="0">
                <a:solidFill>
                  <a:srgbClr val="B05EF1"/>
                </a:solidFill>
                <a:latin typeface="Fira Sans" pitchFamily="34" charset="0"/>
                <a:ea typeface="Fira Sans" pitchFamily="34" charset="-122"/>
                <a:cs typeface="Fira Sans" pitchFamily="34" charset="-120"/>
              </a:rPr>
              <a:t>peripheral nervous system(PNS).</a:t>
            </a:r>
            <a:endParaRPr lang="en-US" sz="1750" dirty="0"/>
          </a:p>
        </p:txBody>
      </p:sp>
      <p:sp>
        <p:nvSpPr>
          <p:cNvPr id="5" name="Text 2"/>
          <p:cNvSpPr/>
          <p:nvPr/>
        </p:nvSpPr>
        <p:spPr>
          <a:xfrm>
            <a:off x="7599521" y="4653201"/>
            <a:ext cx="6244709" cy="136052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CNS consists of</a:t>
            </a:r>
            <a:pPr algn="l" indent="0" marL="0">
              <a:lnSpc>
                <a:spcPts val="2850"/>
              </a:lnSpc>
              <a:buNone/>
            </a:pPr>
            <a:r>
              <a:rPr lang="en-US" sz="1750" dirty="0">
                <a:solidFill>
                  <a:srgbClr val="5CC97B"/>
                </a:solidFill>
                <a:latin typeface="Fira Sans" pitchFamily="34" charset="0"/>
                <a:ea typeface="Fira Sans" pitchFamily="34" charset="-122"/>
                <a:cs typeface="Fira Sans" pitchFamily="34" charset="-120"/>
              </a:rPr>
              <a:t> brain and spinal cord </a:t>
            </a:r>
            <a:pPr algn="l" indent="0" marL="0">
              <a:lnSpc>
                <a:spcPts val="2850"/>
              </a:lnSpc>
              <a:buNone/>
            </a:pPr>
            <a:r>
              <a:rPr lang="en-US" sz="1750" dirty="0">
                <a:solidFill>
                  <a:srgbClr val="E0D6DE"/>
                </a:solidFill>
                <a:latin typeface="Fira Sans" pitchFamily="34" charset="0"/>
                <a:ea typeface="Fira Sans" pitchFamily="34" charset="-122"/>
                <a:cs typeface="Fira Sans" pitchFamily="34" charset="-120"/>
              </a:rPr>
              <a:t>which act as the commanding centres of the nervous system.</a:t>
            </a:r>
            <a:endParaRPr lang="en-US" sz="1750" dirty="0"/>
          </a:p>
        </p:txBody>
      </p:sp>
      <p:sp>
        <p:nvSpPr>
          <p:cNvPr id="6" name="Text 3"/>
          <p:cNvSpPr/>
          <p:nvPr/>
        </p:nvSpPr>
        <p:spPr>
          <a:xfrm>
            <a:off x="7599521" y="6217801"/>
            <a:ext cx="6244709" cy="362903"/>
          </a:xfrm>
          <a:prstGeom prst="rect">
            <a:avLst/>
          </a:prstGeom>
          <a:noFill/>
          <a:ln/>
        </p:spPr>
        <p:txBody>
          <a:bodyPr wrap="none" lIns="0" tIns="0" rIns="0" bIns="0" rtlCol="0" anchor="t"/>
          <a:lstStyle/>
          <a:p>
            <a:pPr indent="0" marL="0">
              <a:lnSpc>
                <a:spcPts val="2850"/>
              </a:lnSpc>
              <a:buNone/>
            </a:pPr>
            <a:endParaRPr lang="en-US" sz="1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15910" y="483870"/>
            <a:ext cx="4399598" cy="549831"/>
          </a:xfrm>
          <a:prstGeom prst="rect">
            <a:avLst/>
          </a:prstGeom>
          <a:noFill/>
          <a:ln/>
        </p:spPr>
        <p:txBody>
          <a:bodyPr wrap="none" lIns="0" tIns="0" rIns="0" bIns="0" rtlCol="0" anchor="t"/>
          <a:lstStyle/>
          <a:p>
            <a:pPr indent="0" marL="0">
              <a:lnSpc>
                <a:spcPts val="4300"/>
              </a:lnSpc>
              <a:buNone/>
            </a:pPr>
            <a:endParaRPr lang="en-US" sz="3450" dirty="0"/>
          </a:p>
        </p:txBody>
      </p:sp>
      <p:pic>
        <p:nvPicPr>
          <p:cNvPr id="3" name="Image 0" descr="preencoded.png">    </p:cNvPr>
          <p:cNvPicPr>
            <a:picLocks noChangeAspect="1"/>
          </p:cNvPicPr>
          <p:nvPr/>
        </p:nvPicPr>
        <p:blipFill>
          <a:blip r:embed="rId1"/>
          <a:stretch>
            <a:fillRect/>
          </a:stretch>
        </p:blipFill>
        <p:spPr>
          <a:xfrm>
            <a:off x="615910" y="1495544"/>
            <a:ext cx="3821787" cy="5107900"/>
          </a:xfrm>
          <a:prstGeom prst="rect">
            <a:avLst/>
          </a:prstGeom>
        </p:spPr>
      </p:pic>
      <p:sp>
        <p:nvSpPr>
          <p:cNvPr id="4" name="Text 1"/>
          <p:cNvSpPr/>
          <p:nvPr/>
        </p:nvSpPr>
        <p:spPr>
          <a:xfrm>
            <a:off x="615910" y="6801326"/>
            <a:ext cx="2639735" cy="329922"/>
          </a:xfrm>
          <a:prstGeom prst="rect">
            <a:avLst/>
          </a:prstGeom>
          <a:noFill/>
          <a:ln/>
        </p:spPr>
        <p:txBody>
          <a:bodyPr wrap="none" lIns="0" tIns="0" rIns="0" bIns="0" rtlCol="0" anchor="t"/>
          <a:lstStyle/>
          <a:p>
            <a:pPr indent="0" marL="0">
              <a:lnSpc>
                <a:spcPts val="2550"/>
              </a:lnSpc>
              <a:buNone/>
            </a:pPr>
            <a:endParaRPr lang="en-US" sz="2050" dirty="0"/>
          </a:p>
        </p:txBody>
      </p:sp>
      <p:sp>
        <p:nvSpPr>
          <p:cNvPr id="5" name="Text 2"/>
          <p:cNvSpPr/>
          <p:nvPr/>
        </p:nvSpPr>
        <p:spPr>
          <a:xfrm>
            <a:off x="615910" y="7307223"/>
            <a:ext cx="6484620" cy="281464"/>
          </a:xfrm>
          <a:prstGeom prst="rect">
            <a:avLst/>
          </a:prstGeom>
          <a:noFill/>
          <a:ln/>
        </p:spPr>
        <p:txBody>
          <a:bodyPr wrap="none" lIns="0" tIns="0" rIns="0" bIns="0" rtlCol="0" anchor="t"/>
          <a:lstStyle/>
          <a:p>
            <a:pPr indent="0" marL="0">
              <a:lnSpc>
                <a:spcPts val="2200"/>
              </a:lnSpc>
              <a:buNone/>
            </a:pPr>
            <a:endParaRPr lang="en-US" sz="1350" dirty="0"/>
          </a:p>
        </p:txBody>
      </p:sp>
      <p:pic>
        <p:nvPicPr>
          <p:cNvPr id="6" name="Image 1" descr="preencoded.png">    </p:cNvPr>
          <p:cNvPicPr>
            <a:picLocks noChangeAspect="1"/>
          </p:cNvPicPr>
          <p:nvPr/>
        </p:nvPicPr>
        <p:blipFill>
          <a:blip r:embed="rId2"/>
          <a:stretch>
            <a:fillRect/>
          </a:stretch>
        </p:blipFill>
        <p:spPr>
          <a:xfrm>
            <a:off x="7537490" y="1495544"/>
            <a:ext cx="6484620" cy="4866442"/>
          </a:xfrm>
          <a:prstGeom prst="rect">
            <a:avLst/>
          </a:prstGeom>
        </p:spPr>
      </p:pic>
      <p:sp>
        <p:nvSpPr>
          <p:cNvPr id="7" name="Text 3"/>
          <p:cNvSpPr/>
          <p:nvPr/>
        </p:nvSpPr>
        <p:spPr>
          <a:xfrm>
            <a:off x="7537490" y="6559868"/>
            <a:ext cx="2639735" cy="329922"/>
          </a:xfrm>
          <a:prstGeom prst="rect">
            <a:avLst/>
          </a:prstGeom>
          <a:noFill/>
          <a:ln/>
        </p:spPr>
        <p:txBody>
          <a:bodyPr wrap="none" lIns="0" tIns="0" rIns="0" bIns="0" rtlCol="0" anchor="t"/>
          <a:lstStyle/>
          <a:p>
            <a:pPr indent="0" marL="0">
              <a:lnSpc>
                <a:spcPts val="2550"/>
              </a:lnSpc>
              <a:buNone/>
            </a:pPr>
            <a:endParaRPr lang="en-US" sz="2050" dirty="0"/>
          </a:p>
        </p:txBody>
      </p:sp>
      <p:sp>
        <p:nvSpPr>
          <p:cNvPr id="8" name="Text 4"/>
          <p:cNvSpPr/>
          <p:nvPr/>
        </p:nvSpPr>
        <p:spPr>
          <a:xfrm>
            <a:off x="7537490" y="7065764"/>
            <a:ext cx="6484620" cy="281464"/>
          </a:xfrm>
          <a:prstGeom prst="rect">
            <a:avLst/>
          </a:prstGeom>
          <a:noFill/>
          <a:ln/>
        </p:spPr>
        <p:txBody>
          <a:bodyPr wrap="none" lIns="0" tIns="0" rIns="0" bIns="0" rtlCol="0" anchor="t"/>
          <a:lstStyle/>
          <a:p>
            <a:pPr indent="0" marL="0">
              <a:lnSpc>
                <a:spcPts val="2200"/>
              </a:lnSpc>
              <a:buNone/>
            </a:pP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2024-11-20T14:25:52Z</dcterms:created>
  <dcterms:modified xsi:type="dcterms:W3CDTF">2024-11-20T14:25:52Z</dcterms:modified>
</cp:coreProperties>
</file>