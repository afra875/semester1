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The Seasons Bold" charset="1" panose="00000000000000000000"/>
      <p:regular r:id="rId19"/>
    </p:embeddedFont>
    <p:embeddedFont>
      <p:font typeface="Kingred Modern" charset="1" panose="00000000000000000000"/>
      <p:regular r:id="rId20"/>
    </p:embeddedFont>
    <p:embeddedFont>
      <p:font typeface="League Spartan" charset="1" panose="00000800000000000000"/>
      <p:regular r:id="rId21"/>
    </p:embeddedFont>
    <p:embeddedFont>
      <p:font typeface="Body Grotesque Bold" charset="1" panose="02000503040000020004"/>
      <p:regular r:id="rId22"/>
    </p:embeddedFont>
    <p:embeddedFont>
      <p:font typeface="Open Sauce" charset="1" panose="00000500000000000000"/>
      <p:regular r:id="rId23"/>
    </p:embeddedFont>
    <p:embeddedFont>
      <p:font typeface="Body Grotesque" charset="1" panose="02000503040000020004"/>
      <p:regular r:id="rId24"/>
    </p:embeddedFont>
    <p:embeddedFont>
      <p:font typeface="The Seasons" charset="1" panose="00000000000000000000"/>
      <p:regular r:id="rId25"/>
    </p:embeddedFont>
    <p:embeddedFont>
      <p:font typeface="Brittany" charset="1" panose="00000000000000000000"/>
      <p:regular r:id="rId26"/>
    </p:embeddedFont>
    <p:embeddedFont>
      <p:font typeface="Canva Sans Bold" charset="1" panose="020B0803030501040103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14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e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Relationship Id="rId5" Target="../media/image18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4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717635" y="1856661"/>
            <a:ext cx="7183017" cy="6667360"/>
          </a:xfrm>
          <a:custGeom>
            <a:avLst/>
            <a:gdLst/>
            <a:ahLst/>
            <a:cxnLst/>
            <a:rect r="r" b="b" t="t" l="l"/>
            <a:pathLst>
              <a:path h="6667360" w="7183017">
                <a:moveTo>
                  <a:pt x="0" y="0"/>
                </a:moveTo>
                <a:lnTo>
                  <a:pt x="7183017" y="0"/>
                </a:lnTo>
                <a:lnTo>
                  <a:pt x="7183017" y="6667360"/>
                </a:lnTo>
                <a:lnTo>
                  <a:pt x="0" y="66673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936736" y="57150"/>
            <a:ext cx="6129171" cy="3979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68"/>
              </a:lnSpc>
            </a:pPr>
            <a:r>
              <a:rPr lang="en-US" b="true" sz="6971" spc="-174">
                <a:solidFill>
                  <a:srgbClr val="222222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BUILDING RELATIONSHIP WITH  PATIENT AND SOCIETY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899646" y="3230141"/>
            <a:ext cx="7244354" cy="7056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92"/>
              </a:lnSpc>
            </a:pPr>
          </a:p>
          <a:p>
            <a:pPr algn="l">
              <a:lnSpc>
                <a:spcPts val="5092"/>
              </a:lnSpc>
            </a:pPr>
            <a:r>
              <a:rPr lang="en-US" sz="3637">
                <a:solidFill>
                  <a:srgbClr val="222222"/>
                </a:solidFill>
                <a:latin typeface="Kingred Modern"/>
                <a:ea typeface="Kingred Modern"/>
                <a:cs typeface="Kingred Modern"/>
                <a:sym typeface="Kingred Modern"/>
              </a:rPr>
              <a:t> *Nurses are responsible for total patient care such as physical care,performing technical procedure, creating safe and comfortable environment etc</a:t>
            </a:r>
          </a:p>
          <a:p>
            <a:pPr algn="l">
              <a:lnSpc>
                <a:spcPts val="5092"/>
              </a:lnSpc>
            </a:pPr>
          </a:p>
          <a:p>
            <a:pPr algn="l">
              <a:lnSpc>
                <a:spcPts val="5092"/>
              </a:lnSpc>
            </a:pPr>
            <a:r>
              <a:rPr lang="en-US" sz="3637">
                <a:solidFill>
                  <a:srgbClr val="222222"/>
                </a:solidFill>
                <a:latin typeface="Kingred Modern"/>
                <a:ea typeface="Kingred Modern"/>
                <a:cs typeface="Kingred Modern"/>
                <a:sym typeface="Kingred Modern"/>
              </a:rPr>
              <a:t>*To perform all these activities the nurse needs to build a therapeutic relationship with the patient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95010" y="2746134"/>
            <a:ext cx="14356600" cy="7219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71"/>
              </a:lnSpc>
            </a:pPr>
          </a:p>
          <a:p>
            <a:pPr algn="ctr">
              <a:lnSpc>
                <a:spcPts val="6371"/>
              </a:lnSpc>
            </a:pPr>
            <a:r>
              <a:rPr lang="en-US" sz="4550">
                <a:solidFill>
                  <a:srgbClr val="22222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*Competence in knowledge and skill</a:t>
            </a:r>
          </a:p>
          <a:p>
            <a:pPr algn="ctr">
              <a:lnSpc>
                <a:spcPts val="6371"/>
              </a:lnSpc>
            </a:pPr>
            <a:r>
              <a:rPr lang="en-US" sz="4550">
                <a:solidFill>
                  <a:srgbClr val="22222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*Competence in soft skills and communication skills</a:t>
            </a:r>
          </a:p>
          <a:p>
            <a:pPr algn="ctr">
              <a:lnSpc>
                <a:spcPts val="6371"/>
              </a:lnSpc>
            </a:pPr>
            <a:r>
              <a:rPr lang="en-US" sz="4550">
                <a:solidFill>
                  <a:srgbClr val="22222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*Honesty/genuineness</a:t>
            </a:r>
          </a:p>
          <a:p>
            <a:pPr algn="ctr">
              <a:lnSpc>
                <a:spcPts val="6371"/>
              </a:lnSpc>
            </a:pPr>
            <a:r>
              <a:rPr lang="en-US" sz="4550">
                <a:solidFill>
                  <a:srgbClr val="22222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*Trust</a:t>
            </a:r>
          </a:p>
          <a:p>
            <a:pPr algn="ctr">
              <a:lnSpc>
                <a:spcPts val="6371"/>
              </a:lnSpc>
            </a:pPr>
            <a:r>
              <a:rPr lang="en-US" sz="4550">
                <a:solidFill>
                  <a:srgbClr val="22222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*Empathy</a:t>
            </a:r>
          </a:p>
          <a:p>
            <a:pPr algn="ctr">
              <a:lnSpc>
                <a:spcPts val="6371"/>
              </a:lnSpc>
            </a:pPr>
            <a:r>
              <a:rPr lang="en-US" sz="4550">
                <a:solidFill>
                  <a:srgbClr val="22222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*Confidentiality</a:t>
            </a:r>
          </a:p>
          <a:p>
            <a:pPr algn="just">
              <a:lnSpc>
                <a:spcPts val="6371"/>
              </a:lnSpc>
            </a:pPr>
            <a:r>
              <a:rPr lang="en-US" sz="4550">
                <a:solidFill>
                  <a:srgbClr val="22222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*Showing respect and caring attitude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0" y="30085"/>
            <a:ext cx="17346620" cy="2823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25"/>
              </a:lnSpc>
            </a:pPr>
            <a:r>
              <a:rPr lang="en-US" sz="8089" b="true">
                <a:solidFill>
                  <a:srgbClr val="222222"/>
                </a:solidFill>
                <a:latin typeface="Body Grotesque Bold"/>
                <a:ea typeface="Body Grotesque Bold"/>
                <a:cs typeface="Body Grotesque Bold"/>
                <a:sym typeface="Body Grotesque Bold"/>
              </a:rPr>
              <a:t>Qualities required for a nurse to build a therapeutic relationship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200743" y="3929655"/>
            <a:ext cx="7386051" cy="5935490"/>
          </a:xfrm>
          <a:custGeom>
            <a:avLst/>
            <a:gdLst/>
            <a:ahLst/>
            <a:cxnLst/>
            <a:rect r="r" b="b" t="t" l="l"/>
            <a:pathLst>
              <a:path h="5935490" w="7386051">
                <a:moveTo>
                  <a:pt x="0" y="0"/>
                </a:moveTo>
                <a:lnTo>
                  <a:pt x="7386052" y="0"/>
                </a:lnTo>
                <a:lnTo>
                  <a:pt x="7386052" y="5935491"/>
                </a:lnTo>
                <a:lnTo>
                  <a:pt x="0" y="59354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6802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81027" y="942975"/>
            <a:ext cx="10819716" cy="7311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02"/>
              </a:lnSpc>
            </a:pPr>
          </a:p>
          <a:p>
            <a:pPr algn="l">
              <a:lnSpc>
                <a:spcPts val="5302"/>
              </a:lnSpc>
            </a:pPr>
            <a:r>
              <a:rPr lang="en-US" sz="3787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*It is the ability to perform activities effectively and efficiently. </a:t>
            </a:r>
          </a:p>
          <a:p>
            <a:pPr algn="l">
              <a:lnSpc>
                <a:spcPts val="5302"/>
              </a:lnSpc>
            </a:pPr>
          </a:p>
          <a:p>
            <a:pPr algn="l">
              <a:lnSpc>
                <a:spcPts val="5302"/>
              </a:lnSpc>
            </a:pPr>
            <a:r>
              <a:rPr lang="en-US" sz="3787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*Nurses should have adequate knowledge and skills in performing their roles and responsibilities.</a:t>
            </a:r>
          </a:p>
          <a:p>
            <a:pPr algn="l">
              <a:lnSpc>
                <a:spcPts val="5302"/>
              </a:lnSpc>
            </a:pPr>
          </a:p>
          <a:p>
            <a:pPr algn="l">
              <a:lnSpc>
                <a:spcPts val="5302"/>
              </a:lnSpc>
            </a:pPr>
            <a:r>
              <a:rPr lang="en-US" sz="3787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*By being knowledgeable and skillful in nursing practice the nurse begins to gain patient's trust and making him feel more safe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708075" y="57150"/>
            <a:ext cx="6902207" cy="3448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00"/>
              </a:lnSpc>
            </a:pPr>
            <a:r>
              <a:rPr lang="en-US" b="true" sz="8000" spc="-200">
                <a:solidFill>
                  <a:srgbClr val="222222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Competence in knowledge and skill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133382" y="-310947"/>
            <a:ext cx="8154618" cy="5932485"/>
          </a:xfrm>
          <a:custGeom>
            <a:avLst/>
            <a:gdLst/>
            <a:ahLst/>
            <a:cxnLst/>
            <a:rect r="r" b="b" t="t" l="l"/>
            <a:pathLst>
              <a:path h="5932485" w="8154618">
                <a:moveTo>
                  <a:pt x="0" y="0"/>
                </a:moveTo>
                <a:lnTo>
                  <a:pt x="8154618" y="0"/>
                </a:lnTo>
                <a:lnTo>
                  <a:pt x="8154618" y="5932485"/>
                </a:lnTo>
                <a:lnTo>
                  <a:pt x="0" y="59324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4927961"/>
            <a:ext cx="18653192" cy="491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7"/>
              </a:lnSpc>
            </a:pPr>
          </a:p>
          <a:p>
            <a:pPr algn="l">
              <a:lnSpc>
                <a:spcPts val="3957"/>
              </a:lnSpc>
            </a:pPr>
            <a:r>
              <a:rPr lang="en-US" sz="2826">
                <a:solidFill>
                  <a:srgbClr val="000000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*To establish a good relationship with the patient, the nurses are required to have effective communication skills.</a:t>
            </a:r>
          </a:p>
          <a:p>
            <a:pPr algn="l">
              <a:lnSpc>
                <a:spcPts val="3957"/>
              </a:lnSpc>
            </a:pPr>
            <a:r>
              <a:rPr lang="en-US" sz="2826">
                <a:solidFill>
                  <a:srgbClr val="000000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*These skills include </a:t>
            </a:r>
          </a:p>
          <a:p>
            <a:pPr algn="l">
              <a:lnSpc>
                <a:spcPts val="3957"/>
              </a:lnSpc>
            </a:pPr>
            <a:r>
              <a:rPr lang="en-US" sz="2826">
                <a:solidFill>
                  <a:srgbClr val="000000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-being aware of verbal and non-verbal cues of patients</a:t>
            </a:r>
          </a:p>
          <a:p>
            <a:pPr algn="l">
              <a:lnSpc>
                <a:spcPts val="3957"/>
              </a:lnSpc>
            </a:pPr>
            <a:r>
              <a:rPr lang="en-US" sz="2826">
                <a:solidFill>
                  <a:srgbClr val="000000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-active listening to patient without interruption</a:t>
            </a:r>
          </a:p>
          <a:p>
            <a:pPr algn="l">
              <a:lnSpc>
                <a:spcPts val="3957"/>
              </a:lnSpc>
            </a:pPr>
            <a:r>
              <a:rPr lang="en-US" sz="2826">
                <a:solidFill>
                  <a:srgbClr val="000000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-giving information</a:t>
            </a:r>
          </a:p>
          <a:p>
            <a:pPr algn="l">
              <a:lnSpc>
                <a:spcPts val="3957"/>
              </a:lnSpc>
            </a:pPr>
            <a:r>
              <a:rPr lang="en-US" sz="2826">
                <a:solidFill>
                  <a:srgbClr val="000000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-having a non-judgmental approach</a:t>
            </a:r>
          </a:p>
          <a:p>
            <a:pPr algn="l">
              <a:lnSpc>
                <a:spcPts val="3957"/>
              </a:lnSpc>
            </a:pPr>
            <a:r>
              <a:rPr lang="en-US" sz="2826">
                <a:solidFill>
                  <a:srgbClr val="000000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-paraphrasing</a:t>
            </a:r>
          </a:p>
          <a:p>
            <a:pPr algn="l">
              <a:lnSpc>
                <a:spcPts val="3957"/>
              </a:lnSpc>
            </a:pPr>
            <a:r>
              <a:rPr lang="en-US" sz="2826">
                <a:solidFill>
                  <a:srgbClr val="000000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-summarizing and clarifying information</a:t>
            </a:r>
          </a:p>
          <a:p>
            <a:pPr algn="l">
              <a:lnSpc>
                <a:spcPts val="3957"/>
              </a:lnSpc>
            </a:pPr>
            <a:r>
              <a:rPr lang="en-US" sz="2826">
                <a:solidFill>
                  <a:srgbClr val="000000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*All these techniques help build a trusting relationship with the patient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25302" y="392155"/>
            <a:ext cx="8815721" cy="4583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00"/>
              </a:lnSpc>
            </a:pPr>
            <a:r>
              <a:rPr lang="en-US" b="true" sz="8000" spc="-200">
                <a:solidFill>
                  <a:srgbClr val="222222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competence in soft skills and communication skills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3204760"/>
            <a:ext cx="6763731" cy="6053540"/>
          </a:xfrm>
          <a:custGeom>
            <a:avLst/>
            <a:gdLst/>
            <a:ahLst/>
            <a:cxnLst/>
            <a:rect r="r" b="b" t="t" l="l"/>
            <a:pathLst>
              <a:path h="6053540" w="6763731">
                <a:moveTo>
                  <a:pt x="0" y="0"/>
                </a:moveTo>
                <a:lnTo>
                  <a:pt x="6763731" y="0"/>
                </a:lnTo>
                <a:lnTo>
                  <a:pt x="6763731" y="6053540"/>
                </a:lnTo>
                <a:lnTo>
                  <a:pt x="0" y="60535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757891" y="2464376"/>
            <a:ext cx="12881091" cy="6793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78"/>
              </a:lnSpc>
            </a:pPr>
          </a:p>
          <a:p>
            <a:pPr algn="l">
              <a:lnSpc>
                <a:spcPts val="5378"/>
              </a:lnSpc>
            </a:pPr>
            <a:r>
              <a:rPr lang="en-US" sz="3841">
                <a:solidFill>
                  <a:srgbClr val="000000"/>
                </a:solidFill>
                <a:latin typeface="Kingred Modern"/>
                <a:ea typeface="Kingred Modern"/>
                <a:cs typeface="Kingred Modern"/>
                <a:sym typeface="Kingred Modern"/>
              </a:rPr>
              <a:t>-doing the right thing in a right way</a:t>
            </a:r>
          </a:p>
          <a:p>
            <a:pPr algn="l">
              <a:lnSpc>
                <a:spcPts val="5378"/>
              </a:lnSpc>
            </a:pPr>
            <a:r>
              <a:rPr lang="en-US" sz="3841">
                <a:solidFill>
                  <a:srgbClr val="000000"/>
                </a:solidFill>
                <a:latin typeface="Kingred Modern"/>
                <a:ea typeface="Kingred Modern"/>
                <a:cs typeface="Kingred Modern"/>
                <a:sym typeface="Kingred Modern"/>
              </a:rPr>
              <a:t>-coming to work on time</a:t>
            </a:r>
          </a:p>
          <a:p>
            <a:pPr algn="l">
              <a:lnSpc>
                <a:spcPts val="5378"/>
              </a:lnSpc>
            </a:pPr>
            <a:r>
              <a:rPr lang="en-US" sz="3841">
                <a:solidFill>
                  <a:srgbClr val="000000"/>
                </a:solidFill>
                <a:latin typeface="Kingred Modern"/>
                <a:ea typeface="Kingred Modern"/>
                <a:cs typeface="Kingred Modern"/>
                <a:sym typeface="Kingred Modern"/>
              </a:rPr>
              <a:t>-not skipping on patient care -admitting to mistakes made and facing the consequences</a:t>
            </a:r>
          </a:p>
          <a:p>
            <a:pPr algn="l">
              <a:lnSpc>
                <a:spcPts val="5378"/>
              </a:lnSpc>
            </a:pPr>
            <a:r>
              <a:rPr lang="en-US" sz="3841">
                <a:solidFill>
                  <a:srgbClr val="000000"/>
                </a:solidFill>
                <a:latin typeface="Kingred Modern"/>
                <a:ea typeface="Kingred Modern"/>
                <a:cs typeface="Kingred Modern"/>
                <a:sym typeface="Kingred Modern"/>
              </a:rPr>
              <a:t>-not gossiping about the patients and being true to ones beliefs. </a:t>
            </a:r>
          </a:p>
          <a:p>
            <a:pPr algn="l">
              <a:lnSpc>
                <a:spcPts val="5378"/>
              </a:lnSpc>
            </a:pPr>
            <a:r>
              <a:rPr lang="en-US" sz="3841">
                <a:solidFill>
                  <a:srgbClr val="000000"/>
                </a:solidFill>
                <a:latin typeface="Kingred Modern"/>
                <a:ea typeface="Kingred Modern"/>
                <a:cs typeface="Kingred Modern"/>
                <a:sym typeface="Kingred Modern"/>
              </a:rPr>
              <a:t>*An honest approach will allow the patient to develop respect and a belief that the nurse is acting in his best interest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230150" y="941011"/>
            <a:ext cx="5180127" cy="160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319"/>
              </a:lnSpc>
            </a:pPr>
            <a:r>
              <a:rPr lang="en-US" sz="11199" spc="-279">
                <a:solidFill>
                  <a:srgbClr val="222222"/>
                </a:solidFill>
                <a:latin typeface="The Seasons"/>
                <a:ea typeface="The Seasons"/>
                <a:cs typeface="The Seasons"/>
                <a:sym typeface="The Seasons"/>
              </a:rPr>
              <a:t>Honesty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07011" y="3218119"/>
            <a:ext cx="16680989" cy="6040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9"/>
              </a:lnSpc>
            </a:pPr>
          </a:p>
          <a:p>
            <a:pPr algn="l">
              <a:lnSpc>
                <a:spcPts val="4419"/>
              </a:lnSpc>
            </a:pPr>
            <a:r>
              <a:rPr lang="en-US" sz="3156">
                <a:solidFill>
                  <a:srgbClr val="000000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*Trust is the main element of all interpersonal relationships. *Some of the nursing activities which facilitate trust are </a:t>
            </a:r>
          </a:p>
          <a:p>
            <a:pPr algn="l">
              <a:lnSpc>
                <a:spcPts val="4419"/>
              </a:lnSpc>
            </a:pPr>
            <a:r>
              <a:rPr lang="en-US" sz="3156">
                <a:solidFill>
                  <a:srgbClr val="000000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-active listening </a:t>
            </a:r>
          </a:p>
          <a:p>
            <a:pPr algn="l">
              <a:lnSpc>
                <a:spcPts val="4419"/>
              </a:lnSpc>
            </a:pPr>
            <a:r>
              <a:rPr lang="en-US" sz="3156">
                <a:solidFill>
                  <a:srgbClr val="000000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-respecting </a:t>
            </a:r>
          </a:p>
          <a:p>
            <a:pPr algn="l">
              <a:lnSpc>
                <a:spcPts val="4419"/>
              </a:lnSpc>
            </a:pPr>
            <a:r>
              <a:rPr lang="en-US" sz="3156">
                <a:solidFill>
                  <a:srgbClr val="000000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-being honest and consistent in activities </a:t>
            </a:r>
          </a:p>
          <a:p>
            <a:pPr algn="l">
              <a:lnSpc>
                <a:spcPts val="4419"/>
              </a:lnSpc>
            </a:pPr>
            <a:r>
              <a:rPr lang="en-US" sz="3156">
                <a:solidFill>
                  <a:srgbClr val="000000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-having an acceptable attitude </a:t>
            </a:r>
          </a:p>
          <a:p>
            <a:pPr algn="l">
              <a:lnSpc>
                <a:spcPts val="4419"/>
              </a:lnSpc>
            </a:pPr>
            <a:r>
              <a:rPr lang="en-US" sz="3156">
                <a:solidFill>
                  <a:srgbClr val="000000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*If the patient develops trust on the nurse they are more likely to share and disclose information.</a:t>
            </a:r>
          </a:p>
          <a:p>
            <a:pPr algn="l">
              <a:lnSpc>
                <a:spcPts val="4419"/>
              </a:lnSpc>
            </a:pPr>
            <a:r>
              <a:rPr lang="en-US" sz="3156">
                <a:solidFill>
                  <a:srgbClr val="000000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*Performing roles in an ethical way is essential to building a trusting relationship with the patient.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705189"/>
            <a:ext cx="15225772" cy="2038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730"/>
              </a:lnSpc>
            </a:pPr>
            <a:r>
              <a:rPr lang="en-US" sz="14300" spc="-357">
                <a:solidFill>
                  <a:srgbClr val="222222"/>
                </a:solidFill>
                <a:latin typeface="Brittany"/>
                <a:ea typeface="Brittany"/>
                <a:cs typeface="Brittany"/>
                <a:sym typeface="Brittany"/>
              </a:rPr>
              <a:t>Trust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99742" y="3843758"/>
            <a:ext cx="2599484" cy="2599484"/>
          </a:xfrm>
          <a:custGeom>
            <a:avLst/>
            <a:gdLst/>
            <a:ahLst/>
            <a:cxnLst/>
            <a:rect r="r" b="b" t="t" l="l"/>
            <a:pathLst>
              <a:path h="2599484" w="2599484">
                <a:moveTo>
                  <a:pt x="0" y="0"/>
                </a:moveTo>
                <a:lnTo>
                  <a:pt x="2599484" y="0"/>
                </a:lnTo>
                <a:lnTo>
                  <a:pt x="2599484" y="2599484"/>
                </a:lnTo>
                <a:lnTo>
                  <a:pt x="0" y="25994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667803" y="4161577"/>
            <a:ext cx="7249021" cy="6125423"/>
          </a:xfrm>
          <a:custGeom>
            <a:avLst/>
            <a:gdLst/>
            <a:ahLst/>
            <a:cxnLst/>
            <a:rect r="r" b="b" t="t" l="l"/>
            <a:pathLst>
              <a:path h="6125423" w="7249021">
                <a:moveTo>
                  <a:pt x="0" y="0"/>
                </a:moveTo>
                <a:lnTo>
                  <a:pt x="7249021" y="0"/>
                </a:lnTo>
                <a:lnTo>
                  <a:pt x="7249021" y="6125423"/>
                </a:lnTo>
                <a:lnTo>
                  <a:pt x="0" y="61254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986027" y="-95250"/>
            <a:ext cx="7995976" cy="10382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15"/>
              </a:lnSpc>
            </a:pPr>
          </a:p>
          <a:p>
            <a:pPr algn="ctr">
              <a:lnSpc>
                <a:spcPts val="6415"/>
              </a:lnSpc>
            </a:pPr>
            <a:r>
              <a:rPr lang="en-US" sz="4582">
                <a:solidFill>
                  <a:srgbClr val="000000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*This process allows the nurse to see the suffering from patient's own point of view without experiencing the emotional content.</a:t>
            </a:r>
          </a:p>
          <a:p>
            <a:pPr algn="ctr">
              <a:lnSpc>
                <a:spcPts val="6415"/>
              </a:lnSpc>
            </a:pPr>
            <a:r>
              <a:rPr lang="en-US" sz="4582">
                <a:solidFill>
                  <a:srgbClr val="000000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* This understanding allows the nurse to identify the patient's problems more precisely, set goals for the patient, provide specific interventions and evaluate patient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510696" y="838200"/>
            <a:ext cx="5563235" cy="1774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60"/>
              </a:lnSpc>
            </a:pPr>
            <a:r>
              <a:rPr lang="en-US" sz="10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Empathy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22728" y="1594042"/>
            <a:ext cx="14854160" cy="8658418"/>
            <a:chOff x="0" y="0"/>
            <a:chExt cx="19805546" cy="11544558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3221449"/>
              <a:ext cx="19805546" cy="83231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53"/>
                </a:lnSpc>
              </a:pPr>
            </a:p>
            <a:p>
              <a:pPr algn="l">
                <a:lnSpc>
                  <a:spcPts val="3853"/>
                </a:lnSpc>
              </a:pPr>
              <a:r>
                <a:rPr lang="en-US" sz="2752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*refrain from sharing confidential information with others and respecting privacy</a:t>
              </a:r>
            </a:p>
            <a:p>
              <a:pPr algn="l">
                <a:lnSpc>
                  <a:spcPts val="3853"/>
                </a:lnSpc>
              </a:pPr>
              <a:r>
                <a:rPr lang="en-US" sz="2752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*Nurses have the moral obligation of keeping the patient information confidential and not sharing it with others </a:t>
              </a:r>
            </a:p>
            <a:p>
              <a:pPr algn="l">
                <a:lnSpc>
                  <a:spcPts val="3853"/>
                </a:lnSpc>
              </a:pPr>
              <a:r>
                <a:rPr lang="en-US" sz="2752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*confidentiality indicates :</a:t>
              </a:r>
            </a:p>
            <a:p>
              <a:pPr algn="l">
                <a:lnSpc>
                  <a:spcPts val="3853"/>
                </a:lnSpc>
              </a:pPr>
              <a:r>
                <a:rPr lang="en-US" sz="2752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-maintaining privacy in a physical setting while dealing with sensitive issues concerning the patient.</a:t>
              </a:r>
            </a:p>
            <a:p>
              <a:pPr algn="l">
                <a:lnSpc>
                  <a:spcPts val="3853"/>
                </a:lnSpc>
              </a:pPr>
              <a:r>
                <a:rPr lang="en-US" sz="2752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-closing the room door or at least using the separation screen when sharing sensitive information</a:t>
              </a:r>
            </a:p>
            <a:p>
              <a:pPr algn="l">
                <a:lnSpc>
                  <a:spcPts val="3853"/>
                </a:lnSpc>
              </a:pPr>
              <a:r>
                <a:rPr lang="en-US" sz="2752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-Keeping the patient information confidential includes not speaking about the patient and his condition in public places where it could be ovetheard</a:t>
              </a:r>
            </a:p>
            <a:p>
              <a:pPr algn="l">
                <a:lnSpc>
                  <a:spcPts val="3853"/>
                </a:lnSpc>
              </a:pPr>
              <a:r>
                <a:rPr lang="en-US" sz="2752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-strictly limiting /removing mobile phones from patient areas to avoid malicious or accidental recording of private records or information.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95250"/>
              <a:ext cx="19805546" cy="17644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093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681204" y="-369456"/>
            <a:ext cx="6578096" cy="4489551"/>
          </a:xfrm>
          <a:custGeom>
            <a:avLst/>
            <a:gdLst/>
            <a:ahLst/>
            <a:cxnLst/>
            <a:rect r="r" b="b" t="t" l="l"/>
            <a:pathLst>
              <a:path h="4489551" w="6578096">
                <a:moveTo>
                  <a:pt x="0" y="0"/>
                </a:moveTo>
                <a:lnTo>
                  <a:pt x="6578096" y="0"/>
                </a:lnTo>
                <a:lnTo>
                  <a:pt x="6578096" y="4489550"/>
                </a:lnTo>
                <a:lnTo>
                  <a:pt x="0" y="44895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279507" y="857250"/>
            <a:ext cx="8603880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Body Grotesque Bold"/>
                <a:ea typeface="Body Grotesque Bold"/>
                <a:cs typeface="Body Grotesque Bold"/>
                <a:sym typeface="Body Grotesque Bold"/>
              </a:rPr>
              <a:t>Confidentiality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15560" y="4199308"/>
            <a:ext cx="7412715" cy="6087692"/>
          </a:xfrm>
          <a:custGeom>
            <a:avLst/>
            <a:gdLst/>
            <a:ahLst/>
            <a:cxnLst/>
            <a:rect r="r" b="b" t="t" l="l"/>
            <a:pathLst>
              <a:path h="6087692" w="7412715">
                <a:moveTo>
                  <a:pt x="0" y="0"/>
                </a:moveTo>
                <a:lnTo>
                  <a:pt x="7412714" y="0"/>
                </a:lnTo>
                <a:lnTo>
                  <a:pt x="7412714" y="6087692"/>
                </a:lnTo>
                <a:lnTo>
                  <a:pt x="0" y="60876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82154" y="296429"/>
            <a:ext cx="8115300" cy="6012324"/>
            <a:chOff x="0" y="0"/>
            <a:chExt cx="10820400" cy="8016432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6706062"/>
              <a:ext cx="10820400" cy="13103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94"/>
                </a:lnSpc>
              </a:pPr>
            </a:p>
            <a:p>
              <a:pPr algn="l">
                <a:lnSpc>
                  <a:spcPts val="4094"/>
                </a:lnSpc>
              </a:pP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76200"/>
              <a:ext cx="10820400" cy="56195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722"/>
                </a:lnSpc>
              </a:pPr>
              <a:r>
                <a:rPr lang="en-US" b="true" sz="9747" spc="-243">
                  <a:solidFill>
                    <a:srgbClr val="222222"/>
                  </a:solidFill>
                  <a:latin typeface="The Seasons Bold"/>
                  <a:ea typeface="The Seasons Bold"/>
                  <a:cs typeface="The Seasons Bold"/>
                  <a:sym typeface="The Seasons Bold"/>
                </a:rPr>
                <a:t>showing respect and caring attitude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7828274" y="1350182"/>
            <a:ext cx="10459726" cy="7908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3"/>
              </a:lnSpc>
            </a:pPr>
          </a:p>
          <a:p>
            <a:pPr algn="ctr">
              <a:lnSpc>
                <a:spcPts val="4163"/>
              </a:lnSpc>
            </a:pPr>
            <a:r>
              <a:rPr lang="en-US" sz="2974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*these refer to </a:t>
            </a:r>
          </a:p>
          <a:p>
            <a:pPr algn="ctr">
              <a:lnSpc>
                <a:spcPts val="4163"/>
              </a:lnSpc>
            </a:pPr>
            <a:r>
              <a:rPr lang="en-US" sz="2974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-introducing one self, calling the patient with his/her formal name, </a:t>
            </a:r>
          </a:p>
          <a:p>
            <a:pPr algn="ctr">
              <a:lnSpc>
                <a:spcPts val="4163"/>
              </a:lnSpc>
            </a:pPr>
            <a:r>
              <a:rPr lang="en-US" sz="2974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-treating the patient with dignity</a:t>
            </a:r>
          </a:p>
          <a:p>
            <a:pPr algn="ctr">
              <a:lnSpc>
                <a:spcPts val="4163"/>
              </a:lnSpc>
            </a:pPr>
            <a:r>
              <a:rPr lang="en-US" sz="2974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-arranging for patient comfort and privacy at all times</a:t>
            </a:r>
          </a:p>
          <a:p>
            <a:pPr algn="ctr">
              <a:lnSpc>
                <a:spcPts val="4163"/>
              </a:lnSpc>
            </a:pPr>
            <a:r>
              <a:rPr lang="en-US" sz="2974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-preparing the patient before any procedure</a:t>
            </a:r>
          </a:p>
          <a:p>
            <a:pPr algn="ctr">
              <a:lnSpc>
                <a:spcPts val="4163"/>
              </a:lnSpc>
            </a:pPr>
            <a:r>
              <a:rPr lang="en-US" sz="2974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-encouraging the patient to make choices regarding his care</a:t>
            </a:r>
          </a:p>
          <a:p>
            <a:pPr algn="ctr">
              <a:lnSpc>
                <a:spcPts val="4163"/>
              </a:lnSpc>
            </a:pPr>
            <a:r>
              <a:rPr lang="en-US" sz="2974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-being compassionate</a:t>
            </a:r>
          </a:p>
          <a:p>
            <a:pPr algn="ctr">
              <a:lnSpc>
                <a:spcPts val="4163"/>
              </a:lnSpc>
            </a:pPr>
            <a:r>
              <a:rPr lang="en-US" sz="2974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-spending appropriate time with patient</a:t>
            </a:r>
          </a:p>
          <a:p>
            <a:pPr algn="ctr">
              <a:lnSpc>
                <a:spcPts val="4163"/>
              </a:lnSpc>
            </a:pPr>
            <a:r>
              <a:rPr lang="en-US" sz="2974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-helping and advising the patient to resolve his problems and demonstrating active listening.</a:t>
            </a:r>
          </a:p>
          <a:p>
            <a:pPr algn="ctr">
              <a:lnSpc>
                <a:spcPts val="4163"/>
              </a:lnSpc>
            </a:pPr>
            <a:r>
              <a:rPr lang="en-US" sz="2974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*These activities improve professional relationship with the patient.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-286492" y="1882183"/>
            <a:ext cx="18574492" cy="7781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 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Communication can take many forms, depending on the context and the medium used. Here are the main types of communication:</a:t>
            </a:r>
          </a:p>
          <a:p>
            <a:pPr algn="ctr">
              <a:lnSpc>
                <a:spcPts val="4759"/>
              </a:lnSpc>
            </a:pP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1. Verbal Communication</a:t>
            </a:r>
          </a:p>
          <a:p>
            <a:pPr algn="ctr">
              <a:lnSpc>
                <a:spcPts val="4759"/>
              </a:lnSpc>
            </a:pP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Face-to-Face: Talking directly with someone.</a:t>
            </a:r>
          </a:p>
          <a:p>
            <a:pPr algn="ctr">
              <a:lnSpc>
                <a:spcPts val="4759"/>
              </a:lnSpc>
            </a:pP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Phone Calls/Video Calls: Talking remotely using technology.</a:t>
            </a:r>
          </a:p>
          <a:p>
            <a:pPr algn="ctr">
              <a:lnSpc>
                <a:spcPts val="4759"/>
              </a:lnSpc>
            </a:pP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Meetings/Speeches: Formal or informal speaking engagements.</a:t>
            </a:r>
          </a:p>
          <a:p>
            <a:pPr algn="ctr">
              <a:lnSpc>
                <a:spcPts val="4759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5476825" y="3537193"/>
            <a:ext cx="7903845" cy="8229600"/>
          </a:xfrm>
          <a:custGeom>
            <a:avLst/>
            <a:gdLst/>
            <a:ahLst/>
            <a:cxnLst/>
            <a:rect r="r" b="b" t="t" l="l"/>
            <a:pathLst>
              <a:path h="8229600" w="7903845">
                <a:moveTo>
                  <a:pt x="0" y="0"/>
                </a:moveTo>
                <a:lnTo>
                  <a:pt x="7903845" y="0"/>
                </a:lnTo>
                <a:lnTo>
                  <a:pt x="790384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195651" y="318882"/>
            <a:ext cx="16063649" cy="2040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660"/>
              </a:lnSpc>
            </a:pPr>
            <a:r>
              <a:rPr lang="en-US" sz="11900">
                <a:solidFill>
                  <a:srgbClr val="000000"/>
                </a:solidFill>
                <a:latin typeface="The Seasons"/>
                <a:ea typeface="The Seasons"/>
                <a:cs typeface="The Seasons"/>
                <a:sym typeface="The Seasons"/>
              </a:rPr>
              <a:t>Way of communication 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335412" y="526725"/>
            <a:ext cx="9862267" cy="5748307"/>
          </a:xfrm>
          <a:custGeom>
            <a:avLst/>
            <a:gdLst/>
            <a:ahLst/>
            <a:cxnLst/>
            <a:rect r="r" b="b" t="t" l="l"/>
            <a:pathLst>
              <a:path h="5748307" w="9862267">
                <a:moveTo>
                  <a:pt x="0" y="0"/>
                </a:moveTo>
                <a:lnTo>
                  <a:pt x="9862268" y="0"/>
                </a:lnTo>
                <a:lnTo>
                  <a:pt x="9862268" y="5748307"/>
                </a:lnTo>
                <a:lnTo>
                  <a:pt x="0" y="57483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507" r="0" b="-350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729343" y="7891630"/>
            <a:ext cx="2558657" cy="4114800"/>
          </a:xfrm>
          <a:custGeom>
            <a:avLst/>
            <a:gdLst/>
            <a:ahLst/>
            <a:cxnLst/>
            <a:rect r="r" b="b" t="t" l="l"/>
            <a:pathLst>
              <a:path h="4114800" w="2558657">
                <a:moveTo>
                  <a:pt x="0" y="0"/>
                </a:moveTo>
                <a:lnTo>
                  <a:pt x="2558657" y="0"/>
                </a:lnTo>
                <a:lnTo>
                  <a:pt x="25586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022746" y="4539222"/>
            <a:ext cx="13394902" cy="6638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93"/>
              </a:lnSpc>
            </a:pPr>
          </a:p>
          <a:p>
            <a:pPr algn="ctr">
              <a:lnSpc>
                <a:spcPts val="5293"/>
              </a:lnSpc>
            </a:pPr>
          </a:p>
          <a:p>
            <a:pPr algn="ctr">
              <a:lnSpc>
                <a:spcPts val="5293"/>
              </a:lnSpc>
            </a:pPr>
          </a:p>
          <a:p>
            <a:pPr algn="ctr">
              <a:lnSpc>
                <a:spcPts val="5293"/>
              </a:lnSpc>
            </a:pPr>
            <a:r>
              <a:rPr lang="en-US" sz="3780" b="true">
                <a:solidFill>
                  <a:srgbClr val="000000"/>
                </a:solidFill>
                <a:latin typeface="Body Grotesque Bold"/>
                <a:ea typeface="Body Grotesque Bold"/>
                <a:cs typeface="Body Grotesque Bold"/>
                <a:sym typeface="Body Grotesque Bold"/>
              </a:rPr>
              <a:t>2. Non-Verbal Communication</a:t>
            </a:r>
          </a:p>
          <a:p>
            <a:pPr algn="ctr">
              <a:lnSpc>
                <a:spcPts val="5293"/>
              </a:lnSpc>
            </a:pPr>
          </a:p>
          <a:p>
            <a:pPr algn="ctr">
              <a:lnSpc>
                <a:spcPts val="5293"/>
              </a:lnSpc>
            </a:pPr>
            <a:r>
              <a:rPr lang="en-US" sz="3780" b="true">
                <a:solidFill>
                  <a:srgbClr val="000000"/>
                </a:solidFill>
                <a:latin typeface="Body Grotesque Bold"/>
                <a:ea typeface="Body Grotesque Bold"/>
                <a:cs typeface="Body Grotesque Bold"/>
                <a:sym typeface="Body Grotesque Bold"/>
              </a:rPr>
              <a:t>Body Language: Gestures, posture, and facial expressions.</a:t>
            </a:r>
          </a:p>
          <a:p>
            <a:pPr algn="ctr">
              <a:lnSpc>
                <a:spcPts val="5293"/>
              </a:lnSpc>
            </a:pPr>
          </a:p>
          <a:p>
            <a:pPr algn="ctr">
              <a:lnSpc>
                <a:spcPts val="5293"/>
              </a:lnSpc>
            </a:pPr>
            <a:r>
              <a:rPr lang="en-US" sz="3780" b="true">
                <a:solidFill>
                  <a:srgbClr val="000000"/>
                </a:solidFill>
                <a:latin typeface="Body Grotesque Bold"/>
                <a:ea typeface="Body Grotesque Bold"/>
                <a:cs typeface="Body Grotesque Bold"/>
                <a:sym typeface="Body Grotesque Bold"/>
              </a:rPr>
              <a:t>Eye Contact: Shows confidence, attention, or emotion</a:t>
            </a:r>
          </a:p>
          <a:p>
            <a:pPr algn="ctr">
              <a:lnSpc>
                <a:spcPts val="5293"/>
              </a:lnSpc>
            </a:pPr>
          </a:p>
          <a:p>
            <a:pPr algn="ctr">
              <a:lnSpc>
                <a:spcPts val="5293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671739" y="-671739"/>
            <a:ext cx="3400878" cy="3400878"/>
          </a:xfrm>
          <a:custGeom>
            <a:avLst/>
            <a:gdLst/>
            <a:ahLst/>
            <a:cxnLst/>
            <a:rect r="r" b="b" t="t" l="l"/>
            <a:pathLst>
              <a:path h="3400878" w="3400878">
                <a:moveTo>
                  <a:pt x="0" y="0"/>
                </a:moveTo>
                <a:lnTo>
                  <a:pt x="3400878" y="0"/>
                </a:lnTo>
                <a:lnTo>
                  <a:pt x="3400878" y="3400878"/>
                </a:lnTo>
                <a:lnTo>
                  <a:pt x="0" y="340087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4839004" y="-314305"/>
            <a:ext cx="4339334" cy="4339317"/>
            <a:chOff x="0" y="0"/>
            <a:chExt cx="6350000" cy="63499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50000" cy="6349975"/>
            </a:xfrm>
            <a:custGeom>
              <a:avLst/>
              <a:gdLst/>
              <a:ahLst/>
              <a:cxnLst/>
              <a:rect r="r" b="b" t="t" l="l"/>
              <a:pathLst>
                <a:path h="6349975" w="6350000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7"/>
              <a:stretch>
                <a:fillRect l="0" t="-16963" r="0" b="-33036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5496006"/>
            <a:ext cx="18288000" cy="4203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</a:p>
          <a:p>
            <a:pPr algn="ctr">
              <a:lnSpc>
                <a:spcPts val="5599"/>
              </a:lnSpc>
            </a:pPr>
          </a:p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Tone of voice : The way words are spoken can change their meaning</a:t>
            </a:r>
          </a:p>
          <a:p>
            <a:pPr algn="ctr">
              <a:lnSpc>
                <a:spcPts val="5599"/>
              </a:lnSpc>
            </a:pPr>
          </a:p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Non verbal communication may more accurately reveal patient feelings than verbal communication.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9144000" y="-383687"/>
            <a:ext cx="8034931" cy="5955893"/>
          </a:xfrm>
          <a:custGeom>
            <a:avLst/>
            <a:gdLst/>
            <a:ahLst/>
            <a:cxnLst/>
            <a:rect r="r" b="b" t="t" l="l"/>
            <a:pathLst>
              <a:path h="5955893" w="8034931">
                <a:moveTo>
                  <a:pt x="0" y="0"/>
                </a:moveTo>
                <a:lnTo>
                  <a:pt x="8034931" y="0"/>
                </a:lnTo>
                <a:lnTo>
                  <a:pt x="8034931" y="5955893"/>
                </a:lnTo>
                <a:lnTo>
                  <a:pt x="0" y="59558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-462955"/>
            <a:ext cx="1733718" cy="4414560"/>
          </a:xfrm>
          <a:custGeom>
            <a:avLst/>
            <a:gdLst/>
            <a:ahLst/>
            <a:cxnLst/>
            <a:rect r="r" b="b" t="t" l="l"/>
            <a:pathLst>
              <a:path h="4414560" w="1733718">
                <a:moveTo>
                  <a:pt x="0" y="0"/>
                </a:moveTo>
                <a:lnTo>
                  <a:pt x="1733718" y="0"/>
                </a:lnTo>
                <a:lnTo>
                  <a:pt x="1733718" y="4414560"/>
                </a:lnTo>
                <a:lnTo>
                  <a:pt x="0" y="44145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2214100" y="0"/>
            <a:ext cx="5817155" cy="5817132"/>
            <a:chOff x="0" y="0"/>
            <a:chExt cx="6350000" cy="634997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49975"/>
            </a:xfrm>
            <a:custGeom>
              <a:avLst/>
              <a:gdLst/>
              <a:ahLst/>
              <a:cxnLst/>
              <a:rect r="r" b="b" t="t" l="l"/>
              <a:pathLst>
                <a:path h="6349975" w="6350000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5"/>
              <a:stretch>
                <a:fillRect l="-16609" t="0" r="-35048" b="0"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99742" y="3843758"/>
            <a:ext cx="2599484" cy="2599484"/>
          </a:xfrm>
          <a:custGeom>
            <a:avLst/>
            <a:gdLst/>
            <a:ahLst/>
            <a:cxnLst/>
            <a:rect r="r" b="b" t="t" l="l"/>
            <a:pathLst>
              <a:path h="2599484" w="2599484">
                <a:moveTo>
                  <a:pt x="0" y="0"/>
                </a:moveTo>
                <a:lnTo>
                  <a:pt x="2599484" y="0"/>
                </a:lnTo>
                <a:lnTo>
                  <a:pt x="2599484" y="2599484"/>
                </a:lnTo>
                <a:lnTo>
                  <a:pt x="0" y="25994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93151" y="1449463"/>
            <a:ext cx="4339334" cy="4339317"/>
            <a:chOff x="0" y="0"/>
            <a:chExt cx="6350000" cy="634997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0000" cy="6349975"/>
            </a:xfrm>
            <a:custGeom>
              <a:avLst/>
              <a:gdLst/>
              <a:ahLst/>
              <a:cxnLst/>
              <a:rect r="r" b="b" t="t" l="l"/>
              <a:pathLst>
                <a:path h="6349975" w="6350000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4"/>
              <a:stretch>
                <a:fillRect l="0" t="-16963" r="0" b="-33036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5756579" y="-947268"/>
            <a:ext cx="4151640" cy="4151640"/>
          </a:xfrm>
          <a:custGeom>
            <a:avLst/>
            <a:gdLst/>
            <a:ahLst/>
            <a:cxnLst/>
            <a:rect r="r" b="b" t="t" l="l"/>
            <a:pathLst>
              <a:path h="4151640" w="4151640">
                <a:moveTo>
                  <a:pt x="0" y="0"/>
                </a:moveTo>
                <a:lnTo>
                  <a:pt x="4151640" y="0"/>
                </a:lnTo>
                <a:lnTo>
                  <a:pt x="4151640" y="4151640"/>
                </a:lnTo>
                <a:lnTo>
                  <a:pt x="0" y="41516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998986" y="2420756"/>
            <a:ext cx="3368024" cy="3368024"/>
          </a:xfrm>
          <a:custGeom>
            <a:avLst/>
            <a:gdLst/>
            <a:ahLst/>
            <a:cxnLst/>
            <a:rect r="r" b="b" t="t" l="l"/>
            <a:pathLst>
              <a:path h="3368024" w="3368024">
                <a:moveTo>
                  <a:pt x="0" y="0"/>
                </a:moveTo>
                <a:lnTo>
                  <a:pt x="3368024" y="0"/>
                </a:lnTo>
                <a:lnTo>
                  <a:pt x="3368024" y="3368024"/>
                </a:lnTo>
                <a:lnTo>
                  <a:pt x="0" y="33680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718943" y="-947268"/>
            <a:ext cx="2396731" cy="2396731"/>
          </a:xfrm>
          <a:custGeom>
            <a:avLst/>
            <a:gdLst/>
            <a:ahLst/>
            <a:cxnLst/>
            <a:rect r="r" b="b" t="t" l="l"/>
            <a:pathLst>
              <a:path h="2396731" w="2396731">
                <a:moveTo>
                  <a:pt x="0" y="0"/>
                </a:moveTo>
                <a:lnTo>
                  <a:pt x="2396731" y="0"/>
                </a:lnTo>
                <a:lnTo>
                  <a:pt x="2396731" y="2396731"/>
                </a:lnTo>
                <a:lnTo>
                  <a:pt x="0" y="23967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0" y="6024142"/>
            <a:ext cx="18529676" cy="3698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186"/>
              </a:lnSpc>
            </a:pPr>
            <a:r>
              <a:rPr lang="en-US" sz="21561">
                <a:solidFill>
                  <a:srgbClr val="000000"/>
                </a:solidFill>
                <a:latin typeface="Kingred Modern"/>
                <a:ea typeface="Kingred Modern"/>
                <a:cs typeface="Kingred Modern"/>
                <a:sym typeface="Kingred Modern"/>
              </a:rPr>
              <a:t>Thankyou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DAGeN3S5Eyg</dc:identifier>
  <dcterms:modified xsi:type="dcterms:W3CDTF">2011-08-01T06:04:30Z</dcterms:modified>
  <cp:revision>1</cp:revision>
  <dc:title>Thesis Defense Presentation in White and Black Modern Minimal Style</dc:title>
</cp:coreProperties>
</file>