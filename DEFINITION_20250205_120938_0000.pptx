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Berthold Block" charset="1" panose="02000506040000020004"/>
      <p:regular r:id="rId26"/>
    </p:embeddedFont>
    <p:embeddedFont>
      <p:font typeface="Glacial Indifference" charset="1" panose="00000000000000000000"/>
      <p:regular r:id="rId27"/>
    </p:embeddedFont>
    <p:embeddedFont>
      <p:font typeface="Alatsi" charset="1" panose="00000500000000000000"/>
      <p:regular r:id="rId28"/>
    </p:embeddedFont>
    <p:embeddedFont>
      <p:font typeface="Archivo Black" charset="1" panose="020B0A03020202020B04"/>
      <p:regular r:id="rId29"/>
    </p:embeddedFont>
    <p:embeddedFont>
      <p:font typeface="Anton" charset="1" panose="00000500000000000000"/>
      <p:regular r:id="rId30"/>
    </p:embeddedFont>
    <p:embeddedFont>
      <p:font typeface="Gagalin" charset="1" panose="00000500000000000000"/>
      <p:regular r:id="rId31"/>
    </p:embeddedFont>
    <p:embeddedFont>
      <p:font typeface="Aristotelica Pro"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CE6D"/>
        </a:solidFill>
      </p:bgPr>
    </p:bg>
    <p:spTree>
      <p:nvGrpSpPr>
        <p:cNvPr id="1" name=""/>
        <p:cNvGrpSpPr/>
        <p:nvPr/>
      </p:nvGrpSpPr>
      <p:grpSpPr>
        <a:xfrm>
          <a:off x="0" y="0"/>
          <a:ext cx="0" cy="0"/>
          <a:chOff x="0" y="0"/>
          <a:chExt cx="0" cy="0"/>
        </a:xfrm>
      </p:grpSpPr>
      <p:sp>
        <p:nvSpPr>
          <p:cNvPr name="Freeform 2" id="2"/>
          <p:cNvSpPr/>
          <p:nvPr/>
        </p:nvSpPr>
        <p:spPr>
          <a:xfrm flipH="false" flipV="false" rot="0">
            <a:off x="-1286819" y="-793675"/>
            <a:ext cx="15750622" cy="11537330"/>
          </a:xfrm>
          <a:custGeom>
            <a:avLst/>
            <a:gdLst/>
            <a:ahLst/>
            <a:cxnLst/>
            <a:rect r="r" b="b" t="t" l="l"/>
            <a:pathLst>
              <a:path h="11537330" w="15750622">
                <a:moveTo>
                  <a:pt x="0" y="0"/>
                </a:moveTo>
                <a:lnTo>
                  <a:pt x="15750622" y="0"/>
                </a:lnTo>
                <a:lnTo>
                  <a:pt x="15750622" y="11537330"/>
                </a:lnTo>
                <a:lnTo>
                  <a:pt x="0" y="11537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0058" y="15552"/>
            <a:ext cx="13437100" cy="9842676"/>
          </a:xfrm>
          <a:custGeom>
            <a:avLst/>
            <a:gdLst/>
            <a:ahLst/>
            <a:cxnLst/>
            <a:rect r="r" b="b" t="t" l="l"/>
            <a:pathLst>
              <a:path h="9842676" w="13437100">
                <a:moveTo>
                  <a:pt x="0" y="0"/>
                </a:moveTo>
                <a:lnTo>
                  <a:pt x="13437100" y="0"/>
                </a:lnTo>
                <a:lnTo>
                  <a:pt x="13437100" y="9842676"/>
                </a:lnTo>
                <a:lnTo>
                  <a:pt x="0" y="98426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596125" y="2051664"/>
            <a:ext cx="9984734" cy="1347979"/>
          </a:xfrm>
          <a:prstGeom prst="rect">
            <a:avLst/>
          </a:prstGeom>
        </p:spPr>
        <p:txBody>
          <a:bodyPr anchor="t" rtlCol="false" tIns="0" lIns="0" bIns="0" rIns="0">
            <a:spAutoFit/>
          </a:bodyPr>
          <a:lstStyle/>
          <a:p>
            <a:pPr algn="ctr">
              <a:lnSpc>
                <a:spcPts val="9951"/>
              </a:lnSpc>
            </a:pPr>
            <a:r>
              <a:rPr lang="en-US" sz="10700">
                <a:solidFill>
                  <a:srgbClr val="291B25"/>
                </a:solidFill>
                <a:latin typeface="Berthold Block"/>
                <a:ea typeface="Berthold Block"/>
                <a:cs typeface="Berthold Block"/>
                <a:sym typeface="Berthold Block"/>
              </a:rPr>
              <a:t>APPLICATION </a:t>
            </a:r>
          </a:p>
        </p:txBody>
      </p:sp>
      <p:grpSp>
        <p:nvGrpSpPr>
          <p:cNvPr name="Group 5" id="5"/>
          <p:cNvGrpSpPr/>
          <p:nvPr/>
        </p:nvGrpSpPr>
        <p:grpSpPr>
          <a:xfrm rot="0">
            <a:off x="13507071" y="4291338"/>
            <a:ext cx="1157194" cy="115719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3135447" y="3825514"/>
            <a:ext cx="6394880" cy="1111376"/>
          </a:xfrm>
          <a:prstGeom prst="rect">
            <a:avLst/>
          </a:prstGeom>
        </p:spPr>
        <p:txBody>
          <a:bodyPr anchor="t" rtlCol="false" tIns="0" lIns="0" bIns="0" rIns="0">
            <a:spAutoFit/>
          </a:bodyPr>
          <a:lstStyle/>
          <a:p>
            <a:pPr algn="ctr">
              <a:lnSpc>
                <a:spcPts val="8183"/>
              </a:lnSpc>
            </a:pPr>
            <a:r>
              <a:rPr lang="en-US" sz="8799">
                <a:solidFill>
                  <a:srgbClr val="291B25"/>
                </a:solidFill>
                <a:latin typeface="Berthold Block"/>
                <a:ea typeface="Berthold Block"/>
                <a:cs typeface="Berthold Block"/>
                <a:sym typeface="Berthold Block"/>
              </a:rPr>
              <a:t>OF SOFT SKILL</a:t>
            </a:r>
          </a:p>
        </p:txBody>
      </p:sp>
      <p:sp>
        <p:nvSpPr>
          <p:cNvPr name="Freeform 9" id="9"/>
          <p:cNvSpPr/>
          <p:nvPr/>
        </p:nvSpPr>
        <p:spPr>
          <a:xfrm flipH="false" flipV="false" rot="0">
            <a:off x="12137956" y="5622551"/>
            <a:ext cx="7853523" cy="5341257"/>
          </a:xfrm>
          <a:custGeom>
            <a:avLst/>
            <a:gdLst/>
            <a:ahLst/>
            <a:cxnLst/>
            <a:rect r="r" b="b" t="t" l="l"/>
            <a:pathLst>
              <a:path h="5341257" w="7853523">
                <a:moveTo>
                  <a:pt x="0" y="0"/>
                </a:moveTo>
                <a:lnTo>
                  <a:pt x="7853524" y="0"/>
                </a:lnTo>
                <a:lnTo>
                  <a:pt x="7853524" y="5341258"/>
                </a:lnTo>
                <a:lnTo>
                  <a:pt x="0" y="5341258"/>
                </a:lnTo>
                <a:lnTo>
                  <a:pt x="0" y="0"/>
                </a:lnTo>
                <a:close/>
              </a:path>
            </a:pathLst>
          </a:custGeom>
          <a:blipFill>
            <a:blip r:embed="rId6">
              <a:extLst>
                <a:ext uri="{96DAC541-7B7A-43D3-8B79-37D633B846F1}">
                  <asvg:svgBlip xmlns:asvg="http://schemas.microsoft.com/office/drawing/2016/SVG/main" r:embed="rId7"/>
                </a:ext>
              </a:extLst>
            </a:blip>
            <a:stretch>
              <a:fillRect l="0" t="-40574" r="0" b="0"/>
            </a:stretch>
          </a:blipFill>
        </p:spPr>
      </p:sp>
      <p:grpSp>
        <p:nvGrpSpPr>
          <p:cNvPr name="Group 10" id="10"/>
          <p:cNvGrpSpPr/>
          <p:nvPr/>
        </p:nvGrpSpPr>
        <p:grpSpPr>
          <a:xfrm rot="0">
            <a:off x="14597029" y="5393113"/>
            <a:ext cx="496977" cy="4969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6947402" y="4501448"/>
            <a:ext cx="1797424" cy="3198159"/>
            <a:chOff x="0" y="0"/>
            <a:chExt cx="473395" cy="842313"/>
          </a:xfrm>
        </p:grpSpPr>
        <p:sp>
          <p:nvSpPr>
            <p:cNvPr name="Freeform 14" id="14"/>
            <p:cNvSpPr/>
            <p:nvPr/>
          </p:nvSpPr>
          <p:spPr>
            <a:xfrm flipH="false" flipV="false" rot="0">
              <a:off x="0" y="0"/>
              <a:ext cx="473395" cy="842313"/>
            </a:xfrm>
            <a:custGeom>
              <a:avLst/>
              <a:gdLst/>
              <a:ahLst/>
              <a:cxnLst/>
              <a:rect r="r" b="b" t="t" l="l"/>
              <a:pathLst>
                <a:path h="842313" w="473395">
                  <a:moveTo>
                    <a:pt x="0" y="0"/>
                  </a:moveTo>
                  <a:lnTo>
                    <a:pt x="473395" y="0"/>
                  </a:lnTo>
                  <a:lnTo>
                    <a:pt x="473395" y="842313"/>
                  </a:lnTo>
                  <a:lnTo>
                    <a:pt x="0" y="842313"/>
                  </a:lnTo>
                  <a:close/>
                </a:path>
              </a:pathLst>
            </a:custGeom>
            <a:solidFill>
              <a:srgbClr val="FFCE6D"/>
            </a:solidFill>
          </p:spPr>
        </p:sp>
        <p:sp>
          <p:nvSpPr>
            <p:cNvPr name="TextBox 15" id="15"/>
            <p:cNvSpPr txBox="true"/>
            <p:nvPr/>
          </p:nvSpPr>
          <p:spPr>
            <a:xfrm>
              <a:off x="0" y="-38100"/>
              <a:ext cx="473395" cy="880413"/>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3391052" y="7293013"/>
            <a:ext cx="6394880" cy="658348"/>
          </a:xfrm>
          <a:prstGeom prst="rect">
            <a:avLst/>
          </a:prstGeom>
        </p:spPr>
        <p:txBody>
          <a:bodyPr anchor="t" rtlCol="false" tIns="0" lIns="0" bIns="0" rIns="0">
            <a:spAutoFit/>
          </a:bodyPr>
          <a:lstStyle/>
          <a:p>
            <a:pPr algn="ctr">
              <a:lnSpc>
                <a:spcPts val="5352"/>
              </a:lnSpc>
            </a:pPr>
            <a:r>
              <a:rPr lang="en-US" sz="3822" spc="305">
                <a:solidFill>
                  <a:srgbClr val="000000"/>
                </a:solidFill>
                <a:latin typeface="Glacial Indifference"/>
                <a:ea typeface="Glacial Indifference"/>
                <a:cs typeface="Glacial Indifference"/>
                <a:sym typeface="Glacial Indifference"/>
              </a:rPr>
              <a:t>GROUP 8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23528" y="5353408"/>
            <a:ext cx="8115300" cy="2828925"/>
          </a:xfrm>
          <a:prstGeom prst="rect">
            <a:avLst/>
          </a:prstGeom>
        </p:spPr>
        <p:txBody>
          <a:bodyPr anchor="t" rtlCol="false" tIns="0" lIns="0" bIns="0" rIns="0">
            <a:spAutoFit/>
          </a:bodyPr>
          <a:lstStyle/>
          <a:p>
            <a:pPr algn="l">
              <a:lnSpc>
                <a:spcPts val="4500"/>
              </a:lnSpc>
            </a:pPr>
            <a:r>
              <a:rPr lang="en-US" sz="3000">
                <a:solidFill>
                  <a:srgbClr val="000000"/>
                </a:solidFill>
                <a:latin typeface="Alatsi"/>
                <a:ea typeface="Alatsi"/>
                <a:cs typeface="Alatsi"/>
                <a:sym typeface="Alatsi"/>
              </a:rPr>
              <a:t>Soft skills are the intangible behaviour traits that enhance or endorse knowledge or skills in the workplace.      </a:t>
            </a:r>
          </a:p>
          <a:p>
            <a:pPr algn="l" marL="0" indent="0" lvl="0">
              <a:lnSpc>
                <a:spcPts val="4500"/>
              </a:lnSpc>
              <a:spcBef>
                <a:spcPct val="0"/>
              </a:spcBef>
            </a:pPr>
            <a:r>
              <a:rPr lang="en-US" sz="3000">
                <a:solidFill>
                  <a:srgbClr val="000000"/>
                </a:solidFill>
                <a:latin typeface="Archivo Black"/>
                <a:ea typeface="Archivo Black"/>
                <a:cs typeface="Archivo Black"/>
                <a:sym typeface="Archivo Black"/>
              </a:rPr>
              <a:t>                         Sharma and sharma (2010)</a:t>
            </a:r>
          </a:p>
        </p:txBody>
      </p:sp>
      <p:sp>
        <p:nvSpPr>
          <p:cNvPr name="TextBox 3" id="3"/>
          <p:cNvSpPr txBox="true"/>
          <p:nvPr/>
        </p:nvSpPr>
        <p:spPr>
          <a:xfrm rot="0">
            <a:off x="9144000" y="5639158"/>
            <a:ext cx="8338230" cy="2257425"/>
          </a:xfrm>
          <a:prstGeom prst="rect">
            <a:avLst/>
          </a:prstGeom>
        </p:spPr>
        <p:txBody>
          <a:bodyPr anchor="t" rtlCol="false" tIns="0" lIns="0" bIns="0" rIns="0">
            <a:spAutoFit/>
          </a:bodyPr>
          <a:lstStyle/>
          <a:p>
            <a:pPr algn="l">
              <a:lnSpc>
                <a:spcPts val="4500"/>
              </a:lnSpc>
            </a:pPr>
            <a:r>
              <a:rPr lang="en-US" sz="3000">
                <a:solidFill>
                  <a:srgbClr val="000000"/>
                </a:solidFill>
                <a:latin typeface="Alatsi"/>
                <a:ea typeface="Alatsi"/>
                <a:cs typeface="Alatsi"/>
                <a:sym typeface="Alatsi"/>
              </a:rPr>
              <a:t>Soft skills are interpersonal qualities and personal attributes that one possesses</a:t>
            </a:r>
          </a:p>
          <a:p>
            <a:pPr algn="l" marL="0" indent="0" lvl="0">
              <a:lnSpc>
                <a:spcPts val="4500"/>
              </a:lnSpc>
              <a:spcBef>
                <a:spcPct val="0"/>
              </a:spcBef>
            </a:pPr>
            <a:r>
              <a:rPr lang="en-US" sz="3000">
                <a:solidFill>
                  <a:srgbClr val="000000"/>
                </a:solidFill>
                <a:latin typeface="Archivo Black"/>
                <a:ea typeface="Archivo Black"/>
                <a:cs typeface="Archivo Black"/>
                <a:sym typeface="Archivo Black"/>
              </a:rPr>
              <a:t>                           Heckman and kautz (2012)</a:t>
            </a:r>
          </a:p>
        </p:txBody>
      </p:sp>
      <p:sp>
        <p:nvSpPr>
          <p:cNvPr name="TextBox 4" id="4"/>
          <p:cNvSpPr txBox="true"/>
          <p:nvPr/>
        </p:nvSpPr>
        <p:spPr>
          <a:xfrm rot="0">
            <a:off x="1731480" y="2738845"/>
            <a:ext cx="14825039" cy="1219200"/>
          </a:xfrm>
          <a:prstGeom prst="rect">
            <a:avLst/>
          </a:prstGeom>
        </p:spPr>
        <p:txBody>
          <a:bodyPr anchor="t" rtlCol="false" tIns="0" lIns="0" bIns="0" rIns="0">
            <a:spAutoFit/>
          </a:bodyPr>
          <a:lstStyle/>
          <a:p>
            <a:pPr algn="ctr" marL="0" indent="0" lvl="0">
              <a:lnSpc>
                <a:spcPts val="9600"/>
              </a:lnSpc>
              <a:spcBef>
                <a:spcPct val="0"/>
              </a:spcBef>
            </a:pPr>
            <a:r>
              <a:rPr lang="en-US" sz="8000">
                <a:solidFill>
                  <a:srgbClr val="000000"/>
                </a:solidFill>
                <a:latin typeface="Berthold Block"/>
                <a:ea typeface="Berthold Block"/>
                <a:cs typeface="Berthold Block"/>
                <a:sym typeface="Berthold Block"/>
              </a:rPr>
              <a:t>DEFINITION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54654" y="2054635"/>
            <a:ext cx="1314379" cy="131437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44B4"/>
            </a:solidFill>
            <a:ln cap="sq">
              <a:no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36268" y="-406046"/>
            <a:ext cx="7145724" cy="11308869"/>
            <a:chOff x="0" y="0"/>
            <a:chExt cx="1882001" cy="2978467"/>
          </a:xfrm>
        </p:grpSpPr>
        <p:sp>
          <p:nvSpPr>
            <p:cNvPr name="Freeform 6" id="6"/>
            <p:cNvSpPr/>
            <p:nvPr/>
          </p:nvSpPr>
          <p:spPr>
            <a:xfrm flipH="false" flipV="false" rot="0">
              <a:off x="0" y="0"/>
              <a:ext cx="1882001" cy="2978467"/>
            </a:xfrm>
            <a:custGeom>
              <a:avLst/>
              <a:gdLst/>
              <a:ahLst/>
              <a:cxnLst/>
              <a:rect r="r" b="b" t="t" l="l"/>
              <a:pathLst>
                <a:path h="2978467" w="1882001">
                  <a:moveTo>
                    <a:pt x="0" y="0"/>
                  </a:moveTo>
                  <a:lnTo>
                    <a:pt x="1882001" y="0"/>
                  </a:lnTo>
                  <a:lnTo>
                    <a:pt x="1882001" y="2978467"/>
                  </a:lnTo>
                  <a:lnTo>
                    <a:pt x="0" y="2978467"/>
                  </a:lnTo>
                  <a:close/>
                </a:path>
              </a:pathLst>
            </a:custGeom>
            <a:solidFill>
              <a:srgbClr val="FFCE6D"/>
            </a:solidFill>
          </p:spPr>
        </p:sp>
        <p:sp>
          <p:nvSpPr>
            <p:cNvPr name="TextBox 7" id="7"/>
            <p:cNvSpPr txBox="true"/>
            <p:nvPr/>
          </p:nvSpPr>
          <p:spPr>
            <a:xfrm>
              <a:off x="0" y="-38100"/>
              <a:ext cx="1882001" cy="3016567"/>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590762" y="228600"/>
            <a:ext cx="4891665" cy="2848725"/>
          </a:xfrm>
          <a:prstGeom prst="rect">
            <a:avLst/>
          </a:prstGeom>
        </p:spPr>
        <p:txBody>
          <a:bodyPr anchor="t" rtlCol="false" tIns="0" lIns="0" bIns="0" rIns="0">
            <a:spAutoFit/>
          </a:bodyPr>
          <a:lstStyle/>
          <a:p>
            <a:pPr algn="just">
              <a:lnSpc>
                <a:spcPts val="10988"/>
              </a:lnSpc>
            </a:pPr>
            <a:r>
              <a:rPr lang="en-US" sz="11099">
                <a:solidFill>
                  <a:srgbClr val="291B25"/>
                </a:solidFill>
                <a:latin typeface="Berthold Block"/>
                <a:ea typeface="Berthold Block"/>
                <a:cs typeface="Berthold Block"/>
                <a:sym typeface="Berthold Block"/>
              </a:rPr>
              <a:t>TYPES OF SKILL</a:t>
            </a:r>
          </a:p>
        </p:txBody>
      </p:sp>
      <p:sp>
        <p:nvSpPr>
          <p:cNvPr name="TextBox 9" id="9"/>
          <p:cNvSpPr txBox="true"/>
          <p:nvPr/>
        </p:nvSpPr>
        <p:spPr>
          <a:xfrm rot="0">
            <a:off x="7702198" y="2272755"/>
            <a:ext cx="981191" cy="781050"/>
          </a:xfrm>
          <a:prstGeom prst="rect">
            <a:avLst/>
          </a:prstGeom>
        </p:spPr>
        <p:txBody>
          <a:bodyPr anchor="t" rtlCol="false" tIns="0" lIns="0" bIns="0" rIns="0">
            <a:spAutoFit/>
          </a:bodyPr>
          <a:lstStyle/>
          <a:p>
            <a:pPr algn="ctr">
              <a:lnSpc>
                <a:spcPts val="6300"/>
              </a:lnSpc>
            </a:pPr>
            <a:r>
              <a:rPr lang="en-US" sz="4500" spc="360">
                <a:solidFill>
                  <a:srgbClr val="000000"/>
                </a:solidFill>
                <a:latin typeface="Glacial Indifference"/>
                <a:ea typeface="Glacial Indifference"/>
                <a:cs typeface="Glacial Indifference"/>
                <a:sym typeface="Glacial Indifference"/>
              </a:rPr>
              <a:t>01</a:t>
            </a:r>
          </a:p>
        </p:txBody>
      </p:sp>
      <p:sp>
        <p:nvSpPr>
          <p:cNvPr name="TextBox 10" id="10"/>
          <p:cNvSpPr txBox="true"/>
          <p:nvPr/>
        </p:nvSpPr>
        <p:spPr>
          <a:xfrm rot="0">
            <a:off x="9099197" y="2387373"/>
            <a:ext cx="8160103" cy="669925"/>
          </a:xfrm>
          <a:prstGeom prst="rect">
            <a:avLst/>
          </a:prstGeom>
        </p:spPr>
        <p:txBody>
          <a:bodyPr anchor="t" rtlCol="false" tIns="0" lIns="0" bIns="0" rIns="0">
            <a:spAutoFit/>
          </a:bodyPr>
          <a:lstStyle/>
          <a:p>
            <a:pPr algn="l">
              <a:lnSpc>
                <a:spcPts val="5599"/>
              </a:lnSpc>
            </a:pPr>
            <a:r>
              <a:rPr lang="en-US" sz="3999" spc="39">
                <a:solidFill>
                  <a:srgbClr val="291B25"/>
                </a:solidFill>
                <a:latin typeface="Anton"/>
                <a:ea typeface="Anton"/>
                <a:cs typeface="Anton"/>
                <a:sym typeface="Anton"/>
              </a:rPr>
              <a:t>SOFT SKILL</a:t>
            </a:r>
          </a:p>
        </p:txBody>
      </p:sp>
      <p:sp>
        <p:nvSpPr>
          <p:cNvPr name="TextBox 11" id="11"/>
          <p:cNvSpPr txBox="true"/>
          <p:nvPr/>
        </p:nvSpPr>
        <p:spPr>
          <a:xfrm rot="0">
            <a:off x="9099197" y="6220844"/>
            <a:ext cx="8160103" cy="669925"/>
          </a:xfrm>
          <a:prstGeom prst="rect">
            <a:avLst/>
          </a:prstGeom>
        </p:spPr>
        <p:txBody>
          <a:bodyPr anchor="t" rtlCol="false" tIns="0" lIns="0" bIns="0" rIns="0">
            <a:spAutoFit/>
          </a:bodyPr>
          <a:lstStyle/>
          <a:p>
            <a:pPr algn="l">
              <a:lnSpc>
                <a:spcPts val="5599"/>
              </a:lnSpc>
            </a:pPr>
            <a:r>
              <a:rPr lang="en-US" sz="3999" spc="39">
                <a:solidFill>
                  <a:srgbClr val="291B25"/>
                </a:solidFill>
                <a:latin typeface="Anton"/>
                <a:ea typeface="Anton"/>
                <a:cs typeface="Anton"/>
                <a:sym typeface="Anton"/>
              </a:rPr>
              <a:t>HARD SKILL</a:t>
            </a:r>
          </a:p>
        </p:txBody>
      </p:sp>
      <p:sp>
        <p:nvSpPr>
          <p:cNvPr name="Freeform 12" id="12"/>
          <p:cNvSpPr/>
          <p:nvPr/>
        </p:nvSpPr>
        <p:spPr>
          <a:xfrm flipH="true" flipV="false" rot="0">
            <a:off x="1028700" y="5248388"/>
            <a:ext cx="4691403" cy="4015240"/>
          </a:xfrm>
          <a:custGeom>
            <a:avLst/>
            <a:gdLst/>
            <a:ahLst/>
            <a:cxnLst/>
            <a:rect r="r" b="b" t="t" l="l"/>
            <a:pathLst>
              <a:path h="4015240" w="4691403">
                <a:moveTo>
                  <a:pt x="4691403" y="0"/>
                </a:moveTo>
                <a:lnTo>
                  <a:pt x="0" y="0"/>
                </a:lnTo>
                <a:lnTo>
                  <a:pt x="0" y="4015240"/>
                </a:lnTo>
                <a:lnTo>
                  <a:pt x="4691403" y="4015240"/>
                </a:lnTo>
                <a:lnTo>
                  <a:pt x="4691403"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7554654" y="5885997"/>
            <a:ext cx="1314379" cy="131437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44B4"/>
            </a:soli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7721248" y="6109720"/>
            <a:ext cx="981191" cy="781050"/>
          </a:xfrm>
          <a:prstGeom prst="rect">
            <a:avLst/>
          </a:prstGeom>
        </p:spPr>
        <p:txBody>
          <a:bodyPr anchor="t" rtlCol="false" tIns="0" lIns="0" bIns="0" rIns="0">
            <a:spAutoFit/>
          </a:bodyPr>
          <a:lstStyle/>
          <a:p>
            <a:pPr algn="ctr">
              <a:lnSpc>
                <a:spcPts val="6300"/>
              </a:lnSpc>
            </a:pPr>
            <a:r>
              <a:rPr lang="en-US" sz="4500" spc="360">
                <a:solidFill>
                  <a:srgbClr val="000000"/>
                </a:solidFill>
                <a:latin typeface="Glacial Indifference"/>
                <a:ea typeface="Glacial Indifference"/>
                <a:cs typeface="Glacial Indifference"/>
                <a:sym typeface="Glacial Indifference"/>
              </a:rPr>
              <a:t>02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A6A6A6"/>
        </a:solidFill>
      </p:bgPr>
    </p:bg>
    <p:spTree>
      <p:nvGrpSpPr>
        <p:cNvPr id="1" name=""/>
        <p:cNvGrpSpPr/>
        <p:nvPr/>
      </p:nvGrpSpPr>
      <p:grpSpPr>
        <a:xfrm>
          <a:off x="0" y="0"/>
          <a:ext cx="0" cy="0"/>
          <a:chOff x="0" y="0"/>
          <a:chExt cx="0" cy="0"/>
        </a:xfrm>
      </p:grpSpPr>
      <p:grpSp>
        <p:nvGrpSpPr>
          <p:cNvPr name="Group 2" id="2"/>
          <p:cNvGrpSpPr/>
          <p:nvPr/>
        </p:nvGrpSpPr>
        <p:grpSpPr>
          <a:xfrm rot="0">
            <a:off x="-340917" y="-400024"/>
            <a:ext cx="19089976" cy="3111637"/>
            <a:chOff x="0" y="0"/>
            <a:chExt cx="5027813" cy="819526"/>
          </a:xfrm>
        </p:grpSpPr>
        <p:sp>
          <p:nvSpPr>
            <p:cNvPr name="Freeform 3" id="3"/>
            <p:cNvSpPr/>
            <p:nvPr/>
          </p:nvSpPr>
          <p:spPr>
            <a:xfrm flipH="false" flipV="false" rot="0">
              <a:off x="0" y="0"/>
              <a:ext cx="5027813" cy="819526"/>
            </a:xfrm>
            <a:custGeom>
              <a:avLst/>
              <a:gdLst/>
              <a:ahLst/>
              <a:cxnLst/>
              <a:rect r="r" b="b" t="t" l="l"/>
              <a:pathLst>
                <a:path h="819526" w="5027813">
                  <a:moveTo>
                    <a:pt x="0" y="0"/>
                  </a:moveTo>
                  <a:lnTo>
                    <a:pt x="5027813" y="0"/>
                  </a:lnTo>
                  <a:lnTo>
                    <a:pt x="5027813" y="819526"/>
                  </a:lnTo>
                  <a:lnTo>
                    <a:pt x="0" y="819526"/>
                  </a:lnTo>
                  <a:close/>
                </a:path>
              </a:pathLst>
            </a:custGeom>
            <a:solidFill>
              <a:srgbClr val="FFFFFF"/>
            </a:solidFill>
          </p:spPr>
        </p:sp>
        <p:sp>
          <p:nvSpPr>
            <p:cNvPr name="TextBox 4" id="4"/>
            <p:cNvSpPr txBox="true"/>
            <p:nvPr/>
          </p:nvSpPr>
          <p:spPr>
            <a:xfrm>
              <a:off x="0" y="-38100"/>
              <a:ext cx="5027813" cy="857626"/>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3282315"/>
            <a:ext cx="10097439" cy="7004685"/>
          </a:xfrm>
          <a:prstGeom prst="rect">
            <a:avLst/>
          </a:prstGeom>
        </p:spPr>
        <p:txBody>
          <a:bodyPr anchor="t" rtlCol="false" tIns="0" lIns="0" bIns="0" rIns="0">
            <a:spAutoFit/>
          </a:bodyPr>
          <a:lstStyle/>
          <a:p>
            <a:pPr algn="l">
              <a:lnSpc>
                <a:spcPts val="5039"/>
              </a:lnSpc>
            </a:pPr>
            <a:r>
              <a:rPr lang="en-US" sz="3599">
                <a:solidFill>
                  <a:srgbClr val="000000"/>
                </a:solidFill>
                <a:latin typeface="Glacial Indifference"/>
                <a:ea typeface="Glacial Indifference"/>
                <a:cs typeface="Glacial Indifference"/>
                <a:sym typeface="Glacial Indifference"/>
              </a:rPr>
              <a:t>🔸Soft skills are personal traits required to establish communication and interaction with others.</a:t>
            </a:r>
          </a:p>
          <a:p>
            <a:pPr algn="l">
              <a:lnSpc>
                <a:spcPts val="5039"/>
              </a:lnSpc>
            </a:pPr>
            <a:r>
              <a:rPr lang="en-US" sz="3599">
                <a:solidFill>
                  <a:srgbClr val="000000"/>
                </a:solidFill>
                <a:latin typeface="Glacial Indifference"/>
                <a:ea typeface="Glacial Indifference"/>
                <a:cs typeface="Glacial Indifference"/>
                <a:sym typeface="Glacial Indifference"/>
              </a:rPr>
              <a:t>🔸These are difficult to learn and measure but yet as. Important and valuable as the hard skill</a:t>
            </a:r>
          </a:p>
          <a:p>
            <a:pPr algn="l">
              <a:lnSpc>
                <a:spcPts val="5039"/>
              </a:lnSpc>
            </a:pPr>
            <a:r>
              <a:rPr lang="en-US" sz="3599">
                <a:solidFill>
                  <a:srgbClr val="000000"/>
                </a:solidFill>
                <a:latin typeface="Glacial Indifference"/>
                <a:ea typeface="Glacial Indifference"/>
                <a:cs typeface="Glacial Indifference"/>
                <a:sym typeface="Glacial Indifference"/>
              </a:rPr>
              <a:t>🔸Examples :- Personality traits,workplace etiquette, communication style, interpersonal skills,optimistic attitude and dependability</a:t>
            </a:r>
          </a:p>
          <a:p>
            <a:pPr algn="l">
              <a:lnSpc>
                <a:spcPts val="5039"/>
              </a:lnSpc>
            </a:pPr>
            <a:r>
              <a:rPr lang="en-US" sz="3599">
                <a:solidFill>
                  <a:srgbClr val="000000"/>
                </a:solidFill>
                <a:latin typeface="Glacial Indifference"/>
                <a:ea typeface="Glacial Indifference"/>
                <a:cs typeface="Glacial Indifference"/>
                <a:sym typeface="Glacial Indifference"/>
              </a:rPr>
              <a:t>🔸Also termed as Emotional Intelligence quotient(EQ)</a:t>
            </a:r>
          </a:p>
          <a:p>
            <a:pPr algn="l">
              <a:lnSpc>
                <a:spcPts val="5039"/>
              </a:lnSpc>
            </a:pPr>
          </a:p>
        </p:txBody>
      </p:sp>
      <p:grpSp>
        <p:nvGrpSpPr>
          <p:cNvPr name="Group 6" id="6"/>
          <p:cNvGrpSpPr/>
          <p:nvPr/>
        </p:nvGrpSpPr>
        <p:grpSpPr>
          <a:xfrm rot="0">
            <a:off x="1028700" y="598455"/>
            <a:ext cx="1545443" cy="154544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cap="sq">
              <a:noFill/>
              <a:prstDash val="solid"/>
              <a:miter/>
            </a:ln>
          </p:spPr>
        </p:sp>
        <p:sp>
          <p:nvSpPr>
            <p:cNvPr name="TextBox 8" id="8"/>
            <p:cNvSpPr txBox="true"/>
            <p:nvPr/>
          </p:nvSpPr>
          <p:spPr>
            <a:xfrm>
              <a:off x="76200" y="38100"/>
              <a:ext cx="660400" cy="698500"/>
            </a:xfrm>
            <a:prstGeom prst="rect">
              <a:avLst/>
            </a:prstGeom>
          </p:spPr>
          <p:txBody>
            <a:bodyPr anchor="ctr" rtlCol="false" tIns="59731" lIns="59731" bIns="59731" rIns="59731"/>
            <a:lstStyle/>
            <a:p>
              <a:pPr algn="ctr">
                <a:lnSpc>
                  <a:spcPts val="2659"/>
                </a:lnSpc>
                <a:spcBef>
                  <a:spcPct val="0"/>
                </a:spcBef>
              </a:pPr>
            </a:p>
          </p:txBody>
        </p:sp>
      </p:grpSp>
      <p:sp>
        <p:nvSpPr>
          <p:cNvPr name="Freeform 9" id="9"/>
          <p:cNvSpPr/>
          <p:nvPr/>
        </p:nvSpPr>
        <p:spPr>
          <a:xfrm flipH="true" flipV="false" rot="0">
            <a:off x="11756869" y="1559474"/>
            <a:ext cx="5454806" cy="7408905"/>
          </a:xfrm>
          <a:custGeom>
            <a:avLst/>
            <a:gdLst/>
            <a:ahLst/>
            <a:cxnLst/>
            <a:rect r="r" b="b" t="t" l="l"/>
            <a:pathLst>
              <a:path h="7408905" w="5454806">
                <a:moveTo>
                  <a:pt x="5454806" y="0"/>
                </a:moveTo>
                <a:lnTo>
                  <a:pt x="0" y="0"/>
                </a:lnTo>
                <a:lnTo>
                  <a:pt x="0" y="7408904"/>
                </a:lnTo>
                <a:lnTo>
                  <a:pt x="5454806" y="7408904"/>
                </a:lnTo>
                <a:lnTo>
                  <a:pt x="545480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143250" y="837012"/>
            <a:ext cx="11234076" cy="1144529"/>
          </a:xfrm>
          <a:prstGeom prst="rect">
            <a:avLst/>
          </a:prstGeom>
        </p:spPr>
        <p:txBody>
          <a:bodyPr anchor="t" rtlCol="false" tIns="0" lIns="0" bIns="0" rIns="0">
            <a:spAutoFit/>
          </a:bodyPr>
          <a:lstStyle/>
          <a:p>
            <a:pPr algn="l">
              <a:lnSpc>
                <a:spcPts val="8568"/>
              </a:lnSpc>
            </a:pPr>
            <a:r>
              <a:rPr lang="en-US" sz="8400">
                <a:solidFill>
                  <a:srgbClr val="000000"/>
                </a:solidFill>
                <a:latin typeface="Archivo Black"/>
                <a:ea typeface="Archivo Black"/>
                <a:cs typeface="Archivo Black"/>
                <a:sym typeface="Archivo Black"/>
              </a:rPr>
              <a:t>SOFT SKILL</a:t>
            </a:r>
          </a:p>
        </p:txBody>
      </p:sp>
      <p:sp>
        <p:nvSpPr>
          <p:cNvPr name="TextBox 11" id="11"/>
          <p:cNvSpPr txBox="true"/>
          <p:nvPr/>
        </p:nvSpPr>
        <p:spPr>
          <a:xfrm rot="0">
            <a:off x="1202182" y="862139"/>
            <a:ext cx="1153682" cy="911136"/>
          </a:xfrm>
          <a:prstGeom prst="rect">
            <a:avLst/>
          </a:prstGeom>
        </p:spPr>
        <p:txBody>
          <a:bodyPr anchor="t" rtlCol="false" tIns="0" lIns="0" bIns="0" rIns="0">
            <a:spAutoFit/>
          </a:bodyPr>
          <a:lstStyle/>
          <a:p>
            <a:pPr algn="ctr">
              <a:lnSpc>
                <a:spcPts val="7407"/>
              </a:lnSpc>
            </a:pPr>
            <a:r>
              <a:rPr lang="en-US" sz="5291" spc="423">
                <a:solidFill>
                  <a:srgbClr val="FFFFFF"/>
                </a:solidFill>
                <a:latin typeface="Glacial Indifference"/>
                <a:ea typeface="Glacial Indifference"/>
                <a:cs typeface="Glacial Indifference"/>
                <a:sym typeface="Glacial Indifference"/>
              </a:rPr>
              <a:t>01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FC3D0"/>
        </a:solidFill>
      </p:bgPr>
    </p:bg>
    <p:spTree>
      <p:nvGrpSpPr>
        <p:cNvPr id="1" name=""/>
        <p:cNvGrpSpPr/>
        <p:nvPr/>
      </p:nvGrpSpPr>
      <p:grpSpPr>
        <a:xfrm>
          <a:off x="0" y="0"/>
          <a:ext cx="0" cy="0"/>
          <a:chOff x="0" y="0"/>
          <a:chExt cx="0" cy="0"/>
        </a:xfrm>
      </p:grpSpPr>
      <p:grpSp>
        <p:nvGrpSpPr>
          <p:cNvPr name="Group 2" id="2"/>
          <p:cNvGrpSpPr/>
          <p:nvPr/>
        </p:nvGrpSpPr>
        <p:grpSpPr>
          <a:xfrm rot="0">
            <a:off x="-340917" y="-400024"/>
            <a:ext cx="19089976" cy="3111637"/>
            <a:chOff x="0" y="0"/>
            <a:chExt cx="5027813" cy="819526"/>
          </a:xfrm>
        </p:grpSpPr>
        <p:sp>
          <p:nvSpPr>
            <p:cNvPr name="Freeform 3" id="3"/>
            <p:cNvSpPr/>
            <p:nvPr/>
          </p:nvSpPr>
          <p:spPr>
            <a:xfrm flipH="false" flipV="false" rot="0">
              <a:off x="0" y="0"/>
              <a:ext cx="5027813" cy="819526"/>
            </a:xfrm>
            <a:custGeom>
              <a:avLst/>
              <a:gdLst/>
              <a:ahLst/>
              <a:cxnLst/>
              <a:rect r="r" b="b" t="t" l="l"/>
              <a:pathLst>
                <a:path h="819526" w="5027813">
                  <a:moveTo>
                    <a:pt x="0" y="0"/>
                  </a:moveTo>
                  <a:lnTo>
                    <a:pt x="5027813" y="0"/>
                  </a:lnTo>
                  <a:lnTo>
                    <a:pt x="5027813" y="819526"/>
                  </a:lnTo>
                  <a:lnTo>
                    <a:pt x="0" y="819526"/>
                  </a:lnTo>
                  <a:close/>
                </a:path>
              </a:pathLst>
            </a:custGeom>
            <a:solidFill>
              <a:srgbClr val="FFFFFF"/>
            </a:solidFill>
          </p:spPr>
        </p:sp>
        <p:sp>
          <p:nvSpPr>
            <p:cNvPr name="TextBox 4" id="4"/>
            <p:cNvSpPr txBox="true"/>
            <p:nvPr/>
          </p:nvSpPr>
          <p:spPr>
            <a:xfrm>
              <a:off x="0" y="-38100"/>
              <a:ext cx="5027813" cy="857626"/>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616154" y="3010836"/>
            <a:ext cx="11706575" cy="8281035"/>
          </a:xfrm>
          <a:prstGeom prst="rect">
            <a:avLst/>
          </a:prstGeom>
        </p:spPr>
        <p:txBody>
          <a:bodyPr anchor="t" rtlCol="false" tIns="0" lIns="0" bIns="0" rIns="0">
            <a:spAutoFit/>
          </a:bodyPr>
          <a:lstStyle/>
          <a:p>
            <a:pPr algn="l">
              <a:lnSpc>
                <a:spcPts val="5039"/>
              </a:lnSpc>
            </a:pPr>
            <a:r>
              <a:rPr lang="en-US" sz="3599">
                <a:solidFill>
                  <a:srgbClr val="000000"/>
                </a:solidFill>
                <a:latin typeface="Glacial Indifference"/>
                <a:ea typeface="Glacial Indifference"/>
                <a:cs typeface="Glacial Indifference"/>
                <a:sym typeface="Glacial Indifference"/>
              </a:rPr>
              <a:t>🔸It is difficult to acquire and once acquired difficult to change</a:t>
            </a:r>
          </a:p>
          <a:p>
            <a:pPr algn="l">
              <a:lnSpc>
                <a:spcPts val="5039"/>
              </a:lnSpc>
            </a:pPr>
            <a:r>
              <a:rPr lang="en-US" sz="3599">
                <a:solidFill>
                  <a:srgbClr val="000000"/>
                </a:solidFill>
                <a:latin typeface="Glacial Indifference"/>
                <a:ea typeface="Glacial Indifference"/>
                <a:cs typeface="Glacial Indifference"/>
                <a:sym typeface="Glacial Indifference"/>
              </a:rPr>
              <a:t>🔸In Nursing these skills  include  empathy, understanding,active listening,behavioural competence,Good bed side manners and other interactive skills.</a:t>
            </a:r>
          </a:p>
          <a:p>
            <a:pPr algn="l">
              <a:lnSpc>
                <a:spcPts val="5039"/>
              </a:lnSpc>
            </a:pPr>
            <a:r>
              <a:rPr lang="en-US" sz="3599">
                <a:solidFill>
                  <a:srgbClr val="000000"/>
                </a:solidFill>
                <a:latin typeface="Glacial Indifference"/>
                <a:ea typeface="Glacial Indifference"/>
                <a:cs typeface="Glacial Indifference"/>
                <a:sym typeface="Glacial Indifference"/>
              </a:rPr>
              <a:t>🔸These skills provide the necessary tools for the nurse to deliver quality care and meet patient needs.</a:t>
            </a:r>
          </a:p>
          <a:p>
            <a:pPr algn="l">
              <a:lnSpc>
                <a:spcPts val="5039"/>
              </a:lnSpc>
            </a:pPr>
            <a:r>
              <a:rPr lang="en-US" sz="3599">
                <a:solidFill>
                  <a:srgbClr val="000000"/>
                </a:solidFill>
                <a:latin typeface="Glacial Indifference"/>
                <a:ea typeface="Glacial Indifference"/>
                <a:cs typeface="Glacial Indifference"/>
                <a:sym typeface="Glacial Indifference"/>
              </a:rPr>
              <a:t>🔸Soft skills are also important for effective team collaboration </a:t>
            </a:r>
          </a:p>
          <a:p>
            <a:pPr algn="l">
              <a:lnSpc>
                <a:spcPts val="5039"/>
              </a:lnSpc>
            </a:pPr>
          </a:p>
          <a:p>
            <a:pPr algn="l">
              <a:lnSpc>
                <a:spcPts val="5039"/>
              </a:lnSpc>
            </a:pPr>
          </a:p>
          <a:p>
            <a:pPr algn="l">
              <a:lnSpc>
                <a:spcPts val="5039"/>
              </a:lnSpc>
            </a:pPr>
          </a:p>
        </p:txBody>
      </p:sp>
      <p:grpSp>
        <p:nvGrpSpPr>
          <p:cNvPr name="Group 6" id="6"/>
          <p:cNvGrpSpPr/>
          <p:nvPr/>
        </p:nvGrpSpPr>
        <p:grpSpPr>
          <a:xfrm rot="0">
            <a:off x="1028700" y="598455"/>
            <a:ext cx="1545443" cy="154544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cap="sq">
              <a:noFill/>
              <a:prstDash val="solid"/>
              <a:miter/>
            </a:ln>
          </p:spPr>
        </p:sp>
        <p:sp>
          <p:nvSpPr>
            <p:cNvPr name="TextBox 8" id="8"/>
            <p:cNvSpPr txBox="true"/>
            <p:nvPr/>
          </p:nvSpPr>
          <p:spPr>
            <a:xfrm>
              <a:off x="76200" y="38100"/>
              <a:ext cx="660400" cy="698500"/>
            </a:xfrm>
            <a:prstGeom prst="rect">
              <a:avLst/>
            </a:prstGeom>
          </p:spPr>
          <p:txBody>
            <a:bodyPr anchor="ctr" rtlCol="false" tIns="59731" lIns="59731" bIns="59731" rIns="59731"/>
            <a:lstStyle/>
            <a:p>
              <a:pPr algn="ctr">
                <a:lnSpc>
                  <a:spcPts val="2659"/>
                </a:lnSpc>
                <a:spcBef>
                  <a:spcPct val="0"/>
                </a:spcBef>
              </a:pPr>
            </a:p>
          </p:txBody>
        </p:sp>
      </p:grpSp>
      <p:sp>
        <p:nvSpPr>
          <p:cNvPr name="TextBox 9" id="9"/>
          <p:cNvSpPr txBox="true"/>
          <p:nvPr/>
        </p:nvSpPr>
        <p:spPr>
          <a:xfrm rot="0">
            <a:off x="3143250" y="837012"/>
            <a:ext cx="11234076" cy="1144529"/>
          </a:xfrm>
          <a:prstGeom prst="rect">
            <a:avLst/>
          </a:prstGeom>
        </p:spPr>
        <p:txBody>
          <a:bodyPr anchor="t" rtlCol="false" tIns="0" lIns="0" bIns="0" rIns="0">
            <a:spAutoFit/>
          </a:bodyPr>
          <a:lstStyle/>
          <a:p>
            <a:pPr algn="l">
              <a:lnSpc>
                <a:spcPts val="8568"/>
              </a:lnSpc>
            </a:pPr>
            <a:r>
              <a:rPr lang="en-US" sz="8400">
                <a:solidFill>
                  <a:srgbClr val="000000"/>
                </a:solidFill>
                <a:latin typeface="Archivo Black"/>
                <a:ea typeface="Archivo Black"/>
                <a:cs typeface="Archivo Black"/>
                <a:sym typeface="Archivo Black"/>
              </a:rPr>
              <a:t>SOFT SKILL</a:t>
            </a:r>
          </a:p>
        </p:txBody>
      </p:sp>
      <p:sp>
        <p:nvSpPr>
          <p:cNvPr name="TextBox 10" id="10"/>
          <p:cNvSpPr txBox="true"/>
          <p:nvPr/>
        </p:nvSpPr>
        <p:spPr>
          <a:xfrm rot="0">
            <a:off x="1202182" y="862139"/>
            <a:ext cx="1153682" cy="911136"/>
          </a:xfrm>
          <a:prstGeom prst="rect">
            <a:avLst/>
          </a:prstGeom>
        </p:spPr>
        <p:txBody>
          <a:bodyPr anchor="t" rtlCol="false" tIns="0" lIns="0" bIns="0" rIns="0">
            <a:spAutoFit/>
          </a:bodyPr>
          <a:lstStyle/>
          <a:p>
            <a:pPr algn="ctr">
              <a:lnSpc>
                <a:spcPts val="7407"/>
              </a:lnSpc>
            </a:pPr>
            <a:r>
              <a:rPr lang="en-US" sz="5291" spc="423">
                <a:solidFill>
                  <a:srgbClr val="FFFFFF"/>
                </a:solidFill>
                <a:latin typeface="Glacial Indifference"/>
                <a:ea typeface="Glacial Indifference"/>
                <a:cs typeface="Glacial Indifference"/>
                <a:sym typeface="Glacial Indifference"/>
              </a:rPr>
              <a:t>01</a:t>
            </a:r>
          </a:p>
        </p:txBody>
      </p:sp>
      <p:sp>
        <p:nvSpPr>
          <p:cNvPr name="Freeform 11" id="11"/>
          <p:cNvSpPr/>
          <p:nvPr/>
        </p:nvSpPr>
        <p:spPr>
          <a:xfrm flipH="true" flipV="false" rot="0">
            <a:off x="11974259" y="718814"/>
            <a:ext cx="5285041" cy="8849372"/>
          </a:xfrm>
          <a:custGeom>
            <a:avLst/>
            <a:gdLst/>
            <a:ahLst/>
            <a:cxnLst/>
            <a:rect r="r" b="b" t="t" l="l"/>
            <a:pathLst>
              <a:path h="8849372" w="5285041">
                <a:moveTo>
                  <a:pt x="5285041" y="0"/>
                </a:moveTo>
                <a:lnTo>
                  <a:pt x="0" y="0"/>
                </a:lnTo>
                <a:lnTo>
                  <a:pt x="0" y="8849372"/>
                </a:lnTo>
                <a:lnTo>
                  <a:pt x="5285041" y="8849372"/>
                </a:lnTo>
                <a:lnTo>
                  <a:pt x="528504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495FF"/>
        </a:solidFill>
      </p:bgPr>
    </p:bg>
    <p:spTree>
      <p:nvGrpSpPr>
        <p:cNvPr id="1" name=""/>
        <p:cNvGrpSpPr/>
        <p:nvPr/>
      </p:nvGrpSpPr>
      <p:grpSpPr>
        <a:xfrm>
          <a:off x="0" y="0"/>
          <a:ext cx="0" cy="0"/>
          <a:chOff x="0" y="0"/>
          <a:chExt cx="0" cy="0"/>
        </a:xfrm>
      </p:grpSpPr>
      <p:grpSp>
        <p:nvGrpSpPr>
          <p:cNvPr name="Group 2" id="2"/>
          <p:cNvGrpSpPr/>
          <p:nvPr/>
        </p:nvGrpSpPr>
        <p:grpSpPr>
          <a:xfrm rot="0">
            <a:off x="-340917" y="-400024"/>
            <a:ext cx="19089976" cy="3111637"/>
            <a:chOff x="0" y="0"/>
            <a:chExt cx="5027813" cy="819526"/>
          </a:xfrm>
        </p:grpSpPr>
        <p:sp>
          <p:nvSpPr>
            <p:cNvPr name="Freeform 3" id="3"/>
            <p:cNvSpPr/>
            <p:nvPr/>
          </p:nvSpPr>
          <p:spPr>
            <a:xfrm flipH="false" flipV="false" rot="0">
              <a:off x="0" y="0"/>
              <a:ext cx="5027813" cy="819526"/>
            </a:xfrm>
            <a:custGeom>
              <a:avLst/>
              <a:gdLst/>
              <a:ahLst/>
              <a:cxnLst/>
              <a:rect r="r" b="b" t="t" l="l"/>
              <a:pathLst>
                <a:path h="819526" w="5027813">
                  <a:moveTo>
                    <a:pt x="0" y="0"/>
                  </a:moveTo>
                  <a:lnTo>
                    <a:pt x="5027813" y="0"/>
                  </a:lnTo>
                  <a:lnTo>
                    <a:pt x="5027813" y="819526"/>
                  </a:lnTo>
                  <a:lnTo>
                    <a:pt x="0" y="819526"/>
                  </a:lnTo>
                  <a:close/>
                </a:path>
              </a:pathLst>
            </a:custGeom>
            <a:solidFill>
              <a:srgbClr val="FFFFFF"/>
            </a:solidFill>
          </p:spPr>
        </p:sp>
        <p:sp>
          <p:nvSpPr>
            <p:cNvPr name="TextBox 4" id="4"/>
            <p:cNvSpPr txBox="true"/>
            <p:nvPr/>
          </p:nvSpPr>
          <p:spPr>
            <a:xfrm>
              <a:off x="0" y="-38100"/>
              <a:ext cx="5027813" cy="85762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598455"/>
            <a:ext cx="1545443" cy="15454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cap="sq">
              <a:noFill/>
              <a:prstDash val="solid"/>
              <a:miter/>
            </a:ln>
          </p:spPr>
        </p:sp>
        <p:sp>
          <p:nvSpPr>
            <p:cNvPr name="TextBox 7" id="7"/>
            <p:cNvSpPr txBox="true"/>
            <p:nvPr/>
          </p:nvSpPr>
          <p:spPr>
            <a:xfrm>
              <a:off x="76200" y="38100"/>
              <a:ext cx="660400" cy="698500"/>
            </a:xfrm>
            <a:prstGeom prst="rect">
              <a:avLst/>
            </a:prstGeom>
          </p:spPr>
          <p:txBody>
            <a:bodyPr anchor="ctr" rtlCol="false" tIns="59731" lIns="59731" bIns="59731" rIns="59731"/>
            <a:lstStyle/>
            <a:p>
              <a:pPr algn="ctr">
                <a:lnSpc>
                  <a:spcPts val="2659"/>
                </a:lnSpc>
                <a:spcBef>
                  <a:spcPct val="0"/>
                </a:spcBef>
              </a:pPr>
            </a:p>
          </p:txBody>
        </p:sp>
      </p:grpSp>
      <p:sp>
        <p:nvSpPr>
          <p:cNvPr name="Freeform 8" id="8"/>
          <p:cNvSpPr/>
          <p:nvPr/>
        </p:nvSpPr>
        <p:spPr>
          <a:xfrm flipH="false" flipV="false" rot="0">
            <a:off x="13705795" y="1155794"/>
            <a:ext cx="4582205" cy="9131206"/>
          </a:xfrm>
          <a:custGeom>
            <a:avLst/>
            <a:gdLst/>
            <a:ahLst/>
            <a:cxnLst/>
            <a:rect r="r" b="b" t="t" l="l"/>
            <a:pathLst>
              <a:path h="9131206" w="4582205">
                <a:moveTo>
                  <a:pt x="0" y="0"/>
                </a:moveTo>
                <a:lnTo>
                  <a:pt x="4582205" y="0"/>
                </a:lnTo>
                <a:lnTo>
                  <a:pt x="4582205" y="9131206"/>
                </a:lnTo>
                <a:lnTo>
                  <a:pt x="0" y="91312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3739546"/>
            <a:ext cx="11706575" cy="1261110"/>
          </a:xfrm>
          <a:prstGeom prst="rect">
            <a:avLst/>
          </a:prstGeom>
        </p:spPr>
        <p:txBody>
          <a:bodyPr anchor="t" rtlCol="false" tIns="0" lIns="0" bIns="0" rIns="0">
            <a:spAutoFit/>
          </a:bodyPr>
          <a:lstStyle/>
          <a:p>
            <a:pPr algn="l">
              <a:lnSpc>
                <a:spcPts val="5039"/>
              </a:lnSpc>
            </a:pPr>
            <a:r>
              <a:rPr lang="en-US" sz="3599">
                <a:solidFill>
                  <a:srgbClr val="000000"/>
                </a:solidFill>
                <a:latin typeface="Glacial Indifference"/>
                <a:ea typeface="Glacial Indifference"/>
                <a:cs typeface="Glacial Indifference"/>
                <a:sym typeface="Glacial Indifference"/>
              </a:rPr>
              <a:t>Nurses Should have a balance of soft and hard skills as both are vital when making patient care decisions.</a:t>
            </a:r>
          </a:p>
        </p:txBody>
      </p:sp>
      <p:sp>
        <p:nvSpPr>
          <p:cNvPr name="TextBox 10" id="10"/>
          <p:cNvSpPr txBox="true"/>
          <p:nvPr/>
        </p:nvSpPr>
        <p:spPr>
          <a:xfrm rot="0">
            <a:off x="3143250" y="837012"/>
            <a:ext cx="11234076" cy="1144529"/>
          </a:xfrm>
          <a:prstGeom prst="rect">
            <a:avLst/>
          </a:prstGeom>
        </p:spPr>
        <p:txBody>
          <a:bodyPr anchor="t" rtlCol="false" tIns="0" lIns="0" bIns="0" rIns="0">
            <a:spAutoFit/>
          </a:bodyPr>
          <a:lstStyle/>
          <a:p>
            <a:pPr algn="l">
              <a:lnSpc>
                <a:spcPts val="8568"/>
              </a:lnSpc>
            </a:pPr>
            <a:r>
              <a:rPr lang="en-US" sz="8400">
                <a:solidFill>
                  <a:srgbClr val="000000"/>
                </a:solidFill>
                <a:latin typeface="Archivo Black"/>
                <a:ea typeface="Archivo Black"/>
                <a:cs typeface="Archivo Black"/>
                <a:sym typeface="Archivo Black"/>
              </a:rPr>
              <a:t>SOFT SKILL</a:t>
            </a:r>
          </a:p>
        </p:txBody>
      </p:sp>
      <p:sp>
        <p:nvSpPr>
          <p:cNvPr name="TextBox 11" id="11"/>
          <p:cNvSpPr txBox="true"/>
          <p:nvPr/>
        </p:nvSpPr>
        <p:spPr>
          <a:xfrm rot="0">
            <a:off x="1202182" y="862139"/>
            <a:ext cx="1153682" cy="911136"/>
          </a:xfrm>
          <a:prstGeom prst="rect">
            <a:avLst/>
          </a:prstGeom>
        </p:spPr>
        <p:txBody>
          <a:bodyPr anchor="t" rtlCol="false" tIns="0" lIns="0" bIns="0" rIns="0">
            <a:spAutoFit/>
          </a:bodyPr>
          <a:lstStyle/>
          <a:p>
            <a:pPr algn="ctr">
              <a:lnSpc>
                <a:spcPts val="7407"/>
              </a:lnSpc>
            </a:pPr>
            <a:r>
              <a:rPr lang="en-US" sz="5291" spc="423">
                <a:solidFill>
                  <a:srgbClr val="FFFFFF"/>
                </a:solidFill>
                <a:latin typeface="Glacial Indifference"/>
                <a:ea typeface="Glacial Indifference"/>
                <a:cs typeface="Glacial Indifference"/>
                <a:sym typeface="Glacial Indifference"/>
              </a:rPr>
              <a:t>01</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CE6D"/>
        </a:solidFill>
      </p:bgPr>
    </p:bg>
    <p:spTree>
      <p:nvGrpSpPr>
        <p:cNvPr id="1" name=""/>
        <p:cNvGrpSpPr/>
        <p:nvPr/>
      </p:nvGrpSpPr>
      <p:grpSpPr>
        <a:xfrm>
          <a:off x="0" y="0"/>
          <a:ext cx="0" cy="0"/>
          <a:chOff x="0" y="0"/>
          <a:chExt cx="0" cy="0"/>
        </a:xfrm>
      </p:grpSpPr>
      <p:grpSp>
        <p:nvGrpSpPr>
          <p:cNvPr name="Group 2" id="2"/>
          <p:cNvGrpSpPr/>
          <p:nvPr/>
        </p:nvGrpSpPr>
        <p:grpSpPr>
          <a:xfrm rot="0">
            <a:off x="-340917" y="-400024"/>
            <a:ext cx="19089976" cy="3111637"/>
            <a:chOff x="0" y="0"/>
            <a:chExt cx="5027813" cy="819526"/>
          </a:xfrm>
        </p:grpSpPr>
        <p:sp>
          <p:nvSpPr>
            <p:cNvPr name="Freeform 3" id="3"/>
            <p:cNvSpPr/>
            <p:nvPr/>
          </p:nvSpPr>
          <p:spPr>
            <a:xfrm flipH="false" flipV="false" rot="0">
              <a:off x="0" y="0"/>
              <a:ext cx="5027813" cy="819526"/>
            </a:xfrm>
            <a:custGeom>
              <a:avLst/>
              <a:gdLst/>
              <a:ahLst/>
              <a:cxnLst/>
              <a:rect r="r" b="b" t="t" l="l"/>
              <a:pathLst>
                <a:path h="819526" w="5027813">
                  <a:moveTo>
                    <a:pt x="0" y="0"/>
                  </a:moveTo>
                  <a:lnTo>
                    <a:pt x="5027813" y="0"/>
                  </a:lnTo>
                  <a:lnTo>
                    <a:pt x="5027813" y="819526"/>
                  </a:lnTo>
                  <a:lnTo>
                    <a:pt x="0" y="819526"/>
                  </a:lnTo>
                  <a:close/>
                </a:path>
              </a:pathLst>
            </a:custGeom>
            <a:solidFill>
              <a:srgbClr val="FFFFFF"/>
            </a:solidFill>
          </p:spPr>
        </p:sp>
        <p:sp>
          <p:nvSpPr>
            <p:cNvPr name="TextBox 4" id="4"/>
            <p:cNvSpPr txBox="true"/>
            <p:nvPr/>
          </p:nvSpPr>
          <p:spPr>
            <a:xfrm>
              <a:off x="0" y="-38100"/>
              <a:ext cx="5027813" cy="857626"/>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3283472"/>
            <a:ext cx="10148375" cy="6366510"/>
          </a:xfrm>
          <a:prstGeom prst="rect">
            <a:avLst/>
          </a:prstGeom>
        </p:spPr>
        <p:txBody>
          <a:bodyPr anchor="t" rtlCol="false" tIns="0" lIns="0" bIns="0" rIns="0">
            <a:spAutoFit/>
          </a:bodyPr>
          <a:lstStyle/>
          <a:p>
            <a:pPr algn="l">
              <a:lnSpc>
                <a:spcPts val="5039"/>
              </a:lnSpc>
            </a:pPr>
            <a:r>
              <a:rPr lang="en-US" sz="3599">
                <a:solidFill>
                  <a:srgbClr val="000000"/>
                </a:solidFill>
                <a:latin typeface="Glacial Indifference"/>
                <a:ea typeface="Glacial Indifference"/>
                <a:cs typeface="Glacial Indifference"/>
                <a:sym typeface="Glacial Indifference"/>
              </a:rPr>
              <a:t>🔸Hard skills are the individual specific abilities required to perform a given task </a:t>
            </a:r>
          </a:p>
          <a:p>
            <a:pPr algn="l">
              <a:lnSpc>
                <a:spcPts val="5039"/>
              </a:lnSpc>
            </a:pPr>
            <a:r>
              <a:rPr lang="en-US" sz="3599">
                <a:solidFill>
                  <a:srgbClr val="000000"/>
                </a:solidFill>
                <a:latin typeface="Glacial Indifference"/>
                <a:ea typeface="Glacial Indifference"/>
                <a:cs typeface="Glacial Indifference"/>
                <a:sym typeface="Glacial Indifference"/>
              </a:rPr>
              <a:t>🔸Also termed as "Occupational skills"</a:t>
            </a:r>
          </a:p>
          <a:p>
            <a:pPr algn="l">
              <a:lnSpc>
                <a:spcPts val="5039"/>
              </a:lnSpc>
            </a:pPr>
            <a:r>
              <a:rPr lang="en-US" sz="3599">
                <a:solidFill>
                  <a:srgbClr val="000000"/>
                </a:solidFill>
                <a:latin typeface="Glacial Indifference"/>
                <a:ea typeface="Glacial Indifference"/>
                <a:cs typeface="Glacial Indifference"/>
                <a:sym typeface="Glacial Indifference"/>
              </a:rPr>
              <a:t>🔸Examples:- Technical knowledge and skills  required to perform a task or procedure efficiently</a:t>
            </a:r>
          </a:p>
          <a:p>
            <a:pPr algn="l">
              <a:lnSpc>
                <a:spcPts val="5039"/>
              </a:lnSpc>
            </a:pPr>
            <a:r>
              <a:rPr lang="en-US" sz="3599">
                <a:solidFill>
                  <a:srgbClr val="000000"/>
                </a:solidFill>
                <a:latin typeface="Glacial Indifference"/>
                <a:ea typeface="Glacial Indifference"/>
                <a:cs typeface="Glacial Indifference"/>
                <a:sym typeface="Glacial Indifference"/>
              </a:rPr>
              <a:t>🔸In Nursing these skills refer to the technical/procedural skills that a nurse learns through hands on training or in clinical laboratories or real life ward settings </a:t>
            </a:r>
          </a:p>
          <a:p>
            <a:pPr algn="l">
              <a:lnSpc>
                <a:spcPts val="5039"/>
              </a:lnSpc>
            </a:pPr>
          </a:p>
        </p:txBody>
      </p:sp>
      <p:grpSp>
        <p:nvGrpSpPr>
          <p:cNvPr name="Group 6" id="6"/>
          <p:cNvGrpSpPr/>
          <p:nvPr/>
        </p:nvGrpSpPr>
        <p:grpSpPr>
          <a:xfrm rot="0">
            <a:off x="1028700" y="598455"/>
            <a:ext cx="1545443" cy="154544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cap="sq">
              <a:noFill/>
              <a:prstDash val="solid"/>
              <a:miter/>
            </a:ln>
          </p:spPr>
        </p:sp>
        <p:sp>
          <p:nvSpPr>
            <p:cNvPr name="TextBox 8" id="8"/>
            <p:cNvSpPr txBox="true"/>
            <p:nvPr/>
          </p:nvSpPr>
          <p:spPr>
            <a:xfrm>
              <a:off x="76200" y="38100"/>
              <a:ext cx="660400" cy="698500"/>
            </a:xfrm>
            <a:prstGeom prst="rect">
              <a:avLst/>
            </a:prstGeom>
          </p:spPr>
          <p:txBody>
            <a:bodyPr anchor="ctr" rtlCol="false" tIns="59731" lIns="59731" bIns="59731" rIns="59731"/>
            <a:lstStyle/>
            <a:p>
              <a:pPr algn="ctr">
                <a:lnSpc>
                  <a:spcPts val="2659"/>
                </a:lnSpc>
                <a:spcBef>
                  <a:spcPct val="0"/>
                </a:spcBef>
              </a:pPr>
            </a:p>
          </p:txBody>
        </p:sp>
      </p:grpSp>
      <p:sp>
        <p:nvSpPr>
          <p:cNvPr name="Freeform 9" id="9"/>
          <p:cNvSpPr/>
          <p:nvPr/>
        </p:nvSpPr>
        <p:spPr>
          <a:xfrm flipH="false" flipV="false" rot="-973177">
            <a:off x="12293968" y="1311461"/>
            <a:ext cx="4630339" cy="7848032"/>
          </a:xfrm>
          <a:custGeom>
            <a:avLst/>
            <a:gdLst/>
            <a:ahLst/>
            <a:cxnLst/>
            <a:rect r="r" b="b" t="t" l="l"/>
            <a:pathLst>
              <a:path h="7848032" w="4630339">
                <a:moveTo>
                  <a:pt x="0" y="0"/>
                </a:moveTo>
                <a:lnTo>
                  <a:pt x="4630339" y="0"/>
                </a:lnTo>
                <a:lnTo>
                  <a:pt x="4630339" y="7848032"/>
                </a:lnTo>
                <a:lnTo>
                  <a:pt x="0" y="78480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143250" y="837012"/>
            <a:ext cx="11234076" cy="1144529"/>
          </a:xfrm>
          <a:prstGeom prst="rect">
            <a:avLst/>
          </a:prstGeom>
        </p:spPr>
        <p:txBody>
          <a:bodyPr anchor="t" rtlCol="false" tIns="0" lIns="0" bIns="0" rIns="0">
            <a:spAutoFit/>
          </a:bodyPr>
          <a:lstStyle/>
          <a:p>
            <a:pPr algn="l">
              <a:lnSpc>
                <a:spcPts val="8568"/>
              </a:lnSpc>
            </a:pPr>
            <a:r>
              <a:rPr lang="en-US" sz="8400">
                <a:solidFill>
                  <a:srgbClr val="000000"/>
                </a:solidFill>
                <a:latin typeface="Archivo Black"/>
                <a:ea typeface="Archivo Black"/>
                <a:cs typeface="Archivo Black"/>
                <a:sym typeface="Archivo Black"/>
              </a:rPr>
              <a:t>HARD SKILL</a:t>
            </a:r>
          </a:p>
        </p:txBody>
      </p:sp>
      <p:sp>
        <p:nvSpPr>
          <p:cNvPr name="TextBox 11" id="11"/>
          <p:cNvSpPr txBox="true"/>
          <p:nvPr/>
        </p:nvSpPr>
        <p:spPr>
          <a:xfrm rot="0">
            <a:off x="1202182" y="862139"/>
            <a:ext cx="1153682" cy="903831"/>
          </a:xfrm>
          <a:prstGeom prst="rect">
            <a:avLst/>
          </a:prstGeom>
        </p:spPr>
        <p:txBody>
          <a:bodyPr anchor="t" rtlCol="false" tIns="0" lIns="0" bIns="0" rIns="0">
            <a:spAutoFit/>
          </a:bodyPr>
          <a:lstStyle/>
          <a:p>
            <a:pPr algn="ctr">
              <a:lnSpc>
                <a:spcPts val="7407"/>
              </a:lnSpc>
            </a:pPr>
            <a:r>
              <a:rPr lang="en-US" sz="5291" spc="423">
                <a:solidFill>
                  <a:srgbClr val="FFFFFF"/>
                </a:solidFill>
                <a:latin typeface="Glacial Indifference"/>
                <a:ea typeface="Glacial Indifference"/>
                <a:cs typeface="Glacial Indifference"/>
                <a:sym typeface="Glacial Indifference"/>
              </a:rPr>
              <a:t>02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AutoShape 2" id="2"/>
          <p:cNvSpPr/>
          <p:nvPr/>
        </p:nvSpPr>
        <p:spPr>
          <a:xfrm>
            <a:off x="-260599" y="9061267"/>
            <a:ext cx="7105264" cy="19050"/>
          </a:xfrm>
          <a:prstGeom prst="line">
            <a:avLst/>
          </a:prstGeom>
          <a:ln cap="flat" w="114300">
            <a:solidFill>
              <a:srgbClr val="9FC3D0"/>
            </a:solidFill>
            <a:prstDash val="solid"/>
            <a:headEnd type="none" len="sm" w="sm"/>
            <a:tailEnd type="none" len="sm" w="sm"/>
          </a:ln>
        </p:spPr>
      </p:sp>
      <p:sp>
        <p:nvSpPr>
          <p:cNvPr name="AutoShape 3" id="3"/>
          <p:cNvSpPr/>
          <p:nvPr/>
        </p:nvSpPr>
        <p:spPr>
          <a:xfrm>
            <a:off x="11430169" y="9061267"/>
            <a:ext cx="7105264" cy="19050"/>
          </a:xfrm>
          <a:prstGeom prst="line">
            <a:avLst/>
          </a:prstGeom>
          <a:ln cap="flat" w="114300">
            <a:solidFill>
              <a:srgbClr val="9FC3D0"/>
            </a:solidFill>
            <a:prstDash val="solid"/>
            <a:headEnd type="none" len="sm" w="sm"/>
            <a:tailEnd type="none" len="sm" w="sm"/>
          </a:ln>
        </p:spPr>
      </p:sp>
      <p:sp>
        <p:nvSpPr>
          <p:cNvPr name="Freeform 4" id="4"/>
          <p:cNvSpPr/>
          <p:nvPr/>
        </p:nvSpPr>
        <p:spPr>
          <a:xfrm flipH="false" flipV="false" rot="0">
            <a:off x="12982861" y="593323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2012909" y="2797221"/>
            <a:ext cx="5246391" cy="5246370"/>
            <a:chOff x="0" y="0"/>
            <a:chExt cx="6350025" cy="6350000"/>
          </a:xfrm>
        </p:grpSpPr>
        <p:sp>
          <p:nvSpPr>
            <p:cNvPr name="Freeform 6" id="6"/>
            <p:cNvSpPr/>
            <p:nvPr/>
          </p:nvSpPr>
          <p:spPr>
            <a:xfrm flipH="false" flipV="false" rot="0">
              <a:off x="0" y="0"/>
              <a:ext cx="6350026" cy="6350000"/>
            </a:xfrm>
            <a:custGeom>
              <a:avLst/>
              <a:gdLst/>
              <a:ahLst/>
              <a:cxnLst/>
              <a:rect r="r" b="b" t="t" l="l"/>
              <a:pathLst>
                <a:path h="6350000" w="6350026">
                  <a:moveTo>
                    <a:pt x="0" y="0"/>
                  </a:moveTo>
                  <a:lnTo>
                    <a:pt x="6350026" y="0"/>
                  </a:lnTo>
                  <a:lnTo>
                    <a:pt x="6350026" y="6350000"/>
                  </a:lnTo>
                  <a:lnTo>
                    <a:pt x="0" y="6350000"/>
                  </a:lnTo>
                  <a:close/>
                </a:path>
              </a:pathLst>
            </a:custGeom>
            <a:blipFill>
              <a:blip r:embed="rId4"/>
              <a:stretch>
                <a:fillRect l="-55262" t="0" r="-55262" b="0"/>
              </a:stretch>
            </a:blipFill>
          </p:spPr>
        </p:sp>
      </p:grpSp>
      <p:sp>
        <p:nvSpPr>
          <p:cNvPr name="TextBox 7" id="7"/>
          <p:cNvSpPr txBox="true"/>
          <p:nvPr/>
        </p:nvSpPr>
        <p:spPr>
          <a:xfrm rot="0">
            <a:off x="3025842" y="147530"/>
            <a:ext cx="9957019" cy="1948992"/>
          </a:xfrm>
          <a:prstGeom prst="rect">
            <a:avLst/>
          </a:prstGeom>
        </p:spPr>
        <p:txBody>
          <a:bodyPr anchor="t" rtlCol="false" tIns="0" lIns="0" bIns="0" rIns="0">
            <a:spAutoFit/>
          </a:bodyPr>
          <a:lstStyle/>
          <a:p>
            <a:pPr algn="ctr">
              <a:lnSpc>
                <a:spcPts val="7799"/>
              </a:lnSpc>
            </a:pPr>
            <a:r>
              <a:rPr lang="en-US" sz="5570">
                <a:solidFill>
                  <a:srgbClr val="000000"/>
                </a:solidFill>
                <a:latin typeface="Gagalin"/>
                <a:ea typeface="Gagalin"/>
                <a:cs typeface="Gagalin"/>
                <a:sym typeface="Gagalin"/>
              </a:rPr>
              <a:t>COMPONENTS OF SOFT SKILL AND THEIR APPLICATIONS </a:t>
            </a:r>
          </a:p>
        </p:txBody>
      </p:sp>
      <p:sp>
        <p:nvSpPr>
          <p:cNvPr name="Freeform 8" id="8"/>
          <p:cNvSpPr/>
          <p:nvPr/>
        </p:nvSpPr>
        <p:spPr>
          <a:xfrm flipH="false" flipV="false" rot="0">
            <a:off x="-3482681" y="-210192"/>
            <a:ext cx="6454070" cy="2186104"/>
          </a:xfrm>
          <a:custGeom>
            <a:avLst/>
            <a:gdLst/>
            <a:ahLst/>
            <a:cxnLst/>
            <a:rect r="r" b="b" t="t" l="l"/>
            <a:pathLst>
              <a:path h="2186104" w="6454070">
                <a:moveTo>
                  <a:pt x="0" y="0"/>
                </a:moveTo>
                <a:lnTo>
                  <a:pt x="6454070" y="0"/>
                </a:lnTo>
                <a:lnTo>
                  <a:pt x="6454070" y="2186104"/>
                </a:lnTo>
                <a:lnTo>
                  <a:pt x="0" y="21861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636455" y="2437065"/>
            <a:ext cx="10793714" cy="6624202"/>
          </a:xfrm>
          <a:prstGeom prst="rect">
            <a:avLst/>
          </a:prstGeom>
        </p:spPr>
        <p:txBody>
          <a:bodyPr anchor="t" rtlCol="false" tIns="0" lIns="0" bIns="0" rIns="0">
            <a:spAutoFit/>
          </a:bodyPr>
          <a:lstStyle/>
          <a:p>
            <a:pPr algn="l">
              <a:lnSpc>
                <a:spcPts val="5852"/>
              </a:lnSpc>
            </a:pPr>
          </a:p>
          <a:p>
            <a:pPr algn="l">
              <a:lnSpc>
                <a:spcPts val="5852"/>
              </a:lnSpc>
            </a:pPr>
            <a:r>
              <a:rPr lang="en-US" sz="4180">
                <a:solidFill>
                  <a:srgbClr val="000000"/>
                </a:solidFill>
                <a:latin typeface="Alatsi"/>
                <a:ea typeface="Alatsi"/>
                <a:cs typeface="Alatsi"/>
                <a:sym typeface="Alatsi"/>
              </a:rPr>
              <a:t>The important component of soft skill are: ability to communicate, flexibility,problem solving, professionalism,taking initiative, teamwork and networking, tolerance and conflict resolution, work ethics and commitment. These skills can be extensively applied in nursing profession</a:t>
            </a:r>
          </a:p>
          <a:p>
            <a:pPr algn="l">
              <a:lnSpc>
                <a:spcPts val="5852"/>
              </a:lnSpc>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0" y="-118631"/>
          <a:ext cx="18288000" cy="10524263"/>
        </p:xfrm>
        <a:graphic>
          <a:graphicData uri="http://schemas.openxmlformats.org/drawingml/2006/table">
            <a:tbl>
              <a:tblPr/>
              <a:tblGrid>
                <a:gridCol w="3527694"/>
                <a:gridCol w="6917339"/>
                <a:gridCol w="7842967"/>
              </a:tblGrid>
              <a:tr h="3167493">
                <a:tc>
                  <a:txBody>
                    <a:bodyPr anchor="t" rtlCol="false"/>
                    <a:lstStyle/>
                    <a:p>
                      <a:pPr algn="ctr">
                        <a:lnSpc>
                          <a:spcPts val="6719"/>
                        </a:lnSpc>
                        <a:defRPr/>
                      </a:pPr>
                      <a:r>
                        <a:rPr lang="en-US" sz="4800">
                          <a:solidFill>
                            <a:srgbClr val="000000"/>
                          </a:solidFill>
                          <a:latin typeface="Aristotelica Pro"/>
                          <a:ea typeface="Aristotelica Pro"/>
                          <a:cs typeface="Aristotelica Pro"/>
                          <a:sym typeface="Aristotelica Pro"/>
                        </a:rPr>
                        <a:t>Soft skill component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7699"/>
                        </a:lnSpc>
                        <a:defRPr/>
                      </a:pPr>
                      <a:r>
                        <a:rPr lang="en-US" sz="5499">
                          <a:solidFill>
                            <a:srgbClr val="000000"/>
                          </a:solidFill>
                          <a:latin typeface="Aristotelica Pro"/>
                          <a:ea typeface="Aristotelica Pro"/>
                          <a:cs typeface="Aristotelica Pro"/>
                          <a:sym typeface="Aristotelica Pro"/>
                        </a:rPr>
                        <a:t>DESCRIPTION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6160"/>
                        </a:lnSpc>
                        <a:defRPr/>
                      </a:pPr>
                      <a:r>
                        <a:rPr lang="en-US" sz="4400">
                          <a:solidFill>
                            <a:srgbClr val="000000"/>
                          </a:solidFill>
                          <a:latin typeface="Aristotelica Pro"/>
                          <a:ea typeface="Aristotelica Pro"/>
                          <a:cs typeface="Aristotelica Pro"/>
                          <a:sym typeface="Aristotelica Pro"/>
                        </a:rPr>
                        <a:t>APPLICATION IN NURSING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3478426">
                <a:tc>
                  <a:txBody>
                    <a:bodyPr anchor="t" rtlCol="false"/>
                    <a:lstStyle/>
                    <a:p>
                      <a:pPr algn="ctr">
                        <a:lnSpc>
                          <a:spcPts val="5740"/>
                        </a:lnSpc>
                        <a:defRPr/>
                      </a:pPr>
                      <a:r>
                        <a:rPr lang="en-US" sz="4100">
                          <a:solidFill>
                            <a:srgbClr val="000000"/>
                          </a:solidFill>
                          <a:latin typeface="Aristotelica Pro"/>
                          <a:ea typeface="Aristotelica Pro"/>
                          <a:cs typeface="Aristotelica Pro"/>
                          <a:sym typeface="Aristotelica Pro"/>
                        </a:rPr>
                        <a:t>Ability to communicate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459"/>
                        </a:lnSpc>
                        <a:defRPr/>
                      </a:pPr>
                      <a:r>
                        <a:rPr lang="en-US" sz="3900">
                          <a:solidFill>
                            <a:srgbClr val="000000"/>
                          </a:solidFill>
                          <a:latin typeface="Glacial Indifference"/>
                          <a:ea typeface="Glacial Indifference"/>
                          <a:cs typeface="Glacial Indifference"/>
                          <a:sym typeface="Glacial Indifference"/>
                        </a:rPr>
                        <a:t>Establishing, maintaining and improving contact with others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060"/>
                        </a:lnSpc>
                        <a:defRPr/>
                      </a:pPr>
                      <a:r>
                        <a:rPr lang="en-US" sz="2900">
                          <a:solidFill>
                            <a:srgbClr val="000000"/>
                          </a:solidFill>
                          <a:latin typeface="Aristotelica Pro"/>
                          <a:ea typeface="Aristotelica Pro"/>
                          <a:cs typeface="Aristotelica Pro"/>
                          <a:sym typeface="Aristotelica Pro"/>
                        </a:rPr>
                        <a:t>Ability to communicate effectively allows a nurse to interact with the patient, their family members, friends and other healthcare team members. This improves patient satisfaction and results in better health outcomes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878344">
                <a:tc>
                  <a:txBody>
                    <a:bodyPr anchor="t" rtlCol="false"/>
                    <a:lstStyle/>
                    <a:p>
                      <a:pPr algn="ctr">
                        <a:lnSpc>
                          <a:spcPts val="6439"/>
                        </a:lnSpc>
                        <a:defRPr/>
                      </a:pPr>
                      <a:r>
                        <a:rPr lang="en-US" sz="4599">
                          <a:solidFill>
                            <a:srgbClr val="000000"/>
                          </a:solidFill>
                          <a:latin typeface="Aristotelica Pro"/>
                          <a:ea typeface="Aristotelica Pro"/>
                          <a:cs typeface="Aristotelica Pro"/>
                          <a:sym typeface="Aristotelica Pro"/>
                        </a:rPr>
                        <a:t>Adaptability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339"/>
                        </a:lnSpc>
                        <a:defRPr/>
                      </a:pPr>
                      <a:r>
                        <a:rPr lang="en-US" sz="3099">
                          <a:solidFill>
                            <a:srgbClr val="000000"/>
                          </a:solidFill>
                          <a:latin typeface="Glacial Indifference"/>
                          <a:ea typeface="Glacial Indifference"/>
                          <a:cs typeface="Glacial Indifference"/>
                          <a:sym typeface="Glacial Indifference"/>
                        </a:rPr>
                        <a:t>Agreeable to learn, adapt new techniques and follow latest guidelines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Nurses should readily accept the introduction and implementation of new procedures and techniques. They should also be agreeable to follow the changes in policies and guidelines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0" y="0"/>
          <a:ext cx="18288000" cy="10287000"/>
        </p:xfrm>
        <a:graphic>
          <a:graphicData uri="http://schemas.openxmlformats.org/drawingml/2006/table">
            <a:tbl>
              <a:tblPr/>
              <a:tblGrid>
                <a:gridCol w="4429357"/>
                <a:gridCol w="6585955"/>
                <a:gridCol w="7272688"/>
              </a:tblGrid>
              <a:tr h="5143500">
                <a:tc>
                  <a:txBody>
                    <a:bodyPr anchor="t" rtlCol="false"/>
                    <a:lstStyle/>
                    <a:p>
                      <a:pPr algn="ctr">
                        <a:lnSpc>
                          <a:spcPts val="6719"/>
                        </a:lnSpc>
                        <a:defRPr/>
                      </a:pPr>
                      <a:r>
                        <a:rPr lang="en-US" sz="4800">
                          <a:solidFill>
                            <a:srgbClr val="000000"/>
                          </a:solidFill>
                          <a:latin typeface="Aristotelica Pro"/>
                          <a:ea typeface="Aristotelica Pro"/>
                          <a:cs typeface="Aristotelica Pro"/>
                          <a:sym typeface="Aristotelica Pro"/>
                        </a:rPr>
                        <a:t>Critical thinking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Analyze and evaluate the problem, interpret the result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Aristotelica Pro"/>
                          <a:ea typeface="Aristotelica Pro"/>
                          <a:cs typeface="Aristotelica Pro"/>
                          <a:sym typeface="Aristotelica Pro"/>
                        </a:rPr>
                        <a:t>Nurses should display analytical thinking while making patient care decisions. Applying both logic and creativity in resolving patient related issues is highly valued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143500">
                <a:tc>
                  <a:txBody>
                    <a:bodyPr anchor="t" rtlCol="false"/>
                    <a:lstStyle/>
                    <a:p>
                      <a:pPr algn="ctr">
                        <a:lnSpc>
                          <a:spcPts val="6719"/>
                        </a:lnSpc>
                        <a:defRPr/>
                      </a:pPr>
                      <a:r>
                        <a:rPr lang="en-US" sz="4800">
                          <a:solidFill>
                            <a:srgbClr val="000000"/>
                          </a:solidFill>
                          <a:latin typeface="Aristotelica Pro"/>
                          <a:ea typeface="Aristotelica Pro"/>
                          <a:cs typeface="Aristotelica Pro"/>
                          <a:sym typeface="Aristotelica Pro"/>
                        </a:rPr>
                        <a:t>Empathy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a:solidFill>
                            <a:srgbClr val="000000"/>
                          </a:solidFill>
                          <a:latin typeface="Glacial Indifference"/>
                          <a:ea typeface="Glacial Indifference"/>
                          <a:cs typeface="Glacial Indifference"/>
                          <a:sym typeface="Glacial Indifference"/>
                        </a:rPr>
                        <a:t>Ability to understand and feel what the patient is going through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An empathetic nurse can understand patient's problems, needs and feelings. This helps her to approach the patients In a kind and generous manner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0" y="0"/>
          <a:ext cx="18288000" cy="10287000"/>
        </p:xfrm>
        <a:graphic>
          <a:graphicData uri="http://schemas.openxmlformats.org/drawingml/2006/table">
            <a:tbl>
              <a:tblPr/>
              <a:tblGrid>
                <a:gridCol w="4429357"/>
                <a:gridCol w="6585955"/>
                <a:gridCol w="7272688"/>
              </a:tblGrid>
              <a:tr h="5010419">
                <a:tc>
                  <a:txBody>
                    <a:bodyPr anchor="t" rtlCol="false"/>
                    <a:lstStyle/>
                    <a:p>
                      <a:pPr algn="ctr">
                        <a:lnSpc>
                          <a:spcPts val="6719"/>
                        </a:lnSpc>
                        <a:defRPr/>
                      </a:pPr>
                      <a:r>
                        <a:rPr lang="en-US" sz="4800">
                          <a:solidFill>
                            <a:srgbClr val="000000"/>
                          </a:solidFill>
                          <a:latin typeface="Aristotelica Pro"/>
                          <a:ea typeface="Aristotelica Pro"/>
                          <a:cs typeface="Aristotelica Pro"/>
                          <a:sym typeface="Aristotelica Pro"/>
                        </a:rPr>
                        <a:t>Flexibility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Willingness to adjust to the work schedules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Aristotelica Pro"/>
                          <a:ea typeface="Aristotelica Pro"/>
                          <a:cs typeface="Aristotelica Pro"/>
                          <a:sym typeface="Aristotelica Pro"/>
                        </a:rPr>
                        <a:t>Nurses should be willing to adjust their working hours, do extra shifts or put in few more hours when required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276581">
                <a:tc>
                  <a:txBody>
                    <a:bodyPr anchor="t" rtlCol="false"/>
                    <a:lstStyle/>
                    <a:p>
                      <a:pPr algn="ctr">
                        <a:lnSpc>
                          <a:spcPts val="6719"/>
                        </a:lnSpc>
                        <a:defRPr/>
                      </a:pPr>
                      <a:r>
                        <a:rPr lang="en-US" sz="4800">
                          <a:solidFill>
                            <a:srgbClr val="000000"/>
                          </a:solidFill>
                          <a:latin typeface="Aristotelica Pro"/>
                          <a:ea typeface="Aristotelica Pro"/>
                          <a:cs typeface="Aristotelica Pro"/>
                          <a:sym typeface="Aristotelica Pro"/>
                        </a:rPr>
                        <a:t>Problem solving ability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Identify the problem, determine the various alternatives and select the suitable solution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When nurses encounter problems in their day-to-day activities they are expected to assess the situation, understand the problem and determine the course of action for each problem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0" y="0"/>
          <a:ext cx="18288000" cy="10630249"/>
        </p:xfrm>
        <a:graphic>
          <a:graphicData uri="http://schemas.openxmlformats.org/drawingml/2006/table">
            <a:tbl>
              <a:tblPr/>
              <a:tblGrid>
                <a:gridCol w="4429357"/>
                <a:gridCol w="6585955"/>
                <a:gridCol w="7272688"/>
              </a:tblGrid>
              <a:tr h="5315124">
                <a:tc>
                  <a:txBody>
                    <a:bodyPr anchor="t" rtlCol="false"/>
                    <a:lstStyle/>
                    <a:p>
                      <a:pPr algn="ctr">
                        <a:lnSpc>
                          <a:spcPts val="6719"/>
                        </a:lnSpc>
                        <a:defRPr/>
                      </a:pPr>
                      <a:r>
                        <a:rPr lang="en-US" sz="4800">
                          <a:solidFill>
                            <a:srgbClr val="000000"/>
                          </a:solidFill>
                          <a:latin typeface="Aristotelica Pro"/>
                          <a:ea typeface="Aristotelica Pro"/>
                          <a:cs typeface="Aristotelica Pro"/>
                          <a:sym typeface="Aristotelica Pro"/>
                        </a:rPr>
                        <a:t>Professionalism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Knowledge, skills, values and beliefs that guide the profession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040"/>
                        </a:lnSpc>
                        <a:defRPr/>
                      </a:pPr>
                      <a:r>
                        <a:rPr lang="en-US" sz="3600">
                          <a:solidFill>
                            <a:srgbClr val="000000"/>
                          </a:solidFill>
                          <a:latin typeface="Aristotelica Pro"/>
                          <a:ea typeface="Aristotelica Pro"/>
                          <a:cs typeface="Aristotelica Pro"/>
                          <a:sym typeface="Aristotelica Pro"/>
                        </a:rPr>
                        <a:t>It enables the nurse to provide high standards of practice and care at all times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315124">
                <a:tc>
                  <a:txBody>
                    <a:bodyPr anchor="t" rtlCol="false"/>
                    <a:lstStyle/>
                    <a:p>
                      <a:pPr algn="ctr">
                        <a:lnSpc>
                          <a:spcPts val="6719"/>
                        </a:lnSpc>
                        <a:defRPr/>
                      </a:pPr>
                      <a:r>
                        <a:rPr lang="en-US" sz="4800">
                          <a:solidFill>
                            <a:srgbClr val="000000"/>
                          </a:solidFill>
                          <a:latin typeface="Aristotelica Pro"/>
                          <a:ea typeface="Aristotelica Pro"/>
                          <a:cs typeface="Aristotelica Pro"/>
                          <a:sym typeface="Aristotelica Pro"/>
                        </a:rPr>
                        <a:t>Taking initiative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Exhibiting eagerness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Nurse should exhibit willingness and eagerness to manage the work situation without being told to do so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0" y="0"/>
          <a:ext cx="18288000" cy="10287000"/>
        </p:xfrm>
        <a:graphic>
          <a:graphicData uri="http://schemas.openxmlformats.org/drawingml/2006/table">
            <a:tbl>
              <a:tblPr/>
              <a:tblGrid>
                <a:gridCol w="4429357"/>
                <a:gridCol w="6585955"/>
                <a:gridCol w="7272688"/>
              </a:tblGrid>
              <a:tr h="5010419">
                <a:tc>
                  <a:txBody>
                    <a:bodyPr anchor="t" rtlCol="false"/>
                    <a:lstStyle/>
                    <a:p>
                      <a:pPr algn="ctr">
                        <a:lnSpc>
                          <a:spcPts val="6719"/>
                        </a:lnSpc>
                        <a:defRPr/>
                      </a:pPr>
                      <a:r>
                        <a:rPr lang="en-US" sz="4800">
                          <a:solidFill>
                            <a:srgbClr val="000000"/>
                          </a:solidFill>
                          <a:latin typeface="Aristotelica Pro"/>
                          <a:ea typeface="Aristotelica Pro"/>
                          <a:cs typeface="Aristotelica Pro"/>
                          <a:sym typeface="Aristotelica Pro"/>
                        </a:rPr>
                        <a:t>Teamwork and networking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Two or more people interacting independently towards a common goal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Aristotelica Pro"/>
                          <a:ea typeface="Aristotelica Pro"/>
                          <a:cs typeface="Aristotelica Pro"/>
                          <a:sym typeface="Aristotelica Pro"/>
                        </a:rPr>
                        <a:t>Being a member of the health team she needs to co ordinate with other healthcare professionals to provide best possible patient care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276581">
                <a:tc>
                  <a:txBody>
                    <a:bodyPr anchor="t" rtlCol="false"/>
                    <a:lstStyle/>
                    <a:p>
                      <a:pPr algn="ctr">
                        <a:lnSpc>
                          <a:spcPts val="6719"/>
                        </a:lnSpc>
                        <a:defRPr/>
                      </a:pPr>
                      <a:r>
                        <a:rPr lang="en-US" sz="4800">
                          <a:solidFill>
                            <a:srgbClr val="000000"/>
                          </a:solidFill>
                          <a:latin typeface="Aristotelica Pro"/>
                          <a:ea typeface="Aristotelica Pro"/>
                          <a:cs typeface="Aristotelica Pro"/>
                          <a:sym typeface="Aristotelica Pro"/>
                        </a:rPr>
                        <a:t>Tolerance and conflict resolution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Coping with stressful situations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Glacial Indifference"/>
                          <a:ea typeface="Glacial Indifference"/>
                          <a:cs typeface="Glacial Indifference"/>
                          <a:sym typeface="Glacial Indifference"/>
                        </a:rPr>
                        <a:t>Nurses should have the ability to face critical situations in a calm and composed manner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0" y="0"/>
          <a:ext cx="18288000" cy="10287000"/>
        </p:xfrm>
        <a:graphic>
          <a:graphicData uri="http://schemas.openxmlformats.org/drawingml/2006/table">
            <a:tbl>
              <a:tblPr/>
              <a:tblGrid>
                <a:gridCol w="4429357"/>
                <a:gridCol w="6585955"/>
                <a:gridCol w="7272688"/>
              </a:tblGrid>
              <a:tr h="5010419">
                <a:tc>
                  <a:txBody>
                    <a:bodyPr anchor="t" rtlCol="false"/>
                    <a:lstStyle/>
                    <a:p>
                      <a:pPr algn="ctr">
                        <a:lnSpc>
                          <a:spcPts val="6719"/>
                        </a:lnSpc>
                        <a:defRPr/>
                      </a:pPr>
                      <a:r>
                        <a:rPr lang="en-US" sz="4800">
                          <a:solidFill>
                            <a:srgbClr val="000000"/>
                          </a:solidFill>
                          <a:latin typeface="Aristotelica Pro"/>
                          <a:ea typeface="Aristotelica Pro"/>
                          <a:cs typeface="Aristotelica Pro"/>
                          <a:sym typeface="Aristotelica Pro"/>
                        </a:rPr>
                        <a:t>Work ethics and commitment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179"/>
                        </a:lnSpc>
                        <a:defRPr/>
                      </a:pPr>
                      <a:r>
                        <a:rPr lang="en-US" sz="3699">
                          <a:solidFill>
                            <a:srgbClr val="000000"/>
                          </a:solidFill>
                          <a:latin typeface="Glacial Indifference"/>
                          <a:ea typeface="Glacial Indifference"/>
                          <a:cs typeface="Glacial Indifference"/>
                          <a:sym typeface="Glacial Indifference"/>
                        </a:rPr>
                        <a:t>Moral principles related to work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040"/>
                        </a:lnSpc>
                        <a:defRPr/>
                      </a:pPr>
                      <a:r>
                        <a:rPr lang="en-US" sz="3600">
                          <a:solidFill>
                            <a:srgbClr val="000000"/>
                          </a:solidFill>
                          <a:latin typeface="Aristotelica Pro"/>
                          <a:ea typeface="Aristotelica Pro"/>
                          <a:cs typeface="Aristotelica Pro"/>
                          <a:sym typeface="Aristotelica Pro"/>
                        </a:rPr>
                        <a:t>Nurse should be honest, trustworthy, diligent and have a strong work commitment to meet the professional requirement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5276581">
                <a:tc>
                  <a:txBody>
                    <a:bodyPr anchor="t" rtlCol="false"/>
                    <a:lstStyle/>
                    <a:p>
                      <a:pPr algn="ctr">
                        <a:lnSpc>
                          <a:spcPts val="671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35604" y="2366617"/>
            <a:ext cx="1314379" cy="131437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44B4"/>
            </a:solidFill>
            <a:ln cap="sq">
              <a:no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54654" y="4843046"/>
            <a:ext cx="1314379" cy="131437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44B4"/>
            </a:solidFill>
            <a:ln cap="sq">
              <a:no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535604" y="7317166"/>
            <a:ext cx="1314379" cy="131437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44B4"/>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536268" y="-406046"/>
            <a:ext cx="7145724" cy="11308869"/>
            <a:chOff x="0" y="0"/>
            <a:chExt cx="1882001" cy="2978467"/>
          </a:xfrm>
        </p:grpSpPr>
        <p:sp>
          <p:nvSpPr>
            <p:cNvPr name="Freeform 12" id="12"/>
            <p:cNvSpPr/>
            <p:nvPr/>
          </p:nvSpPr>
          <p:spPr>
            <a:xfrm flipH="false" flipV="false" rot="0">
              <a:off x="0" y="0"/>
              <a:ext cx="1882001" cy="2978467"/>
            </a:xfrm>
            <a:custGeom>
              <a:avLst/>
              <a:gdLst/>
              <a:ahLst/>
              <a:cxnLst/>
              <a:rect r="r" b="b" t="t" l="l"/>
              <a:pathLst>
                <a:path h="2978467" w="1882001">
                  <a:moveTo>
                    <a:pt x="0" y="0"/>
                  </a:moveTo>
                  <a:lnTo>
                    <a:pt x="1882001" y="0"/>
                  </a:lnTo>
                  <a:lnTo>
                    <a:pt x="1882001" y="2978467"/>
                  </a:lnTo>
                  <a:lnTo>
                    <a:pt x="0" y="2978467"/>
                  </a:lnTo>
                  <a:close/>
                </a:path>
              </a:pathLst>
            </a:custGeom>
            <a:solidFill>
              <a:srgbClr val="FFCE6D"/>
            </a:solidFill>
          </p:spPr>
        </p:sp>
        <p:sp>
          <p:nvSpPr>
            <p:cNvPr name="TextBox 13" id="13"/>
            <p:cNvSpPr txBox="true"/>
            <p:nvPr/>
          </p:nvSpPr>
          <p:spPr>
            <a:xfrm>
              <a:off x="0" y="-38100"/>
              <a:ext cx="1882001" cy="3016567"/>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0" y="200025"/>
            <a:ext cx="5720103" cy="2562224"/>
          </a:xfrm>
          <a:prstGeom prst="rect">
            <a:avLst/>
          </a:prstGeom>
        </p:spPr>
        <p:txBody>
          <a:bodyPr anchor="t" rtlCol="false" tIns="0" lIns="0" bIns="0" rIns="0">
            <a:spAutoFit/>
          </a:bodyPr>
          <a:lstStyle/>
          <a:p>
            <a:pPr algn="just">
              <a:lnSpc>
                <a:spcPts val="9899"/>
              </a:lnSpc>
            </a:pPr>
            <a:r>
              <a:rPr lang="en-US" sz="9999">
                <a:solidFill>
                  <a:srgbClr val="291B25"/>
                </a:solidFill>
                <a:latin typeface="Berthold Block"/>
                <a:ea typeface="Berthold Block"/>
                <a:cs typeface="Berthold Block"/>
                <a:sym typeface="Berthold Block"/>
              </a:rPr>
              <a:t>TYPES OF SOFT SKILL</a:t>
            </a:r>
          </a:p>
        </p:txBody>
      </p:sp>
      <p:sp>
        <p:nvSpPr>
          <p:cNvPr name="TextBox 15" id="15"/>
          <p:cNvSpPr txBox="true"/>
          <p:nvPr/>
        </p:nvSpPr>
        <p:spPr>
          <a:xfrm rot="0">
            <a:off x="7702198" y="2619148"/>
            <a:ext cx="981191" cy="781050"/>
          </a:xfrm>
          <a:prstGeom prst="rect">
            <a:avLst/>
          </a:prstGeom>
        </p:spPr>
        <p:txBody>
          <a:bodyPr anchor="t" rtlCol="false" tIns="0" lIns="0" bIns="0" rIns="0">
            <a:spAutoFit/>
          </a:bodyPr>
          <a:lstStyle/>
          <a:p>
            <a:pPr algn="ctr">
              <a:lnSpc>
                <a:spcPts val="6300"/>
              </a:lnSpc>
            </a:pPr>
            <a:r>
              <a:rPr lang="en-US" sz="4500" spc="360">
                <a:solidFill>
                  <a:srgbClr val="FFFFFF"/>
                </a:solidFill>
                <a:latin typeface="Glacial Indifference"/>
                <a:ea typeface="Glacial Indifference"/>
                <a:cs typeface="Glacial Indifference"/>
                <a:sym typeface="Glacial Indifference"/>
              </a:rPr>
              <a:t>01</a:t>
            </a:r>
          </a:p>
        </p:txBody>
      </p:sp>
      <p:sp>
        <p:nvSpPr>
          <p:cNvPr name="TextBox 16" id="16"/>
          <p:cNvSpPr txBox="true"/>
          <p:nvPr/>
        </p:nvSpPr>
        <p:spPr>
          <a:xfrm rot="0">
            <a:off x="9099197" y="2688998"/>
            <a:ext cx="8160103" cy="669925"/>
          </a:xfrm>
          <a:prstGeom prst="rect">
            <a:avLst/>
          </a:prstGeom>
        </p:spPr>
        <p:txBody>
          <a:bodyPr anchor="t" rtlCol="false" tIns="0" lIns="0" bIns="0" rIns="0">
            <a:spAutoFit/>
          </a:bodyPr>
          <a:lstStyle/>
          <a:p>
            <a:pPr algn="l">
              <a:lnSpc>
                <a:spcPts val="5599"/>
              </a:lnSpc>
            </a:pPr>
            <a:r>
              <a:rPr lang="en-US" sz="3999" spc="39">
                <a:solidFill>
                  <a:srgbClr val="291B25"/>
                </a:solidFill>
                <a:latin typeface="Anton"/>
                <a:ea typeface="Anton"/>
                <a:cs typeface="Anton"/>
                <a:sym typeface="Anton"/>
              </a:rPr>
              <a:t>Visual soft skill</a:t>
            </a:r>
          </a:p>
        </p:txBody>
      </p:sp>
      <p:sp>
        <p:nvSpPr>
          <p:cNvPr name="TextBox 17" id="17"/>
          <p:cNvSpPr txBox="true"/>
          <p:nvPr/>
        </p:nvSpPr>
        <p:spPr>
          <a:xfrm rot="0">
            <a:off x="7721248" y="5048250"/>
            <a:ext cx="981191" cy="781050"/>
          </a:xfrm>
          <a:prstGeom prst="rect">
            <a:avLst/>
          </a:prstGeom>
        </p:spPr>
        <p:txBody>
          <a:bodyPr anchor="t" rtlCol="false" tIns="0" lIns="0" bIns="0" rIns="0">
            <a:spAutoFit/>
          </a:bodyPr>
          <a:lstStyle/>
          <a:p>
            <a:pPr algn="ctr">
              <a:lnSpc>
                <a:spcPts val="6300"/>
              </a:lnSpc>
            </a:pPr>
            <a:r>
              <a:rPr lang="en-US" sz="4500" spc="360">
                <a:solidFill>
                  <a:srgbClr val="FFFFFF"/>
                </a:solidFill>
                <a:latin typeface="Glacial Indifference"/>
                <a:ea typeface="Glacial Indifference"/>
                <a:cs typeface="Glacial Indifference"/>
                <a:sym typeface="Glacial Indifference"/>
              </a:rPr>
              <a:t>02</a:t>
            </a:r>
          </a:p>
        </p:txBody>
      </p:sp>
      <p:sp>
        <p:nvSpPr>
          <p:cNvPr name="TextBox 18" id="18"/>
          <p:cNvSpPr txBox="true"/>
          <p:nvPr/>
        </p:nvSpPr>
        <p:spPr>
          <a:xfrm rot="0">
            <a:off x="9144000" y="5118100"/>
            <a:ext cx="8160103" cy="669925"/>
          </a:xfrm>
          <a:prstGeom prst="rect">
            <a:avLst/>
          </a:prstGeom>
        </p:spPr>
        <p:txBody>
          <a:bodyPr anchor="t" rtlCol="false" tIns="0" lIns="0" bIns="0" rIns="0">
            <a:spAutoFit/>
          </a:bodyPr>
          <a:lstStyle/>
          <a:p>
            <a:pPr algn="l">
              <a:lnSpc>
                <a:spcPts val="5599"/>
              </a:lnSpc>
            </a:pPr>
            <a:r>
              <a:rPr lang="en-US" sz="3999" spc="39">
                <a:solidFill>
                  <a:srgbClr val="291B25"/>
                </a:solidFill>
                <a:latin typeface="Anton"/>
                <a:ea typeface="Anton"/>
                <a:cs typeface="Anton"/>
                <a:sym typeface="Anton"/>
              </a:rPr>
              <a:t>Auditory soft skill</a:t>
            </a:r>
          </a:p>
        </p:txBody>
      </p:sp>
      <p:sp>
        <p:nvSpPr>
          <p:cNvPr name="TextBox 19" id="19"/>
          <p:cNvSpPr txBox="true"/>
          <p:nvPr/>
        </p:nvSpPr>
        <p:spPr>
          <a:xfrm rot="0">
            <a:off x="7702198" y="7536206"/>
            <a:ext cx="981191" cy="781050"/>
          </a:xfrm>
          <a:prstGeom prst="rect">
            <a:avLst/>
          </a:prstGeom>
        </p:spPr>
        <p:txBody>
          <a:bodyPr anchor="t" rtlCol="false" tIns="0" lIns="0" bIns="0" rIns="0">
            <a:spAutoFit/>
          </a:bodyPr>
          <a:lstStyle/>
          <a:p>
            <a:pPr algn="ctr">
              <a:lnSpc>
                <a:spcPts val="6300"/>
              </a:lnSpc>
            </a:pPr>
            <a:r>
              <a:rPr lang="en-US" sz="4500" spc="360">
                <a:solidFill>
                  <a:srgbClr val="FFFFFF"/>
                </a:solidFill>
                <a:latin typeface="Glacial Indifference"/>
                <a:ea typeface="Glacial Indifference"/>
                <a:cs typeface="Glacial Indifference"/>
                <a:sym typeface="Glacial Indifference"/>
              </a:rPr>
              <a:t>03</a:t>
            </a:r>
          </a:p>
        </p:txBody>
      </p:sp>
      <p:sp>
        <p:nvSpPr>
          <p:cNvPr name="TextBox 20" id="20"/>
          <p:cNvSpPr txBox="true"/>
          <p:nvPr/>
        </p:nvSpPr>
        <p:spPr>
          <a:xfrm rot="0">
            <a:off x="9144000" y="7564781"/>
            <a:ext cx="8160103" cy="669925"/>
          </a:xfrm>
          <a:prstGeom prst="rect">
            <a:avLst/>
          </a:prstGeom>
        </p:spPr>
        <p:txBody>
          <a:bodyPr anchor="t" rtlCol="false" tIns="0" lIns="0" bIns="0" rIns="0">
            <a:spAutoFit/>
          </a:bodyPr>
          <a:lstStyle/>
          <a:p>
            <a:pPr algn="l">
              <a:lnSpc>
                <a:spcPts val="5599"/>
              </a:lnSpc>
            </a:pPr>
            <a:r>
              <a:rPr lang="en-US" sz="3999" spc="39">
                <a:solidFill>
                  <a:srgbClr val="291B25"/>
                </a:solidFill>
                <a:latin typeface="Anton"/>
                <a:ea typeface="Anton"/>
                <a:cs typeface="Anton"/>
                <a:sym typeface="Anton"/>
              </a:rPr>
              <a:t>Communication skill</a:t>
            </a:r>
          </a:p>
        </p:txBody>
      </p:sp>
      <p:sp>
        <p:nvSpPr>
          <p:cNvPr name="Freeform 21" id="21"/>
          <p:cNvSpPr/>
          <p:nvPr/>
        </p:nvSpPr>
        <p:spPr>
          <a:xfrm flipH="true" flipV="false" rot="0">
            <a:off x="1028700" y="5143500"/>
            <a:ext cx="4691403" cy="4015240"/>
          </a:xfrm>
          <a:custGeom>
            <a:avLst/>
            <a:gdLst/>
            <a:ahLst/>
            <a:cxnLst/>
            <a:rect r="r" b="b" t="t" l="l"/>
            <a:pathLst>
              <a:path h="4015240" w="4691403">
                <a:moveTo>
                  <a:pt x="4691403" y="0"/>
                </a:moveTo>
                <a:lnTo>
                  <a:pt x="0" y="0"/>
                </a:lnTo>
                <a:lnTo>
                  <a:pt x="0" y="4015240"/>
                </a:lnTo>
                <a:lnTo>
                  <a:pt x="4691403" y="4015240"/>
                </a:lnTo>
                <a:lnTo>
                  <a:pt x="469140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055779" y="-161925"/>
            <a:ext cx="10426713"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VISUAL SOFT SKILL </a:t>
            </a:r>
          </a:p>
        </p:txBody>
      </p:sp>
      <p:sp>
        <p:nvSpPr>
          <p:cNvPr name="TextBox 3" id="3"/>
          <p:cNvSpPr txBox="true"/>
          <p:nvPr/>
        </p:nvSpPr>
        <p:spPr>
          <a:xfrm rot="0">
            <a:off x="1028700" y="1231901"/>
            <a:ext cx="15608884" cy="9272013"/>
          </a:xfrm>
          <a:prstGeom prst="rect">
            <a:avLst/>
          </a:prstGeom>
        </p:spPr>
        <p:txBody>
          <a:bodyPr anchor="t" rtlCol="false" tIns="0" lIns="0" bIns="0" rIns="0">
            <a:spAutoFit/>
          </a:bodyPr>
          <a:lstStyle/>
          <a:p>
            <a:pPr algn="l">
              <a:lnSpc>
                <a:spcPts val="3873"/>
              </a:lnSpc>
            </a:pPr>
            <a:r>
              <a:rPr lang="en-US" sz="2767">
                <a:solidFill>
                  <a:srgbClr val="000000"/>
                </a:solidFill>
                <a:latin typeface="Alatsi"/>
                <a:ea typeface="Alatsi"/>
                <a:cs typeface="Alatsi"/>
                <a:sym typeface="Alatsi"/>
              </a:rPr>
              <a:t>Visual soft skills  are nonverbal communication skills that involve the use of body language and other visual signs to convey meaning and build relationships. Visual soft skills can convey empathy and understanding.Some common visual soft skills include:</a:t>
            </a:r>
          </a:p>
          <a:p>
            <a:pPr algn="l">
              <a:lnSpc>
                <a:spcPts val="3873"/>
              </a:lnSpc>
            </a:pPr>
            <a:r>
              <a:rPr lang="en-US" sz="2767">
                <a:solidFill>
                  <a:srgbClr val="000000"/>
                </a:solidFill>
                <a:latin typeface="Alatsi"/>
                <a:ea typeface="Alatsi"/>
                <a:cs typeface="Alatsi"/>
                <a:sym typeface="Alatsi"/>
              </a:rPr>
              <a:t>🔸E</a:t>
            </a:r>
            <a:r>
              <a:rPr lang="en-US" sz="2767">
                <a:solidFill>
                  <a:srgbClr val="000000"/>
                </a:solidFill>
                <a:latin typeface="Alatsi"/>
                <a:ea typeface="Alatsi"/>
                <a:cs typeface="Alatsi"/>
                <a:sym typeface="Alatsi"/>
              </a:rPr>
              <a:t>ye contact</a:t>
            </a:r>
          </a:p>
          <a:p>
            <a:pPr algn="l">
              <a:lnSpc>
                <a:spcPts val="3873"/>
              </a:lnSpc>
            </a:pPr>
            <a:r>
              <a:rPr lang="en-US" sz="2767">
                <a:solidFill>
                  <a:srgbClr val="000000"/>
                </a:solidFill>
                <a:latin typeface="Alatsi"/>
                <a:ea typeface="Alatsi"/>
                <a:cs typeface="Alatsi"/>
                <a:sym typeface="Alatsi"/>
              </a:rPr>
              <a:t>Maintaining eye contact during a conversation can convey sincerity, interest, and confidence.</a:t>
            </a:r>
          </a:p>
          <a:p>
            <a:pPr algn="l">
              <a:lnSpc>
                <a:spcPts val="3873"/>
              </a:lnSpc>
            </a:pPr>
            <a:r>
              <a:rPr lang="en-US" sz="2767">
                <a:solidFill>
                  <a:srgbClr val="000000"/>
                </a:solidFill>
                <a:latin typeface="Alatsi"/>
                <a:ea typeface="Alatsi"/>
                <a:cs typeface="Alatsi"/>
                <a:sym typeface="Alatsi"/>
              </a:rPr>
              <a:t>🔸Fa</a:t>
            </a:r>
            <a:r>
              <a:rPr lang="en-US" sz="2767">
                <a:solidFill>
                  <a:srgbClr val="000000"/>
                </a:solidFill>
                <a:latin typeface="Alatsi"/>
                <a:ea typeface="Alatsi"/>
                <a:cs typeface="Alatsi"/>
                <a:sym typeface="Alatsi"/>
              </a:rPr>
              <a:t>cial expressions</a:t>
            </a:r>
          </a:p>
          <a:p>
            <a:pPr algn="l">
              <a:lnSpc>
                <a:spcPts val="3873"/>
              </a:lnSpc>
            </a:pPr>
            <a:r>
              <a:rPr lang="en-US" sz="2767">
                <a:solidFill>
                  <a:srgbClr val="000000"/>
                </a:solidFill>
                <a:latin typeface="Alatsi"/>
                <a:ea typeface="Alatsi"/>
                <a:cs typeface="Alatsi"/>
                <a:sym typeface="Alatsi"/>
              </a:rPr>
              <a:t>Smiling, nodding and other facial expressions can help to establish bond and convey empathy and understanding.</a:t>
            </a:r>
          </a:p>
          <a:p>
            <a:pPr algn="l">
              <a:lnSpc>
                <a:spcPts val="3873"/>
              </a:lnSpc>
            </a:pPr>
            <a:r>
              <a:rPr lang="en-US" sz="2767">
                <a:solidFill>
                  <a:srgbClr val="000000"/>
                </a:solidFill>
                <a:latin typeface="Alatsi"/>
                <a:ea typeface="Alatsi"/>
                <a:cs typeface="Alatsi"/>
                <a:sym typeface="Alatsi"/>
              </a:rPr>
              <a:t>🔸Posture</a:t>
            </a:r>
          </a:p>
          <a:p>
            <a:pPr algn="l">
              <a:lnSpc>
                <a:spcPts val="3873"/>
              </a:lnSpc>
            </a:pPr>
            <a:r>
              <a:rPr lang="en-US" sz="2767">
                <a:solidFill>
                  <a:srgbClr val="000000"/>
                </a:solidFill>
                <a:latin typeface="Alatsi"/>
                <a:ea typeface="Alatsi"/>
                <a:cs typeface="Alatsi"/>
                <a:sym typeface="Alatsi"/>
              </a:rPr>
              <a:t>Sitting or standing up straight can convey confidence and assertiveness, while lethargic posture can convey disinterest or lack of confidence.</a:t>
            </a:r>
          </a:p>
          <a:p>
            <a:pPr algn="l">
              <a:lnSpc>
                <a:spcPts val="3873"/>
              </a:lnSpc>
            </a:pPr>
            <a:r>
              <a:rPr lang="en-US" sz="2767">
                <a:solidFill>
                  <a:srgbClr val="000000"/>
                </a:solidFill>
                <a:latin typeface="Alatsi"/>
                <a:ea typeface="Alatsi"/>
                <a:cs typeface="Alatsi"/>
                <a:sym typeface="Alatsi"/>
              </a:rPr>
              <a:t>🔸G</a:t>
            </a:r>
            <a:r>
              <a:rPr lang="en-US" sz="2767">
                <a:solidFill>
                  <a:srgbClr val="000000"/>
                </a:solidFill>
                <a:latin typeface="Alatsi"/>
                <a:ea typeface="Alatsi"/>
                <a:cs typeface="Alatsi"/>
                <a:sym typeface="Alatsi"/>
              </a:rPr>
              <a:t>estures</a:t>
            </a:r>
          </a:p>
          <a:p>
            <a:pPr algn="l">
              <a:lnSpc>
                <a:spcPts val="3873"/>
              </a:lnSpc>
            </a:pPr>
            <a:r>
              <a:rPr lang="en-US" sz="2767">
                <a:solidFill>
                  <a:srgbClr val="000000"/>
                </a:solidFill>
                <a:latin typeface="Alatsi"/>
                <a:ea typeface="Alatsi"/>
                <a:cs typeface="Alatsi"/>
                <a:sym typeface="Alatsi"/>
              </a:rPr>
              <a:t>Hand gestures and other</a:t>
            </a:r>
          </a:p>
          <a:p>
            <a:pPr algn="l">
              <a:lnSpc>
                <a:spcPts val="3873"/>
              </a:lnSpc>
            </a:pPr>
            <a:r>
              <a:rPr lang="en-US" sz="2767">
                <a:solidFill>
                  <a:srgbClr val="000000"/>
                </a:solidFill>
                <a:latin typeface="Alatsi"/>
                <a:ea typeface="Alatsi"/>
                <a:cs typeface="Alatsi"/>
                <a:sym typeface="Alatsi"/>
              </a:rPr>
              <a:t> nonverbal signs can help to reinforce the message being conveyed through verbal communication.</a:t>
            </a:r>
          </a:p>
          <a:p>
            <a:pPr algn="l">
              <a:lnSpc>
                <a:spcPts val="3873"/>
              </a:lnSpc>
            </a:pPr>
            <a:r>
              <a:rPr lang="en-US" sz="2767">
                <a:solidFill>
                  <a:srgbClr val="000000"/>
                </a:solidFill>
                <a:latin typeface="Alatsi"/>
                <a:ea typeface="Alatsi"/>
                <a:cs typeface="Alatsi"/>
                <a:sym typeface="Alatsi"/>
              </a:rPr>
              <a:t>🔸</a:t>
            </a:r>
            <a:r>
              <a:rPr lang="en-US" sz="2767">
                <a:solidFill>
                  <a:srgbClr val="000000"/>
                </a:solidFill>
                <a:latin typeface="Alatsi"/>
                <a:ea typeface="Alatsi"/>
                <a:cs typeface="Alatsi"/>
                <a:sym typeface="Alatsi"/>
              </a:rPr>
              <a:t>Appearance</a:t>
            </a:r>
          </a:p>
          <a:p>
            <a:pPr algn="l">
              <a:lnSpc>
                <a:spcPts val="3873"/>
              </a:lnSpc>
            </a:pPr>
            <a:r>
              <a:rPr lang="en-US" sz="2767">
                <a:solidFill>
                  <a:srgbClr val="000000"/>
                </a:solidFill>
                <a:latin typeface="Alatsi"/>
                <a:ea typeface="Alatsi"/>
                <a:cs typeface="Alatsi"/>
                <a:sym typeface="Alatsi"/>
              </a:rPr>
              <a:t>Dressing appropriately</a:t>
            </a:r>
          </a:p>
          <a:p>
            <a:pPr algn="l">
              <a:lnSpc>
                <a:spcPts val="3873"/>
              </a:lnSpc>
            </a:pPr>
            <a:r>
              <a:rPr lang="en-US" sz="2767">
                <a:solidFill>
                  <a:srgbClr val="000000"/>
                </a:solidFill>
                <a:latin typeface="Alatsi"/>
                <a:ea typeface="Alatsi"/>
                <a:cs typeface="Alatsi"/>
                <a:sym typeface="Alatsi"/>
              </a:rPr>
              <a:t> for the context can help to establish credibility and professionalism.</a:t>
            </a:r>
          </a:p>
          <a:p>
            <a:pPr algn="l">
              <a:lnSpc>
                <a:spcPts val="3873"/>
              </a:lnSpc>
            </a:pPr>
          </a:p>
          <a:p>
            <a:pPr algn="l">
              <a:lnSpc>
                <a:spcPts val="3873"/>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942975"/>
            <a:ext cx="14705320" cy="3694293"/>
          </a:xfrm>
          <a:prstGeom prst="rect">
            <a:avLst/>
          </a:prstGeom>
        </p:spPr>
        <p:txBody>
          <a:bodyPr anchor="t" rtlCol="false" tIns="0" lIns="0" bIns="0" rIns="0">
            <a:spAutoFit/>
          </a:bodyPr>
          <a:lstStyle/>
          <a:p>
            <a:pPr algn="l">
              <a:lnSpc>
                <a:spcPts val="5852"/>
              </a:lnSpc>
            </a:pPr>
            <a:r>
              <a:rPr lang="en-US" sz="4180">
                <a:solidFill>
                  <a:srgbClr val="000000"/>
                </a:solidFill>
                <a:latin typeface="Alatsi"/>
                <a:ea typeface="Alatsi"/>
                <a:cs typeface="Alatsi"/>
                <a:sym typeface="Alatsi"/>
              </a:rPr>
              <a:t>🔸Proximity</a:t>
            </a:r>
          </a:p>
          <a:p>
            <a:pPr algn="l">
              <a:lnSpc>
                <a:spcPts val="5852"/>
              </a:lnSpc>
            </a:pPr>
            <a:r>
              <a:rPr lang="en-US" sz="4180">
                <a:solidFill>
                  <a:srgbClr val="000000"/>
                </a:solidFill>
                <a:latin typeface="Alatsi"/>
                <a:ea typeface="Alatsi"/>
                <a:cs typeface="Alatsi"/>
                <a:sym typeface="Alatsi"/>
              </a:rPr>
              <a:t>Adjusting physical distance can help to establish rapport and convey different levels of intimacy or formality.</a:t>
            </a:r>
          </a:p>
          <a:p>
            <a:pPr algn="l">
              <a:lnSpc>
                <a:spcPts val="5852"/>
              </a:lnSpc>
            </a:pPr>
          </a:p>
          <a:p>
            <a:pPr algn="l">
              <a:lnSpc>
                <a:spcPts val="5852"/>
              </a:lnSpc>
            </a:pPr>
          </a:p>
        </p:txBody>
      </p:sp>
      <p:sp>
        <p:nvSpPr>
          <p:cNvPr name="Freeform 3" id="3"/>
          <p:cNvSpPr/>
          <p:nvPr/>
        </p:nvSpPr>
        <p:spPr>
          <a:xfrm flipH="false" flipV="false" rot="0">
            <a:off x="13764167" y="620819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330605" y="1616075"/>
            <a:ext cx="18288000" cy="20318158"/>
          </a:xfrm>
          <a:prstGeom prst="rect">
            <a:avLst/>
          </a:prstGeom>
        </p:spPr>
        <p:txBody>
          <a:bodyPr anchor="t" rtlCol="false" tIns="0" lIns="0" bIns="0" rIns="0">
            <a:spAutoFit/>
          </a:bodyPr>
          <a:lstStyle/>
          <a:p>
            <a:pPr algn="l">
              <a:lnSpc>
                <a:spcPts val="3639"/>
              </a:lnSpc>
            </a:pPr>
          </a:p>
          <a:p>
            <a:pPr algn="l">
              <a:lnSpc>
                <a:spcPts val="3639"/>
              </a:lnSpc>
            </a:pPr>
          </a:p>
          <a:p>
            <a:pPr algn="l">
              <a:lnSpc>
                <a:spcPts val="3639"/>
              </a:lnSpc>
            </a:pPr>
            <a:r>
              <a:rPr lang="en-US" sz="2599">
                <a:solidFill>
                  <a:srgbClr val="000000"/>
                </a:solidFill>
                <a:latin typeface="Alatsi"/>
                <a:ea typeface="Alatsi"/>
                <a:cs typeface="Alatsi"/>
                <a:sym typeface="Alatsi"/>
              </a:rPr>
              <a:t>AUDITORY SOFT SKILLS are the skills related to listening and communicating effectively with others through spoken language. Some Examples of auditory soft skills are</a:t>
            </a:r>
          </a:p>
          <a:p>
            <a:pPr algn="l">
              <a:lnSpc>
                <a:spcPts val="3639"/>
              </a:lnSpc>
            </a:pPr>
          </a:p>
          <a:p>
            <a:pPr algn="l">
              <a:lnSpc>
                <a:spcPts val="3639"/>
              </a:lnSpc>
            </a:pPr>
            <a:r>
              <a:rPr lang="en-US" sz="2599">
                <a:solidFill>
                  <a:srgbClr val="000000"/>
                </a:solidFill>
                <a:latin typeface="Alatsi"/>
                <a:ea typeface="Alatsi"/>
                <a:cs typeface="Alatsi"/>
                <a:sym typeface="Alatsi"/>
              </a:rPr>
              <a:t>🔸Active listening</a:t>
            </a:r>
          </a:p>
          <a:p>
            <a:pPr algn="l">
              <a:lnSpc>
                <a:spcPts val="3639"/>
              </a:lnSpc>
            </a:pPr>
            <a:r>
              <a:rPr lang="en-US" sz="2599">
                <a:solidFill>
                  <a:srgbClr val="000000"/>
                </a:solidFill>
                <a:latin typeface="Alatsi"/>
                <a:ea typeface="Alatsi"/>
                <a:cs typeface="Alatsi"/>
                <a:sym typeface="Alatsi"/>
              </a:rPr>
              <a:t> This is the ability beyond simply hearing the words that another person speaks but also to understand the meaning and intent behind them without interrupting or losing attention. You need to be fully present, showing interest, using non-verbal signs, asking open-ended questions and paraphrasing(reflecting back what has been heard)</a:t>
            </a:r>
          </a:p>
          <a:p>
            <a:pPr algn="l">
              <a:lnSpc>
                <a:spcPts val="3639"/>
              </a:lnSpc>
            </a:pPr>
            <a:r>
              <a:rPr lang="en-US" sz="2599">
                <a:solidFill>
                  <a:srgbClr val="000000"/>
                </a:solidFill>
                <a:latin typeface="Alatsi"/>
                <a:ea typeface="Alatsi"/>
                <a:cs typeface="Alatsi"/>
                <a:sym typeface="Alatsi"/>
              </a:rPr>
              <a:t> </a:t>
            </a:r>
          </a:p>
          <a:p>
            <a:pPr algn="l">
              <a:lnSpc>
                <a:spcPts val="3639"/>
              </a:lnSpc>
            </a:pPr>
            <a:r>
              <a:rPr lang="en-US" sz="2599">
                <a:solidFill>
                  <a:srgbClr val="000000"/>
                </a:solidFill>
                <a:latin typeface="Alatsi"/>
                <a:ea typeface="Alatsi"/>
                <a:cs typeface="Alatsi"/>
                <a:sym typeface="Alatsi"/>
              </a:rPr>
              <a:t> 🔸Empathy</a:t>
            </a:r>
          </a:p>
          <a:p>
            <a:pPr algn="l">
              <a:lnSpc>
                <a:spcPts val="3639"/>
              </a:lnSpc>
            </a:pPr>
            <a:r>
              <a:rPr lang="en-US" sz="2599">
                <a:solidFill>
                  <a:srgbClr val="000000"/>
                </a:solidFill>
                <a:latin typeface="Alatsi"/>
                <a:ea typeface="Alatsi"/>
                <a:cs typeface="Alatsi"/>
                <a:sym typeface="Alatsi"/>
              </a:rPr>
              <a:t>This is the ability to understand and share the feelings of others, and to respond appropriately to their emotions. The other person should feel that you understood that person's feelings.</a:t>
            </a:r>
          </a:p>
          <a:p>
            <a:pPr algn="l">
              <a:lnSpc>
                <a:spcPts val="3639"/>
              </a:lnSpc>
            </a:pPr>
          </a:p>
          <a:p>
            <a:pPr algn="l">
              <a:lnSpc>
                <a:spcPts val="3639"/>
              </a:lnSpc>
            </a:pPr>
            <a:r>
              <a:rPr lang="en-US" sz="2599">
                <a:solidFill>
                  <a:srgbClr val="000000"/>
                </a:solidFill>
                <a:latin typeface="Alatsi"/>
                <a:ea typeface="Alatsi"/>
                <a:cs typeface="Alatsi"/>
                <a:sym typeface="Alatsi"/>
              </a:rPr>
              <a:t>🔸Clarity of speech</a:t>
            </a:r>
          </a:p>
          <a:p>
            <a:pPr algn="l">
              <a:lnSpc>
                <a:spcPts val="3639"/>
              </a:lnSpc>
            </a:pPr>
            <a:r>
              <a:rPr lang="en-US" sz="2599">
                <a:solidFill>
                  <a:srgbClr val="000000"/>
                </a:solidFill>
                <a:latin typeface="Alatsi"/>
                <a:ea typeface="Alatsi"/>
                <a:cs typeface="Alatsi"/>
                <a:sym typeface="Alatsi"/>
              </a:rPr>
              <a:t>This is the ability to speak clearly and effectively, using appropriate tone, volume, and speed.</a:t>
            </a: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a:p>
            <a:pPr algn="l">
              <a:lnSpc>
                <a:spcPts val="3639"/>
              </a:lnSpc>
            </a:pPr>
          </a:p>
        </p:txBody>
      </p:sp>
      <p:sp>
        <p:nvSpPr>
          <p:cNvPr name="Freeform 3" id="3"/>
          <p:cNvSpPr/>
          <p:nvPr/>
        </p:nvSpPr>
        <p:spPr>
          <a:xfrm flipH="false" flipV="false" rot="0">
            <a:off x="13764167" y="620819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553980" y="866775"/>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AUDITORY SOFT SKILLS </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04550" y="750888"/>
            <a:ext cx="14705320" cy="16324443"/>
          </a:xfrm>
          <a:prstGeom prst="rect">
            <a:avLst/>
          </a:prstGeom>
        </p:spPr>
        <p:txBody>
          <a:bodyPr anchor="t" rtlCol="false" tIns="0" lIns="0" bIns="0" rIns="0">
            <a:spAutoFit/>
          </a:bodyPr>
          <a:lstStyle/>
          <a:p>
            <a:pPr algn="l">
              <a:lnSpc>
                <a:spcPts val="5852"/>
              </a:lnSpc>
            </a:pPr>
            <a:r>
              <a:rPr lang="en-US" sz="4180">
                <a:solidFill>
                  <a:srgbClr val="000000"/>
                </a:solidFill>
                <a:latin typeface="Alatsi"/>
                <a:ea typeface="Alatsi"/>
                <a:cs typeface="Alatsi"/>
                <a:sym typeface="Alatsi"/>
              </a:rPr>
              <a:t>🔸 Appropriate and effective use of pauses and emphasises</a:t>
            </a:r>
          </a:p>
          <a:p>
            <a:pPr algn="l">
              <a:lnSpc>
                <a:spcPts val="5852"/>
              </a:lnSpc>
            </a:pPr>
            <a:r>
              <a:rPr lang="en-US" sz="4180">
                <a:solidFill>
                  <a:srgbClr val="000000"/>
                </a:solidFill>
                <a:latin typeface="Alatsi"/>
                <a:ea typeface="Alatsi"/>
                <a:cs typeface="Alatsi"/>
                <a:sym typeface="Alatsi"/>
              </a:rPr>
              <a:t>🔸Emotional intelligence</a:t>
            </a:r>
          </a:p>
          <a:p>
            <a:pPr algn="l">
              <a:lnSpc>
                <a:spcPts val="5852"/>
              </a:lnSpc>
            </a:pPr>
            <a:r>
              <a:rPr lang="en-US" sz="4180">
                <a:solidFill>
                  <a:srgbClr val="000000"/>
                </a:solidFill>
                <a:latin typeface="Alatsi"/>
                <a:ea typeface="Alatsi"/>
                <a:cs typeface="Alatsi"/>
                <a:sym typeface="Alatsi"/>
              </a:rPr>
              <a:t>This is the ability to understand and manage your own emotions, as well as the emotions of others, in order to communicate effectively.</a:t>
            </a:r>
          </a:p>
          <a:p>
            <a:pPr algn="l">
              <a:lnSpc>
                <a:spcPts val="5852"/>
              </a:lnSpc>
            </a:pPr>
            <a:r>
              <a:rPr lang="en-US" sz="4180">
                <a:solidFill>
                  <a:srgbClr val="000000"/>
                </a:solidFill>
                <a:latin typeface="Alatsi"/>
                <a:ea typeface="Alatsi"/>
                <a:cs typeface="Alatsi"/>
                <a:sym typeface="Alatsi"/>
              </a:rPr>
              <a:t>🔸Nonverbal communication</a:t>
            </a:r>
          </a:p>
          <a:p>
            <a:pPr algn="l">
              <a:lnSpc>
                <a:spcPts val="5852"/>
              </a:lnSpc>
            </a:pPr>
            <a:r>
              <a:rPr lang="en-US" sz="4180">
                <a:solidFill>
                  <a:srgbClr val="000000"/>
                </a:solidFill>
                <a:latin typeface="Alatsi"/>
                <a:ea typeface="Alatsi"/>
                <a:cs typeface="Alatsi"/>
                <a:sym typeface="Alatsi"/>
              </a:rPr>
              <a:t>This refers to the use of body language and facial expressions to convey meaning and emotion, in addition to spoken language.</a:t>
            </a:r>
          </a:p>
          <a:p>
            <a:pPr algn="l">
              <a:lnSpc>
                <a:spcPts val="5852"/>
              </a:lnSpc>
            </a:pPr>
            <a:r>
              <a:rPr lang="en-US" sz="4180">
                <a:solidFill>
                  <a:srgbClr val="000000"/>
                </a:solidFill>
                <a:latin typeface="Alatsi"/>
                <a:ea typeface="Alatsi"/>
                <a:cs typeface="Alatsi"/>
                <a:sym typeface="Alatsi"/>
              </a:rPr>
              <a:t>🔸Conflict resolution</a:t>
            </a:r>
          </a:p>
          <a:p>
            <a:pPr algn="l">
              <a:lnSpc>
                <a:spcPts val="5852"/>
              </a:lnSpc>
            </a:pPr>
            <a:r>
              <a:rPr lang="en-US" sz="4180">
                <a:solidFill>
                  <a:srgbClr val="000000"/>
                </a:solidFill>
                <a:latin typeface="Alatsi"/>
                <a:ea typeface="Alatsi"/>
                <a:cs typeface="Alatsi"/>
                <a:sym typeface="Alatsi"/>
              </a:rPr>
              <a:t>This is the ability to communicate effectively in order to resolve disagreements in a constructive way.</a:t>
            </a:r>
          </a:p>
          <a:p>
            <a:pPr algn="l">
              <a:lnSpc>
                <a:spcPts val="5852"/>
              </a:lnSpc>
            </a:pPr>
          </a:p>
          <a:p>
            <a:pPr algn="l">
              <a:lnSpc>
                <a:spcPts val="5852"/>
              </a:lnSpc>
            </a:pPr>
          </a:p>
          <a:p>
            <a:pPr algn="l">
              <a:lnSpc>
                <a:spcPts val="5852"/>
              </a:lnSpc>
            </a:pPr>
          </a:p>
          <a:p>
            <a:pPr algn="l">
              <a:lnSpc>
                <a:spcPts val="5852"/>
              </a:lnSpc>
            </a:pPr>
          </a:p>
          <a:p>
            <a:pPr algn="l">
              <a:lnSpc>
                <a:spcPts val="5852"/>
              </a:lnSpc>
            </a:pPr>
          </a:p>
          <a:p>
            <a:pPr algn="l">
              <a:lnSpc>
                <a:spcPts val="5852"/>
              </a:lnSpc>
            </a:pPr>
          </a:p>
          <a:p>
            <a:pPr algn="l">
              <a:lnSpc>
                <a:spcPts val="5852"/>
              </a:lnSpc>
            </a:pPr>
          </a:p>
          <a:p>
            <a:pPr algn="l">
              <a:lnSpc>
                <a:spcPts val="5852"/>
              </a:lnSpc>
            </a:pPr>
          </a:p>
          <a:p>
            <a:pPr algn="l">
              <a:lnSpc>
                <a:spcPts val="5852"/>
              </a:lnSpc>
            </a:pPr>
          </a:p>
          <a:p>
            <a:pPr algn="l">
              <a:lnSpc>
                <a:spcPts val="5852"/>
              </a:lnSpc>
            </a:pPr>
          </a:p>
          <a:p>
            <a:pPr algn="l">
              <a:lnSpc>
                <a:spcPts val="5852"/>
              </a:lnSpc>
            </a:pP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511543" y="942975"/>
            <a:ext cx="13662883" cy="8960755"/>
          </a:xfrm>
          <a:prstGeom prst="rect">
            <a:avLst/>
          </a:prstGeom>
        </p:spPr>
        <p:txBody>
          <a:bodyPr anchor="t" rtlCol="false" tIns="0" lIns="0" bIns="0" rIns="0">
            <a:spAutoFit/>
          </a:bodyPr>
          <a:lstStyle/>
          <a:p>
            <a:pPr algn="l">
              <a:lnSpc>
                <a:spcPts val="5437"/>
              </a:lnSpc>
            </a:pPr>
          </a:p>
          <a:p>
            <a:pPr algn="l">
              <a:lnSpc>
                <a:spcPts val="5437"/>
              </a:lnSpc>
            </a:pPr>
            <a:r>
              <a:rPr lang="en-US" sz="3884">
                <a:solidFill>
                  <a:srgbClr val="000000"/>
                </a:solidFill>
                <a:latin typeface="Alatsi"/>
                <a:ea typeface="Alatsi"/>
                <a:cs typeface="Alatsi"/>
                <a:sym typeface="Alatsi"/>
              </a:rPr>
              <a:t>Communication is the fundamental aspect of human interaction that permits individuals to establish, maintain and improve relations with others. It is a broad soft skills category.</a:t>
            </a:r>
          </a:p>
          <a:p>
            <a:pPr algn="l">
              <a:lnSpc>
                <a:spcPts val="5437"/>
              </a:lnSpc>
            </a:pPr>
          </a:p>
          <a:p>
            <a:pPr algn="l">
              <a:lnSpc>
                <a:spcPts val="5437"/>
              </a:lnSpc>
            </a:pPr>
            <a:r>
              <a:rPr lang="en-US" sz="3884">
                <a:solidFill>
                  <a:srgbClr val="000000"/>
                </a:solidFill>
                <a:latin typeface="Alatsi"/>
                <a:ea typeface="Alatsi"/>
                <a:cs typeface="Alatsi"/>
                <a:sym typeface="Alatsi"/>
              </a:rPr>
              <a:t>In general, communication refers to the giving and receiving of information, ideas, facts, opinions, beliefs, feelings and attitudes through verbal or non-verbal means between people. It includes listening and understanding with respect as well as expressing views and ideas and passing information to others in a clear manner. Thus, good communication skills constitute the ability to not only speak confidently but also listen, empathize and present well whenever necessary.</a:t>
            </a:r>
          </a:p>
        </p:txBody>
      </p:sp>
      <p:sp>
        <p:nvSpPr>
          <p:cNvPr name="TextBox 3" id="3"/>
          <p:cNvSpPr txBox="true"/>
          <p:nvPr/>
        </p:nvSpPr>
        <p:spPr>
          <a:xfrm rot="0">
            <a:off x="1511543" y="222250"/>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COMMUNICATION SKILLS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DAGeKIBItbQ</dc:identifier>
  <dcterms:modified xsi:type="dcterms:W3CDTF">2011-08-01T06:04:30Z</dcterms:modified>
  <cp:revision>1</cp:revision>
  <dc:title>DEFINITION</dc:title>
</cp:coreProperties>
</file>