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4630400" cy="8229600"/>
  <p:notesSz cx="8229600" cy="14630400"/>
  <p:embeddedFontLst>
    <p:embeddedFont>
      <p:font typeface="Petrona"/>
      <p:regular r:id="rId21"/>
    </p:embeddedFont>
    <p:embeddedFont>
      <p:font typeface="Petrona"/>
      <p:regular r:id="rId22"/>
    </p:embeddedFont>
    <p:embeddedFont>
      <p:font typeface="Petrona"/>
      <p:regular r:id="rId23"/>
    </p:embeddedFont>
    <p:embeddedFont>
      <p:font typeface="Petrona"/>
      <p:regular r:id="rId24"/>
    </p:embeddedFont>
    <p:embeddedFont>
      <p:font typeface="Inter"/>
      <p:regular r:id="rId25"/>
    </p:embeddedFont>
    <p:embeddedFont>
      <p:font typeface="Inter"/>
      <p:regular r:id="rId26"/>
    </p:embeddedFont>
    <p:embeddedFont>
      <p:font typeface="Inter"/>
      <p:regular r:id="rId27"/>
    </p:embeddedFont>
    <p:embeddedFont>
      <p:font typeface="Inter"/>
      <p:regular r:id="rId2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font" Target="fonts/font1.fntdata"/><Relationship Id="rId22" Type="http://schemas.openxmlformats.org/officeDocument/2006/relationships/font" Target="fonts/font2.fntdata"/><Relationship Id="rId23" Type="http://schemas.openxmlformats.org/officeDocument/2006/relationships/font" Target="fonts/font3.fntdata"/><Relationship Id="rId24" Type="http://schemas.openxmlformats.org/officeDocument/2006/relationships/font" Target="fonts/font4.fntdata"/><Relationship Id="rId25" Type="http://schemas.openxmlformats.org/officeDocument/2006/relationships/font" Target="fonts/font5.fntdata"/><Relationship Id="rId26" Type="http://schemas.openxmlformats.org/officeDocument/2006/relationships/font" Target="fonts/font6.fntdata"/><Relationship Id="rId27" Type="http://schemas.openxmlformats.org/officeDocument/2006/relationships/font" Target="fonts/font7.fntdata"/><Relationship Id="rId28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3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4-1.png"/><Relationship Id="rId3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5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258020"/>
            <a:ext cx="7556421" cy="1559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100"/>
              </a:lnSpc>
              <a:buNone/>
            </a:pPr>
            <a:r>
              <a:rPr lang="en-US" sz="4900" b="1" spc="-98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PSYCHOLOGICL  ASSESSMENT AND TESTS</a:t>
            </a:r>
            <a:endParaRPr lang="en-US" sz="4900" dirty="0"/>
          </a:p>
        </p:txBody>
      </p:sp>
      <p:sp>
        <p:nvSpPr>
          <p:cNvPr id="4" name="Text 1"/>
          <p:cNvSpPr/>
          <p:nvPr/>
        </p:nvSpPr>
        <p:spPr>
          <a:xfrm>
            <a:off x="6280190" y="4157424"/>
            <a:ext cx="7556421" cy="18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Psychological tests are standard measures devised to access behaviour objectively and used by psychologist to help people make decision about their lives and understand more about themselves.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5924" y="749022"/>
            <a:ext cx="8892183" cy="71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450" b="1" spc="-90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TYPES OF PSYCHOLOGICAL TESTS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25924" y="1980486"/>
            <a:ext cx="2915126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spc="-45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Individual and group tests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25924" y="2901077"/>
            <a:ext cx="2915126" cy="1244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50"/>
              </a:lnSpc>
              <a:buNone/>
            </a:pPr>
            <a:r>
              <a:rPr lang="en-US" sz="2000" b="1" spc="-3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Individual test</a:t>
            </a:r>
            <a:pPr indent="0" marL="0">
              <a:lnSpc>
                <a:spcPts val="3250"/>
              </a:lnSpc>
              <a:buNone/>
            </a:pPr>
            <a:r>
              <a:rPr lang="en-US" sz="2000" spc="-3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-administered to a single individual at a time.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25924" y="4332089"/>
            <a:ext cx="2915126" cy="165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50"/>
              </a:lnSpc>
              <a:buNone/>
            </a:pPr>
            <a:r>
              <a:rPr lang="en-US" sz="2000" b="1" spc="-3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test</a:t>
            </a:r>
            <a:pPr indent="0" marL="0">
              <a:lnSpc>
                <a:spcPts val="3250"/>
              </a:lnSpc>
              <a:buNone/>
            </a:pPr>
            <a:r>
              <a:rPr lang="en-US" sz="2000" spc="-3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collect information from a group of persons with a single administration.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154686" y="1980486"/>
            <a:ext cx="2852142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spc="-45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Speed and power test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54686" y="2544485"/>
            <a:ext cx="2915126" cy="2488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50"/>
              </a:lnSpc>
              <a:buNone/>
            </a:pPr>
            <a:r>
              <a:rPr lang="en-US" sz="2000" b="1" spc="-3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Speed test</a:t>
            </a:r>
            <a:pPr indent="0" marL="0">
              <a:lnSpc>
                <a:spcPts val="3250"/>
              </a:lnSpc>
              <a:buNone/>
            </a:pPr>
            <a:r>
              <a:rPr lang="en-US" sz="2000" spc="-3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type of psychometric test that measures how quickly a person can answer questions within a time limit.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154686" y="5219938"/>
            <a:ext cx="2915126" cy="2074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50"/>
              </a:lnSpc>
              <a:buNone/>
            </a:pPr>
            <a:r>
              <a:rPr lang="en-US" sz="2000" b="1" spc="-3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test</a:t>
            </a:r>
            <a:pPr indent="0" marL="0">
              <a:lnSpc>
                <a:spcPts val="3250"/>
              </a:lnSpc>
              <a:buNone/>
            </a:pPr>
            <a:r>
              <a:rPr lang="en-US" sz="2000" spc="-3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test that measures a person's knowledge or skill in a subject without time limit.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583448" y="1980486"/>
            <a:ext cx="2852142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spc="-45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Performance test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583448" y="2544485"/>
            <a:ext cx="2915126" cy="2903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50"/>
              </a:lnSpc>
              <a:buNone/>
            </a:pPr>
            <a:r>
              <a:rPr lang="en-US" sz="2000" spc="-3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performance test in psychology is a test that measures a person's abilities by requiring them to perform a task rather than answer questions.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012210" y="1980486"/>
            <a:ext cx="2915126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spc="-45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Computer assisted tests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012210" y="2901077"/>
            <a:ext cx="2915126" cy="4148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50"/>
              </a:lnSpc>
              <a:buNone/>
            </a:pPr>
            <a:r>
              <a:rPr lang="en-US" sz="2000" spc="-3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Computer-assisted testing (CAT) in psychology is the use of computers to administer, score, and interpret psychological assessments. CATs are also known as computer-adaptive tests (CATs).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93188"/>
            <a:ext cx="6237684" cy="779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6100"/>
              </a:lnSpc>
              <a:buNone/>
            </a:pPr>
            <a:endParaRPr lang="en-US" sz="4900" dirty="0"/>
          </a:p>
        </p:txBody>
      </p:sp>
      <p:sp>
        <p:nvSpPr>
          <p:cNvPr id="3" name="Text 1"/>
          <p:cNvSpPr/>
          <p:nvPr/>
        </p:nvSpPr>
        <p:spPr>
          <a:xfrm>
            <a:off x="793790" y="3039785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50"/>
              </a:lnSpc>
              <a:buNone/>
            </a:pPr>
            <a:r>
              <a:rPr lang="en-US" sz="2450" b="1" spc="-49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Paper -pencil test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793790" y="3656528"/>
            <a:ext cx="3978116" cy="1360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test are in printed form. answers are recorded on a standard answer sheet.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332928" y="3039785"/>
            <a:ext cx="3490555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50"/>
              </a:lnSpc>
              <a:buNone/>
            </a:pPr>
            <a:r>
              <a:rPr lang="en-US" sz="2450" b="1" spc="-49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Neuropsychological tests 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5332928" y="3656528"/>
            <a:ext cx="3978116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measure deficits in cognitive functioning.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332928" y="4767620"/>
            <a:ext cx="3978116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example:- Benton visual retention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32928" y="5878711"/>
            <a:ext cx="3978116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872067" y="3039785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50"/>
              </a:lnSpc>
              <a:buNone/>
            </a:pPr>
            <a:r>
              <a:rPr lang="en-US" sz="2450" b="1" spc="-49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Aptitude test</a:t>
            </a:r>
            <a:endParaRPr lang="en-US" sz="2450" dirty="0"/>
          </a:p>
        </p:txBody>
      </p:sp>
      <p:sp>
        <p:nvSpPr>
          <p:cNvPr id="10" name="Text 8"/>
          <p:cNvSpPr/>
          <p:nvPr/>
        </p:nvSpPr>
        <p:spPr>
          <a:xfrm>
            <a:off x="9872067" y="3656528"/>
            <a:ext cx="3978116" cy="1360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Measures  an individuals special abilities, specific skills and potentials.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95224"/>
            <a:ext cx="6237684" cy="779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6100"/>
              </a:lnSpc>
              <a:buNone/>
            </a:pPr>
            <a:endParaRPr lang="en-US" sz="4900" dirty="0"/>
          </a:p>
        </p:txBody>
      </p:sp>
      <p:sp>
        <p:nvSpPr>
          <p:cNvPr id="3" name="Text 1"/>
          <p:cNvSpPr/>
          <p:nvPr/>
        </p:nvSpPr>
        <p:spPr>
          <a:xfrm>
            <a:off x="793790" y="3141821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50"/>
              </a:lnSpc>
              <a:buNone/>
            </a:pPr>
            <a:r>
              <a:rPr lang="en-US" sz="2450" b="1" spc="-49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Intelligence test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793790" y="3758565"/>
            <a:ext cx="3978116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attempts to measure intelligence.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869656"/>
            <a:ext cx="3978116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example:- Stanford-Binet scale, Army Alpha test.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3141821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50"/>
              </a:lnSpc>
              <a:buNone/>
            </a:pPr>
            <a:r>
              <a:rPr lang="en-US" sz="2450" b="1" spc="-49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Interest test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5332928" y="3758565"/>
            <a:ext cx="3978116" cy="181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meant to assess a person’s interest and preferences used for career counselling.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32928" y="5776674"/>
            <a:ext cx="3978116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example:- interest inventory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872067" y="3141821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50"/>
              </a:lnSpc>
              <a:buNone/>
            </a:pPr>
            <a:r>
              <a:rPr lang="en-US" sz="2450" b="1" spc="-49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Personality tests</a:t>
            </a:r>
            <a:endParaRPr lang="en-US" sz="2450" dirty="0"/>
          </a:p>
        </p:txBody>
      </p:sp>
      <p:sp>
        <p:nvSpPr>
          <p:cNvPr id="10" name="Text 8"/>
          <p:cNvSpPr/>
          <p:nvPr/>
        </p:nvSpPr>
        <p:spPr>
          <a:xfrm>
            <a:off x="9872067" y="3758565"/>
            <a:ext cx="3978116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Attempt to measure basic personality styles.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72067" y="4869656"/>
            <a:ext cx="3978116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example:- MMPI , Rorschach ink blot test.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52099"/>
            <a:ext cx="12391192" cy="779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6100"/>
              </a:lnSpc>
              <a:buNone/>
            </a:pPr>
            <a:r>
              <a:rPr lang="en-US" sz="4900" b="1" spc="-98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DEVELOPMENT OF PSYCHOLOGICAL TESTS</a:t>
            </a:r>
            <a:endParaRPr lang="en-US" sz="4900" dirty="0"/>
          </a:p>
        </p:txBody>
      </p:sp>
      <p:sp>
        <p:nvSpPr>
          <p:cNvPr id="3" name="Shape 1"/>
          <p:cNvSpPr/>
          <p:nvPr/>
        </p:nvSpPr>
        <p:spPr>
          <a:xfrm>
            <a:off x="793790" y="3040499"/>
            <a:ext cx="396835" cy="396835"/>
          </a:xfrm>
          <a:prstGeom prst="roundRect">
            <a:avLst>
              <a:gd name="adj" fmla="val 24007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439" y="3040499"/>
            <a:ext cx="3304699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50"/>
              </a:lnSpc>
              <a:buNone/>
            </a:pPr>
            <a:r>
              <a:rPr lang="en-US" sz="2450" b="1" spc="-49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Analysis of the situation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417439" y="3566517"/>
            <a:ext cx="3572708" cy="2267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Detailed analysis of the psychological processes required for successful performance of the task in question is carried out.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216962" y="3040499"/>
            <a:ext cx="396835" cy="396835"/>
          </a:xfrm>
          <a:prstGeom prst="roundRect">
            <a:avLst>
              <a:gd name="adj" fmla="val 24007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40611" y="3040499"/>
            <a:ext cx="3572708" cy="779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50"/>
              </a:lnSpc>
              <a:buNone/>
            </a:pPr>
            <a:r>
              <a:rPr lang="en-US" sz="2450" b="1" spc="-49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Tentative selection of the test items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5840611" y="3956447"/>
            <a:ext cx="3572708" cy="2721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the analysis has been made the psychologist selects test already available or device test which he feels will measure the processes.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40133" y="3040499"/>
            <a:ext cx="396835" cy="396835"/>
          </a:xfrm>
          <a:prstGeom prst="roundRect">
            <a:avLst>
              <a:gd name="adj" fmla="val 24007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63783" y="3040499"/>
            <a:ext cx="3572708" cy="779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50"/>
              </a:lnSpc>
              <a:buNone/>
            </a:pPr>
            <a:r>
              <a:rPr lang="en-US" sz="2450" b="1" spc="-49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Development of standardized procedures</a:t>
            </a:r>
            <a:endParaRPr lang="en-US" sz="2450" dirty="0"/>
          </a:p>
        </p:txBody>
      </p:sp>
      <p:sp>
        <p:nvSpPr>
          <p:cNvPr id="11" name="Text 9"/>
          <p:cNvSpPr/>
          <p:nvPr/>
        </p:nvSpPr>
        <p:spPr>
          <a:xfrm>
            <a:off x="10263783" y="3956447"/>
            <a:ext cx="3572708" cy="2267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Psychological tests are administered and scored in the same way for every individual tested in order to obtain consistent results.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25285"/>
            <a:ext cx="6237684" cy="779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6100"/>
              </a:lnSpc>
              <a:buNone/>
            </a:pPr>
            <a:endParaRPr lang="en-US" sz="4900" dirty="0"/>
          </a:p>
        </p:txBody>
      </p:sp>
      <p:sp>
        <p:nvSpPr>
          <p:cNvPr id="3" name="Shape 1"/>
          <p:cNvSpPr/>
          <p:nvPr/>
        </p:nvSpPr>
        <p:spPr>
          <a:xfrm>
            <a:off x="793790" y="2813685"/>
            <a:ext cx="396835" cy="396835"/>
          </a:xfrm>
          <a:prstGeom prst="roundRect">
            <a:avLst>
              <a:gd name="adj" fmla="val 24007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439" y="2813685"/>
            <a:ext cx="3572708" cy="779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50"/>
              </a:lnSpc>
              <a:buNone/>
            </a:pPr>
            <a:r>
              <a:rPr lang="en-US" sz="2450" b="1" spc="-49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Administration of the test to a representative group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417439" y="3729633"/>
            <a:ext cx="3572708" cy="2721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Psychologist administers the test to a group of subjects to see if they score the way expert judgement or other evidence suggests.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216962" y="2813685"/>
            <a:ext cx="396835" cy="396835"/>
          </a:xfrm>
          <a:prstGeom prst="roundRect">
            <a:avLst>
              <a:gd name="adj" fmla="val 24007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40611" y="2813685"/>
            <a:ext cx="3572708" cy="779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50"/>
              </a:lnSpc>
              <a:buNone/>
            </a:pPr>
            <a:r>
              <a:rPr lang="en-US" sz="2450" b="1" spc="-49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Final selection of the test items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5840611" y="3729633"/>
            <a:ext cx="3572708" cy="3174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this process many test items are either discarded or revised, so that they contribute more directly to the overall purpose of the test. this procedure is called item analysis.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40133" y="2813685"/>
            <a:ext cx="396835" cy="396835"/>
          </a:xfrm>
          <a:prstGeom prst="roundRect">
            <a:avLst>
              <a:gd name="adj" fmla="val 24007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63783" y="2813685"/>
            <a:ext cx="3572708" cy="779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50"/>
              </a:lnSpc>
              <a:buNone/>
            </a:pPr>
            <a:r>
              <a:rPr lang="en-US" sz="2450" b="1" spc="-49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Evaluation of the final test</a:t>
            </a:r>
            <a:endParaRPr lang="en-US" sz="2450" dirty="0"/>
          </a:p>
        </p:txBody>
      </p:sp>
      <p:sp>
        <p:nvSpPr>
          <p:cNvPr id="11" name="Text 9"/>
          <p:cNvSpPr/>
          <p:nvPr/>
        </p:nvSpPr>
        <p:spPr>
          <a:xfrm>
            <a:off x="10263783" y="3729633"/>
            <a:ext cx="3572708" cy="1360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Effectiveness of the final test is evaluated in terms of a specified criterion.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7471" y="1093351"/>
            <a:ext cx="12115800" cy="704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00"/>
              </a:lnSpc>
              <a:buNone/>
            </a:pPr>
            <a:r>
              <a:rPr lang="en-US" sz="4400" b="1" spc="-89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CHARACTERISTICS OF PSYCHOLOGICAL TESTS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17471" y="2438519"/>
            <a:ext cx="461248" cy="461248"/>
          </a:xfrm>
          <a:prstGeom prst="roundRect">
            <a:avLst>
              <a:gd name="adj" fmla="val 18669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9038" y="2499955"/>
            <a:ext cx="137993" cy="338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spc="-5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1383625" y="2438519"/>
            <a:ext cx="2818924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spc="-44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Standardization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83625" y="2913936"/>
            <a:ext cx="3595688" cy="1229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000" spc="-3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It refers to the consistency of the conditions and procedures for administering a test.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184219" y="2438519"/>
            <a:ext cx="461248" cy="461248"/>
          </a:xfrm>
          <a:prstGeom prst="roundRect">
            <a:avLst>
              <a:gd name="adj" fmla="val 18669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22332" y="2499955"/>
            <a:ext cx="185023" cy="338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spc="-5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5850374" y="2438519"/>
            <a:ext cx="2818924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spc="-44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Objectivity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850374" y="2913936"/>
            <a:ext cx="3595688" cy="819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000" spc="-3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 process must be free of subjective judgements or bias.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850374" y="3856792"/>
            <a:ext cx="3595688" cy="819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000" spc="-3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items should be given to other experts for verification.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650968" y="2438519"/>
            <a:ext cx="461248" cy="461248"/>
          </a:xfrm>
          <a:prstGeom prst="roundRect">
            <a:avLst>
              <a:gd name="adj" fmla="val 18669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9200" y="2499955"/>
            <a:ext cx="184666" cy="338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spc="-53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10317123" y="2438519"/>
            <a:ext cx="2818924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spc="-44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Test norms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317123" y="2913936"/>
            <a:ext cx="3595688" cy="1639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000" spc="-3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 a basis for comparing the individual with a group to interpret result of a psychological test.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317123" y="4676656"/>
            <a:ext cx="3595688" cy="245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000" spc="-3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frame of reference of comparison must be established ,so the performance of one person can be compared with the performance of others.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54022"/>
            <a:ext cx="6237684" cy="779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6100"/>
              </a:lnSpc>
              <a:buNone/>
            </a:pPr>
            <a:endParaRPr lang="en-US" sz="4900" dirty="0"/>
          </a:p>
        </p:txBody>
      </p:sp>
      <p:sp>
        <p:nvSpPr>
          <p:cNvPr id="3" name="Shape 1"/>
          <p:cNvSpPr/>
          <p:nvPr/>
        </p:nvSpPr>
        <p:spPr>
          <a:xfrm>
            <a:off x="793790" y="414242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503" y="4210407"/>
            <a:ext cx="152757" cy="374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b="1" spc="-59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530906" y="4142423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50"/>
              </a:lnSpc>
              <a:buNone/>
            </a:pPr>
            <a:r>
              <a:rPr lang="en-US" sz="2450" b="1" spc="-49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Reliability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1530906" y="4668441"/>
            <a:ext cx="5670947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Reliability refers to the consistency of a person's score.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428667" y="414242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1424" y="4210407"/>
            <a:ext cx="204787" cy="374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b="1" spc="-59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8165783" y="4142423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50"/>
              </a:lnSpc>
              <a:buNone/>
            </a:pPr>
            <a:r>
              <a:rPr lang="en-US" sz="2450" b="1" spc="-49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Validity</a:t>
            </a:r>
            <a:endParaRPr lang="en-US" sz="2450" dirty="0"/>
          </a:p>
        </p:txBody>
      </p:sp>
      <p:sp>
        <p:nvSpPr>
          <p:cNvPr id="10" name="Text 8"/>
          <p:cNvSpPr/>
          <p:nvPr/>
        </p:nvSpPr>
        <p:spPr>
          <a:xfrm>
            <a:off x="8165783" y="4668441"/>
            <a:ext cx="5670947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Validity-it refers to the test's accuracy in measuring what it is supposed to measure.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72039"/>
            <a:ext cx="11403806" cy="779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6100"/>
              </a:lnSpc>
              <a:buNone/>
            </a:pPr>
            <a:r>
              <a:rPr lang="en-US" sz="4900" b="1" spc="-98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PRINCIPLES OF PSYCHOLOGICAL TESTS</a:t>
            </a:r>
            <a:endParaRPr lang="en-US" sz="4900" dirty="0"/>
          </a:p>
        </p:txBody>
      </p:sp>
      <p:sp>
        <p:nvSpPr>
          <p:cNvPr id="3" name="Text 1"/>
          <p:cNvSpPr/>
          <p:nvPr/>
        </p:nvSpPr>
        <p:spPr>
          <a:xfrm>
            <a:off x="793790" y="2305288"/>
            <a:ext cx="130428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Psychological test should have three components: standard ,content and procedure. that make it possible for anybody to administer it anywhere ,anytime.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291602"/>
            <a:ext cx="130428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should have norms to compare an individual test score to the score of a group who have taken the test.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277916"/>
            <a:ext cx="130428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items are of high technical quality prepared by experts and selected on the basis of difficulty ,discriminating power and relationship to a clearly defined set of specifications.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264229"/>
            <a:ext cx="130428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Directions for administrating scores are precisely stated, so that procedures are standard for different users of the test.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6250543"/>
            <a:ext cx="130428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manual and other accessory materials are provided as a guide for administration, scoring, evaluation etc.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18705"/>
            <a:ext cx="7339370" cy="779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6100"/>
              </a:lnSpc>
              <a:buNone/>
            </a:pPr>
            <a:r>
              <a:rPr lang="en-US" sz="4900" b="1" spc="-98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Uses of Psychological Tests</a:t>
            </a:r>
            <a:endParaRPr lang="en-US" sz="4900" dirty="0"/>
          </a:p>
        </p:txBody>
      </p:sp>
      <p:sp>
        <p:nvSpPr>
          <p:cNvPr id="3" name="Text 1"/>
          <p:cNvSpPr/>
          <p:nvPr/>
        </p:nvSpPr>
        <p:spPr>
          <a:xfrm>
            <a:off x="793790" y="3251954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​It​ is easier to get information from tests than by clinical interview.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784759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information from tests is more scientifically consistent.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317563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They assist in diagnosos. :-Rorschach ink blot test.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850368"/>
            <a:ext cx="13042821" cy="1360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They assist in formulation of psychopathology and identification of areas of stress and conflict.-Eg:-Thematic Apperception test.</a:t>
            </a:r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98734"/>
            <a:ext cx="6237684" cy="779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6100"/>
              </a:lnSpc>
              <a:buNone/>
            </a:pPr>
            <a:endParaRPr lang="en-US" sz="4900" dirty="0"/>
          </a:p>
        </p:txBody>
      </p:sp>
      <p:sp>
        <p:nvSpPr>
          <p:cNvPr id="3" name="Text 1"/>
          <p:cNvSpPr/>
          <p:nvPr/>
        </p:nvSpPr>
        <p:spPr>
          <a:xfrm>
            <a:off x="793790" y="2531983"/>
            <a:ext cx="130428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They help to determine the nature of deficits present.eg:- cognitive neuropsychological assessments.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518297"/>
            <a:ext cx="130428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They help in assessing severity of psychopathology and response to treatment. Example:- Hamilton rating scale for depression.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504611"/>
            <a:ext cx="130428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They help in assessing general characteristics of the individual.-Eg:-:- assessment of intelligence, personality etc.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490924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tests are used in forensic evaluation, family court issues or criminal cases.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6023729"/>
            <a:ext cx="130428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tests assess level of functioning or disability, help direct treatment and assess treatment outcome.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29082"/>
            <a:ext cx="7556421" cy="1559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100"/>
              </a:lnSpc>
              <a:buNone/>
            </a:pPr>
            <a:r>
              <a:rPr lang="en-US" sz="4900" b="1" spc="-98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INTERPRETATION OF PSYCHOLOGICAL TESTS</a:t>
            </a:r>
            <a:endParaRPr lang="en-US" sz="4900" dirty="0"/>
          </a:p>
        </p:txBody>
      </p:sp>
      <p:sp>
        <p:nvSpPr>
          <p:cNvPr id="4" name="Text 1"/>
          <p:cNvSpPr/>
          <p:nvPr/>
        </p:nvSpPr>
        <p:spPr>
          <a:xfrm>
            <a:off x="793790" y="3128486"/>
            <a:ext cx="75564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Interpretation of test is the process of understanding what the test results meant and its implications.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114800"/>
            <a:ext cx="7556421" cy="2267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clinicians follow some general outline in preparing a psychological report such as test behaviour ,intellectual functioning, personality functioning, impulse control , overt symptoms, interpersonal conflicts etc.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663749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1278" y="861298"/>
            <a:ext cx="7741444" cy="1377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00" b="1" spc="-87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Role of Nurse in Psychological Assessment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701278" y="2539365"/>
            <a:ext cx="7741444" cy="801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50"/>
              </a:lnSpc>
              <a:buNone/>
            </a:pPr>
            <a:r>
              <a:rPr lang="en-US" sz="1950" spc="-3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 nurse need to know the need and importance of testing so that she can refer the needy patients to psychologists.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701278" y="3566279"/>
            <a:ext cx="7741444" cy="801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50"/>
              </a:lnSpc>
              <a:buNone/>
            </a:pPr>
            <a:r>
              <a:rPr lang="en-US" sz="1950" spc="-3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Nurse should also know about the areas in which assessment needs to be done.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701278" y="4593193"/>
            <a:ext cx="7741444" cy="1202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50"/>
              </a:lnSpc>
              <a:buNone/>
            </a:pPr>
            <a:r>
              <a:rPr lang="en-US" sz="1950" spc="-3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Reports received from experts will help a nurse to understand the psychological problems of the patients which will help to develop more empathetic and realistic approach in dealing with the patients.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701278" y="6020872"/>
            <a:ext cx="7741444" cy="801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50"/>
              </a:lnSpc>
              <a:buNone/>
            </a:pPr>
            <a:r>
              <a:rPr lang="en-US" sz="1950" spc="-3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 nurse can understand the patient and can be genuine and open to her own experiences in the treatment procedure.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701278" y="7047786"/>
            <a:ext cx="7741444" cy="320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60295"/>
            <a:ext cx="130428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Nurse is definitely capable of making assessment of anxiety disorders, psychosomatic disorders and learning problems of children.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793790" y="3346609"/>
            <a:ext cx="130428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Nurse can also assess the complications of substance abuse and sexual deviations among patients.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332923"/>
            <a:ext cx="130428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nurse if properly and adequately trained in testing can be of great in promotional mental health programmes and community rehabilitation programmes.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495092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2025-01-23T15:23:39Z</dcterms:created>
  <dcterms:modified xsi:type="dcterms:W3CDTF">2025-01-23T15:23:39Z</dcterms:modified>
</cp:coreProperties>
</file>